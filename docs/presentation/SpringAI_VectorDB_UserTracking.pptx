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361c337-ff3c-ed0d-feb6-21982403e9cd}">
          <p14:sldIdLst>
            <p14:sldId id="256"/>
            <p14:sldId id="257"/>
          </p14:sldIdLst>
        </p14:section>
        <p14:section name="Phần 1A · Spring AI" id="{8a021aba-89eb-fd9a-b728-4cfd3975f8b3}">
          <p14:sldIdLst>
            <p14:sldId id="258"/>
            <p14:sldId id="259"/>
            <p14:sldId id="260"/>
            <p14:sldId id="261"/>
            <p14:sldId id="262"/>
            <p14:sldId id="263"/>
            <p14:sldId id="267"/>
          </p14:sldIdLst>
        </p14:section>
        <p14:section name="Phần 1B · Vector Database" id="{5e84ae9f-86c6-935f-ff34-e6e718e80c63}">
          <p14:sldIdLst>
            <p14:sldId id="264"/>
            <p14:sldId id="265"/>
            <p14:sldId id="266"/>
          </p14:sldIdLst>
        </p14:section>
        <p14:section name="Phần 1A · Spring AI" id="{47648c5b-3aa4-3009-22a4-47091010a08c}">
          <p14:sldIdLst/>
        </p14:section>
        <p14:section name="Phần 1C · User Tracking" id="{97eec9db-8a86-4de7-dbbc-26e055eef290}">
          <p14:sldIdLst>
            <p14:sldId id="268"/>
            <p14:sldId id="269"/>
            <p14:sldId id="270"/>
          </p14:sldIdLst>
        </p14:section>
        <p14:section name="Phần 2 · Áp dụng vào dự án" id="{0638c174-27c4-b935-871c-254db0e3a085}">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 name="Kết luận" id="{dd40b53b-4821-fb4b-6e93-4368a9af0376}">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3833"/>
                </a:solidFill>
                <a:latin typeface="+mn-lt"/>
              </a:defRPr>
            </a:pPr>
            <a:r>
              <a:rPr sz="1300" b="0" i="0" u="none" strike="noStrike">
                <a:solidFill>
                  <a:srgbClr val="0A3833"/>
                </a:solidFill>
                <a:latin typeface="+mn-lt"/>
              </a:rPr>
              <a:t>Phễu chuyển đổi (số liệu minh hoạ)</a:t>
            </a:r>
          </a:p>
        </c:rich>
      </c:tx>
      <c:layout/>
      <c:overlay val="0"/>
    </c:title>
    <c:autoTitleDeleted val="0"/>
    <c:plotArea>
      <c:layout/>
      <c:barChart>
        <c:barDir val="bar"/>
        <c:grouping val="clustered"/>
        <c:varyColors val="0"/>
        <c:ser>
          <c:idx val="0"/>
          <c:order val="0"/>
          <c:tx>
            <c:strRef>
              <c:f>Sheet1!$B$1</c:f>
              <c:strCache>
                <c:ptCount val="1"/>
                <c:pt idx="0">
                  <c:v>Phiên</c:v>
                </c:pt>
              </c:strCache>
            </c:strRef>
          </c:tx>
          <c:spPr>
            <a:solidFill>
              <a:srgbClr val="1B7A6B"/>
            </a:solidFill>
            <a:effectLst/>
          </c:spPr>
          <c:invertIfNegative val="0"/>
          <c:dLbls>
            <c:numFmt formatCode="#,##0" sourceLinked="0"/>
            <c:txPr>
              <a:bodyPr/>
              <a:lstStyle/>
              <a:p>
                <a:pPr>
                  <a:defRPr b="0" i="0" strike="noStrike" sz="1200" u="none">
                    <a:solidFill>
                      <a:srgbClr val="14201E"/>
                    </a:solidFill>
                    <a:latin typeface="+mn-lt"/>
                  </a:defRPr>
                </a:pPr>
              </a:p>
            </c:txPr>
            <c:showLegendKey val="0"/>
            <c:showVal val="1"/>
            <c:showCatName val="0"/>
            <c:showSerName val="0"/>
            <c:showPercent val="0"/>
            <c:showBubbleSize val="0"/>
            <c:showLeaderLines val="0"/>
          </c:dLbls>
          <c:cat>
            <c:strRef>
              <c:f>Sheet1!$A$2:$A$4</c:f>
              <c:strCache>
                <c:ptCount val="3"/>
                <c:pt idx="0">
                  <c:v>Phiên có xem tour</c:v>
                </c:pt>
                <c:pt idx="1">
                  <c:v>Phiên có thêm giỏ</c:v>
                </c:pt>
                <c:pt idx="2">
                  <c:v>Đơn đặt tour</c:v>
                </c:pt>
              </c:strCache>
            </c:strRef>
          </c:cat>
          <c:val>
            <c:numRef>
              <c:f>Sheet1!$B$2:$B$4</c:f>
              <c:numCache>
                <c:formatCode>General</c:formatCode>
                <c:ptCount val="3"/>
                <c:pt idx="0">
                  <c:v>1000</c:v>
                </c:pt>
                <c:pt idx="1">
                  <c:v>130</c:v>
                </c:pt>
                <c:pt idx="2">
                  <c:v>38</c:v>
                </c:pt>
              </c:numCache>
            </c:numRef>
          </c:val>
        </c:ser>
        <c:dLbls>
          <c:numFmt formatCode="#,##0" sourceLinked="0"/>
          <c:txPr>
            <a:bodyPr/>
            <a:lstStyle/>
            <a:p>
              <a:pPr>
                <a:defRPr b="0" i="0" strike="noStrike" sz="1200" u="none">
                  <a:solidFill>
                    <a:srgbClr val="1420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các bạn. Nhóm em trình bày chuyên đề AI gồm hai phần: phần nghiên cứu về Spring AI, Vector Database và User Tracking; phần hai là áp dụng vào dự án IUH Tour Booking của nhóm. Bài trình bày bám theo nội dung Chương 7 – Spring AI của giảng viên và bổ sung hai chủ đề được giao.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chia làm hai phần. Phần 1 nghiên cứu ba chủ đề: Spring AI theo Chương 7, Vector Database trong dự án giỏ hàng, và User Tracking trên giao diện. Phần 2 áp dụng cả ba vào dự án IUH Tour Booking của nhóm, từ kiến trúc, mã nguồn, tracking, thống kê, gợi ý cho đến kịch bản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sinh ra nội dung mới như văn bản, hình ảnh, âm thanh. Mô hình được huấn luyện bằng Transformer trên lượng dữ liệu lớn, sau đó tinh chỉnh bằng fine-tune và RLHF. Công nghệ lõi gồm LLM, embeddings và prompt engineering. Java và Spring phù hợp cho AI doanh nghiệp vì độ tin cậy, REST, Spring Data và Spring Security có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AI đưa việc tích hợp AI vào hệ sinh thái Spring quen thuộc. Dự án lấy cảm hứng từ LangChain và LlamaIndex nhưng không phải bản port trực tiếp. Điểm mạnh là đổi nhà cung cấp model chỉ bằng cấu hình. Sáu tính năng chính: ChatClient, PromptTemplate, Advisors và Memory, VectorStore, Tool Calling, Structured Output. Theo Chương 7, Spring AI 2.0.2 là bản ổn định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tích hợp: người dùng gọi REST Controller, Controller gọi AI Service dùng ChatClient, ChatClient gọi nhà cung cấp LLM và trả về văn bản, ảnh hoặc code. ChatClient dựng prompt từ PromptTemplate, chạy các advisor, gọi model rồi trả kết quả. Code mẫu cho thấy fluent API: prompt, system, user, call, content. Muốn nhận luồng token thì dùng stream thay cho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PromptTemplate cho phép viết prompt có biến dạng ngoặc nhọn và tái sử dụng, tách phần ngữ cảnh khỏi câu hỏi. Prompt gồm các vai trò system, user, assistant. Structured Output dùng entity để ánh xạ câu trả lời JSON của model sang record hoặc POJO; với danh sách thì dùng ParameterizedTypeReference. Nhờ vậy kết quả AI đi thẳng vào code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cho phép model yêu cầu ứng dụng chạy một phương thức Java. Vòng lặp gồm bốn bước: gửi prompt kèm định nghĩa tool; model yêu cầu gọi tool với tham số; ứng dụng chạy phương thức có chú thích @Tool; kết quả trả lại cho model, lặp đến khi có câu trả lời cuối. Điểm an toàn then chốt là model không bao giờ chạm trực tiếp vào cơ sở dữ liệu hay API, mọi thao tác do ứng dụng thực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gồm hai giai đoạn. Giai đoạn nạp dữ liệu ETL: đọc tài liệu, tách nhỏ thành chunk, tính embedding rồi lưu vào VectorStore. Giai đoạn truy vấn: nhúng câu hỏi, tìm đoạn gần nhất trong VectorStore, ghép vào prompt rồi để LLM trả lời. Trong Spring AI, QuestionAnswerAdvisor làm việc này tự động, MessageChatMemoryAdvisor lưu lịch sử hội thoại. Advisor là bộ chặn quanh lời gọi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biến văn bản thành vector số thực sao cho các văn bản gần nghĩa nằm gần nhau trong không gian. Độ tương đồng cosine đo góc giữa hai vector: góc nhỏ thì cosine gần 1, góc vuông thì bằng 0, ngược hướng thì bằng âm 1. Trong hình minh hoạ, hai tour biển có góc rất nhỏ còn tour núi rừng lệch gần vuông góc. Số chiều phụ thuộc model và phải khớp với VectorStore.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là đơn vị lưu trữ gồm id, text, metadata và embedding; embedding do VectorStore tự tính qua EmbeddingModel khi gọi add. Truy vấn dùng SearchRequest với query, topK, similarityThreshold và filterExpression để lọc theo metadata. VectorStore là một abstraction nên có thể đổi giữa SimpleVectorStore khi demo và PGvector, Qdrant, Weaviate, Redis khi chạy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một dự án giỏ hàng, vector database có ba ứng dụng chính: tìm kiếm theo ngữ nghĩa, gợi ý sản phẩm tương tự và chatbot tư vấn theo RAG. Về thống kê theo tiêu chí cần nói rõ: vector database không thay thế SQL cho các phép SUM hay GROUP BY. Ta kết hợp: lọc metadata rồi đếm, nhóm theo chủ đề, và dùng LLM với Structured Output để phân loại đánh giá rồi đếm bằng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Chương 7, có bốn nhóm thực hành tốt: bảo mật và cấu hình, tối ưu prompt, logging và gỡ lỗi, thiết kế module. Về DevOps, pipeline gồm push code, CI build và test, đóng gói Docker, triển khai Kubernetes và quan sát. Môi trường dev dùng Ollama, prod dùng model trên cloud; khi kiểm thử thì mock ChatModel để không tốn chi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tracking là ghi nhận hành vi của người dùng trên giao diện để hiểu họ. Năm chỉ số tiêu biểu: thời gian trên trang, số lần click vào sản phẩm, số lần thêm vào giỏ, sản phẩm được đặt nhiều nhất và từ khoá tìm kiếm. Các chỉ số này nối thành phễu chuyển đổi: xem, click, thêm giỏ, đặt hàng, và các tỉ lệ giữa các bước cho biết điểm khách bỏ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dữ liệu: JavaScript trên trình duyệt bắt sự kiện, gửi POST tới API, server kiểm tra rồi lưu vào bảng sự kiện, sau đó báo cáo và dashboard đọc ra. Các kỹ thuật chính: event delegation để bắt click; Page Visibility API để đo thời gian xem thực sự; fetch keepalive hoặc sendBeacon để gửi được cả khi đóng tab; IntersectionObserver để đo impression. Đoạn code minh hoạ đo time-on-page.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hai hướng: dùng công cụ có sẵn như Google Analytics 4, Matomo, Hotjar, Microsoft Clarity, PostHog, Mixpanel; hoặc tự xây để khớp nghiệp vụ và join được với dữ liệu đơn hàng. Dù chọn hướng nào cũng phải tôn trọng quyền riêng tư: thông báo và xin đồng ý, tuân thủ Nghị định 13/2023/NĐ-CP về bảo vệ dữ liệu cá nhân, thu thập tối thiểu, và không tin dữ liệu từ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Dự án của nhóm là website giới thiệu và đặt tour du lịch trực tuyến. Công nghệ: Spring Boot 3.5.16, Java 21, SQL Server nay có 17 bảng sau khi thêm bảng user_events, JPA và Hibernate với ddl-auto validate, giao diện Thymeleaf, Bootstrap 5 và jQuery. Giỏ hàng nằm trong HttpSession. Khác với shop thông thường, sản phẩm là Tour và đơn vị đặt là lịch khởi hành. Bảng bên phải đối chiếu hạn chế trước đây với phần nhóm đã bổ sung: tìm ngữ nghĩa, bảng ghi hành vi, thống kê phễu, chatbot RAG kèm tool.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Kiến trúc thực tế của dự án, mô phỏng Product Assistant ở Chương 7. Làn trên là trợ lý: khung chat gọi ChatApiController, AiChatService dùng ChatClient với bộ nhớ, QuestionAnswerAdvisor và TourTools, gọi mô hình Gemini. Làn giữa là tìm kiếm và gợi ý: SemanticSearchService và TourVectorService dùng SimpleVectorStore lưu ra tệp. Làn dưới là theo dõi hành vi: tracker.js gửi sự kiện tới TrackingApiController, TrackingService ghi vào bảng user_events, BehaviorStatsService đọc ra cho trang thống kê. SQL Server là nguồn dữ liệu gốc, kho vector chỉ là chỉ mục phụ.</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Quyết định thiết kế: danh sách vector store trong Chương 7 không có SQL Server nên nhóm giữ SQL Server làm nguồn dữ liệu gốc và thêm SimpleVectorStore làm chỉ mục phụ, lưu ra tệp để không phải nhúng lại mỗi lần khởi động. Nhà cung cấp mặc định là Google Gemini gói miễn phí, gọi qua endpoint tương thích OpenAI nên chỉ cần một starter và có thể đổi sang OpenAI hoặc Ollama bằng biến môi trường. Về phiên bản: Chương 7 dùng Spring AI 2.0.2 nhưng bản này nhắm tới Spring Boot 4; dự án dùng Boot 3.5.16 nên chọn Spring AI 1.1.8. Lưu ý gói miễn phí giới hạn số yêu cầu mỗi phút và Google có thể dùng nội dung gửi lên để cải thiện sản phẩm.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Trong pom.xml thêm property spring-ai.version bằng 1.1.8, nhập BOM spring-ai-bom với scope import, rồi thêm ba thư viện: starter model OpenAI, spring-ai-vector-store và spring-ai-advisors-vector-store. Dùng chung một starter OpenAI nhưng trỏ base-url tới Gemini, đường dẫn chat và embedding theo kiểu tương thích OpenAI của Google. Khoá lấy từ biến môi trường GEMINI_API_KEY, không commit. H2 chỉ dùng ở phạm vi test để chạy cả ứng dụng mà không cần SQL Server. Một chi tiết kỹ thuật: cấu hình tự động của Spring AI ném lỗi nếu khoá rỗng, nên nhóm có một lớp xử lý môi trường tắt cấu hình này khi AI tắt.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Cấu hình AI chỉ được nạp khi AI bật. Ở đây khai báo bean TourVectorStore, là SimpleVectorStore có thêm thao tác liệt kê id và xoá sạch, bọc EmbeddingModel trong ThrottledEmbeddingModel vì SimpleVectorStore gọi API nhúng từng tài liệu một và gói miễn phí có hạn mức theo phút. Bean ChatMemory dùng bộ nhớ trong RAM với cửa sổ 20 tin. Khi AI tắt thì không có bean nào trong số này, và các service dùng ObjectProvider nên tự lùi về tìm từ khoá.</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TourDocumentFactory biến mỗi tour đang bán thành một Document: nội dung gồm tên, danh mục, điểm đến, nơi khởi hành, thời lượng, phương tiện, điểm nhấn và đoạn đầu mô tả; metadata gồm mã tour, mã danh mục, tên danh mục, điểm đến, giá và số ngày để lọc. Mã Document là tour-{id}, xác định, nên gọi add lần sau là upsert. Việc đồng bộ có ba thời điểm: khi ứng dụng sẵn sàng sau bước đổ dữ liệu mẫu, tự động sau khi admin thêm, sửa, xoá hoặc đổi trạng thái tour, và thủ công bằng nút lập chỉ mục lại ở trang quản trị. Lúc khởi động, nếu tệp lưu khớp mô hình hiện tại thì nạp tệp chứ không gọi lại API.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Phương thức search nhận câu truy vấn và bộ lọc, dựng SearchRequest với topK, ngưỡng giống nhau cấu hình được và biểu thức lọc metadata dựng bằng FilterExpressionBuilder nên không có nguy cơ injection. Phía trên, SemanticSearchService dùng PriceHintParser để rút cụm chỉ giá như dưới 5 triệu thành bộ lọc, đọc các tour theo id giữ nguyên thứ tự xếp hạng rồi phân trang. Nếu AI chưa cấu hình, nhà cung cấp lỗi hoặc không có kết quả đủ giống thì lùi về tìm từ khoá sẵn có và hiện thông báo. Cùng chức năng có sẵn dưới dạng REST GET /api/tours/semantic.</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Mô hình theo Product Assistant của Chương 7. Lớp TourTools có đúng ba công cụ: searchTours dùng lại đường tìm ngữ nghĩa kèm dự phòng, getDepartures trả lịch khởi hành còn chỗ với giá và số chỗ đọc từ cơ sở dữ liệu, và addToCart gọi CartService.addByDeparture có sẵn. Phiên và mã người dùng đi qua ToolContext ở phía máy chủ, không bao giờ tới mô hình. Mọi kiểm tra còn bán, đủ chỗ, tối đa 30 khách vẫn do CartService thực hiện. Chatbot không có công cụ thanh toán hay chốt đơn; khách tự vào Giỏ hàng và Thanh toán. Có kiểm thử tự động xác nhận lớp này chỉ có đúng ba phương thức công cụ.</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Bean ChatClient được dựng một lần với lời nhắc hệ thống, hai advisor là bộ nhớ hội thoại và QuestionAnswerAdvisor cho RAG, cùng TourTools. AiChatService dùng mã phiên đã băm làm conversationId nên mỗi phiên có lịch sử riêng, truyền phiên và mã người dùng vào toolContext, kiểm tra độ dài, giới hạn 8 tin mỗi phút và biến lỗi nhà cung cấp thành câu thông báo thân thiện với mã 503. Lời nhắc hệ thống bắt buộc trả lời tiếng Việt, không bịa số liệu, chỉ thêm vào giỏ khi khách đồng ý, không thanh toán và bỏ qua yêu cầu đổi quy tắc. Khung chat nổi nằm trong fragment scripts nên có ở mọi trang công khai.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Năm loại sự kiện: VIEW khi mở trang chi tiết tour, CLICK khi bấm thẻ tour, TIME_ON_PAGE khi ẩn hoặc rời trang chi tiết, SEARCH khi gửi biểu mẫu tìm kiếm có ô q, và ADD_TO_CART được ghi ở phía máy chủ sau khi thêm vào giỏ thành công, kể cả khi thêm qua chatbot, nên không đếm những lần hết chỗ hay lỗi. Bảng user_events có trong 02_schema.sql và có thêm script 05_user_events.sql chạy lại nhiều lần vẫn an toàn cho cơ sở dữ liệu đã có. Vì ddl-auto là validate nên bảng phải tạo bằng script. Bảng không có khoá ngoại để ghi nhanh và không cản việc xoá tour; cột page_url chỉ lưu phần đường dẫn.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Entity UserEvent ánh xạ bảng user_events. Enum EventType được lưu dạng chuỗi qua một AttributeConverter autoApply, đúng như các converter hiện có, để tránh sinh CHECK constraint. Phía máy chủ kiểm tra chặt: chỉ nhận loại sự kiện hợp lệ và đủ trường theo từng loại, tự lấy userId từ SecurityContext và sessionId từ HttpSession rồi băm SHA-256 để không lưu mã phiên đang sống, bỏ qua trình thu thập tự động, giới hạn 60 sự kiện mỗi phút mỗi phiên, bỏ lượt xem dưới nửa giây và cắt ở 30 phút. Lỗi ghi cơ sở dữ liệu chỉ được ghi log, không làm hỏng việc đặt tour. Dữ liệu quá 180 ngày bị xoá tự động mỗi đêm.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Controller nhận TrackingRequest đã được kiểm tra bằng Bean Validation, lấy sessionId và userId từ phía máy chủ rồi gọi TrackingService, trả về 202. Cần mở quyền cho POST /api/tracking và /api/chat trong SecurityConfig; CSRF vẫn bật nên tracker.js đọc token từ thẻ meta. Trong template, thẻ tour ở components.html có thuộc tính data-track-tour, trang chi tiết có data-track-view trên thẻ main, và fragment scripts nạp tracker.js cùng khung chat.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Hàm track gửi sự kiện bằng fetch với keepalive và tiêu đề CSRF. Dùng fetch thay cho sendBeacon vì sendBeacon không đặt được tiêu đề, mà Spring Security đang bật CSRF nên sẽ chặn. keepalive vẫn cho phép gửi khi trang đóng. Sự kiện VIEW gửi khi trang có thuộc tính data-track-view, CLICK dùng event delegation trên các liên kết bên trong thẻ có data-track-tour. Mã người dùng và mã phiên không bao giờ do trình duyệt gửi. Nếu trình duyệt bật Do Not Track thì tracker.js không gửi gì.</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còn lại của tracker.js. SEARCH bám vào mọi biểu mẫu có ô tên q, gồm ô tìm trên thanh điều hướng và bộ lọc ở danh sách tour. TIME_ON_PAGE cộng dồn thời gian trang thực sự hiển thị bằng Page Visibility API và gửi mỗi khi trang bị ẩn hoặc rời đi. ADD_TO_CART không do trình duyệt báo mà do máy chủ ghi ngay sau khi thêm vào giỏ thành công, kể cả khi thêm qua chatbot, nên số liệu chính xác hơn.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 truy vấn chính, đều viết bằng JPQL, không dùng thủ tục lưu trữ. Bên trái là top tour theo số sự kiện của một loại, ví dụ xem hoặc bấm, trong khoảng ngày chọn. Bên phải là phễu theo từng tour: tính số lượt xem, bấm và thêm giỏ bằng tổng có điều kiện CASE WHEN, còn số đơn lấy từ truy vấn riêng trên bảng chi tiết đơn, không tính đơn đã huỷ, rồi ghép lại trong Java để chia ra tỉ lệ. Hai phép tổng hợp này được kiểm bằng kiểm thử chạy ứng dụng trên H2; cần chạy thử thêm trên SQL Server thật.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bản phác thảo trang thống kê hành vi mà nhóm đã hiện thực ở /admin/analytics, cùng phong cách các trang quản trị khác. Trang có bộ lọc khoảng ngày, các thẻ số liệu, phễu ba bước gồm số phiên có xem tour, số phiên có thêm giỏ và số đơn đặt lấy từ bảng đơn hàng, bảng phễu theo từng tour, top tour được xem, được bấm, được đặt nhiều, từ khoá tìm kiếm và thời gian xem trung bình. Toàn bộ số liệu trên slide chỉ là minh hoạ, không phải dữ liệu thật; khi trình diễn trực tiếp sẽ dùng trang thật sau khi tạo vài sự kiện.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Luồng gợi ý gồm bốn bước. Một: lấy tín hiệu từ user_events của tài khoản và của phiên trong 30 ngày với trọng số xem 1, bấm 2, thêm giỏ 3. Hai: lấy tối đa ba tour điểm cao nhất làm hạt giống. Ba: tìm các tour giống từng hạt giống bằng vector và loại những tour đã xem. Bốn: xếp hạng lại theo công thức 0,7 nhân độ giống cộng 0,3 nhân độ phổ biến. Khi chưa có lịch sử thì dùng tour phổ biến, khi AI tắt hoặc lỗi thì lùi về tour cùng danh mục. Mã phiên của khách ẩn danh đổi khi đăng nhập nên lịch sử trước đăng nhập không nối với tài khoản.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demo gồm sáu bước, dựa trên dữ liệu mẫu 20 tour. Bước một kiểm tra khoá API và số tour đã lập chỉ mục ở trang quản trị AI. Bước hai bật Tìm bằng AI và gõ một câu mô tả có cả mức giá. Bước ba duyệt vài tour để tracker ghi sự kiện. Bước bốn hỏi chatbot: tìm tour, xem lịch khởi hành rồi thêm vào giỏ. Bước năm mở trang thống kê hành vi để thấy phễu và top tour. Bước sáu về trang chủ để thấy khối gợi ý đã đổi theo các tour vừa xem. Nếu mạng hoặc khoá lỗi, bỏ khoá để chạy chế độ dự phòng: tìm từ khoá, chatbot báo chưa cấu hình, các phần còn lại vẫn chạy. Chi tiết xem tệp HUONG_DAN_DEMO.md.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Tóm lại: Spring AI cho một API thống nhất để dùng chat, embedding, vector store và tool calling; vector database giúp tìm kiếm và gợi ý theo ngữ nghĩa; tracking biến hành vi thành số liệu. Khi kết hợp, IUH Tour Booking có tìm kiếm thông minh, chatbot tư vấn và gợi ý cá nhân hoá, và vẫn chạy đủ chức năng khi không có khoá AI. Cần chú ý tương thích phiên bản Spring Boot và Spring AI, tốc độ và quyền riêng tư của gói miễn phí, prompt injection và việc xin đồng ý khi thu thập hành vi. Nhóm đã kiểm bằng 73 kiểm thử tự động, nhưng chưa thử trên SQL Server thật.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liệu chính là Chương 7 Spring AI của giảng viên và tài liệu chính thức của Spring AI. Các nguồn khác gồm pgvector, Qdrant, Weaviate, Ollama, OpenAI Platform, LangChain4j; MDN cho Page Visibility API và fetch keepalive; và Nghị định 13/2023/NĐ-CP về bảo vệ dữ liệu cá nhân. Xin cảm ơn thầy/cô và các bạn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625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223760" cy="23774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4206240"/>
            <a:ext cx="6766560" cy="914400"/>
          </a:xfrm>
          <a:prstGeom prst="rect">
            <a:avLst/>
          </a:prstGeom>
          <a:noFill/>
          <a:ln/>
        </p:spPr>
        <p:txBody>
          <a:bodyPr wrap="square" rtlCol="0"/>
          <a:lstStyle>
            <a:lvl1pPr algn="l" indent="0" marL="0">
              <a:buNone/>
              <a:defRPr lang="en-US" sz="1900" dirty="0">
                <a:solidFill>
                  <a:schemeClr val="accent5"/>
                </a:solidFill>
              </a:defRPr>
            </a:lvl1pPr>
          </a:lstStyle>
          <a:p>
            <a:pPr algn="l"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Spring AI · Vector Database · User Tracking  |  IUH Tour Booking</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625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Spring AI · Vector Database · User Tracking  |  IUH Tour Booking</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3.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3.xml"/><Relationship Id="rId10"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1051560"/>
            <a:ext cx="54864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BÁO CÁO CHUYÊN ĐỀ AI</a:t>
            </a:r>
            <a:endParaRPr lang="en-US" sz="1400" dirty="0"/>
          </a:p>
        </p:txBody>
      </p:sp>
      <p:sp>
        <p:nvSpPr>
          <p:cNvPr id="4" name="Text 0"/>
          <p:cNvSpPr/>
          <p:nvPr>
            <p:ph idx="100" type="title" hasCustomPrompt="1"/>
          </p:nvPr>
        </p:nvSpPr>
        <p:spPr>
          <a:xfrm>
            <a:off x="731520" y="1600200"/>
            <a:ext cx="7223760" cy="2377440"/>
          </a:xfrm>
          <a:prstGeom prst="rect">
            <a:avLst/>
          </a:prstGeom>
          <a:noFill/>
          <a:ln/>
        </p:spPr>
        <p:txBody>
          <a:bodyPr wrap="square" lIns="0" tIns="0" rIns="0" bIns="0" rtlCol="0" anchor="t"/>
          <a:lstStyle/>
          <a:p>
            <a:pPr algn="l" indent="0" marL="0">
              <a:buNone/>
            </a:pPr>
            <a:r>
              <a:rPr lang="en-US" sz="4600" b="1" dirty="0">
                <a:solidFill>
                  <a:schemeClr val="bg1"/>
                </a:solidFill>
              </a:rPr>
              <a:t>Spring AI,</a:t>
            </a:r>
            <a:endParaRPr lang="en-US" sz="4600" dirty="0"/>
          </a:p>
          <a:p>
            <a:pPr algn="l" indent="0" marL="0">
              <a:buNone/>
            </a:pPr>
            <a:r>
              <a:rPr lang="en-US" sz="4600" b="1" dirty="0">
                <a:solidFill>
                  <a:schemeClr val="bg1"/>
                </a:solidFill>
              </a:rPr>
              <a:t>Vector Database</a:t>
            </a:r>
            <a:endParaRPr lang="en-US" sz="4600" dirty="0"/>
          </a:p>
          <a:p>
            <a:pPr algn="l" indent="0" marL="0">
              <a:buNone/>
            </a:pPr>
            <a:r>
              <a:rPr lang="en-US" sz="4600" b="1" dirty="0">
                <a:solidFill>
                  <a:schemeClr val="bg1"/>
                </a:solidFill>
              </a:rPr>
              <a:t>&amp; User Tracking</a:t>
            </a:r>
            <a:endParaRPr lang="en-US" sz="4600" dirty="0"/>
          </a:p>
        </p:txBody>
      </p:sp>
      <p:sp>
        <p:nvSpPr>
          <p:cNvPr id="5" name="Text 0"/>
          <p:cNvSpPr/>
          <p:nvPr>
            <p:ph idx="101" type="body" hasCustomPrompt="1"/>
          </p:nvPr>
        </p:nvSpPr>
        <p:spPr>
          <a:xfrm>
            <a:off x="731520" y="4206240"/>
            <a:ext cx="6766560" cy="914400"/>
          </a:xfrm>
          <a:prstGeom prst="rect">
            <a:avLst/>
          </a:prstGeom>
          <a:noFill/>
          <a:ln/>
        </p:spPr>
        <p:txBody>
          <a:bodyPr wrap="square" lIns="0" tIns="0" rIns="0" bIns="0" rtlCol="0" anchor="t"/>
          <a:lstStyle/>
          <a:p>
            <a:pPr algn="l" indent="0" marL="0">
              <a:buNone/>
            </a:pPr>
            <a:r>
              <a:rPr lang="en-US" sz="1900" dirty="0">
                <a:solidFill>
                  <a:schemeClr val="accent5"/>
                </a:solidFill>
              </a:rPr>
              <a:t>Từ nghiên cứu đến ứng dụng trong dự án IUH Tour Booking (Spring Boot + SQL Server)</a:t>
            </a:r>
            <a:endParaRPr lang="en-US" sz="1900" dirty="0"/>
          </a:p>
        </p:txBody>
      </p:sp>
      <p:sp>
        <p:nvSpPr>
          <p:cNvPr id="6" name="Text 3"/>
          <p:cNvSpPr txBox="1"/>
          <p:nvPr/>
        </p:nvSpPr>
        <p:spPr>
          <a:xfrm>
            <a:off x="731520" y="5257800"/>
            <a:ext cx="6949440" cy="320040"/>
          </a:xfrm>
          <a:prstGeom prst="rect">
            <a:avLst/>
          </a:prstGeom>
          <a:noFill/>
          <a:ln/>
        </p:spPr>
        <p:txBody>
          <a:bodyPr wrap="square" lIns="0" tIns="0" rIns="0" bIns="0" rtlCol="0" anchor="t"/>
          <a:lstStyle/>
          <a:p>
            <a:pPr indent="0" marL="0">
              <a:buNone/>
            </a:pPr>
            <a:r>
              <a:rPr lang="en-US" sz="1400" dirty="0">
                <a:solidFill>
                  <a:schemeClr val="bg1"/>
                </a:solidFill>
              </a:rPr>
              <a:t>Phần 1: Nghiên cứu     Phần 2: Áp dụng vào bài tập của nhóm</a:t>
            </a:r>
            <a:endParaRPr lang="en-US" sz="1400" dirty="0"/>
          </a:p>
        </p:txBody>
      </p:sp>
      <p:sp>
        <p:nvSpPr>
          <p:cNvPr id="7" name="Text 4"/>
          <p:cNvSpPr txBox="1"/>
          <p:nvPr/>
        </p:nvSpPr>
        <p:spPr>
          <a:xfrm>
            <a:off x="731520" y="5760720"/>
            <a:ext cx="6949440" cy="320040"/>
          </a:xfrm>
          <a:prstGeom prst="rect">
            <a:avLst/>
          </a:prstGeom>
          <a:noFill/>
          <a:ln/>
        </p:spPr>
        <p:txBody>
          <a:bodyPr wrap="square" lIns="0" tIns="0" rIns="0" bIns="0" rtlCol="0" anchor="t"/>
          <a:lstStyle/>
          <a:p>
            <a:pPr indent="0" marL="0">
              <a:buNone/>
            </a:pPr>
            <a:r>
              <a:rPr lang="en-US" sz="1400" dirty="0">
                <a:solidFill>
                  <a:schemeClr val="accent5"/>
                </a:solidFill>
              </a:rPr>
              <a:t>Nhóm thực hiện: (điền tên nhóm và thành viên)</a:t>
            </a:r>
            <a:endParaRPr lang="en-US" sz="1400" dirty="0"/>
          </a:p>
        </p:txBody>
      </p:sp>
      <p:sp>
        <p:nvSpPr>
          <p:cNvPr id="8" name="Arrow"/>
          <p:cNvSpPr/>
          <p:nvPr/>
        </p:nvSpPr>
        <p:spPr>
          <a:xfrm>
            <a:off x="8750808" y="1527048"/>
            <a:ext cx="603504" cy="603504"/>
          </a:xfrm>
          <a:prstGeom prst="line">
            <a:avLst/>
          </a:prstGeom>
          <a:noFill/>
          <a:ln w="12700">
            <a:solidFill>
              <a:schemeClr val="accent4"/>
            </a:solidFill>
            <a:prstDash val="solid"/>
          </a:ln>
        </p:spPr>
      </p:sp>
      <p:sp>
        <p:nvSpPr>
          <p:cNvPr id="9" name="Arrow"/>
          <p:cNvSpPr/>
          <p:nvPr/>
        </p:nvSpPr>
        <p:spPr>
          <a:xfrm flipV="1">
            <a:off x="9354312" y="1417320"/>
            <a:ext cx="521208" cy="713232"/>
          </a:xfrm>
          <a:prstGeom prst="line">
            <a:avLst/>
          </a:prstGeom>
          <a:noFill/>
          <a:ln w="12700">
            <a:solidFill>
              <a:schemeClr val="accent4"/>
            </a:solidFill>
            <a:prstDash val="solid"/>
          </a:ln>
        </p:spPr>
      </p:sp>
      <p:sp>
        <p:nvSpPr>
          <p:cNvPr id="10" name="Arrow"/>
          <p:cNvSpPr/>
          <p:nvPr/>
        </p:nvSpPr>
        <p:spPr>
          <a:xfrm flipH="1">
            <a:off x="8330184" y="1527048"/>
            <a:ext cx="420624" cy="905256"/>
          </a:xfrm>
          <a:prstGeom prst="line">
            <a:avLst/>
          </a:prstGeom>
          <a:noFill/>
          <a:ln w="12700">
            <a:solidFill>
              <a:schemeClr val="accent4"/>
            </a:solidFill>
            <a:prstDash val="solid"/>
          </a:ln>
        </p:spPr>
      </p:sp>
      <p:sp>
        <p:nvSpPr>
          <p:cNvPr id="11" name="Arrow"/>
          <p:cNvSpPr/>
          <p:nvPr/>
        </p:nvSpPr>
        <p:spPr>
          <a:xfrm flipH="1">
            <a:off x="9006840" y="2130552"/>
            <a:ext cx="347472" cy="749808"/>
          </a:xfrm>
          <a:prstGeom prst="line">
            <a:avLst/>
          </a:prstGeom>
          <a:noFill/>
          <a:ln w="12700">
            <a:solidFill>
              <a:schemeClr val="accent4"/>
            </a:solidFill>
            <a:prstDash val="solid"/>
          </a:ln>
        </p:spPr>
      </p:sp>
      <p:sp>
        <p:nvSpPr>
          <p:cNvPr id="12" name="Arrow"/>
          <p:cNvSpPr/>
          <p:nvPr/>
        </p:nvSpPr>
        <p:spPr>
          <a:xfrm>
            <a:off x="10488168" y="4178808"/>
            <a:ext cx="594360" cy="502920"/>
          </a:xfrm>
          <a:prstGeom prst="line">
            <a:avLst/>
          </a:prstGeom>
          <a:noFill/>
          <a:ln w="12700">
            <a:solidFill>
              <a:schemeClr val="accent2"/>
            </a:solidFill>
            <a:prstDash val="solid"/>
          </a:ln>
        </p:spPr>
      </p:sp>
      <p:sp>
        <p:nvSpPr>
          <p:cNvPr id="13" name="Arrow"/>
          <p:cNvSpPr/>
          <p:nvPr/>
        </p:nvSpPr>
        <p:spPr>
          <a:xfrm flipH="1">
            <a:off x="10003536" y="4178808"/>
            <a:ext cx="484632" cy="704088"/>
          </a:xfrm>
          <a:prstGeom prst="line">
            <a:avLst/>
          </a:prstGeom>
          <a:noFill/>
          <a:ln w="12700">
            <a:solidFill>
              <a:schemeClr val="accent2"/>
            </a:solidFill>
            <a:prstDash val="solid"/>
          </a:ln>
        </p:spPr>
      </p:sp>
      <p:sp>
        <p:nvSpPr>
          <p:cNvPr id="14" name="Arrow"/>
          <p:cNvSpPr/>
          <p:nvPr/>
        </p:nvSpPr>
        <p:spPr>
          <a:xfrm flipV="1">
            <a:off x="11082528" y="4261104"/>
            <a:ext cx="265176" cy="420624"/>
          </a:xfrm>
          <a:prstGeom prst="line">
            <a:avLst/>
          </a:prstGeom>
          <a:noFill/>
          <a:ln w="12700">
            <a:solidFill>
              <a:schemeClr val="accent2"/>
            </a:solidFill>
            <a:prstDash val="solid"/>
          </a:ln>
        </p:spPr>
      </p:sp>
      <p:sp>
        <p:nvSpPr>
          <p:cNvPr id="15" name="Arrow"/>
          <p:cNvSpPr/>
          <p:nvPr/>
        </p:nvSpPr>
        <p:spPr>
          <a:xfrm flipH="1">
            <a:off x="10488168" y="3703320"/>
            <a:ext cx="393192" cy="475488"/>
          </a:xfrm>
          <a:prstGeom prst="line">
            <a:avLst/>
          </a:prstGeom>
          <a:noFill/>
          <a:ln w="12700">
            <a:solidFill>
              <a:schemeClr val="accent2"/>
            </a:solidFill>
            <a:prstDash val="solid"/>
          </a:ln>
        </p:spPr>
      </p:sp>
      <p:sp>
        <p:nvSpPr>
          <p:cNvPr id="16" name="Arrow"/>
          <p:cNvSpPr/>
          <p:nvPr/>
        </p:nvSpPr>
        <p:spPr>
          <a:xfrm flipH="1" flipV="1">
            <a:off x="8147304" y="4398264"/>
            <a:ext cx="402336" cy="950976"/>
          </a:xfrm>
          <a:prstGeom prst="line">
            <a:avLst/>
          </a:prstGeom>
          <a:noFill/>
          <a:ln w="12700">
            <a:solidFill>
              <a:schemeClr val="accent5"/>
            </a:solidFill>
            <a:prstDash val="solid"/>
          </a:ln>
        </p:spPr>
      </p:sp>
      <p:sp>
        <p:nvSpPr>
          <p:cNvPr id="17" name="Arrow"/>
          <p:cNvSpPr/>
          <p:nvPr/>
        </p:nvSpPr>
        <p:spPr>
          <a:xfrm>
            <a:off x="8549640" y="5349240"/>
            <a:ext cx="338328" cy="429768"/>
          </a:xfrm>
          <a:prstGeom prst="line">
            <a:avLst/>
          </a:prstGeom>
          <a:noFill/>
          <a:ln w="12700">
            <a:solidFill>
              <a:schemeClr val="accent5"/>
            </a:solidFill>
            <a:prstDash val="solid"/>
          </a:ln>
        </p:spPr>
      </p:sp>
      <p:sp>
        <p:nvSpPr>
          <p:cNvPr id="18" name="Arrow"/>
          <p:cNvSpPr/>
          <p:nvPr/>
        </p:nvSpPr>
        <p:spPr>
          <a:xfrm flipV="1">
            <a:off x="8887968" y="5522976"/>
            <a:ext cx="704088" cy="256032"/>
          </a:xfrm>
          <a:prstGeom prst="line">
            <a:avLst/>
          </a:prstGeom>
          <a:noFill/>
          <a:ln w="12700">
            <a:solidFill>
              <a:schemeClr val="accent5"/>
            </a:solidFill>
            <a:prstDash val="solid"/>
          </a:ln>
        </p:spPr>
      </p:sp>
      <p:sp>
        <p:nvSpPr>
          <p:cNvPr id="19" name="Arrow"/>
          <p:cNvSpPr/>
          <p:nvPr/>
        </p:nvSpPr>
        <p:spPr>
          <a:xfrm flipV="1">
            <a:off x="8147304" y="4206240"/>
            <a:ext cx="996696" cy="192024"/>
          </a:xfrm>
          <a:prstGeom prst="line">
            <a:avLst/>
          </a:prstGeom>
          <a:noFill/>
          <a:ln w="12700">
            <a:solidFill>
              <a:schemeClr val="accent5"/>
            </a:solidFill>
            <a:prstDash val="solid"/>
          </a:ln>
        </p:spPr>
      </p:sp>
      <p:sp>
        <p:nvSpPr>
          <p:cNvPr id="20" name="Arrow"/>
          <p:cNvSpPr/>
          <p:nvPr/>
        </p:nvSpPr>
        <p:spPr>
          <a:xfrm>
            <a:off x="11055096" y="1819656"/>
            <a:ext cx="475488" cy="749808"/>
          </a:xfrm>
          <a:prstGeom prst="line">
            <a:avLst/>
          </a:prstGeom>
          <a:noFill/>
          <a:ln w="12700">
            <a:solidFill>
              <a:schemeClr val="accent6"/>
            </a:solidFill>
            <a:prstDash val="solid"/>
          </a:ln>
        </p:spPr>
      </p:sp>
      <p:sp>
        <p:nvSpPr>
          <p:cNvPr id="21" name="Arrow"/>
          <p:cNvSpPr/>
          <p:nvPr/>
        </p:nvSpPr>
        <p:spPr>
          <a:xfrm flipH="1">
            <a:off x="10588752" y="2569464"/>
            <a:ext cx="941832" cy="155448"/>
          </a:xfrm>
          <a:prstGeom prst="line">
            <a:avLst/>
          </a:prstGeom>
          <a:noFill/>
          <a:ln w="12700">
            <a:solidFill>
              <a:schemeClr val="accent6"/>
            </a:solidFill>
            <a:prstDash val="solid"/>
          </a:ln>
        </p:spPr>
      </p:sp>
      <p:sp>
        <p:nvSpPr>
          <p:cNvPr id="22" name="Vector point"/>
          <p:cNvSpPr/>
          <p:nvPr/>
        </p:nvSpPr>
        <p:spPr>
          <a:xfrm>
            <a:off x="8595360" y="1371600"/>
            <a:ext cx="310896" cy="310896"/>
          </a:xfrm>
          <a:prstGeom prst="ellipse">
            <a:avLst/>
          </a:prstGeom>
          <a:solidFill>
            <a:schemeClr val="accent4"/>
          </a:solidFill>
          <a:ln w="12700">
            <a:solidFill>
              <a:schemeClr val="accent4"/>
            </a:solidFill>
            <a:prstDash val="solid"/>
          </a:ln>
        </p:spPr>
      </p:sp>
      <p:sp>
        <p:nvSpPr>
          <p:cNvPr id="23" name="Vector point"/>
          <p:cNvSpPr/>
          <p:nvPr/>
        </p:nvSpPr>
        <p:spPr>
          <a:xfrm>
            <a:off x="9235440" y="2011680"/>
            <a:ext cx="237744" cy="237744"/>
          </a:xfrm>
          <a:prstGeom prst="ellipse">
            <a:avLst/>
          </a:prstGeom>
          <a:solidFill>
            <a:schemeClr val="accent4"/>
          </a:solidFill>
          <a:ln w="12700">
            <a:solidFill>
              <a:schemeClr val="accent4"/>
            </a:solidFill>
            <a:prstDash val="solid"/>
          </a:ln>
        </p:spPr>
      </p:sp>
      <p:sp>
        <p:nvSpPr>
          <p:cNvPr id="24" name="Vector point"/>
          <p:cNvSpPr/>
          <p:nvPr/>
        </p:nvSpPr>
        <p:spPr>
          <a:xfrm>
            <a:off x="8229600" y="2331720"/>
            <a:ext cx="201168" cy="201168"/>
          </a:xfrm>
          <a:prstGeom prst="ellipse">
            <a:avLst/>
          </a:prstGeom>
          <a:solidFill>
            <a:schemeClr val="accent4"/>
          </a:solidFill>
          <a:ln w="12700">
            <a:solidFill>
              <a:schemeClr val="accent4"/>
            </a:solidFill>
            <a:prstDash val="solid"/>
          </a:ln>
        </p:spPr>
      </p:sp>
      <p:sp>
        <p:nvSpPr>
          <p:cNvPr id="25" name="Vector point"/>
          <p:cNvSpPr/>
          <p:nvPr/>
        </p:nvSpPr>
        <p:spPr>
          <a:xfrm>
            <a:off x="9784080" y="1325880"/>
            <a:ext cx="182880" cy="182880"/>
          </a:xfrm>
          <a:prstGeom prst="ellipse">
            <a:avLst/>
          </a:prstGeom>
          <a:solidFill>
            <a:schemeClr val="accent4"/>
          </a:solidFill>
          <a:ln w="12700">
            <a:solidFill>
              <a:schemeClr val="accent4"/>
            </a:solidFill>
            <a:prstDash val="solid"/>
          </a:ln>
        </p:spPr>
      </p:sp>
      <p:sp>
        <p:nvSpPr>
          <p:cNvPr id="26" name="Vector point"/>
          <p:cNvSpPr/>
          <p:nvPr/>
        </p:nvSpPr>
        <p:spPr>
          <a:xfrm>
            <a:off x="8869680" y="2743200"/>
            <a:ext cx="274320" cy="274320"/>
          </a:xfrm>
          <a:prstGeom prst="ellipse">
            <a:avLst/>
          </a:prstGeom>
          <a:solidFill>
            <a:schemeClr val="accent4"/>
          </a:solidFill>
          <a:ln w="12700">
            <a:solidFill>
              <a:schemeClr val="accent4"/>
            </a:solidFill>
            <a:prstDash val="solid"/>
          </a:ln>
        </p:spPr>
      </p:sp>
      <p:sp>
        <p:nvSpPr>
          <p:cNvPr id="27" name="Vector point"/>
          <p:cNvSpPr/>
          <p:nvPr/>
        </p:nvSpPr>
        <p:spPr>
          <a:xfrm>
            <a:off x="10332720" y="4023360"/>
            <a:ext cx="310896" cy="310896"/>
          </a:xfrm>
          <a:prstGeom prst="ellipse">
            <a:avLst/>
          </a:prstGeom>
          <a:solidFill>
            <a:schemeClr val="accent2"/>
          </a:solidFill>
          <a:ln w="12700">
            <a:solidFill>
              <a:schemeClr val="accent2"/>
            </a:solidFill>
            <a:prstDash val="solid"/>
          </a:ln>
        </p:spPr>
      </p:sp>
      <p:sp>
        <p:nvSpPr>
          <p:cNvPr id="28" name="Vector point"/>
          <p:cNvSpPr/>
          <p:nvPr/>
        </p:nvSpPr>
        <p:spPr>
          <a:xfrm>
            <a:off x="10972800" y="4572000"/>
            <a:ext cx="219456" cy="219456"/>
          </a:xfrm>
          <a:prstGeom prst="ellipse">
            <a:avLst/>
          </a:prstGeom>
          <a:solidFill>
            <a:schemeClr val="accent2"/>
          </a:solidFill>
          <a:ln w="12700">
            <a:solidFill>
              <a:schemeClr val="accent2"/>
            </a:solidFill>
            <a:prstDash val="solid"/>
          </a:ln>
        </p:spPr>
      </p:sp>
      <p:sp>
        <p:nvSpPr>
          <p:cNvPr id="29" name="Vector point"/>
          <p:cNvSpPr/>
          <p:nvPr/>
        </p:nvSpPr>
        <p:spPr>
          <a:xfrm>
            <a:off x="9875520" y="4754880"/>
            <a:ext cx="256032" cy="256032"/>
          </a:xfrm>
          <a:prstGeom prst="ellipse">
            <a:avLst/>
          </a:prstGeom>
          <a:solidFill>
            <a:schemeClr val="accent2"/>
          </a:solidFill>
          <a:ln w="12700">
            <a:solidFill>
              <a:schemeClr val="accent2"/>
            </a:solidFill>
            <a:prstDash val="solid"/>
          </a:ln>
        </p:spPr>
      </p:sp>
      <p:sp>
        <p:nvSpPr>
          <p:cNvPr id="30" name="Vector point"/>
          <p:cNvSpPr/>
          <p:nvPr/>
        </p:nvSpPr>
        <p:spPr>
          <a:xfrm>
            <a:off x="10789920" y="3611880"/>
            <a:ext cx="182880" cy="182880"/>
          </a:xfrm>
          <a:prstGeom prst="ellipse">
            <a:avLst/>
          </a:prstGeom>
          <a:solidFill>
            <a:schemeClr val="accent2"/>
          </a:solidFill>
          <a:ln w="12700">
            <a:solidFill>
              <a:schemeClr val="accent2"/>
            </a:solidFill>
            <a:prstDash val="solid"/>
          </a:ln>
        </p:spPr>
      </p:sp>
      <p:sp>
        <p:nvSpPr>
          <p:cNvPr id="31" name="Vector point"/>
          <p:cNvSpPr/>
          <p:nvPr/>
        </p:nvSpPr>
        <p:spPr>
          <a:xfrm>
            <a:off x="11247120" y="4160520"/>
            <a:ext cx="201168" cy="201168"/>
          </a:xfrm>
          <a:prstGeom prst="ellipse">
            <a:avLst/>
          </a:prstGeom>
          <a:solidFill>
            <a:schemeClr val="accent2"/>
          </a:solidFill>
          <a:ln w="12700">
            <a:solidFill>
              <a:schemeClr val="accent2"/>
            </a:solidFill>
            <a:prstDash val="solid"/>
          </a:ln>
        </p:spPr>
      </p:sp>
      <p:sp>
        <p:nvSpPr>
          <p:cNvPr id="32" name="Vector point"/>
          <p:cNvSpPr/>
          <p:nvPr/>
        </p:nvSpPr>
        <p:spPr>
          <a:xfrm>
            <a:off x="8412480" y="5212080"/>
            <a:ext cx="274320" cy="274320"/>
          </a:xfrm>
          <a:prstGeom prst="ellipse">
            <a:avLst/>
          </a:prstGeom>
          <a:solidFill>
            <a:schemeClr val="accent5"/>
          </a:solidFill>
          <a:ln w="12700">
            <a:solidFill>
              <a:schemeClr val="accent5"/>
            </a:solidFill>
            <a:prstDash val="solid"/>
          </a:ln>
        </p:spPr>
      </p:sp>
      <p:sp>
        <p:nvSpPr>
          <p:cNvPr id="33" name="Vector point"/>
          <p:cNvSpPr/>
          <p:nvPr/>
        </p:nvSpPr>
        <p:spPr>
          <a:xfrm>
            <a:off x="8046720" y="4297680"/>
            <a:ext cx="201168" cy="201168"/>
          </a:xfrm>
          <a:prstGeom prst="ellipse">
            <a:avLst/>
          </a:prstGeom>
          <a:solidFill>
            <a:schemeClr val="accent5"/>
          </a:solidFill>
          <a:ln w="12700">
            <a:solidFill>
              <a:schemeClr val="accent5"/>
            </a:solidFill>
            <a:prstDash val="solid"/>
          </a:ln>
        </p:spPr>
      </p:sp>
      <p:sp>
        <p:nvSpPr>
          <p:cNvPr id="34" name="Vector point"/>
          <p:cNvSpPr/>
          <p:nvPr/>
        </p:nvSpPr>
        <p:spPr>
          <a:xfrm>
            <a:off x="9052560" y="4114800"/>
            <a:ext cx="182880" cy="182880"/>
          </a:xfrm>
          <a:prstGeom prst="ellipse">
            <a:avLst/>
          </a:prstGeom>
          <a:solidFill>
            <a:schemeClr val="accent5"/>
          </a:solidFill>
          <a:ln w="12700">
            <a:solidFill>
              <a:schemeClr val="accent5"/>
            </a:solidFill>
            <a:prstDash val="solid"/>
          </a:ln>
        </p:spPr>
      </p:sp>
      <p:sp>
        <p:nvSpPr>
          <p:cNvPr id="35" name="Vector point"/>
          <p:cNvSpPr/>
          <p:nvPr/>
        </p:nvSpPr>
        <p:spPr>
          <a:xfrm>
            <a:off x="8778240" y="5669280"/>
            <a:ext cx="219456" cy="219456"/>
          </a:xfrm>
          <a:prstGeom prst="ellipse">
            <a:avLst/>
          </a:prstGeom>
          <a:solidFill>
            <a:schemeClr val="accent5"/>
          </a:solidFill>
          <a:ln w="12700">
            <a:solidFill>
              <a:schemeClr val="accent5"/>
            </a:solidFill>
            <a:prstDash val="solid"/>
          </a:ln>
        </p:spPr>
      </p:sp>
      <p:sp>
        <p:nvSpPr>
          <p:cNvPr id="36" name="Vector point"/>
          <p:cNvSpPr/>
          <p:nvPr/>
        </p:nvSpPr>
        <p:spPr>
          <a:xfrm>
            <a:off x="9509760" y="5440680"/>
            <a:ext cx="164592" cy="164592"/>
          </a:xfrm>
          <a:prstGeom prst="ellipse">
            <a:avLst/>
          </a:prstGeom>
          <a:solidFill>
            <a:schemeClr val="accent5"/>
          </a:solidFill>
          <a:ln w="12700">
            <a:solidFill>
              <a:schemeClr val="accent5"/>
            </a:solidFill>
            <a:prstDash val="solid"/>
          </a:ln>
        </p:spPr>
      </p:sp>
      <p:sp>
        <p:nvSpPr>
          <p:cNvPr id="37" name="Vector point"/>
          <p:cNvSpPr/>
          <p:nvPr/>
        </p:nvSpPr>
        <p:spPr>
          <a:xfrm>
            <a:off x="10972800" y="1737360"/>
            <a:ext cx="164592" cy="164592"/>
          </a:xfrm>
          <a:prstGeom prst="ellipse">
            <a:avLst/>
          </a:prstGeom>
          <a:solidFill>
            <a:schemeClr val="accent6"/>
          </a:solidFill>
          <a:ln w="12700">
            <a:solidFill>
              <a:schemeClr val="accent6"/>
            </a:solidFill>
            <a:prstDash val="solid"/>
          </a:ln>
        </p:spPr>
      </p:sp>
      <p:sp>
        <p:nvSpPr>
          <p:cNvPr id="38" name="Vector point"/>
          <p:cNvSpPr/>
          <p:nvPr/>
        </p:nvSpPr>
        <p:spPr>
          <a:xfrm>
            <a:off x="11430000" y="2468880"/>
            <a:ext cx="201168" cy="201168"/>
          </a:xfrm>
          <a:prstGeom prst="ellipse">
            <a:avLst/>
          </a:prstGeom>
          <a:solidFill>
            <a:schemeClr val="accent6"/>
          </a:solidFill>
          <a:ln w="12700">
            <a:solidFill>
              <a:schemeClr val="accent6"/>
            </a:solidFill>
            <a:prstDash val="solid"/>
          </a:ln>
        </p:spPr>
      </p:sp>
      <p:sp>
        <p:nvSpPr>
          <p:cNvPr id="39" name="Vector point"/>
          <p:cNvSpPr/>
          <p:nvPr/>
        </p:nvSpPr>
        <p:spPr>
          <a:xfrm>
            <a:off x="10515600" y="2651760"/>
            <a:ext cx="146304" cy="146304"/>
          </a:xfrm>
          <a:prstGeom prst="ellipse">
            <a:avLst/>
          </a:prstGeom>
          <a:solidFill>
            <a:schemeClr val="accent6"/>
          </a:solidFill>
          <a:ln w="12700">
            <a:solidFill>
              <a:schemeClr val="accent6"/>
            </a:solidFill>
            <a:prstDash val="solid"/>
          </a:ln>
        </p:spPr>
      </p:sp>
      <p:sp>
        <p:nvSpPr>
          <p:cNvPr id="40" name="Text 37"/>
          <p:cNvSpPr txBox="1"/>
          <p:nvPr/>
        </p:nvSpPr>
        <p:spPr>
          <a:xfrm>
            <a:off x="8046720" y="6172200"/>
            <a:ext cx="3840480" cy="274320"/>
          </a:xfrm>
          <a:prstGeom prst="rect">
            <a:avLst/>
          </a:prstGeom>
          <a:noFill/>
          <a:ln/>
        </p:spPr>
        <p:txBody>
          <a:bodyPr wrap="square" lIns="0" tIns="0" rIns="0" bIns="0" rtlCol="0" anchor="t"/>
          <a:lstStyle/>
          <a:p>
            <a:pPr algn="ctr" indent="0" marL="0">
              <a:buNone/>
            </a:pPr>
            <a:r>
              <a:rPr lang="en-US" sz="1100" i="1" dirty="0">
                <a:solidFill>
                  <a:schemeClr val="accent5"/>
                </a:solidFill>
              </a:rPr>
              <a:t>không gian vector: ý nghĩa gần nhau thì vector gần nhau</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Nội dung trình bày</a:t>
            </a:r>
            <a:endParaRPr lang="en-US" sz="3200" dirty="0"/>
          </a:p>
        </p:txBody>
      </p:sp>
      <p:sp>
        <p:nvSpPr>
          <p:cNvPr id="4" name="Card"/>
          <p:cNvSpPr/>
          <p:nvPr/>
        </p:nvSpPr>
        <p:spPr>
          <a:xfrm>
            <a:off x="548640" y="1463040"/>
            <a:ext cx="5486400" cy="4754880"/>
          </a:xfrm>
          <a:prstGeom prst="roundRect">
            <a:avLst>
              <a:gd name="adj" fmla="val 1923"/>
            </a:avLst>
          </a:prstGeom>
          <a:solidFill>
            <a:schemeClr val="bg2"/>
          </a:solidFill>
          <a:ln w="12700">
            <a:solidFill>
              <a:schemeClr val="bg2"/>
            </a:solidFill>
            <a:prstDash val="solid"/>
          </a:ln>
        </p:spPr>
      </p:sp>
      <p:sp>
        <p:nvSpPr>
          <p:cNvPr id="5" name="Text 2"/>
          <p:cNvSpPr txBox="1"/>
          <p:nvPr/>
        </p:nvSpPr>
        <p:spPr>
          <a:xfrm>
            <a:off x="868680" y="1691640"/>
            <a:ext cx="4846320" cy="274320"/>
          </a:xfrm>
          <a:prstGeom prst="rect">
            <a:avLst/>
          </a:prstGeom>
          <a:noFill/>
          <a:ln/>
        </p:spPr>
        <p:txBody>
          <a:bodyPr wrap="square" lIns="0" tIns="0" rIns="0" bIns="0" rtlCol="0" anchor="t"/>
          <a:lstStyle/>
          <a:p>
            <a:pPr indent="0" marL="0">
              <a:buNone/>
            </a:pPr>
            <a:r>
              <a:rPr lang="en-US" sz="1300" b="1" dirty="0">
                <a:solidFill>
                  <a:schemeClr val="accent1"/>
                </a:solidFill>
              </a:rPr>
              <a:t>PHẦN 1 · NGHIÊN CỨU</a:t>
            </a:r>
            <a:endParaRPr lang="en-US" sz="1300" dirty="0"/>
          </a:p>
        </p:txBody>
      </p:sp>
      <p:sp>
        <p:nvSpPr>
          <p:cNvPr id="6" name="Text 3"/>
          <p:cNvSpPr txBox="1"/>
          <p:nvPr/>
        </p:nvSpPr>
        <p:spPr>
          <a:xfrm>
            <a:off x="868680" y="2148840"/>
            <a:ext cx="777240" cy="777240"/>
          </a:xfrm>
          <a:prstGeom prst="roundRect">
            <a:avLst>
              <a:gd name="adj" fmla="val 14118"/>
            </a:avLst>
          </a:prstGeom>
          <a:solidFill>
            <a:schemeClr val="accent1"/>
          </a:solidFill>
          <a:ln/>
        </p:spPr>
        <p:txBody>
          <a:bodyPr wrap="square" lIns="0" tIns="0" rIns="0" bIns="0" rtlCol="0" anchor="ctr"/>
          <a:lstStyle/>
          <a:p>
            <a:pPr algn="ctr" indent="0" marL="0">
              <a:buNone/>
            </a:pPr>
            <a:r>
              <a:rPr lang="en-US" sz="2000" b="1" dirty="0">
                <a:solidFill>
                  <a:schemeClr val="bg1"/>
                </a:solidFill>
              </a:rPr>
              <a:t>1A</a:t>
            </a:r>
            <a:endParaRPr lang="en-US" sz="2000" dirty="0"/>
          </a:p>
        </p:txBody>
      </p:sp>
      <p:sp>
        <p:nvSpPr>
          <p:cNvPr id="7" name="Text 4"/>
          <p:cNvSpPr txBox="1"/>
          <p:nvPr/>
        </p:nvSpPr>
        <p:spPr>
          <a:xfrm>
            <a:off x="1874520" y="2130552"/>
            <a:ext cx="3931920" cy="365760"/>
          </a:xfrm>
          <a:prstGeom prst="rect">
            <a:avLst/>
          </a:prstGeom>
          <a:noFill/>
          <a:ln/>
        </p:spPr>
        <p:txBody>
          <a:bodyPr wrap="square" lIns="0" tIns="0" rIns="0" bIns="0" rtlCol="0" anchor="t"/>
          <a:lstStyle/>
          <a:p>
            <a:pPr indent="0" marL="0">
              <a:buNone/>
            </a:pPr>
            <a:r>
              <a:rPr lang="en-US" sz="1900" b="1" dirty="0">
                <a:solidFill>
                  <a:schemeClr val="tx2"/>
                </a:solidFill>
              </a:rPr>
              <a:t>Spring AI</a:t>
            </a:r>
            <a:endParaRPr lang="en-US" sz="1900" dirty="0"/>
          </a:p>
        </p:txBody>
      </p:sp>
      <p:sp>
        <p:nvSpPr>
          <p:cNvPr id="8" name="Text 5"/>
          <p:cNvSpPr txBox="1"/>
          <p:nvPr/>
        </p:nvSpPr>
        <p:spPr>
          <a:xfrm>
            <a:off x="1874520" y="2514600"/>
            <a:ext cx="3931920" cy="548640"/>
          </a:xfrm>
          <a:prstGeom prst="rect">
            <a:avLst/>
          </a:prstGeom>
          <a:noFill/>
          <a:ln/>
        </p:spPr>
        <p:txBody>
          <a:bodyPr wrap="square" lIns="0" tIns="0" rIns="0" bIns="0" rtlCol="0" anchor="t"/>
          <a:lstStyle/>
          <a:p>
            <a:pPr indent="0" marL="0">
              <a:buNone/>
            </a:pPr>
            <a:r>
              <a:rPr lang="en-US" sz="1400" dirty="0">
                <a:solidFill>
                  <a:schemeClr val="accent6"/>
                </a:solidFill>
              </a:rPr>
              <a:t>ChatClient, PromptTemplate, Tool Calling, RAG, Advisors</a:t>
            </a:r>
            <a:endParaRPr lang="en-US" sz="1400" dirty="0"/>
          </a:p>
        </p:txBody>
      </p:sp>
      <p:sp>
        <p:nvSpPr>
          <p:cNvPr id="9" name="Text 6"/>
          <p:cNvSpPr txBox="1"/>
          <p:nvPr/>
        </p:nvSpPr>
        <p:spPr>
          <a:xfrm>
            <a:off x="868680" y="3474720"/>
            <a:ext cx="777240" cy="777240"/>
          </a:xfrm>
          <a:prstGeom prst="roundRect">
            <a:avLst>
              <a:gd name="adj" fmla="val 14118"/>
            </a:avLst>
          </a:prstGeom>
          <a:solidFill>
            <a:schemeClr val="accent1"/>
          </a:solidFill>
          <a:ln/>
        </p:spPr>
        <p:txBody>
          <a:bodyPr wrap="square" lIns="0" tIns="0" rIns="0" bIns="0" rtlCol="0" anchor="ctr"/>
          <a:lstStyle/>
          <a:p>
            <a:pPr algn="ctr" indent="0" marL="0">
              <a:buNone/>
            </a:pPr>
            <a:r>
              <a:rPr lang="en-US" sz="2000" b="1" dirty="0">
                <a:solidFill>
                  <a:schemeClr val="bg1"/>
                </a:solidFill>
              </a:rPr>
              <a:t>1B</a:t>
            </a:r>
            <a:endParaRPr lang="en-US" sz="2000" dirty="0"/>
          </a:p>
        </p:txBody>
      </p:sp>
      <p:sp>
        <p:nvSpPr>
          <p:cNvPr id="10" name="Text 7"/>
          <p:cNvSpPr txBox="1"/>
          <p:nvPr/>
        </p:nvSpPr>
        <p:spPr>
          <a:xfrm>
            <a:off x="1874520" y="3456432"/>
            <a:ext cx="3931920" cy="365760"/>
          </a:xfrm>
          <a:prstGeom prst="rect">
            <a:avLst/>
          </a:prstGeom>
          <a:noFill/>
          <a:ln/>
        </p:spPr>
        <p:txBody>
          <a:bodyPr wrap="square" lIns="0" tIns="0" rIns="0" bIns="0" rtlCol="0" anchor="t"/>
          <a:lstStyle/>
          <a:p>
            <a:pPr indent="0" marL="0">
              <a:buNone/>
            </a:pPr>
            <a:r>
              <a:rPr lang="en-US" sz="1900" b="1" dirty="0">
                <a:solidFill>
                  <a:schemeClr val="tx2"/>
                </a:solidFill>
              </a:rPr>
              <a:t>Vector Database</a:t>
            </a:r>
            <a:endParaRPr lang="en-US" sz="1900" dirty="0"/>
          </a:p>
        </p:txBody>
      </p:sp>
      <p:sp>
        <p:nvSpPr>
          <p:cNvPr id="11" name="Text 8"/>
          <p:cNvSpPr txBox="1"/>
          <p:nvPr/>
        </p:nvSpPr>
        <p:spPr>
          <a:xfrm>
            <a:off x="1874520" y="3840480"/>
            <a:ext cx="3931920" cy="548640"/>
          </a:xfrm>
          <a:prstGeom prst="rect">
            <a:avLst/>
          </a:prstGeom>
          <a:noFill/>
          <a:ln/>
        </p:spPr>
        <p:txBody>
          <a:bodyPr wrap="square" lIns="0" tIns="0" rIns="0" bIns="0" rtlCol="0" anchor="t"/>
          <a:lstStyle/>
          <a:p>
            <a:pPr indent="0" marL="0">
              <a:buNone/>
            </a:pPr>
            <a:r>
              <a:rPr lang="en-US" sz="1400" dirty="0">
                <a:solidFill>
                  <a:schemeClr val="accent6"/>
                </a:solidFill>
              </a:rPr>
              <a:t>Embedding, VectorStore, semantic search, thống kê theo tiêu chí</a:t>
            </a:r>
            <a:endParaRPr lang="en-US" sz="1400" dirty="0"/>
          </a:p>
        </p:txBody>
      </p:sp>
      <p:sp>
        <p:nvSpPr>
          <p:cNvPr id="12" name="Text 9"/>
          <p:cNvSpPr txBox="1"/>
          <p:nvPr/>
        </p:nvSpPr>
        <p:spPr>
          <a:xfrm>
            <a:off x="868680" y="4800600"/>
            <a:ext cx="777240" cy="777240"/>
          </a:xfrm>
          <a:prstGeom prst="roundRect">
            <a:avLst>
              <a:gd name="adj" fmla="val 14118"/>
            </a:avLst>
          </a:prstGeom>
          <a:solidFill>
            <a:schemeClr val="accent1"/>
          </a:solidFill>
          <a:ln/>
        </p:spPr>
        <p:txBody>
          <a:bodyPr wrap="square" lIns="0" tIns="0" rIns="0" bIns="0" rtlCol="0" anchor="ctr"/>
          <a:lstStyle/>
          <a:p>
            <a:pPr algn="ctr" indent="0" marL="0">
              <a:buNone/>
            </a:pPr>
            <a:r>
              <a:rPr lang="en-US" sz="2000" b="1" dirty="0">
                <a:solidFill>
                  <a:schemeClr val="bg1"/>
                </a:solidFill>
              </a:rPr>
              <a:t>1C</a:t>
            </a:r>
            <a:endParaRPr lang="en-US" sz="2000" dirty="0"/>
          </a:p>
        </p:txBody>
      </p:sp>
      <p:sp>
        <p:nvSpPr>
          <p:cNvPr id="13" name="Text 10"/>
          <p:cNvSpPr txBox="1"/>
          <p:nvPr/>
        </p:nvSpPr>
        <p:spPr>
          <a:xfrm>
            <a:off x="1874520" y="4782312"/>
            <a:ext cx="3931920" cy="365760"/>
          </a:xfrm>
          <a:prstGeom prst="rect">
            <a:avLst/>
          </a:prstGeom>
          <a:noFill/>
          <a:ln/>
        </p:spPr>
        <p:txBody>
          <a:bodyPr wrap="square" lIns="0" tIns="0" rIns="0" bIns="0" rtlCol="0" anchor="t"/>
          <a:lstStyle/>
          <a:p>
            <a:pPr indent="0" marL="0">
              <a:buNone/>
            </a:pPr>
            <a:r>
              <a:rPr lang="en-US" sz="1900" b="1" dirty="0">
                <a:solidFill>
                  <a:schemeClr val="tx2"/>
                </a:solidFill>
              </a:rPr>
              <a:t>User tracking trên UI</a:t>
            </a:r>
            <a:endParaRPr lang="en-US" sz="1900" dirty="0"/>
          </a:p>
        </p:txBody>
      </p:sp>
      <p:sp>
        <p:nvSpPr>
          <p:cNvPr id="14" name="Text 11"/>
          <p:cNvSpPr txBox="1"/>
          <p:nvPr/>
        </p:nvSpPr>
        <p:spPr>
          <a:xfrm>
            <a:off x="1874520" y="5166360"/>
            <a:ext cx="3931920" cy="548640"/>
          </a:xfrm>
          <a:prstGeom prst="rect">
            <a:avLst/>
          </a:prstGeom>
          <a:noFill/>
          <a:ln/>
        </p:spPr>
        <p:txBody>
          <a:bodyPr wrap="square" lIns="0" tIns="0" rIns="0" bIns="0" rtlCol="0" anchor="t"/>
          <a:lstStyle/>
          <a:p>
            <a:pPr indent="0" marL="0">
              <a:buNone/>
            </a:pPr>
            <a:r>
              <a:rPr lang="en-US" sz="1400" dirty="0">
                <a:solidFill>
                  <a:schemeClr val="accent6"/>
                </a:solidFill>
              </a:rPr>
              <a:t>Time on page, click, add-to-cart, sản phẩm đặt nhiều</a:t>
            </a:r>
            <a:endParaRPr lang="en-US" sz="1400" dirty="0"/>
          </a:p>
        </p:txBody>
      </p:sp>
      <p:sp>
        <p:nvSpPr>
          <p:cNvPr id="15" name="Card"/>
          <p:cNvSpPr/>
          <p:nvPr/>
        </p:nvSpPr>
        <p:spPr>
          <a:xfrm>
            <a:off x="6336792" y="1463040"/>
            <a:ext cx="5303520" cy="4754880"/>
          </a:xfrm>
          <a:prstGeom prst="roundRect">
            <a:avLst>
              <a:gd name="adj" fmla="val 1923"/>
            </a:avLst>
          </a:prstGeom>
          <a:solidFill>
            <a:schemeClr val="tx2"/>
          </a:solidFill>
          <a:ln w="12700">
            <a:solidFill>
              <a:schemeClr val="tx2"/>
            </a:solidFill>
            <a:prstDash val="solid"/>
          </a:ln>
        </p:spPr>
      </p:sp>
      <p:sp>
        <p:nvSpPr>
          <p:cNvPr id="16" name="Text 13"/>
          <p:cNvSpPr txBox="1"/>
          <p:nvPr/>
        </p:nvSpPr>
        <p:spPr>
          <a:xfrm>
            <a:off x="6675120" y="1691640"/>
            <a:ext cx="4754880" cy="274320"/>
          </a:xfrm>
          <a:prstGeom prst="rect">
            <a:avLst/>
          </a:prstGeom>
          <a:noFill/>
          <a:ln/>
        </p:spPr>
        <p:txBody>
          <a:bodyPr wrap="square" lIns="0" tIns="0" rIns="0" bIns="0" rtlCol="0" anchor="t"/>
          <a:lstStyle/>
          <a:p>
            <a:pPr indent="0" marL="0">
              <a:buNone/>
            </a:pPr>
            <a:r>
              <a:rPr lang="en-US" sz="1300" b="1" dirty="0">
                <a:solidFill>
                  <a:schemeClr val="accent2"/>
                </a:solidFill>
              </a:rPr>
              <a:t>PHẦN 2 · ÁP DỤNG VÀO DỰ ÁN NHÓM</a:t>
            </a:r>
            <a:endParaRPr lang="en-US" sz="1300" dirty="0"/>
          </a:p>
        </p:txBody>
      </p:sp>
      <p:sp>
        <p:nvSpPr>
          <p:cNvPr id="17" name="Text 14"/>
          <p:cNvSpPr txBox="1"/>
          <p:nvPr/>
        </p:nvSpPr>
        <p:spPr>
          <a:xfrm>
            <a:off x="6675120" y="2194560"/>
            <a:ext cx="4663440" cy="3840480"/>
          </a:xfrm>
          <a:prstGeom prst="rect">
            <a:avLst/>
          </a:prstGeom>
          <a:noFill/>
          <a:ln/>
        </p:spPr>
        <p:txBody>
          <a:bodyPr wrap="square" lIns="0" tIns="0" rIns="0" bIns="0" rtlCol="0" anchor="t"/>
          <a:lstStyle/>
          <a:p>
            <a:pPr marL="177800" indent="-177800">
              <a:spcAft>
                <a:spcPts val="900"/>
              </a:spcAft>
              <a:buSzPct val="100000"/>
              <a:buChar char="•"/>
            </a:pPr>
            <a:r>
              <a:rPr lang="en-US" sz="1700" dirty="0">
                <a:solidFill>
                  <a:schemeClr val="bg1"/>
                </a:solidFill>
              </a:rPr>
              <a:t>Hiện trạng IUH Tour Booking</a:t>
            </a:r>
            <a:endParaRPr lang="en-US" sz="1700" dirty="0"/>
          </a:p>
          <a:p>
            <a:pPr marL="177800" indent="-177800">
              <a:spcAft>
                <a:spcPts val="900"/>
              </a:spcAft>
              <a:buSzPct val="100000"/>
              <a:buChar char="•"/>
            </a:pPr>
            <a:r>
              <a:rPr lang="en-US" sz="1700" dirty="0">
                <a:solidFill>
                  <a:schemeClr val="bg1"/>
                </a:solidFill>
              </a:rPr>
              <a:t>Kiến trúc, chọn vector store và model</a:t>
            </a:r>
            <a:endParaRPr lang="en-US" sz="1700" dirty="0"/>
          </a:p>
          <a:p>
            <a:pPr marL="177800" indent="-177800">
              <a:spcAft>
                <a:spcPts val="900"/>
              </a:spcAft>
              <a:buSzPct val="100000"/>
              <a:buChar char="•"/>
            </a:pPr>
            <a:r>
              <a:rPr lang="en-US" sz="1700" dirty="0">
                <a:solidFill>
                  <a:schemeClr val="bg1"/>
                </a:solidFill>
              </a:rPr>
              <a:t>Cài đặt: dependencies, ingest, semantic search</a:t>
            </a:r>
            <a:endParaRPr lang="en-US" sz="1700" dirty="0"/>
          </a:p>
          <a:p>
            <a:pPr marL="177800" indent="-177800">
              <a:spcAft>
                <a:spcPts val="900"/>
              </a:spcAft>
              <a:buSzPct val="100000"/>
              <a:buChar char="•"/>
            </a:pPr>
            <a:r>
              <a:rPr lang="en-US" sz="1700" dirty="0">
                <a:solidFill>
                  <a:schemeClr val="bg1"/>
                </a:solidFill>
              </a:rPr>
              <a:t>Chatbot tư vấn (RAG + Tool Calling)</a:t>
            </a:r>
            <a:endParaRPr lang="en-US" sz="1700" dirty="0"/>
          </a:p>
          <a:p>
            <a:pPr marL="177800" indent="-177800">
              <a:spcAft>
                <a:spcPts val="900"/>
              </a:spcAft>
              <a:buSzPct val="100000"/>
              <a:buChar char="•"/>
            </a:pPr>
            <a:r>
              <a:rPr lang="en-US" sz="1700" dirty="0">
                <a:solidFill>
                  <a:schemeClr val="bg1"/>
                </a:solidFill>
              </a:rPr>
              <a:t>Tracking: bảng user_events, JavaScript, API</a:t>
            </a:r>
            <a:endParaRPr lang="en-US" sz="1700" dirty="0"/>
          </a:p>
          <a:p>
            <a:pPr marL="177800" indent="-177800">
              <a:spcAft>
                <a:spcPts val="900"/>
              </a:spcAft>
              <a:buSzPct val="100000"/>
              <a:buChar char="•"/>
            </a:pPr>
            <a:r>
              <a:rPr lang="en-US" sz="1700" dirty="0">
                <a:solidFill>
                  <a:schemeClr val="bg1"/>
                </a:solidFill>
              </a:rPr>
              <a:t>Thống kê, dashboard, gợi ý tour</a:t>
            </a:r>
            <a:endParaRPr lang="en-US" sz="1700" dirty="0"/>
          </a:p>
          <a:p>
            <a:pPr marL="177800" indent="-177800">
              <a:spcAft>
                <a:spcPts val="900"/>
              </a:spcAft>
              <a:buSzPct val="100000"/>
              <a:buChar char="•"/>
            </a:pPr>
            <a:r>
              <a:rPr lang="en-US" sz="1700" dirty="0">
                <a:solidFill>
                  <a:schemeClr val="bg1"/>
                </a:solidFill>
              </a:rPr>
              <a:t>Kịch bản demo, kết luận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Generative AI và vì sao chọn Java/Spring</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Text 2"/>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600" b="1" dirty="0">
                <a:solidFill>
                  <a:schemeClr val="tx2"/>
                </a:solidFill>
              </a:rPr>
              <a:t>Cách GenAI hoạt động</a:t>
            </a:r>
            <a:endParaRPr lang="en-US" sz="1600" dirty="0"/>
          </a:p>
        </p:txBody>
      </p:sp>
      <p:sp>
        <p:nvSpPr>
          <p:cNvPr id="6" name="Box"/>
          <p:cNvSpPr txBox="1"/>
          <p:nvPr/>
        </p:nvSpPr>
        <p:spPr>
          <a:xfrm>
            <a:off x="548640" y="1783080"/>
            <a:ext cx="1920240" cy="868680"/>
          </a:xfrm>
          <a:prstGeom prst="roundRect">
            <a:avLst>
              <a:gd name="adj" fmla="val 10526"/>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Thu thập &amp; làm sạch dữ liệu</a:t>
            </a:r>
            <a:endParaRPr lang="en-US" sz="1400" dirty="0"/>
          </a:p>
        </p:txBody>
      </p:sp>
      <p:sp>
        <p:nvSpPr>
          <p:cNvPr id="7" name="Arrow"/>
          <p:cNvSpPr/>
          <p:nvPr/>
        </p:nvSpPr>
        <p:spPr>
          <a:xfrm>
            <a:off x="2487168" y="2212848"/>
            <a:ext cx="329184" cy="0"/>
          </a:xfrm>
          <a:prstGeom prst="line">
            <a:avLst/>
          </a:prstGeom>
          <a:noFill/>
          <a:ln w="22225">
            <a:solidFill>
              <a:schemeClr val="accent6"/>
            </a:solidFill>
            <a:prstDash val="solid"/>
            <a:tailEnd type="triangle"/>
          </a:ln>
        </p:spPr>
      </p:sp>
      <p:sp>
        <p:nvSpPr>
          <p:cNvPr id="8" name="Box"/>
          <p:cNvSpPr txBox="1"/>
          <p:nvPr/>
        </p:nvSpPr>
        <p:spPr>
          <a:xfrm>
            <a:off x="2834640" y="1783080"/>
            <a:ext cx="1920240" cy="868680"/>
          </a:xfrm>
          <a:prstGeom prst="roundRect">
            <a:avLst>
              <a:gd name="adj" fmla="val 10526"/>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Huấn luyện Transformer (GPU/TPU)</a:t>
            </a:r>
            <a:endParaRPr lang="en-US" sz="1400" dirty="0"/>
          </a:p>
        </p:txBody>
      </p:sp>
      <p:sp>
        <p:nvSpPr>
          <p:cNvPr id="9" name="Arrow"/>
          <p:cNvSpPr/>
          <p:nvPr/>
        </p:nvSpPr>
        <p:spPr>
          <a:xfrm>
            <a:off x="4773168" y="2212848"/>
            <a:ext cx="329184" cy="0"/>
          </a:xfrm>
          <a:prstGeom prst="line">
            <a:avLst/>
          </a:prstGeom>
          <a:noFill/>
          <a:ln w="22225">
            <a:solidFill>
              <a:schemeClr val="accent6"/>
            </a:solidFill>
            <a:prstDash val="solid"/>
            <a:tailEnd type="triangle"/>
          </a:ln>
        </p:spPr>
      </p:sp>
      <p:sp>
        <p:nvSpPr>
          <p:cNvPr id="10" name="Box"/>
          <p:cNvSpPr txBox="1"/>
          <p:nvPr/>
        </p:nvSpPr>
        <p:spPr>
          <a:xfrm>
            <a:off x="5120640" y="1783080"/>
            <a:ext cx="1920240" cy="868680"/>
          </a:xfrm>
          <a:prstGeom prst="roundRect">
            <a:avLst>
              <a:gd name="adj" fmla="val 10526"/>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LLM hàng tỷ tham số</a:t>
            </a:r>
            <a:endParaRPr lang="en-US" sz="1400" dirty="0"/>
          </a:p>
        </p:txBody>
      </p:sp>
      <p:sp>
        <p:nvSpPr>
          <p:cNvPr id="11" name="Arrow"/>
          <p:cNvSpPr/>
          <p:nvPr/>
        </p:nvSpPr>
        <p:spPr>
          <a:xfrm>
            <a:off x="7059168" y="2212848"/>
            <a:ext cx="329184" cy="0"/>
          </a:xfrm>
          <a:prstGeom prst="line">
            <a:avLst/>
          </a:prstGeom>
          <a:noFill/>
          <a:ln w="22225">
            <a:solidFill>
              <a:schemeClr val="accent6"/>
            </a:solidFill>
            <a:prstDash val="solid"/>
            <a:tailEnd type="triangle"/>
          </a:ln>
        </p:spPr>
      </p:sp>
      <p:sp>
        <p:nvSpPr>
          <p:cNvPr id="12" name="Box"/>
          <p:cNvSpPr txBox="1"/>
          <p:nvPr/>
        </p:nvSpPr>
        <p:spPr>
          <a:xfrm>
            <a:off x="7406640" y="1783080"/>
            <a:ext cx="1920240" cy="868680"/>
          </a:xfrm>
          <a:prstGeom prst="roundRect">
            <a:avLst>
              <a:gd name="adj" fmla="val 10526"/>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Fine-tune + RLHF</a:t>
            </a:r>
            <a:endParaRPr lang="en-US" sz="1400" dirty="0"/>
          </a:p>
        </p:txBody>
      </p:sp>
      <p:sp>
        <p:nvSpPr>
          <p:cNvPr id="13" name="Arrow"/>
          <p:cNvSpPr/>
          <p:nvPr/>
        </p:nvSpPr>
        <p:spPr>
          <a:xfrm>
            <a:off x="9345168" y="2212848"/>
            <a:ext cx="329184" cy="0"/>
          </a:xfrm>
          <a:prstGeom prst="line">
            <a:avLst/>
          </a:prstGeom>
          <a:noFill/>
          <a:ln w="22225">
            <a:solidFill>
              <a:schemeClr val="accent6"/>
            </a:solidFill>
            <a:prstDash val="solid"/>
            <a:tailEnd type="triangle"/>
          </a:ln>
        </p:spPr>
      </p:sp>
      <p:sp>
        <p:nvSpPr>
          <p:cNvPr id="14" name="Box"/>
          <p:cNvSpPr txBox="1"/>
          <p:nvPr/>
        </p:nvSpPr>
        <p:spPr>
          <a:xfrm>
            <a:off x="9692640" y="1783080"/>
            <a:ext cx="1920240" cy="868680"/>
          </a:xfrm>
          <a:prstGeom prst="roundRect">
            <a:avLst>
              <a:gd name="adj" fmla="val 10526"/>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1"/>
                </a:solidFill>
              </a:rPr>
              <a:t>Sinh nội dung (text, ảnh, code)</a:t>
            </a:r>
            <a:endParaRPr lang="en-US" sz="1400" dirty="0"/>
          </a:p>
        </p:txBody>
      </p:sp>
      <p:sp>
        <p:nvSpPr>
          <p:cNvPr id="15" name="Card"/>
          <p:cNvSpPr/>
          <p:nvPr/>
        </p:nvSpPr>
        <p:spPr>
          <a:xfrm>
            <a:off x="548640" y="2880360"/>
            <a:ext cx="11091672" cy="777240"/>
          </a:xfrm>
          <a:prstGeom prst="roundRect">
            <a:avLst>
              <a:gd name="adj" fmla="val 11765"/>
            </a:avLst>
          </a:prstGeom>
          <a:solidFill>
            <a:schemeClr val="bg2"/>
          </a:solidFill>
          <a:ln w="12700">
            <a:solidFill>
              <a:schemeClr val="bg2"/>
            </a:solidFill>
            <a:prstDash val="solid"/>
          </a:ln>
        </p:spPr>
      </p:sp>
      <p:sp>
        <p:nvSpPr>
          <p:cNvPr id="16" name="Text 13"/>
          <p:cNvSpPr txBox="1"/>
          <p:nvPr/>
        </p:nvSpPr>
        <p:spPr>
          <a:xfrm>
            <a:off x="777240" y="2971800"/>
            <a:ext cx="10634472" cy="594360"/>
          </a:xfrm>
          <a:prstGeom prst="rect">
            <a:avLst/>
          </a:prstGeom>
          <a:noFill/>
          <a:ln/>
        </p:spPr>
        <p:txBody>
          <a:bodyPr wrap="square" lIns="0" tIns="0" rIns="0" bIns="0" rtlCol="0" anchor="ctr"/>
          <a:lstStyle/>
          <a:p>
            <a:pPr indent="0" marL="0">
              <a:buNone/>
            </a:pPr>
            <a:r>
              <a:rPr lang="en-US" sz="1400" b="1" dirty="0">
                <a:solidFill>
                  <a:schemeClr val="tx1"/>
                </a:solidFill>
              </a:rPr>
              <a:t>Công nghệ lõi: </a:t>
            </a:r>
            <a:r>
              <a:rPr lang="en-US" sz="1400" dirty="0">
                <a:solidFill>
                  <a:schemeClr val="tx1"/>
                </a:solidFill>
              </a:rPr>
              <a:t>Transformers (GPT, BERT) · LLMs (GPT, Claude, Gemini) · Diffusion (DALL·E, Midjourney) · Embeddings &amp; vector space (RAG) · Prompt engineering</a:t>
            </a:r>
            <a:endParaRPr lang="en-US" sz="1400" dirty="0"/>
          </a:p>
        </p:txBody>
      </p:sp>
      <p:sp>
        <p:nvSpPr>
          <p:cNvPr id="17" name="Card"/>
          <p:cNvSpPr/>
          <p:nvPr/>
        </p:nvSpPr>
        <p:spPr>
          <a:xfrm>
            <a:off x="548640" y="3886200"/>
            <a:ext cx="5440680" cy="2331720"/>
          </a:xfrm>
          <a:prstGeom prst="roundRect">
            <a:avLst>
              <a:gd name="adj" fmla="val 3922"/>
            </a:avLst>
          </a:prstGeom>
          <a:solidFill>
            <a:schemeClr val="bg2"/>
          </a:solidFill>
          <a:ln w="12700">
            <a:solidFill>
              <a:schemeClr val="bg2"/>
            </a:solidFill>
            <a:prstDash val="solid"/>
          </a:ln>
        </p:spPr>
      </p:sp>
      <p:sp>
        <p:nvSpPr>
          <p:cNvPr id="18" name="Icon circle"/>
          <p:cNvSpPr/>
          <p:nvPr/>
        </p:nvSpPr>
        <p:spPr>
          <a:xfrm>
            <a:off x="822960" y="4114800"/>
            <a:ext cx="548640" cy="548640"/>
          </a:xfrm>
          <a:prstGeom prst="ellipse">
            <a:avLst/>
          </a:prstGeom>
          <a:solidFill>
            <a:schemeClr val="accent1"/>
          </a:solidFill>
          <a:ln w="12700">
            <a:solidFill>
              <a:schemeClr val="accent1"/>
            </a:solidFill>
            <a:prstDash val="solid"/>
          </a:ln>
        </p:spPr>
      </p:sp>
      <p:pic>
        <p:nvPicPr>
          <p:cNvPr id="19" name="Image 0" descr="Java icon">    </p:cNvPr>
          <p:cNvPicPr>
            <a:picLocks noChangeAspect="1"/>
          </p:cNvPicPr>
          <p:nvPr/>
        </p:nvPicPr>
        <p:blipFill>
          <a:blip r:embed="rId1"/>
          <a:stretch>
            <a:fillRect/>
          </a:stretch>
        </p:blipFill>
        <p:spPr>
          <a:xfrm>
            <a:off x="954634" y="4246474"/>
            <a:ext cx="285293" cy="285293"/>
          </a:xfrm>
          <a:prstGeom prst="rect">
            <a:avLst/>
          </a:prstGeom>
        </p:spPr>
      </p:pic>
      <p:sp>
        <p:nvSpPr>
          <p:cNvPr id="20" name="Text 16"/>
          <p:cNvSpPr txBox="1"/>
          <p:nvPr/>
        </p:nvSpPr>
        <p:spPr>
          <a:xfrm>
            <a:off x="1554480" y="416052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Java cho AI doanh nghiệp</a:t>
            </a:r>
            <a:endParaRPr lang="en-US" sz="1800" dirty="0"/>
          </a:p>
        </p:txBody>
      </p:sp>
      <p:sp>
        <p:nvSpPr>
          <p:cNvPr id="21" name="Text 17"/>
          <p:cNvSpPr txBox="1"/>
          <p:nvPr/>
        </p:nvSpPr>
        <p:spPr>
          <a:xfrm>
            <a:off x="822960" y="4800600"/>
            <a:ext cx="4937760" cy="13716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Tin cậy trong tài chính, viễn thông, bảo hiểm</a:t>
            </a:r>
            <a:endParaRPr lang="en-US" sz="1500" dirty="0"/>
          </a:p>
          <a:p>
            <a:pPr marL="177800" indent="-177800">
              <a:spcAft>
                <a:spcPts val="600"/>
              </a:spcAft>
              <a:buSzPct val="100000"/>
              <a:buChar char="•"/>
            </a:pPr>
            <a:r>
              <a:rPr lang="en-US" sz="1500" dirty="0">
                <a:solidFill>
                  <a:schemeClr val="tx1"/>
                </a:solidFill>
              </a:rPr>
              <a:t>Thân thiện với kiến trúc microservices</a:t>
            </a:r>
            <a:endParaRPr lang="en-US" sz="1500" dirty="0"/>
          </a:p>
          <a:p>
            <a:pPr marL="177800" indent="-177800">
              <a:spcAft>
                <a:spcPts val="600"/>
              </a:spcAft>
              <a:buSzPct val="100000"/>
              <a:buChar char="•"/>
            </a:pPr>
            <a:r>
              <a:rPr lang="en-US" sz="1500" dirty="0">
                <a:solidFill>
                  <a:schemeClr val="tx1"/>
                </a:solidFill>
              </a:rPr>
              <a:t>Đa nền tảng và đa luồng</a:t>
            </a:r>
            <a:endParaRPr lang="en-US" sz="1500" dirty="0"/>
          </a:p>
        </p:txBody>
      </p:sp>
      <p:sp>
        <p:nvSpPr>
          <p:cNvPr id="22" name="Card"/>
          <p:cNvSpPr/>
          <p:nvPr/>
        </p:nvSpPr>
        <p:spPr>
          <a:xfrm>
            <a:off x="6199632" y="3886200"/>
            <a:ext cx="5440680" cy="2331720"/>
          </a:xfrm>
          <a:prstGeom prst="roundRect">
            <a:avLst>
              <a:gd name="adj" fmla="val 3922"/>
            </a:avLst>
          </a:prstGeom>
          <a:solidFill>
            <a:schemeClr val="bg2"/>
          </a:solidFill>
          <a:ln w="12700">
            <a:solidFill>
              <a:schemeClr val="bg2"/>
            </a:solidFill>
            <a:prstDash val="solid"/>
          </a:ln>
        </p:spPr>
      </p:sp>
      <p:sp>
        <p:nvSpPr>
          <p:cNvPr id="23" name="Icon circle"/>
          <p:cNvSpPr/>
          <p:nvPr/>
        </p:nvSpPr>
        <p:spPr>
          <a:xfrm>
            <a:off x="6473952" y="4114800"/>
            <a:ext cx="548640" cy="548640"/>
          </a:xfrm>
          <a:prstGeom prst="ellipse">
            <a:avLst/>
          </a:prstGeom>
          <a:solidFill>
            <a:schemeClr val="accent1"/>
          </a:solidFill>
          <a:ln w="12700">
            <a:solidFill>
              <a:schemeClr val="accent1"/>
            </a:solidFill>
            <a:prstDash val="solid"/>
          </a:ln>
        </p:spPr>
      </p:sp>
      <p:pic>
        <p:nvPicPr>
          <p:cNvPr id="24" name="Image 1" descr="Leaf icon">    </p:cNvPr>
          <p:cNvPicPr>
            <a:picLocks noChangeAspect="1"/>
          </p:cNvPicPr>
          <p:nvPr/>
        </p:nvPicPr>
        <p:blipFill>
          <a:blip r:embed="rId2"/>
          <a:stretch>
            <a:fillRect/>
          </a:stretch>
        </p:blipFill>
        <p:spPr>
          <a:xfrm>
            <a:off x="6605626" y="4246474"/>
            <a:ext cx="285293" cy="285293"/>
          </a:xfrm>
          <a:prstGeom prst="rect">
            <a:avLst/>
          </a:prstGeom>
        </p:spPr>
      </p:pic>
      <p:sp>
        <p:nvSpPr>
          <p:cNvPr id="25" name="Text 20"/>
          <p:cNvSpPr txBox="1"/>
          <p:nvPr/>
        </p:nvSpPr>
        <p:spPr>
          <a:xfrm>
            <a:off x="7205472" y="4160520"/>
            <a:ext cx="4206240" cy="411480"/>
          </a:xfrm>
          <a:prstGeom prst="rect">
            <a:avLst/>
          </a:prstGeom>
          <a:noFill/>
          <a:ln/>
        </p:spPr>
        <p:txBody>
          <a:bodyPr wrap="square" lIns="0" tIns="0" rIns="0" bIns="0" rtlCol="0" anchor="ctr"/>
          <a:lstStyle/>
          <a:p>
            <a:pPr indent="0" marL="0">
              <a:buNone/>
            </a:pPr>
            <a:r>
              <a:rPr lang="en-US" sz="1800" b="1" dirty="0">
                <a:solidFill>
                  <a:schemeClr val="tx2"/>
                </a:solidFill>
              </a:rPr>
              <a:t>Spring Boot</a:t>
            </a:r>
            <a:endParaRPr lang="en-US" sz="1800" dirty="0"/>
          </a:p>
        </p:txBody>
      </p:sp>
      <p:sp>
        <p:nvSpPr>
          <p:cNvPr id="26" name="Text 21"/>
          <p:cNvSpPr txBox="1"/>
          <p:nvPr/>
        </p:nvSpPr>
        <p:spPr>
          <a:xfrm>
            <a:off x="6473952" y="4800600"/>
            <a:ext cx="4937760" cy="13716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REST API, triển khai dễ dàng</a:t>
            </a:r>
            <a:endParaRPr lang="en-US" sz="1500" dirty="0"/>
          </a:p>
          <a:p>
            <a:pPr marL="177800" indent="-177800">
              <a:spcAft>
                <a:spcPts val="600"/>
              </a:spcAft>
              <a:buSzPct val="100000"/>
              <a:buChar char="•"/>
            </a:pPr>
            <a:r>
              <a:rPr lang="en-US" sz="1500" dirty="0">
                <a:solidFill>
                  <a:schemeClr val="tx1"/>
                </a:solidFill>
              </a:rPr>
              <a:t>Spring Data cho dữ liệu của bạn</a:t>
            </a:r>
            <a:endParaRPr lang="en-US" sz="1500" dirty="0"/>
          </a:p>
          <a:p>
            <a:pPr marL="177800" indent="-177800">
              <a:spcAft>
                <a:spcPts val="600"/>
              </a:spcAft>
              <a:buSzPct val="100000"/>
              <a:buChar char="•"/>
            </a:pPr>
            <a:r>
              <a:rPr lang="en-US" sz="1500" dirty="0">
                <a:solidFill>
                  <a:schemeClr val="tx1"/>
                </a:solidFill>
              </a:rPr>
              <a:t>Spring Security kiểm soát truy cập</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Spring AI là gì và có gì bên trong</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Card"/>
          <p:cNvSpPr/>
          <p:nvPr/>
        </p:nvSpPr>
        <p:spPr>
          <a:xfrm>
            <a:off x="548640" y="1463040"/>
            <a:ext cx="4297680" cy="2880360"/>
          </a:xfrm>
          <a:prstGeom prst="roundRect">
            <a:avLst>
              <a:gd name="adj" fmla="val 3175"/>
            </a:avLst>
          </a:prstGeom>
          <a:solidFill>
            <a:schemeClr val="bg2"/>
          </a:solidFill>
          <a:ln w="12700">
            <a:solidFill>
              <a:schemeClr val="bg2"/>
            </a:solidFill>
            <a:prstDash val="solid"/>
          </a:ln>
        </p:spPr>
      </p:sp>
      <p:sp>
        <p:nvSpPr>
          <p:cNvPr id="6" name="Text 3"/>
          <p:cNvSpPr txBox="1"/>
          <p:nvPr/>
        </p:nvSpPr>
        <p:spPr>
          <a:xfrm>
            <a:off x="777240" y="1572768"/>
            <a:ext cx="3840480" cy="320040"/>
          </a:xfrm>
          <a:prstGeom prst="rect">
            <a:avLst/>
          </a:prstGeom>
          <a:noFill/>
          <a:ln/>
        </p:spPr>
        <p:txBody>
          <a:bodyPr wrap="square" lIns="0" tIns="0" rIns="0" bIns="0" rtlCol="0" anchor="t"/>
          <a:lstStyle/>
          <a:p>
            <a:pPr indent="0" marL="0">
              <a:buNone/>
            </a:pPr>
            <a:r>
              <a:rPr lang="en-US" sz="1700" b="1" dirty="0">
                <a:solidFill>
                  <a:schemeClr val="tx2"/>
                </a:solidFill>
              </a:rPr>
              <a:t>Spring AI là gì?</a:t>
            </a:r>
            <a:endParaRPr lang="en-US" sz="1700" dirty="0"/>
          </a:p>
        </p:txBody>
      </p:sp>
      <p:sp>
        <p:nvSpPr>
          <p:cNvPr id="7" name="Text 4"/>
          <p:cNvSpPr txBox="1"/>
          <p:nvPr/>
        </p:nvSpPr>
        <p:spPr>
          <a:xfrm>
            <a:off x="777240" y="1965960"/>
            <a:ext cx="388620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Tích hợp AI ngay trong hệ sinh thái Spring quen thuộc</a:t>
            </a:r>
            <a:endParaRPr lang="en-US" sz="1400" dirty="0"/>
          </a:p>
          <a:p>
            <a:pPr marL="177800" indent="-177800">
              <a:spcAft>
                <a:spcPts val="500"/>
              </a:spcAft>
              <a:buSzPct val="100000"/>
              <a:buChar char="•"/>
            </a:pPr>
            <a:r>
              <a:rPr lang="en-US" sz="1400" dirty="0">
                <a:solidFill>
                  <a:schemeClr val="tx1"/>
                </a:solidFill>
              </a:rPr>
              <a:t>Lấy cảm hứng từ LangChain, LlamaIndex (không phải bản port)</a:t>
            </a:r>
            <a:endParaRPr lang="en-US" sz="1400" dirty="0"/>
          </a:p>
          <a:p>
            <a:pPr marL="177800" indent="-177800">
              <a:spcAft>
                <a:spcPts val="500"/>
              </a:spcAft>
              <a:buSzPct val="100000"/>
              <a:buChar char="•"/>
            </a:pPr>
            <a:r>
              <a:rPr lang="en-US" sz="1400" dirty="0">
                <a:solidFill>
                  <a:schemeClr val="tx1"/>
                </a:solidFill>
              </a:rPr>
              <a:t>Đổi model chỉ bằng cấu hình</a:t>
            </a:r>
            <a:endParaRPr lang="en-US" sz="1400" dirty="0"/>
          </a:p>
        </p:txBody>
      </p:sp>
      <p:sp>
        <p:nvSpPr>
          <p:cNvPr id="8" name="Box"/>
          <p:cNvSpPr txBox="1"/>
          <p:nvPr/>
        </p:nvSpPr>
        <p:spPr>
          <a:xfrm>
            <a:off x="777240" y="3657600"/>
            <a:ext cx="3840480" cy="502920"/>
          </a:xfrm>
          <a:prstGeom prst="roundRect">
            <a:avLst>
              <a:gd name="adj" fmla="val 18182"/>
            </a:avLst>
          </a:prstGeom>
          <a:solidFill>
            <a:schemeClr val="accent2"/>
          </a:solidFill>
          <a:ln>
            <a:solidFill>
              <a:schemeClr val="accent2"/>
            </a:solidFill>
          </a:ln>
        </p:spPr>
        <p:txBody>
          <a:bodyPr wrap="square" lIns="76200" tIns="76200" rIns="76200" bIns="76200" rtlCol="0" anchor="ctr"/>
          <a:lstStyle/>
          <a:p>
            <a:pPr algn="ctr" indent="0" marL="0">
              <a:buNone/>
            </a:pPr>
            <a:r>
              <a:rPr lang="en-US" sz="1300" b="1" dirty="0">
                <a:solidFill>
                  <a:schemeClr val="tx1"/>
                </a:solidFill>
              </a:rPr>
              <a:t>Spring AI 2.0.2: bản ổn định hiện tại (Chương 7)</a:t>
            </a:r>
            <a:endParaRPr lang="en-US" sz="1300" dirty="0"/>
          </a:p>
        </p:txBody>
      </p:sp>
      <p:sp>
        <p:nvSpPr>
          <p:cNvPr id="9" name="Card"/>
          <p:cNvSpPr/>
          <p:nvPr/>
        </p:nvSpPr>
        <p:spPr>
          <a:xfrm>
            <a:off x="5029200" y="1463040"/>
            <a:ext cx="2103120" cy="1371600"/>
          </a:xfrm>
          <a:prstGeom prst="roundRect">
            <a:avLst>
              <a:gd name="adj" fmla="val 6667"/>
            </a:avLst>
          </a:prstGeom>
          <a:solidFill>
            <a:schemeClr val="bg2"/>
          </a:solidFill>
          <a:ln w="12700">
            <a:solidFill>
              <a:schemeClr val="bg2"/>
            </a:solidFill>
            <a:prstDash val="solid"/>
          </a:ln>
        </p:spPr>
      </p:sp>
      <p:sp>
        <p:nvSpPr>
          <p:cNvPr id="10" name="Icon circle"/>
          <p:cNvSpPr/>
          <p:nvPr/>
        </p:nvSpPr>
        <p:spPr>
          <a:xfrm>
            <a:off x="5166360" y="1600200"/>
            <a:ext cx="411480" cy="411480"/>
          </a:xfrm>
          <a:prstGeom prst="ellipse">
            <a:avLst/>
          </a:prstGeom>
          <a:solidFill>
            <a:schemeClr val="accent1"/>
          </a:solidFill>
          <a:ln w="12700">
            <a:solidFill>
              <a:schemeClr val="accent1"/>
            </a:solidFill>
            <a:prstDash val="solid"/>
          </a:ln>
        </p:spPr>
      </p:sp>
      <p:pic>
        <p:nvPicPr>
          <p:cNvPr id="11" name="Image 0" descr="Comments icon">    </p:cNvPr>
          <p:cNvPicPr>
            <a:picLocks noChangeAspect="1"/>
          </p:cNvPicPr>
          <p:nvPr/>
        </p:nvPicPr>
        <p:blipFill>
          <a:blip r:embed="rId1"/>
          <a:stretch>
            <a:fillRect/>
          </a:stretch>
        </p:blipFill>
        <p:spPr>
          <a:xfrm>
            <a:off x="5265115" y="1698955"/>
            <a:ext cx="213970" cy="213970"/>
          </a:xfrm>
          <a:prstGeom prst="rect">
            <a:avLst/>
          </a:prstGeom>
        </p:spPr>
      </p:pic>
      <p:sp>
        <p:nvSpPr>
          <p:cNvPr id="12" name="Text 8"/>
          <p:cNvSpPr txBox="1"/>
          <p:nvPr/>
        </p:nvSpPr>
        <p:spPr>
          <a:xfrm>
            <a:off x="5669280" y="1600200"/>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ChatClient</a:t>
            </a:r>
            <a:endParaRPr lang="en-US" sz="1400" dirty="0"/>
          </a:p>
        </p:txBody>
      </p:sp>
      <p:sp>
        <p:nvSpPr>
          <p:cNvPr id="13" name="Text 9"/>
          <p:cNvSpPr txBox="1"/>
          <p:nvPr/>
        </p:nvSpPr>
        <p:spPr>
          <a:xfrm>
            <a:off x="5166360" y="2148840"/>
            <a:ext cx="1874520" cy="594360"/>
          </a:xfrm>
          <a:prstGeom prst="rect">
            <a:avLst/>
          </a:prstGeom>
          <a:noFill/>
          <a:ln/>
        </p:spPr>
        <p:txBody>
          <a:bodyPr wrap="square" lIns="0" tIns="0" rIns="0" bIns="0" rtlCol="0" anchor="t"/>
          <a:lstStyle/>
          <a:p>
            <a:pPr indent="0" marL="0">
              <a:buNone/>
            </a:pPr>
            <a:r>
              <a:rPr lang="en-US" sz="1300" dirty="0">
                <a:solidFill>
                  <a:schemeClr val="accent6"/>
                </a:solidFill>
              </a:rPr>
              <a:t>Fluent API giống RestClient</a:t>
            </a:r>
            <a:endParaRPr lang="en-US" sz="1300" dirty="0"/>
          </a:p>
        </p:txBody>
      </p:sp>
      <p:sp>
        <p:nvSpPr>
          <p:cNvPr id="14" name="Card"/>
          <p:cNvSpPr/>
          <p:nvPr/>
        </p:nvSpPr>
        <p:spPr>
          <a:xfrm>
            <a:off x="7278624" y="1463040"/>
            <a:ext cx="2103120" cy="1371600"/>
          </a:xfrm>
          <a:prstGeom prst="roundRect">
            <a:avLst>
              <a:gd name="adj" fmla="val 6667"/>
            </a:avLst>
          </a:prstGeom>
          <a:solidFill>
            <a:schemeClr val="bg2"/>
          </a:solidFill>
          <a:ln w="12700">
            <a:solidFill>
              <a:schemeClr val="bg2"/>
            </a:solidFill>
            <a:prstDash val="solid"/>
          </a:ln>
        </p:spPr>
      </p:sp>
      <p:sp>
        <p:nvSpPr>
          <p:cNvPr id="15" name="Icon circle"/>
          <p:cNvSpPr/>
          <p:nvPr/>
        </p:nvSpPr>
        <p:spPr>
          <a:xfrm>
            <a:off x="7415784" y="1600200"/>
            <a:ext cx="411480" cy="411480"/>
          </a:xfrm>
          <a:prstGeom prst="ellipse">
            <a:avLst/>
          </a:prstGeom>
          <a:solidFill>
            <a:schemeClr val="accent1"/>
          </a:solidFill>
          <a:ln w="12700">
            <a:solidFill>
              <a:schemeClr val="accent1"/>
            </a:solidFill>
            <a:prstDash val="solid"/>
          </a:ln>
        </p:spPr>
      </p:sp>
      <p:pic>
        <p:nvPicPr>
          <p:cNvPr id="16" name="Image 1" descr="FileAlt icon">    </p:cNvPr>
          <p:cNvPicPr>
            <a:picLocks noChangeAspect="1"/>
          </p:cNvPicPr>
          <p:nvPr/>
        </p:nvPicPr>
        <p:blipFill>
          <a:blip r:embed="rId2"/>
          <a:stretch>
            <a:fillRect/>
          </a:stretch>
        </p:blipFill>
        <p:spPr>
          <a:xfrm>
            <a:off x="7514539" y="1698955"/>
            <a:ext cx="213970" cy="213970"/>
          </a:xfrm>
          <a:prstGeom prst="rect">
            <a:avLst/>
          </a:prstGeom>
        </p:spPr>
      </p:pic>
      <p:sp>
        <p:nvSpPr>
          <p:cNvPr id="17" name="Text 12"/>
          <p:cNvSpPr txBox="1"/>
          <p:nvPr/>
        </p:nvSpPr>
        <p:spPr>
          <a:xfrm>
            <a:off x="7918704" y="1600200"/>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PromptTemplate</a:t>
            </a:r>
            <a:endParaRPr lang="en-US" sz="1400" dirty="0"/>
          </a:p>
        </p:txBody>
      </p:sp>
      <p:sp>
        <p:nvSpPr>
          <p:cNvPr id="18" name="Text 13"/>
          <p:cNvSpPr txBox="1"/>
          <p:nvPr/>
        </p:nvSpPr>
        <p:spPr>
          <a:xfrm>
            <a:off x="7415784" y="2148840"/>
            <a:ext cx="1874520" cy="594360"/>
          </a:xfrm>
          <a:prstGeom prst="rect">
            <a:avLst/>
          </a:prstGeom>
          <a:noFill/>
          <a:ln/>
        </p:spPr>
        <p:txBody>
          <a:bodyPr wrap="square" lIns="0" tIns="0" rIns="0" bIns="0" rtlCol="0" anchor="t"/>
          <a:lstStyle/>
          <a:p>
            <a:pPr indent="0" marL="0">
              <a:buNone/>
            </a:pPr>
            <a:r>
              <a:rPr lang="en-US" sz="1300" dirty="0">
                <a:solidFill>
                  <a:schemeClr val="accent6"/>
                </a:solidFill>
              </a:rPr>
              <a:t>Prompt tái sử dụng, có biến</a:t>
            </a:r>
            <a:endParaRPr lang="en-US" sz="1300" dirty="0"/>
          </a:p>
        </p:txBody>
      </p:sp>
      <p:sp>
        <p:nvSpPr>
          <p:cNvPr id="19" name="Card"/>
          <p:cNvSpPr/>
          <p:nvPr/>
        </p:nvSpPr>
        <p:spPr>
          <a:xfrm>
            <a:off x="9528048" y="1463040"/>
            <a:ext cx="2103120" cy="1371600"/>
          </a:xfrm>
          <a:prstGeom prst="roundRect">
            <a:avLst>
              <a:gd name="adj" fmla="val 6667"/>
            </a:avLst>
          </a:prstGeom>
          <a:solidFill>
            <a:schemeClr val="bg2"/>
          </a:solidFill>
          <a:ln w="12700">
            <a:solidFill>
              <a:schemeClr val="bg2"/>
            </a:solidFill>
            <a:prstDash val="solid"/>
          </a:ln>
        </p:spPr>
      </p:sp>
      <p:sp>
        <p:nvSpPr>
          <p:cNvPr id="20" name="Icon circle"/>
          <p:cNvSpPr/>
          <p:nvPr/>
        </p:nvSpPr>
        <p:spPr>
          <a:xfrm>
            <a:off x="9665208" y="1600200"/>
            <a:ext cx="411480" cy="411480"/>
          </a:xfrm>
          <a:prstGeom prst="ellipse">
            <a:avLst/>
          </a:prstGeom>
          <a:solidFill>
            <a:schemeClr val="accent1"/>
          </a:solidFill>
          <a:ln w="12700">
            <a:solidFill>
              <a:schemeClr val="accent1"/>
            </a:solidFill>
            <a:prstDash val="solid"/>
          </a:ln>
        </p:spPr>
      </p:sp>
      <p:pic>
        <p:nvPicPr>
          <p:cNvPr id="21" name="Image 2" descr="Memory icon">    </p:cNvPr>
          <p:cNvPicPr>
            <a:picLocks noChangeAspect="1"/>
          </p:cNvPicPr>
          <p:nvPr/>
        </p:nvPicPr>
        <p:blipFill>
          <a:blip r:embed="rId3"/>
          <a:stretch>
            <a:fillRect/>
          </a:stretch>
        </p:blipFill>
        <p:spPr>
          <a:xfrm>
            <a:off x="9763963" y="1698955"/>
            <a:ext cx="213970" cy="213970"/>
          </a:xfrm>
          <a:prstGeom prst="rect">
            <a:avLst/>
          </a:prstGeom>
        </p:spPr>
      </p:pic>
      <p:sp>
        <p:nvSpPr>
          <p:cNvPr id="22" name="Text 16"/>
          <p:cNvSpPr txBox="1"/>
          <p:nvPr/>
        </p:nvSpPr>
        <p:spPr>
          <a:xfrm>
            <a:off x="10168128" y="1600200"/>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Advisors &amp; Memory</a:t>
            </a:r>
            <a:endParaRPr lang="en-US" sz="1400" dirty="0"/>
          </a:p>
        </p:txBody>
      </p:sp>
      <p:sp>
        <p:nvSpPr>
          <p:cNvPr id="23" name="Text 17"/>
          <p:cNvSpPr txBox="1"/>
          <p:nvPr/>
        </p:nvSpPr>
        <p:spPr>
          <a:xfrm>
            <a:off x="9665208" y="2148840"/>
            <a:ext cx="1874520" cy="594360"/>
          </a:xfrm>
          <a:prstGeom prst="rect">
            <a:avLst/>
          </a:prstGeom>
          <a:noFill/>
          <a:ln/>
        </p:spPr>
        <p:txBody>
          <a:bodyPr wrap="square" lIns="0" tIns="0" rIns="0" bIns="0" rtlCol="0" anchor="t"/>
          <a:lstStyle/>
          <a:p>
            <a:pPr indent="0" marL="0">
              <a:buNone/>
            </a:pPr>
            <a:r>
              <a:rPr lang="en-US" sz="1300" dirty="0">
                <a:solidFill>
                  <a:schemeClr val="accent6"/>
                </a:solidFill>
              </a:rPr>
              <a:t>Lịch sử chat, mẫu RAG</a:t>
            </a:r>
            <a:endParaRPr lang="en-US" sz="1300" dirty="0"/>
          </a:p>
        </p:txBody>
      </p:sp>
      <p:sp>
        <p:nvSpPr>
          <p:cNvPr id="24" name="Card"/>
          <p:cNvSpPr/>
          <p:nvPr/>
        </p:nvSpPr>
        <p:spPr>
          <a:xfrm>
            <a:off x="5029200" y="2944368"/>
            <a:ext cx="2103120" cy="1371600"/>
          </a:xfrm>
          <a:prstGeom prst="roundRect">
            <a:avLst>
              <a:gd name="adj" fmla="val 6667"/>
            </a:avLst>
          </a:prstGeom>
          <a:solidFill>
            <a:schemeClr val="bg2"/>
          </a:solidFill>
          <a:ln w="12700">
            <a:solidFill>
              <a:schemeClr val="bg2"/>
            </a:solidFill>
            <a:prstDash val="solid"/>
          </a:ln>
        </p:spPr>
      </p:sp>
      <p:sp>
        <p:nvSpPr>
          <p:cNvPr id="25" name="Icon circle"/>
          <p:cNvSpPr/>
          <p:nvPr/>
        </p:nvSpPr>
        <p:spPr>
          <a:xfrm>
            <a:off x="5166360" y="3081528"/>
            <a:ext cx="411480" cy="411480"/>
          </a:xfrm>
          <a:prstGeom prst="ellipse">
            <a:avLst/>
          </a:prstGeom>
          <a:solidFill>
            <a:schemeClr val="accent1"/>
          </a:solidFill>
          <a:ln w="12700">
            <a:solidFill>
              <a:schemeClr val="accent1"/>
            </a:solidFill>
            <a:prstDash val="solid"/>
          </a:ln>
        </p:spPr>
      </p:sp>
      <p:pic>
        <p:nvPicPr>
          <p:cNvPr id="26" name="Image 3" descr="Database icon">    </p:cNvPr>
          <p:cNvPicPr>
            <a:picLocks noChangeAspect="1"/>
          </p:cNvPicPr>
          <p:nvPr/>
        </p:nvPicPr>
        <p:blipFill>
          <a:blip r:embed="rId4"/>
          <a:stretch>
            <a:fillRect/>
          </a:stretch>
        </p:blipFill>
        <p:spPr>
          <a:xfrm>
            <a:off x="5265115" y="3180283"/>
            <a:ext cx="213970" cy="213970"/>
          </a:xfrm>
          <a:prstGeom prst="rect">
            <a:avLst/>
          </a:prstGeom>
        </p:spPr>
      </p:pic>
      <p:sp>
        <p:nvSpPr>
          <p:cNvPr id="27" name="Text 20"/>
          <p:cNvSpPr txBox="1"/>
          <p:nvPr/>
        </p:nvSpPr>
        <p:spPr>
          <a:xfrm>
            <a:off x="5669280" y="3081528"/>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VectorStore</a:t>
            </a:r>
            <a:endParaRPr lang="en-US" sz="1400" dirty="0"/>
          </a:p>
        </p:txBody>
      </p:sp>
      <p:sp>
        <p:nvSpPr>
          <p:cNvPr id="28" name="Text 21"/>
          <p:cNvSpPr txBox="1"/>
          <p:nvPr/>
        </p:nvSpPr>
        <p:spPr>
          <a:xfrm>
            <a:off x="5166360" y="3630168"/>
            <a:ext cx="1874520" cy="594360"/>
          </a:xfrm>
          <a:prstGeom prst="rect">
            <a:avLst/>
          </a:prstGeom>
          <a:noFill/>
          <a:ln/>
        </p:spPr>
        <p:txBody>
          <a:bodyPr wrap="square" lIns="0" tIns="0" rIns="0" bIns="0" rtlCol="0" anchor="t"/>
          <a:lstStyle/>
          <a:p>
            <a:pPr indent="0" marL="0">
              <a:buNone/>
            </a:pPr>
            <a:r>
              <a:rPr lang="en-US" sz="1300" dirty="0">
                <a:solidFill>
                  <a:schemeClr val="accent6"/>
                </a:solidFill>
              </a:rPr>
              <a:t>Tìm kiếm ngữ nghĩa trên embeddings</a:t>
            </a:r>
            <a:endParaRPr lang="en-US" sz="1300" dirty="0"/>
          </a:p>
        </p:txBody>
      </p:sp>
      <p:sp>
        <p:nvSpPr>
          <p:cNvPr id="29" name="Card"/>
          <p:cNvSpPr/>
          <p:nvPr/>
        </p:nvSpPr>
        <p:spPr>
          <a:xfrm>
            <a:off x="7278624" y="2944368"/>
            <a:ext cx="2103120" cy="1371600"/>
          </a:xfrm>
          <a:prstGeom prst="roundRect">
            <a:avLst>
              <a:gd name="adj" fmla="val 6667"/>
            </a:avLst>
          </a:prstGeom>
          <a:solidFill>
            <a:schemeClr val="bg2"/>
          </a:solidFill>
          <a:ln w="12700">
            <a:solidFill>
              <a:schemeClr val="bg2"/>
            </a:solidFill>
            <a:prstDash val="solid"/>
          </a:ln>
        </p:spPr>
      </p:sp>
      <p:sp>
        <p:nvSpPr>
          <p:cNvPr id="30" name="Icon circle"/>
          <p:cNvSpPr/>
          <p:nvPr/>
        </p:nvSpPr>
        <p:spPr>
          <a:xfrm>
            <a:off x="7415784" y="3081528"/>
            <a:ext cx="411480" cy="411480"/>
          </a:xfrm>
          <a:prstGeom prst="ellipse">
            <a:avLst/>
          </a:prstGeom>
          <a:solidFill>
            <a:schemeClr val="accent1"/>
          </a:solidFill>
          <a:ln w="12700">
            <a:solidFill>
              <a:schemeClr val="accent1"/>
            </a:solidFill>
            <a:prstDash val="solid"/>
          </a:ln>
        </p:spPr>
      </p:sp>
      <p:pic>
        <p:nvPicPr>
          <p:cNvPr id="31" name="Image 4" descr="Tools icon">    </p:cNvPr>
          <p:cNvPicPr>
            <a:picLocks noChangeAspect="1"/>
          </p:cNvPicPr>
          <p:nvPr/>
        </p:nvPicPr>
        <p:blipFill>
          <a:blip r:embed="rId5"/>
          <a:stretch>
            <a:fillRect/>
          </a:stretch>
        </p:blipFill>
        <p:spPr>
          <a:xfrm>
            <a:off x="7514539" y="3180283"/>
            <a:ext cx="213970" cy="213970"/>
          </a:xfrm>
          <a:prstGeom prst="rect">
            <a:avLst/>
          </a:prstGeom>
        </p:spPr>
      </p:pic>
      <p:sp>
        <p:nvSpPr>
          <p:cNvPr id="32" name="Text 24"/>
          <p:cNvSpPr txBox="1"/>
          <p:nvPr/>
        </p:nvSpPr>
        <p:spPr>
          <a:xfrm>
            <a:off x="7918704" y="3081528"/>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Tool Calling</a:t>
            </a:r>
            <a:endParaRPr lang="en-US" sz="1400" dirty="0"/>
          </a:p>
        </p:txBody>
      </p:sp>
      <p:sp>
        <p:nvSpPr>
          <p:cNvPr id="33" name="Text 25"/>
          <p:cNvSpPr txBox="1"/>
          <p:nvPr/>
        </p:nvSpPr>
        <p:spPr>
          <a:xfrm>
            <a:off x="7415784" y="3630168"/>
            <a:ext cx="1874520" cy="594360"/>
          </a:xfrm>
          <a:prstGeom prst="rect">
            <a:avLst/>
          </a:prstGeom>
          <a:noFill/>
          <a:ln/>
        </p:spPr>
        <p:txBody>
          <a:bodyPr wrap="square" lIns="0" tIns="0" rIns="0" bIns="0" rtlCol="0" anchor="t"/>
          <a:lstStyle/>
          <a:p>
            <a:pPr indent="0" marL="0">
              <a:buNone/>
            </a:pPr>
            <a:r>
              <a:rPr lang="en-US" sz="1300" dirty="0">
                <a:solidFill>
                  <a:schemeClr val="accent6"/>
                </a:solidFill>
              </a:rPr>
              <a:t>Model gọi phương thức Java</a:t>
            </a:r>
            <a:endParaRPr lang="en-US" sz="1300" dirty="0"/>
          </a:p>
        </p:txBody>
      </p:sp>
      <p:sp>
        <p:nvSpPr>
          <p:cNvPr id="34" name="Card"/>
          <p:cNvSpPr/>
          <p:nvPr/>
        </p:nvSpPr>
        <p:spPr>
          <a:xfrm>
            <a:off x="9528048" y="2944368"/>
            <a:ext cx="2103120" cy="1371600"/>
          </a:xfrm>
          <a:prstGeom prst="roundRect">
            <a:avLst>
              <a:gd name="adj" fmla="val 6667"/>
            </a:avLst>
          </a:prstGeom>
          <a:solidFill>
            <a:schemeClr val="bg2"/>
          </a:solidFill>
          <a:ln w="12700">
            <a:solidFill>
              <a:schemeClr val="bg2"/>
            </a:solidFill>
            <a:prstDash val="solid"/>
          </a:ln>
        </p:spPr>
      </p:sp>
      <p:sp>
        <p:nvSpPr>
          <p:cNvPr id="35" name="Icon circle"/>
          <p:cNvSpPr/>
          <p:nvPr/>
        </p:nvSpPr>
        <p:spPr>
          <a:xfrm>
            <a:off x="9665208" y="3081528"/>
            <a:ext cx="411480" cy="411480"/>
          </a:xfrm>
          <a:prstGeom prst="ellipse">
            <a:avLst/>
          </a:prstGeom>
          <a:solidFill>
            <a:schemeClr val="accent1"/>
          </a:solidFill>
          <a:ln w="12700">
            <a:solidFill>
              <a:schemeClr val="accent1"/>
            </a:solidFill>
            <a:prstDash val="solid"/>
          </a:ln>
        </p:spPr>
      </p:sp>
      <p:pic>
        <p:nvPicPr>
          <p:cNvPr id="36" name="Image 5" descr="Code icon">    </p:cNvPr>
          <p:cNvPicPr>
            <a:picLocks noChangeAspect="1"/>
          </p:cNvPicPr>
          <p:nvPr/>
        </p:nvPicPr>
        <p:blipFill>
          <a:blip r:embed="rId6"/>
          <a:stretch>
            <a:fillRect/>
          </a:stretch>
        </p:blipFill>
        <p:spPr>
          <a:xfrm>
            <a:off x="9763963" y="3180283"/>
            <a:ext cx="213970" cy="213970"/>
          </a:xfrm>
          <a:prstGeom prst="rect">
            <a:avLst/>
          </a:prstGeom>
        </p:spPr>
      </p:pic>
      <p:sp>
        <p:nvSpPr>
          <p:cNvPr id="37" name="Text 28"/>
          <p:cNvSpPr txBox="1"/>
          <p:nvPr/>
        </p:nvSpPr>
        <p:spPr>
          <a:xfrm>
            <a:off x="10168128" y="3081528"/>
            <a:ext cx="1417320" cy="411480"/>
          </a:xfrm>
          <a:prstGeom prst="rect">
            <a:avLst/>
          </a:prstGeom>
          <a:noFill/>
          <a:ln/>
        </p:spPr>
        <p:txBody>
          <a:bodyPr wrap="square" lIns="0" tIns="0" rIns="0" bIns="0" rtlCol="0" anchor="ctr"/>
          <a:lstStyle/>
          <a:p>
            <a:pPr indent="0" marL="0">
              <a:buNone/>
            </a:pPr>
            <a:r>
              <a:rPr lang="en-US" sz="1400" b="1" dirty="0">
                <a:solidFill>
                  <a:schemeClr val="tx2"/>
                </a:solidFill>
              </a:rPr>
              <a:t>Structured Output</a:t>
            </a:r>
            <a:endParaRPr lang="en-US" sz="1400" dirty="0"/>
          </a:p>
        </p:txBody>
      </p:sp>
      <p:sp>
        <p:nvSpPr>
          <p:cNvPr id="38" name="Text 29"/>
          <p:cNvSpPr txBox="1"/>
          <p:nvPr/>
        </p:nvSpPr>
        <p:spPr>
          <a:xfrm>
            <a:off x="9665208" y="3630168"/>
            <a:ext cx="1874520" cy="594360"/>
          </a:xfrm>
          <a:prstGeom prst="rect">
            <a:avLst/>
          </a:prstGeom>
          <a:noFill/>
          <a:ln/>
        </p:spPr>
        <p:txBody>
          <a:bodyPr wrap="square" lIns="0" tIns="0" rIns="0" bIns="0" rtlCol="0" anchor="t"/>
          <a:lstStyle/>
          <a:p>
            <a:pPr indent="0" marL="0">
              <a:buNone/>
            </a:pPr>
            <a:r>
              <a:rPr lang="en-US" sz="1300" dirty="0">
                <a:solidFill>
                  <a:schemeClr val="accent6"/>
                </a:solidFill>
              </a:rPr>
              <a:t>Ánh xạ câu trả lời sang POJO</a:t>
            </a:r>
            <a:endParaRPr lang="en-US" sz="1300" dirty="0"/>
          </a:p>
        </p:txBody>
      </p:sp>
      <p:sp>
        <p:nvSpPr>
          <p:cNvPr id="39" name="Text 30"/>
          <p:cNvSpPr txBox="1"/>
          <p:nvPr/>
        </p:nvSpPr>
        <p:spPr>
          <a:xfrm>
            <a:off x="548640" y="4526280"/>
            <a:ext cx="5486400" cy="274320"/>
          </a:xfrm>
          <a:prstGeom prst="rect">
            <a:avLst/>
          </a:prstGeom>
          <a:noFill/>
          <a:ln/>
        </p:spPr>
        <p:txBody>
          <a:bodyPr wrap="square" lIns="0" tIns="0" rIns="0" bIns="0" rtlCol="0" anchor="t"/>
          <a:lstStyle/>
          <a:p>
            <a:pPr indent="0" marL="0">
              <a:buNone/>
            </a:pPr>
            <a:r>
              <a:rPr lang="en-US" sz="1400" b="1" dirty="0">
                <a:solidFill>
                  <a:schemeClr val="tx2"/>
                </a:solidFill>
              </a:rPr>
              <a:t>Chat &amp; embedding models được hỗ trợ</a:t>
            </a:r>
            <a:endParaRPr lang="en-US" sz="1400" dirty="0"/>
          </a:p>
        </p:txBody>
      </p:sp>
      <p:sp>
        <p:nvSpPr>
          <p:cNvPr id="40" name="Box"/>
          <p:cNvSpPr txBox="1"/>
          <p:nvPr/>
        </p:nvSpPr>
        <p:spPr>
          <a:xfrm>
            <a:off x="548640"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OpenAI</a:t>
            </a:r>
            <a:endParaRPr lang="en-US" sz="1200" dirty="0"/>
          </a:p>
        </p:txBody>
      </p:sp>
      <p:sp>
        <p:nvSpPr>
          <p:cNvPr id="41" name="Box"/>
          <p:cNvSpPr txBox="1"/>
          <p:nvPr/>
        </p:nvSpPr>
        <p:spPr>
          <a:xfrm>
            <a:off x="1933956"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Anthropic</a:t>
            </a:r>
            <a:endParaRPr lang="en-US" sz="1200" dirty="0"/>
          </a:p>
        </p:txBody>
      </p:sp>
      <p:sp>
        <p:nvSpPr>
          <p:cNvPr id="42" name="Box"/>
          <p:cNvSpPr txBox="1"/>
          <p:nvPr/>
        </p:nvSpPr>
        <p:spPr>
          <a:xfrm>
            <a:off x="3319272"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Google Gemini</a:t>
            </a:r>
            <a:endParaRPr lang="en-US" sz="1200" dirty="0"/>
          </a:p>
        </p:txBody>
      </p:sp>
      <p:sp>
        <p:nvSpPr>
          <p:cNvPr id="43" name="Box"/>
          <p:cNvSpPr txBox="1"/>
          <p:nvPr/>
        </p:nvSpPr>
        <p:spPr>
          <a:xfrm>
            <a:off x="4704588"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Azure OpenAI</a:t>
            </a:r>
            <a:endParaRPr lang="en-US" sz="1200" dirty="0"/>
          </a:p>
        </p:txBody>
      </p:sp>
      <p:sp>
        <p:nvSpPr>
          <p:cNvPr id="44" name="Box"/>
          <p:cNvSpPr txBox="1"/>
          <p:nvPr/>
        </p:nvSpPr>
        <p:spPr>
          <a:xfrm>
            <a:off x="6089904"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Mistral AI</a:t>
            </a:r>
            <a:endParaRPr lang="en-US" sz="1200" dirty="0"/>
          </a:p>
        </p:txBody>
      </p:sp>
      <p:sp>
        <p:nvSpPr>
          <p:cNvPr id="45" name="Box"/>
          <p:cNvSpPr txBox="1"/>
          <p:nvPr/>
        </p:nvSpPr>
        <p:spPr>
          <a:xfrm>
            <a:off x="7475220"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Ollama (local)</a:t>
            </a:r>
            <a:endParaRPr lang="en-US" sz="1200" dirty="0"/>
          </a:p>
        </p:txBody>
      </p:sp>
      <p:sp>
        <p:nvSpPr>
          <p:cNvPr id="46" name="Box"/>
          <p:cNvSpPr txBox="1"/>
          <p:nvPr/>
        </p:nvSpPr>
        <p:spPr>
          <a:xfrm>
            <a:off x="8860536"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Amazon Bedrock</a:t>
            </a:r>
            <a:endParaRPr lang="en-US" sz="1200" dirty="0"/>
          </a:p>
        </p:txBody>
      </p:sp>
      <p:sp>
        <p:nvSpPr>
          <p:cNvPr id="47" name="Box"/>
          <p:cNvSpPr txBox="1"/>
          <p:nvPr/>
        </p:nvSpPr>
        <p:spPr>
          <a:xfrm>
            <a:off x="10245852" y="4846320"/>
            <a:ext cx="1298448" cy="384048"/>
          </a:xfrm>
          <a:prstGeom prst="roundRect">
            <a:avLst>
              <a:gd name="adj" fmla="val 23810"/>
            </a:avLst>
          </a:prstGeom>
          <a:solidFill>
            <a:schemeClr val="bg2"/>
          </a:solidFill>
          <a:ln>
            <a:solidFill>
              <a:schemeClr val="bg2"/>
            </a:solidFill>
          </a:ln>
        </p:spPr>
        <p:txBody>
          <a:bodyPr wrap="square" lIns="76200" tIns="76200" rIns="76200" bIns="76200" rtlCol="0" anchor="ctr"/>
          <a:lstStyle/>
          <a:p>
            <a:pPr algn="ctr" indent="0" marL="0">
              <a:buNone/>
            </a:pPr>
            <a:r>
              <a:rPr lang="en-US" sz="1200" b="1" dirty="0">
                <a:solidFill>
                  <a:schemeClr val="tx2"/>
                </a:solidFill>
              </a:rPr>
              <a:t>DeepSeek</a:t>
            </a:r>
            <a:endParaRPr lang="en-US" sz="1200" dirty="0"/>
          </a:p>
        </p:txBody>
      </p:sp>
      <p:sp>
        <p:nvSpPr>
          <p:cNvPr id="48" name="Text 39"/>
          <p:cNvSpPr txBox="1"/>
          <p:nvPr/>
        </p:nvSpPr>
        <p:spPr>
          <a:xfrm>
            <a:off x="548640" y="5413248"/>
            <a:ext cx="5486400" cy="274320"/>
          </a:xfrm>
          <a:prstGeom prst="rect">
            <a:avLst/>
          </a:prstGeom>
          <a:noFill/>
          <a:ln/>
        </p:spPr>
        <p:txBody>
          <a:bodyPr wrap="square" lIns="0" tIns="0" rIns="0" bIns="0" rtlCol="0" anchor="t"/>
          <a:lstStyle/>
          <a:p>
            <a:pPr indent="0" marL="0">
              <a:buNone/>
            </a:pPr>
            <a:r>
              <a:rPr lang="en-US" sz="1400" b="1" dirty="0">
                <a:solidFill>
                  <a:schemeClr val="tx2"/>
                </a:solidFill>
              </a:rPr>
              <a:t>Vector databases</a:t>
            </a:r>
            <a:endParaRPr lang="en-US" sz="1400" dirty="0"/>
          </a:p>
        </p:txBody>
      </p:sp>
      <p:sp>
        <p:nvSpPr>
          <p:cNvPr id="49" name="Box"/>
          <p:cNvSpPr txBox="1"/>
          <p:nvPr/>
        </p:nvSpPr>
        <p:spPr>
          <a:xfrm>
            <a:off x="548640" y="5733288"/>
            <a:ext cx="1298448"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PGvector</a:t>
            </a:r>
            <a:endParaRPr lang="en-US" sz="1200" dirty="0"/>
          </a:p>
        </p:txBody>
      </p:sp>
      <p:sp>
        <p:nvSpPr>
          <p:cNvPr id="50" name="Box"/>
          <p:cNvSpPr txBox="1"/>
          <p:nvPr/>
        </p:nvSpPr>
        <p:spPr>
          <a:xfrm>
            <a:off x="1933956" y="5733288"/>
            <a:ext cx="1298448"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Qdrant</a:t>
            </a:r>
            <a:endParaRPr lang="en-US" sz="1200" dirty="0"/>
          </a:p>
        </p:txBody>
      </p:sp>
      <p:sp>
        <p:nvSpPr>
          <p:cNvPr id="51" name="Box"/>
          <p:cNvSpPr txBox="1"/>
          <p:nvPr/>
        </p:nvSpPr>
        <p:spPr>
          <a:xfrm>
            <a:off x="3319272" y="5733288"/>
            <a:ext cx="1298448"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Weaviate</a:t>
            </a:r>
            <a:endParaRPr lang="en-US" sz="1200" dirty="0"/>
          </a:p>
        </p:txBody>
      </p:sp>
      <p:sp>
        <p:nvSpPr>
          <p:cNvPr id="52" name="Box"/>
          <p:cNvSpPr txBox="1"/>
          <p:nvPr/>
        </p:nvSpPr>
        <p:spPr>
          <a:xfrm>
            <a:off x="4704588" y="5733288"/>
            <a:ext cx="1298448"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Redis</a:t>
            </a:r>
            <a:endParaRPr lang="en-US" sz="1200" dirty="0"/>
          </a:p>
        </p:txBody>
      </p:sp>
      <p:sp>
        <p:nvSpPr>
          <p:cNvPr id="53" name="Text 44"/>
          <p:cNvSpPr txBox="1"/>
          <p:nvPr/>
        </p:nvSpPr>
        <p:spPr>
          <a:xfrm>
            <a:off x="6089904" y="5733288"/>
            <a:ext cx="2743200" cy="384048"/>
          </a:xfrm>
          <a:prstGeom prst="rect">
            <a:avLst/>
          </a:prstGeom>
          <a:noFill/>
          <a:ln/>
        </p:spPr>
        <p:txBody>
          <a:bodyPr wrap="square" lIns="0" tIns="0" rIns="0" bIns="0" rtlCol="0" anchor="ctr"/>
          <a:lstStyle/>
          <a:p>
            <a:pPr indent="0" marL="0">
              <a:buNone/>
            </a:pPr>
            <a:r>
              <a:rPr lang="en-US" sz="1300" i="1" dirty="0">
                <a:solidFill>
                  <a:schemeClr val="accent6"/>
                </a:solidFill>
              </a:rPr>
              <a:t>… cùng nhiều store khác</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Luồng tích hợp GenAI và ChatClient</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Card"/>
          <p:cNvSpPr/>
          <p:nvPr/>
        </p:nvSpPr>
        <p:spPr>
          <a:xfrm>
            <a:off x="411480" y="1417320"/>
            <a:ext cx="6903720" cy="160020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594360" y="1481328"/>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Ứng dụng Spring Boot của bạn</a:t>
            </a:r>
            <a:endParaRPr lang="en-US" sz="1200" dirty="0"/>
          </a:p>
        </p:txBody>
      </p:sp>
      <p:sp>
        <p:nvSpPr>
          <p:cNvPr id="7" name="Box"/>
          <p:cNvSpPr txBox="1"/>
          <p:nvPr/>
        </p:nvSpPr>
        <p:spPr>
          <a:xfrm>
            <a:off x="548640" y="1920240"/>
            <a:ext cx="1920240" cy="868680"/>
          </a:xfrm>
          <a:prstGeom prst="roundRect">
            <a:avLst>
              <a:gd name="adj" fmla="val 10526"/>
            </a:avLst>
          </a:prstGeom>
          <a:solidFill>
            <a:srgbClr val="FFFFFF"/>
          </a:solidFill>
          <a:ln w="15875">
            <a:solidFill>
              <a:schemeClr val="accent5"/>
            </a:solidFill>
            <a:prstDash val="solid"/>
          </a:ln>
        </p:spPr>
        <p:txBody>
          <a:bodyPr wrap="square" lIns="76200" tIns="76200" rIns="76200" bIns="76200" rtlCol="0" anchor="ctr"/>
          <a:lstStyle/>
          <a:p>
            <a:pPr algn="ctr" indent="0" marL="0">
              <a:buNone/>
            </a:pPr>
            <a:r>
              <a:rPr lang="en-US" sz="1400" dirty="0">
                <a:solidFill>
                  <a:schemeClr val="tx1"/>
                </a:solidFill>
              </a:rPr>
              <a:t>User (Web / API)</a:t>
            </a:r>
            <a:endParaRPr lang="en-US" sz="1400" dirty="0"/>
          </a:p>
        </p:txBody>
      </p:sp>
      <p:sp>
        <p:nvSpPr>
          <p:cNvPr id="8" name="Arrow"/>
          <p:cNvSpPr/>
          <p:nvPr/>
        </p:nvSpPr>
        <p:spPr>
          <a:xfrm>
            <a:off x="2487168" y="2350008"/>
            <a:ext cx="329184" cy="0"/>
          </a:xfrm>
          <a:prstGeom prst="line">
            <a:avLst/>
          </a:prstGeom>
          <a:noFill/>
          <a:ln w="22225">
            <a:solidFill>
              <a:schemeClr val="accent6"/>
            </a:solidFill>
            <a:prstDash val="solid"/>
            <a:tailEnd type="triangle"/>
          </a:ln>
        </p:spPr>
      </p:sp>
      <p:sp>
        <p:nvSpPr>
          <p:cNvPr id="9" name="Box"/>
          <p:cNvSpPr txBox="1"/>
          <p:nvPr/>
        </p:nvSpPr>
        <p:spPr>
          <a:xfrm>
            <a:off x="2834640" y="1920240"/>
            <a:ext cx="1920240" cy="868680"/>
          </a:xfrm>
          <a:prstGeom prst="roundRect">
            <a:avLst>
              <a:gd name="adj" fmla="val 10526"/>
            </a:avLst>
          </a:prstGeom>
          <a:solidFill>
            <a:srgbClr val="FFFFFF"/>
          </a:solidFill>
          <a:ln w="15875">
            <a:solidFill>
              <a:schemeClr val="accent5"/>
            </a:solidFill>
            <a:prstDash val="solid"/>
          </a:ln>
        </p:spPr>
        <p:txBody>
          <a:bodyPr wrap="square" lIns="76200" tIns="76200" rIns="76200" bIns="76200" rtlCol="0" anchor="ctr"/>
          <a:lstStyle/>
          <a:p>
            <a:pPr algn="ctr" indent="0" marL="0">
              <a:buNone/>
            </a:pPr>
            <a:r>
              <a:rPr lang="en-US" sz="1400" dirty="0">
                <a:solidFill>
                  <a:schemeClr val="tx1"/>
                </a:solidFill>
              </a:rPr>
              <a:t>REST Controller</a:t>
            </a:r>
            <a:endParaRPr lang="en-US" sz="1400" dirty="0"/>
          </a:p>
        </p:txBody>
      </p:sp>
      <p:sp>
        <p:nvSpPr>
          <p:cNvPr id="10" name="Arrow"/>
          <p:cNvSpPr/>
          <p:nvPr/>
        </p:nvSpPr>
        <p:spPr>
          <a:xfrm>
            <a:off x="4773168" y="2350008"/>
            <a:ext cx="329184" cy="0"/>
          </a:xfrm>
          <a:prstGeom prst="line">
            <a:avLst/>
          </a:prstGeom>
          <a:noFill/>
          <a:ln w="22225">
            <a:solidFill>
              <a:schemeClr val="accent6"/>
            </a:solidFill>
            <a:prstDash val="solid"/>
            <a:tailEnd type="triangle"/>
          </a:ln>
        </p:spPr>
      </p:sp>
      <p:sp>
        <p:nvSpPr>
          <p:cNvPr id="11" name="Box"/>
          <p:cNvSpPr txBox="1"/>
          <p:nvPr/>
        </p:nvSpPr>
        <p:spPr>
          <a:xfrm>
            <a:off x="5120640" y="1920240"/>
            <a:ext cx="1920240" cy="868680"/>
          </a:xfrm>
          <a:prstGeom prst="roundRect">
            <a:avLst>
              <a:gd name="adj" fmla="val 10526"/>
            </a:avLst>
          </a:prstGeom>
          <a:solidFill>
            <a:srgbClr val="FFFFFF"/>
          </a:solidFill>
          <a:ln w="15875">
            <a:solidFill>
              <a:schemeClr val="accent5"/>
            </a:solidFill>
            <a:prstDash val="solid"/>
          </a:ln>
        </p:spPr>
        <p:txBody>
          <a:bodyPr wrap="square" lIns="76200" tIns="76200" rIns="76200" bIns="76200" rtlCol="0" anchor="ctr"/>
          <a:lstStyle/>
          <a:p>
            <a:pPr algn="ctr" indent="0" marL="0">
              <a:buNone/>
            </a:pPr>
            <a:r>
              <a:rPr lang="en-US" sz="1400" b="1" dirty="0">
                <a:solidFill>
                  <a:schemeClr val="tx1"/>
                </a:solidFill>
              </a:rPr>
              <a:t>AI Service + ChatClient</a:t>
            </a:r>
            <a:endParaRPr lang="en-US" sz="1400" dirty="0"/>
          </a:p>
        </p:txBody>
      </p:sp>
      <p:sp>
        <p:nvSpPr>
          <p:cNvPr id="12" name="Arrow"/>
          <p:cNvSpPr/>
          <p:nvPr/>
        </p:nvSpPr>
        <p:spPr>
          <a:xfrm>
            <a:off x="7059168" y="2350008"/>
            <a:ext cx="329184" cy="0"/>
          </a:xfrm>
          <a:prstGeom prst="line">
            <a:avLst/>
          </a:prstGeom>
          <a:noFill/>
          <a:ln w="22225">
            <a:solidFill>
              <a:schemeClr val="accent6"/>
            </a:solidFill>
            <a:prstDash val="solid"/>
            <a:tailEnd type="triangle"/>
          </a:ln>
        </p:spPr>
      </p:sp>
      <p:sp>
        <p:nvSpPr>
          <p:cNvPr id="13" name="Box"/>
          <p:cNvSpPr txBox="1"/>
          <p:nvPr/>
        </p:nvSpPr>
        <p:spPr>
          <a:xfrm>
            <a:off x="7406640" y="1920240"/>
            <a:ext cx="1920240" cy="868680"/>
          </a:xfrm>
          <a:prstGeom prst="roundRect">
            <a:avLst>
              <a:gd name="adj" fmla="val 10526"/>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LLM provider</a:t>
            </a:r>
            <a:endParaRPr lang="en-US" sz="1400" dirty="0"/>
          </a:p>
        </p:txBody>
      </p:sp>
      <p:sp>
        <p:nvSpPr>
          <p:cNvPr id="14" name="Arrow"/>
          <p:cNvSpPr/>
          <p:nvPr/>
        </p:nvSpPr>
        <p:spPr>
          <a:xfrm>
            <a:off x="9345168" y="2350008"/>
            <a:ext cx="329184" cy="0"/>
          </a:xfrm>
          <a:prstGeom prst="line">
            <a:avLst/>
          </a:prstGeom>
          <a:noFill/>
          <a:ln w="22225">
            <a:solidFill>
              <a:schemeClr val="accent6"/>
            </a:solidFill>
            <a:prstDash val="solid"/>
            <a:tailEnd type="triangle"/>
          </a:ln>
        </p:spPr>
      </p:sp>
      <p:sp>
        <p:nvSpPr>
          <p:cNvPr id="15" name="Box"/>
          <p:cNvSpPr txBox="1"/>
          <p:nvPr/>
        </p:nvSpPr>
        <p:spPr>
          <a:xfrm>
            <a:off x="9692640" y="1920240"/>
            <a:ext cx="1920240" cy="868680"/>
          </a:xfrm>
          <a:prstGeom prst="roundRect">
            <a:avLst>
              <a:gd name="adj" fmla="val 10526"/>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1"/>
                </a:solidFill>
              </a:rPr>
              <a:t>Response: text, ảnh, code</a:t>
            </a:r>
            <a:endParaRPr lang="en-US" sz="1400" dirty="0"/>
          </a:p>
        </p:txBody>
      </p:sp>
      <p:sp>
        <p:nvSpPr>
          <p:cNvPr id="16" name="Text 13"/>
          <p:cNvSpPr txBox="1"/>
          <p:nvPr/>
        </p:nvSpPr>
        <p:spPr>
          <a:xfrm>
            <a:off x="548640" y="3127248"/>
            <a:ext cx="11091672" cy="320040"/>
          </a:xfrm>
          <a:prstGeom prst="rect">
            <a:avLst/>
          </a:prstGeom>
          <a:noFill/>
          <a:ln/>
        </p:spPr>
        <p:txBody>
          <a:bodyPr wrap="square" lIns="0" tIns="0" rIns="0" bIns="0" rtlCol="0" anchor="t"/>
          <a:lstStyle/>
          <a:p>
            <a:pPr indent="0" marL="0">
              <a:buNone/>
            </a:pPr>
            <a:r>
              <a:rPr lang="en-US" sz="1500" b="1" dirty="0">
                <a:solidFill>
                  <a:schemeClr val="tx2"/>
                </a:solidFill>
              </a:rPr>
              <a:t>ChatClient dựng prompt từ PromptTemplate → chạy advisors → gọi model → trả câu trả lời</a:t>
            </a:r>
            <a:endParaRPr lang="en-US" sz="1500" dirty="0"/>
          </a:p>
        </p:txBody>
      </p:sp>
      <p:sp>
        <p:nvSpPr>
          <p:cNvPr id="17" name="Code panel AiService.java"/>
          <p:cNvSpPr/>
          <p:nvPr/>
        </p:nvSpPr>
        <p:spPr>
          <a:xfrm>
            <a:off x="548640" y="3566160"/>
            <a:ext cx="6858000" cy="2697480"/>
          </a:xfrm>
          <a:prstGeom prst="roundRect">
            <a:avLst>
              <a:gd name="adj" fmla="val 2712"/>
            </a:avLst>
          </a:prstGeom>
          <a:solidFill>
            <a:schemeClr val="tx2"/>
          </a:solidFill>
          <a:ln w="12700">
            <a:solidFill>
              <a:schemeClr val="tx2"/>
            </a:solidFill>
            <a:prstDash val="solid"/>
          </a:ln>
        </p:spPr>
      </p:sp>
      <p:sp>
        <p:nvSpPr>
          <p:cNvPr id="18" name="Text 15"/>
          <p:cNvSpPr txBox="1"/>
          <p:nvPr/>
        </p:nvSpPr>
        <p:spPr>
          <a:xfrm>
            <a:off x="731520" y="3657600"/>
            <a:ext cx="6492240" cy="237744"/>
          </a:xfrm>
          <a:prstGeom prst="rect">
            <a:avLst/>
          </a:prstGeom>
          <a:noFill/>
          <a:ln/>
        </p:spPr>
        <p:txBody>
          <a:bodyPr wrap="square" lIns="0" tIns="0" rIns="0" bIns="0" rtlCol="0" anchor="ctr"/>
          <a:lstStyle/>
          <a:p>
            <a:pPr indent="0" marL="0">
              <a:buNone/>
            </a:pPr>
            <a:r>
              <a:rPr lang="en-US" sz="1100" b="1" dirty="0">
                <a:solidFill>
                  <a:schemeClr val="accent5"/>
                </a:solidFill>
              </a:rPr>
              <a:t>AiService.java</a:t>
            </a:r>
            <a:endParaRPr lang="en-US" sz="1100" dirty="0"/>
          </a:p>
        </p:txBody>
      </p:sp>
      <p:sp>
        <p:nvSpPr>
          <p:cNvPr id="19" name="Code AiService.java"/>
          <p:cNvSpPr txBox="1"/>
          <p:nvPr/>
        </p:nvSpPr>
        <p:spPr>
          <a:xfrm>
            <a:off x="731520" y="3950208"/>
            <a:ext cx="6492240" cy="2240280"/>
          </a:xfrm>
          <a:prstGeom prst="rect">
            <a:avLst/>
          </a:prstGeom>
          <a:noFill/>
          <a:ln/>
        </p:spPr>
        <p:txBody>
          <a:bodyPr wrap="square" lIns="0" tIns="0" rIns="0" bIns="0" rtlCol="0" anchor="t"/>
          <a:lstStyle/>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@Service</a:t>
            </a:r>
            <a:endParaRPr lang="en-US" sz="1200" dirty="0"/>
          </a:p>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class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AiService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final</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AiService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this</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ask</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question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prompt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system</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"Bạn là trợ lý du lịch."</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user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question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call</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content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7635240" y="3703320"/>
            <a:ext cx="4023360" cy="246888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ChatClient.Builder </a:t>
            </a:r>
            <a:r>
              <a:rPr lang="en-US" sz="1400" dirty="0">
                <a:solidFill>
                  <a:schemeClr val="tx1"/>
                </a:solidFill>
              </a:rPr>
              <a:t>được starter auto-configure</a:t>
            </a:r>
            <a:endParaRPr lang="en-US" sz="1400" dirty="0"/>
          </a:p>
          <a:p>
            <a:pPr marL="177800" indent="-177800">
              <a:spcAft>
                <a:spcPts val="900"/>
              </a:spcAft>
              <a:buSzPct val="100000"/>
              <a:buChar char="•"/>
            </a:pPr>
            <a:r>
              <a:rPr lang="en-US" sz="1400" b="1" dirty="0">
                <a:solidFill>
                  <a:schemeClr val="tx1"/>
                </a:solidFill>
              </a:rPr>
              <a:t>call()</a:t>
            </a:r>
            <a:r>
              <a:rPr lang="en-US" sz="1400" dirty="0">
                <a:solidFill>
                  <a:schemeClr val="tx1"/>
                </a:solidFill>
              </a:rPr>
              <a:t> trả kết quả một lần</a:t>
            </a:r>
            <a:endParaRPr lang="en-US" sz="1400" dirty="0"/>
          </a:p>
          <a:p>
            <a:pPr marL="177800" indent="-177800">
              <a:spcAft>
                <a:spcPts val="900"/>
              </a:spcAft>
              <a:buSzPct val="100000"/>
              <a:buChar char="•"/>
            </a:pPr>
            <a:r>
              <a:rPr lang="en-US" sz="1400" b="1" dirty="0">
                <a:solidFill>
                  <a:schemeClr val="tx1"/>
                </a:solidFill>
              </a:rPr>
              <a:t>stream()</a:t>
            </a:r>
            <a:r>
              <a:rPr lang="en-US" sz="1400" dirty="0">
                <a:solidFill>
                  <a:schemeClr val="tx1"/>
                </a:solidFill>
              </a:rPr>
              <a:t> trả Flux&lt;String&gt; theo từng token</a:t>
            </a:r>
            <a:endParaRPr lang="en-US" sz="1400" dirty="0"/>
          </a:p>
          <a:p>
            <a:pPr marL="177800" indent="-177800">
              <a:spcAft>
                <a:spcPts val="900"/>
              </a:spcAft>
              <a:buSzPct val="100000"/>
              <a:buChar char="•"/>
            </a:pPr>
            <a:r>
              <a:rPr lang="en-US" sz="1400" b="1" dirty="0">
                <a:solidFill>
                  <a:schemeClr val="tx1"/>
                </a:solidFill>
              </a:rPr>
              <a:t>Đổi provider </a:t>
            </a:r>
            <a:r>
              <a:rPr lang="en-US" sz="1400" dirty="0">
                <a:solidFill>
                  <a:schemeClr val="tx1"/>
                </a:solidFill>
              </a:rPr>
              <a:t>= đổi starter + cấu hình, code Java giữ nguyên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PromptTemplate và Structured Output</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Code panel PromptTemplate"/>
          <p:cNvSpPr/>
          <p:nvPr/>
        </p:nvSpPr>
        <p:spPr>
          <a:xfrm>
            <a:off x="548640" y="1463040"/>
            <a:ext cx="5440680" cy="2971800"/>
          </a:xfrm>
          <a:prstGeom prst="roundRect">
            <a:avLst>
              <a:gd name="adj" fmla="val 2462"/>
            </a:avLst>
          </a:prstGeom>
          <a:solidFill>
            <a:schemeClr val="tx2"/>
          </a:solidFill>
          <a:ln w="12700">
            <a:solidFill>
              <a:schemeClr val="tx2"/>
            </a:solidFill>
            <a:prstDash val="solid"/>
          </a:ln>
        </p:spPr>
      </p:sp>
      <p:sp>
        <p:nvSpPr>
          <p:cNvPr id="6" name="Text 3"/>
          <p:cNvSpPr txBox="1"/>
          <p:nvPr/>
        </p:nvSpPr>
        <p:spPr>
          <a:xfrm>
            <a:off x="731520" y="1554480"/>
            <a:ext cx="5074920" cy="237744"/>
          </a:xfrm>
          <a:prstGeom prst="rect">
            <a:avLst/>
          </a:prstGeom>
          <a:noFill/>
          <a:ln/>
        </p:spPr>
        <p:txBody>
          <a:bodyPr wrap="square" lIns="0" tIns="0" rIns="0" bIns="0" rtlCol="0" anchor="ctr"/>
          <a:lstStyle/>
          <a:p>
            <a:pPr indent="0" marL="0">
              <a:buNone/>
            </a:pPr>
            <a:r>
              <a:rPr lang="en-US" sz="1100" b="1" dirty="0">
                <a:solidFill>
                  <a:schemeClr val="accent5"/>
                </a:solidFill>
              </a:rPr>
              <a:t>PromptTemplate</a:t>
            </a:r>
            <a:endParaRPr lang="en-US" sz="1100" dirty="0"/>
          </a:p>
        </p:txBody>
      </p:sp>
      <p:sp>
        <p:nvSpPr>
          <p:cNvPr id="7" name="Code PromptTemplate"/>
          <p:cNvSpPr txBox="1"/>
          <p:nvPr/>
        </p:nvSpPr>
        <p:spPr>
          <a:xfrm>
            <a:off x="731520" y="1847088"/>
            <a:ext cx="5074920" cy="2514600"/>
          </a:xfrm>
          <a:prstGeom prst="rect">
            <a:avLst/>
          </a:prstGeom>
          <a:noFill/>
          <a:ln/>
        </p:spPr>
        <p:txBody>
          <a:bodyPr wrap="square" lIns="0" tIns="0" rIns="0" bIns="0" rtlCol="0" anchor="t"/>
          <a:lstStyle/>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tpl</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F4B393"/>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F4B393"/>
                </a:solidFill>
                <a:latin typeface="Courier New" pitchFamily="34" charset="0"/>
                <a:ea typeface="Courier New" pitchFamily="34" charset="-122"/>
                <a:cs typeface="Courier New" pitchFamily="34" charset="-120"/>
              </a:rPr>
              <a:t>    Gợi ý {n} tour {type} cho {people} người.</a:t>
            </a:r>
            <a:endParaRPr lang="en-US" sz="1300" dirty="0"/>
          </a:p>
          <a:p>
            <a:pPr indent="0" marL="0">
              <a:lnSpc>
                <a:spcPts val="1600"/>
              </a:lnSpc>
              <a:buNone/>
            </a:pPr>
            <a:r>
              <a:rPr lang="en-US" sz="1300" dirty="0">
                <a:solidFill>
                  <a:srgbClr val="F4B393"/>
                </a:solidFill>
                <a:latin typeface="Courier New" pitchFamily="34" charset="0"/>
                <a:ea typeface="Courier New" pitchFamily="34" charset="-122"/>
                <a:cs typeface="Courier New" pitchFamily="34" charset="-120"/>
              </a:rPr>
              <a:t>    """;</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answer</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chatClient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prompt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user</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u</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&gt;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u</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text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tpl</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param</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F4B393"/>
                </a:solidFill>
                <a:latin typeface="Courier New" pitchFamily="34" charset="0"/>
                <a:ea typeface="Courier New" pitchFamily="34" charset="-122"/>
                <a:cs typeface="Courier New" pitchFamily="34" charset="-120"/>
              </a:rPr>
              <a:t>"n"</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3</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param</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F4B393"/>
                </a:solidFill>
                <a:latin typeface="Courier New" pitchFamily="34" charset="0"/>
                <a:ea typeface="Courier New" pitchFamily="34" charset="-122"/>
                <a:cs typeface="Courier New" pitchFamily="34" charset="-120"/>
              </a:rPr>
              <a:t>"type"</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F4B393"/>
                </a:solidFill>
                <a:latin typeface="Courier New" pitchFamily="34" charset="0"/>
                <a:ea typeface="Courier New" pitchFamily="34" charset="-122"/>
                <a:cs typeface="Courier New" pitchFamily="34" charset="-120"/>
              </a:rPr>
              <a:t>"biển đảo"</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param</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F4B393"/>
                </a:solidFill>
                <a:latin typeface="Courier New" pitchFamily="34" charset="0"/>
                <a:ea typeface="Courier New" pitchFamily="34" charset="-122"/>
                <a:cs typeface="Courier New" pitchFamily="34" charset="-120"/>
              </a:rPr>
              <a:t>"people"</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4</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call</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content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p:txBody>
      </p:sp>
      <p:sp>
        <p:nvSpPr>
          <p:cNvPr id="8" name="Code panel Structured Output"/>
          <p:cNvSpPr/>
          <p:nvPr/>
        </p:nvSpPr>
        <p:spPr>
          <a:xfrm>
            <a:off x="6199632" y="1463040"/>
            <a:ext cx="5440680" cy="2971800"/>
          </a:xfrm>
          <a:prstGeom prst="roundRect">
            <a:avLst>
              <a:gd name="adj" fmla="val 2462"/>
            </a:avLst>
          </a:prstGeom>
          <a:solidFill>
            <a:schemeClr val="tx2"/>
          </a:solidFill>
          <a:ln w="12700">
            <a:solidFill>
              <a:schemeClr val="tx2"/>
            </a:solidFill>
            <a:prstDash val="solid"/>
          </a:ln>
        </p:spPr>
      </p:sp>
      <p:sp>
        <p:nvSpPr>
          <p:cNvPr id="9" name="Text 6"/>
          <p:cNvSpPr txBox="1"/>
          <p:nvPr/>
        </p:nvSpPr>
        <p:spPr>
          <a:xfrm>
            <a:off x="6382512" y="1554480"/>
            <a:ext cx="5074920" cy="237744"/>
          </a:xfrm>
          <a:prstGeom prst="rect">
            <a:avLst/>
          </a:prstGeom>
          <a:noFill/>
          <a:ln/>
        </p:spPr>
        <p:txBody>
          <a:bodyPr wrap="square" lIns="0" tIns="0" rIns="0" bIns="0" rtlCol="0" anchor="ctr"/>
          <a:lstStyle/>
          <a:p>
            <a:pPr indent="0" marL="0">
              <a:buNone/>
            </a:pPr>
            <a:r>
              <a:rPr lang="en-US" sz="1100" b="1" dirty="0">
                <a:solidFill>
                  <a:schemeClr val="accent5"/>
                </a:solidFill>
              </a:rPr>
              <a:t>Structured Output</a:t>
            </a:r>
            <a:endParaRPr lang="en-US" sz="1100" dirty="0"/>
          </a:p>
        </p:txBody>
      </p:sp>
      <p:sp>
        <p:nvSpPr>
          <p:cNvPr id="10" name="Code Structured Output"/>
          <p:cNvSpPr txBox="1"/>
          <p:nvPr/>
        </p:nvSpPr>
        <p:spPr>
          <a:xfrm>
            <a:off x="6382512" y="1847088"/>
            <a:ext cx="5074920" cy="2514600"/>
          </a:xfrm>
          <a:prstGeom prst="rect">
            <a:avLst/>
          </a:prstGeom>
          <a:noFill/>
          <a:ln/>
        </p:spPr>
        <p:txBody>
          <a:bodyPr wrap="square" lIns="0" tIns="0" rIns="0" bIns="0" rtlCol="0" anchor="t"/>
          <a:lstStyle/>
          <a:p>
            <a:pPr indent="0" marL="0">
              <a:lnSpc>
                <a:spcPts val="1600"/>
              </a:lnSpc>
              <a:buNone/>
            </a:pPr>
            <a:r>
              <a:rPr lang="en-US" sz="1300" dirty="0">
                <a:solidFill>
                  <a:srgbClr val="E0A458"/>
                </a:solidFill>
                <a:latin typeface="Courier New" pitchFamily="34" charset="0"/>
                <a:ea typeface="Courier New" pitchFamily="34" charset="-122"/>
                <a:cs typeface="Courier New" pitchFamily="34" charset="-120"/>
              </a:rPr>
              <a:t>record</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TourIdea</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86C7BA"/>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name</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destination</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int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days</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long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price</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TourIdea</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idea</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chatClient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prompt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user</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F4B393"/>
                </a:solidFill>
                <a:latin typeface="Courier New" pitchFamily="34" charset="0"/>
                <a:ea typeface="Courier New" pitchFamily="34" charset="-122"/>
                <a:cs typeface="Courier New" pitchFamily="34" charset="-120"/>
              </a:rPr>
              <a:t>"Gợi ý 1 tour biển đảo"</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call</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entity</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86C7BA"/>
                </a:solidFill>
                <a:latin typeface="Courier New" pitchFamily="34" charset="0"/>
                <a:ea typeface="Courier New" pitchFamily="34" charset="-122"/>
                <a:cs typeface="Courier New" pitchFamily="34" charset="-120"/>
              </a:rPr>
              <a:t>TourIdea</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0A458"/>
                </a:solidFill>
                <a:latin typeface="Courier New" pitchFamily="34" charset="0"/>
                <a:ea typeface="Courier New" pitchFamily="34" charset="-122"/>
                <a:cs typeface="Courier New" pitchFamily="34" charset="-120"/>
              </a:rPr>
              <a:t>class</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i="1" dirty="0">
                <a:solidFill>
                  <a:srgbClr val="86B3A8"/>
                </a:solidFill>
                <a:latin typeface="Courier New" pitchFamily="34" charset="0"/>
                <a:ea typeface="Courier New" pitchFamily="34" charset="-122"/>
                <a:cs typeface="Courier New" pitchFamily="34" charset="-120"/>
              </a:rPr>
              <a:t>// JSON -&gt; record</a:t>
            </a:r>
            <a:endParaRPr lang="en-US" sz="1300" dirty="0"/>
          </a:p>
        </p:txBody>
      </p:sp>
      <p:sp>
        <p:nvSpPr>
          <p:cNvPr id="11" name="Card"/>
          <p:cNvSpPr/>
          <p:nvPr/>
        </p:nvSpPr>
        <p:spPr>
          <a:xfrm>
            <a:off x="548640" y="4617720"/>
            <a:ext cx="3611880" cy="1645920"/>
          </a:xfrm>
          <a:prstGeom prst="roundRect">
            <a:avLst>
              <a:gd name="adj" fmla="val 5556"/>
            </a:avLst>
          </a:prstGeom>
          <a:solidFill>
            <a:schemeClr val="bg2"/>
          </a:solidFill>
          <a:ln w="12700">
            <a:solidFill>
              <a:schemeClr val="bg2"/>
            </a:solidFill>
            <a:prstDash val="solid"/>
          </a:ln>
        </p:spPr>
      </p:sp>
      <p:sp>
        <p:nvSpPr>
          <p:cNvPr id="12" name="Icon circle"/>
          <p:cNvSpPr/>
          <p:nvPr/>
        </p:nvSpPr>
        <p:spPr>
          <a:xfrm>
            <a:off x="731520" y="4800600"/>
            <a:ext cx="457200" cy="457200"/>
          </a:xfrm>
          <a:prstGeom prst="ellipse">
            <a:avLst/>
          </a:prstGeom>
          <a:solidFill>
            <a:schemeClr val="accent1"/>
          </a:solidFill>
          <a:ln w="12700">
            <a:solidFill>
              <a:schemeClr val="accent1"/>
            </a:solidFill>
            <a:prstDash val="solid"/>
          </a:ln>
        </p:spPr>
      </p:sp>
      <p:pic>
        <p:nvPicPr>
          <p:cNvPr id="13" name="Image 0" descr="Users icon">    </p:cNvPr>
          <p:cNvPicPr>
            <a:picLocks noChangeAspect="1"/>
          </p:cNvPicPr>
          <p:nvPr/>
        </p:nvPicPr>
        <p:blipFill>
          <a:blip r:embed="rId1"/>
          <a:stretch>
            <a:fillRect/>
          </a:stretch>
        </p:blipFill>
        <p:spPr>
          <a:xfrm>
            <a:off x="841248" y="4910328"/>
            <a:ext cx="237744" cy="237744"/>
          </a:xfrm>
          <a:prstGeom prst="rect">
            <a:avLst/>
          </a:prstGeom>
        </p:spPr>
      </p:pic>
      <p:sp>
        <p:nvSpPr>
          <p:cNvPr id="14" name="Text 10"/>
          <p:cNvSpPr txBox="1"/>
          <p:nvPr/>
        </p:nvSpPr>
        <p:spPr>
          <a:xfrm>
            <a:off x="1325880" y="4800600"/>
            <a:ext cx="2743200" cy="457200"/>
          </a:xfrm>
          <a:prstGeom prst="rect">
            <a:avLst/>
          </a:prstGeom>
          <a:noFill/>
          <a:ln/>
        </p:spPr>
        <p:txBody>
          <a:bodyPr wrap="square" lIns="0" tIns="0" rIns="0" bIns="0" rtlCol="0" anchor="ctr"/>
          <a:lstStyle/>
          <a:p>
            <a:pPr indent="0" marL="0">
              <a:buNone/>
            </a:pPr>
            <a:r>
              <a:rPr lang="en-US" sz="1400" b="1" dirty="0">
                <a:solidFill>
                  <a:schemeClr val="tx2"/>
                </a:solidFill>
              </a:rPr>
              <a:t>Vai trò trong prompt</a:t>
            </a:r>
            <a:endParaRPr lang="en-US" sz="1400" dirty="0"/>
          </a:p>
        </p:txBody>
      </p:sp>
      <p:sp>
        <p:nvSpPr>
          <p:cNvPr id="15" name="Text 11"/>
          <p:cNvSpPr txBox="1"/>
          <p:nvPr/>
        </p:nvSpPr>
        <p:spPr>
          <a:xfrm>
            <a:off x="731520" y="5440680"/>
            <a:ext cx="3291840" cy="777240"/>
          </a:xfrm>
          <a:prstGeom prst="rect">
            <a:avLst/>
          </a:prstGeom>
          <a:noFill/>
          <a:ln/>
        </p:spPr>
        <p:txBody>
          <a:bodyPr wrap="square" lIns="0" tIns="0" rIns="0" bIns="0" rtlCol="0" anchor="t"/>
          <a:lstStyle/>
          <a:p>
            <a:pPr indent="0" marL="0">
              <a:buNone/>
            </a:pPr>
            <a:r>
              <a:rPr lang="en-US" sz="1400" dirty="0">
                <a:solidFill>
                  <a:schemeClr val="tx1"/>
                </a:solidFill>
              </a:rPr>
              <a:t>system / user / assistant (và tool)</a:t>
            </a:r>
            <a:endParaRPr lang="en-US" sz="1400" dirty="0"/>
          </a:p>
        </p:txBody>
      </p:sp>
      <p:sp>
        <p:nvSpPr>
          <p:cNvPr id="16" name="Card"/>
          <p:cNvSpPr/>
          <p:nvPr/>
        </p:nvSpPr>
        <p:spPr>
          <a:xfrm>
            <a:off x="4297680" y="4617720"/>
            <a:ext cx="3611880" cy="1645920"/>
          </a:xfrm>
          <a:prstGeom prst="roundRect">
            <a:avLst>
              <a:gd name="adj" fmla="val 5556"/>
            </a:avLst>
          </a:prstGeom>
          <a:solidFill>
            <a:schemeClr val="bg2"/>
          </a:solidFill>
          <a:ln w="12700">
            <a:solidFill>
              <a:schemeClr val="bg2"/>
            </a:solidFill>
            <a:prstDash val="solid"/>
          </a:ln>
        </p:spPr>
      </p:sp>
      <p:sp>
        <p:nvSpPr>
          <p:cNvPr id="17" name="Icon circle"/>
          <p:cNvSpPr/>
          <p:nvPr/>
        </p:nvSpPr>
        <p:spPr>
          <a:xfrm>
            <a:off x="4480560" y="4800600"/>
            <a:ext cx="457200" cy="457200"/>
          </a:xfrm>
          <a:prstGeom prst="ellipse">
            <a:avLst/>
          </a:prstGeom>
          <a:solidFill>
            <a:schemeClr val="accent1"/>
          </a:solidFill>
          <a:ln w="12700">
            <a:solidFill>
              <a:schemeClr val="accent1"/>
            </a:solidFill>
            <a:prstDash val="solid"/>
          </a:ln>
        </p:spPr>
      </p:sp>
      <p:pic>
        <p:nvPicPr>
          <p:cNvPr id="18" name="Image 1" descr="FileAlt icon">    </p:cNvPr>
          <p:cNvPicPr>
            <a:picLocks noChangeAspect="1"/>
          </p:cNvPicPr>
          <p:nvPr/>
        </p:nvPicPr>
        <p:blipFill>
          <a:blip r:embed="rId2"/>
          <a:stretch>
            <a:fillRect/>
          </a:stretch>
        </p:blipFill>
        <p:spPr>
          <a:xfrm>
            <a:off x="4590288" y="4910328"/>
            <a:ext cx="237744" cy="237744"/>
          </a:xfrm>
          <a:prstGeom prst="rect">
            <a:avLst/>
          </a:prstGeom>
        </p:spPr>
      </p:pic>
      <p:sp>
        <p:nvSpPr>
          <p:cNvPr id="19" name="Text 14"/>
          <p:cNvSpPr txBox="1"/>
          <p:nvPr/>
        </p:nvSpPr>
        <p:spPr>
          <a:xfrm>
            <a:off x="5074920" y="4800600"/>
            <a:ext cx="2743200" cy="457200"/>
          </a:xfrm>
          <a:prstGeom prst="rect">
            <a:avLst/>
          </a:prstGeom>
          <a:noFill/>
          <a:ln/>
        </p:spPr>
        <p:txBody>
          <a:bodyPr wrap="square" lIns="0" tIns="0" rIns="0" bIns="0" rtlCol="0" anchor="ctr"/>
          <a:lstStyle/>
          <a:p>
            <a:pPr indent="0" marL="0">
              <a:buNone/>
            </a:pPr>
            <a:r>
              <a:rPr lang="en-US" sz="1400" b="1" dirty="0">
                <a:solidFill>
                  <a:schemeClr val="tx2"/>
                </a:solidFill>
              </a:rPr>
              <a:t>Biến {...} trong template</a:t>
            </a:r>
            <a:endParaRPr lang="en-US" sz="1400" dirty="0"/>
          </a:p>
        </p:txBody>
      </p:sp>
      <p:sp>
        <p:nvSpPr>
          <p:cNvPr id="20" name="Text 15"/>
          <p:cNvSpPr txBox="1"/>
          <p:nvPr/>
        </p:nvSpPr>
        <p:spPr>
          <a:xfrm>
            <a:off x="4480560" y="5440680"/>
            <a:ext cx="3291840" cy="777240"/>
          </a:xfrm>
          <a:prstGeom prst="rect">
            <a:avLst/>
          </a:prstGeom>
          <a:noFill/>
          <a:ln/>
        </p:spPr>
        <p:txBody>
          <a:bodyPr wrap="square" lIns="0" tIns="0" rIns="0" bIns="0" rtlCol="0" anchor="t"/>
          <a:lstStyle/>
          <a:p>
            <a:pPr indent="0" marL="0">
              <a:buNone/>
            </a:pPr>
            <a:r>
              <a:rPr lang="en-US" sz="1400" dirty="0">
                <a:solidFill>
                  <a:schemeClr val="tx1"/>
                </a:solidFill>
              </a:rPr>
              <a:t>Một template, nhiều lần dùng; tách ngữ cảnh khỏi câu hỏi</a:t>
            </a:r>
            <a:endParaRPr lang="en-US" sz="1400" dirty="0"/>
          </a:p>
        </p:txBody>
      </p:sp>
      <p:sp>
        <p:nvSpPr>
          <p:cNvPr id="21" name="Card"/>
          <p:cNvSpPr/>
          <p:nvPr/>
        </p:nvSpPr>
        <p:spPr>
          <a:xfrm>
            <a:off x="8046720" y="4617720"/>
            <a:ext cx="3611880" cy="1645920"/>
          </a:xfrm>
          <a:prstGeom prst="roundRect">
            <a:avLst>
              <a:gd name="adj" fmla="val 5556"/>
            </a:avLst>
          </a:prstGeom>
          <a:solidFill>
            <a:schemeClr val="bg2"/>
          </a:solidFill>
          <a:ln w="12700">
            <a:solidFill>
              <a:schemeClr val="bg2"/>
            </a:solidFill>
            <a:prstDash val="solid"/>
          </a:ln>
        </p:spPr>
      </p:sp>
      <p:sp>
        <p:nvSpPr>
          <p:cNvPr id="22" name="Icon circle"/>
          <p:cNvSpPr/>
          <p:nvPr/>
        </p:nvSpPr>
        <p:spPr>
          <a:xfrm>
            <a:off x="8229600" y="4800600"/>
            <a:ext cx="457200" cy="457200"/>
          </a:xfrm>
          <a:prstGeom prst="ellipse">
            <a:avLst/>
          </a:prstGeom>
          <a:solidFill>
            <a:schemeClr val="accent1"/>
          </a:solidFill>
          <a:ln w="12700">
            <a:solidFill>
              <a:schemeClr val="accent1"/>
            </a:solidFill>
            <a:prstDash val="solid"/>
          </a:ln>
        </p:spPr>
      </p:sp>
      <p:pic>
        <p:nvPicPr>
          <p:cNvPr id="23" name="Image 2" descr="Code icon">    </p:cNvPr>
          <p:cNvPicPr>
            <a:picLocks noChangeAspect="1"/>
          </p:cNvPicPr>
          <p:nvPr/>
        </p:nvPicPr>
        <p:blipFill>
          <a:blip r:embed="rId3"/>
          <a:stretch>
            <a:fillRect/>
          </a:stretch>
        </p:blipFill>
        <p:spPr>
          <a:xfrm>
            <a:off x="8339328" y="4910328"/>
            <a:ext cx="237744" cy="237744"/>
          </a:xfrm>
          <a:prstGeom prst="rect">
            <a:avLst/>
          </a:prstGeom>
        </p:spPr>
      </p:pic>
      <p:sp>
        <p:nvSpPr>
          <p:cNvPr id="24" name="Text 18"/>
          <p:cNvSpPr txBox="1"/>
          <p:nvPr/>
        </p:nvSpPr>
        <p:spPr>
          <a:xfrm>
            <a:off x="8823960" y="4800600"/>
            <a:ext cx="2743200" cy="457200"/>
          </a:xfrm>
          <a:prstGeom prst="rect">
            <a:avLst/>
          </a:prstGeom>
          <a:noFill/>
          <a:ln/>
        </p:spPr>
        <p:txBody>
          <a:bodyPr wrap="square" lIns="0" tIns="0" rIns="0" bIns="0" rtlCol="0" anchor="ctr"/>
          <a:lstStyle/>
          <a:p>
            <a:pPr indent="0" marL="0">
              <a:buNone/>
            </a:pPr>
            <a:r>
              <a:rPr lang="en-US" sz="1400" b="1" dirty="0">
                <a:solidFill>
                  <a:schemeClr val="tx2"/>
                </a:solidFill>
              </a:rPr>
              <a:t>Output converter</a:t>
            </a:r>
            <a:endParaRPr lang="en-US" sz="1400" dirty="0"/>
          </a:p>
        </p:txBody>
      </p:sp>
      <p:sp>
        <p:nvSpPr>
          <p:cNvPr id="25" name="Text 19"/>
          <p:cNvSpPr txBox="1"/>
          <p:nvPr/>
        </p:nvSpPr>
        <p:spPr>
          <a:xfrm>
            <a:off x="8229600" y="5440680"/>
            <a:ext cx="3291840" cy="777240"/>
          </a:xfrm>
          <a:prstGeom prst="rect">
            <a:avLst/>
          </a:prstGeom>
          <a:noFill/>
          <a:ln/>
        </p:spPr>
        <p:txBody>
          <a:bodyPr wrap="square" lIns="0" tIns="0" rIns="0" bIns="0" rtlCol="0" anchor="t"/>
          <a:lstStyle/>
          <a:p>
            <a:pPr indent="0" marL="0">
              <a:buNone/>
            </a:pPr>
            <a:r>
              <a:rPr lang="en-US" sz="1400" dirty="0">
                <a:solidFill>
                  <a:schemeClr val="tx1"/>
                </a:solidFill>
              </a:rPr>
              <a:t>JSON → record/POJO; List&lt;T&gt; dùng ParameterizedTypeReference</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Tool Calling: model gọi hàm Java của bạn</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Box"/>
          <p:cNvSpPr txBox="1"/>
          <p:nvPr/>
        </p:nvSpPr>
        <p:spPr>
          <a:xfrm>
            <a:off x="731520" y="1554480"/>
            <a:ext cx="2286000" cy="1005840"/>
          </a:xfrm>
          <a:prstGeom prst="roundRect">
            <a:avLst>
              <a:gd name="adj" fmla="val 9091"/>
            </a:avLst>
          </a:prstGeom>
          <a:solidFill>
            <a:schemeClr val="accent1"/>
          </a:solidFill>
          <a:ln>
            <a:solidFill>
              <a:schemeClr val="accent1"/>
            </a:solidFill>
          </a:ln>
        </p:spPr>
        <p:txBody>
          <a:bodyPr wrap="square" lIns="76200" tIns="76200" rIns="76200" bIns="76200" rtlCol="0" anchor="ctr"/>
          <a:lstStyle/>
          <a:p>
            <a:pPr algn="ctr" indent="0" marL="0">
              <a:buNone/>
            </a:pPr>
            <a:r>
              <a:rPr lang="en-US" sz="1800" b="1" dirty="0">
                <a:solidFill>
                  <a:schemeClr val="bg1"/>
                </a:solidFill>
              </a:rPr>
              <a:t>LLM</a:t>
            </a:r>
            <a:endParaRPr lang="en-US" sz="1800" dirty="0"/>
          </a:p>
        </p:txBody>
      </p:sp>
      <p:sp>
        <p:nvSpPr>
          <p:cNvPr id="6" name="Box"/>
          <p:cNvSpPr txBox="1"/>
          <p:nvPr/>
        </p:nvSpPr>
        <p:spPr>
          <a:xfrm>
            <a:off x="4937760" y="1554480"/>
            <a:ext cx="2286000" cy="1005840"/>
          </a:xfrm>
          <a:prstGeom prst="roundRect">
            <a:avLst>
              <a:gd name="adj" fmla="val 9091"/>
            </a:avLst>
          </a:prstGeom>
          <a:solidFill>
            <a:schemeClr val="tx2"/>
          </a:solidFill>
          <a:ln>
            <a:solidFill>
              <a:schemeClr val="tx2"/>
            </a:solidFill>
          </a:ln>
        </p:spPr>
        <p:txBody>
          <a:bodyPr wrap="square" lIns="76200" tIns="76200" rIns="76200" bIns="76200" rtlCol="0" anchor="ctr"/>
          <a:lstStyle/>
          <a:p>
            <a:pPr algn="ctr" indent="0" marL="0">
              <a:buNone/>
            </a:pPr>
            <a:r>
              <a:rPr lang="en-US" sz="1800" b="1" dirty="0">
                <a:solidFill>
                  <a:schemeClr val="bg1"/>
                </a:solidFill>
              </a:rPr>
              <a:t>ChatClient</a:t>
            </a:r>
            <a:endParaRPr lang="en-US" sz="1800" dirty="0"/>
          </a:p>
        </p:txBody>
      </p:sp>
      <p:sp>
        <p:nvSpPr>
          <p:cNvPr id="7" name="Box"/>
          <p:cNvSpPr txBox="1"/>
          <p:nvPr/>
        </p:nvSpPr>
        <p:spPr>
          <a:xfrm>
            <a:off x="9144000" y="1554480"/>
            <a:ext cx="2286000" cy="1005840"/>
          </a:xfrm>
          <a:prstGeom prst="roundRect">
            <a:avLst>
              <a:gd name="adj" fmla="val 9091"/>
            </a:avLst>
          </a:prstGeom>
          <a:solidFill>
            <a:schemeClr val="accent2"/>
          </a:solidFill>
          <a:ln>
            <a:solidFill>
              <a:schemeClr val="accent2"/>
            </a:solidFill>
          </a:ln>
        </p:spPr>
        <p:txBody>
          <a:bodyPr wrap="square" lIns="76200" tIns="76200" rIns="76200" bIns="76200" rtlCol="0" anchor="ctr"/>
          <a:lstStyle/>
          <a:p>
            <a:pPr algn="ctr" indent="0" marL="0">
              <a:buNone/>
            </a:pPr>
            <a:r>
              <a:rPr lang="en-US" sz="1800" b="1" dirty="0">
                <a:solidFill>
                  <a:schemeClr val="tx2"/>
                </a:solidFill>
              </a:rPr>
              <a:t>@Tool methods</a:t>
            </a:r>
            <a:endParaRPr lang="en-US" sz="1800" dirty="0"/>
          </a:p>
        </p:txBody>
      </p:sp>
      <p:sp>
        <p:nvSpPr>
          <p:cNvPr id="8" name="Arrow"/>
          <p:cNvSpPr/>
          <p:nvPr/>
        </p:nvSpPr>
        <p:spPr>
          <a:xfrm>
            <a:off x="3063240" y="1874520"/>
            <a:ext cx="1828800" cy="0"/>
          </a:xfrm>
          <a:prstGeom prst="line">
            <a:avLst/>
          </a:prstGeom>
          <a:noFill/>
          <a:ln w="22225">
            <a:solidFill>
              <a:schemeClr val="accent6"/>
            </a:solidFill>
            <a:prstDash val="solid"/>
            <a:tailEnd type="triangle"/>
          </a:ln>
        </p:spPr>
      </p:sp>
      <p:sp>
        <p:nvSpPr>
          <p:cNvPr id="9" name="Arrow"/>
          <p:cNvSpPr/>
          <p:nvPr/>
        </p:nvSpPr>
        <p:spPr>
          <a:xfrm flipH="1">
            <a:off x="3063240" y="2286000"/>
            <a:ext cx="1828800" cy="0"/>
          </a:xfrm>
          <a:prstGeom prst="line">
            <a:avLst/>
          </a:prstGeom>
          <a:noFill/>
          <a:ln w="22225">
            <a:solidFill>
              <a:schemeClr val="accent6"/>
            </a:solidFill>
            <a:prstDash val="solid"/>
            <a:tailEnd type="triangle"/>
          </a:ln>
        </p:spPr>
      </p:sp>
      <p:sp>
        <p:nvSpPr>
          <p:cNvPr id="10" name="Arrow"/>
          <p:cNvSpPr/>
          <p:nvPr/>
        </p:nvSpPr>
        <p:spPr>
          <a:xfrm>
            <a:off x="7269480" y="1874520"/>
            <a:ext cx="1828800" cy="0"/>
          </a:xfrm>
          <a:prstGeom prst="line">
            <a:avLst/>
          </a:prstGeom>
          <a:noFill/>
          <a:ln w="22225">
            <a:solidFill>
              <a:schemeClr val="accent6"/>
            </a:solidFill>
            <a:prstDash val="solid"/>
            <a:tailEnd type="triangle"/>
          </a:ln>
        </p:spPr>
      </p:sp>
      <p:sp>
        <p:nvSpPr>
          <p:cNvPr id="11" name="Arrow"/>
          <p:cNvSpPr/>
          <p:nvPr/>
        </p:nvSpPr>
        <p:spPr>
          <a:xfrm flipH="1">
            <a:off x="7269480" y="2286000"/>
            <a:ext cx="1828800" cy="0"/>
          </a:xfrm>
          <a:prstGeom prst="line">
            <a:avLst/>
          </a:prstGeom>
          <a:noFill/>
          <a:ln w="22225">
            <a:solidFill>
              <a:schemeClr val="accent6"/>
            </a:solidFill>
            <a:prstDash val="solid"/>
            <a:tailEnd type="triangle"/>
          </a:ln>
        </p:spPr>
      </p:sp>
      <p:sp>
        <p:nvSpPr>
          <p:cNvPr id="12" name="Step number"/>
          <p:cNvSpPr txBox="1"/>
          <p:nvPr/>
        </p:nvSpPr>
        <p:spPr>
          <a:xfrm>
            <a:off x="3813048" y="1545336"/>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13" name="Step number"/>
          <p:cNvSpPr txBox="1"/>
          <p:nvPr/>
        </p:nvSpPr>
        <p:spPr>
          <a:xfrm>
            <a:off x="3813048" y="2286000"/>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4" name="Step number"/>
          <p:cNvSpPr txBox="1"/>
          <p:nvPr/>
        </p:nvSpPr>
        <p:spPr>
          <a:xfrm>
            <a:off x="8019288" y="1545336"/>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5" name="Step number"/>
          <p:cNvSpPr txBox="1"/>
          <p:nvPr/>
        </p:nvSpPr>
        <p:spPr>
          <a:xfrm>
            <a:off x="8019288" y="2286000"/>
            <a:ext cx="310896" cy="310896"/>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16" name="Step number"/>
          <p:cNvSpPr txBox="1"/>
          <p:nvPr/>
        </p:nvSpPr>
        <p:spPr>
          <a:xfrm>
            <a:off x="548640" y="2926080"/>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17" name="Text 14"/>
          <p:cNvSpPr txBox="1"/>
          <p:nvPr/>
        </p:nvSpPr>
        <p:spPr>
          <a:xfrm>
            <a:off x="969264" y="2852928"/>
            <a:ext cx="2286000" cy="594360"/>
          </a:xfrm>
          <a:prstGeom prst="rect">
            <a:avLst/>
          </a:prstGeom>
          <a:noFill/>
          <a:ln/>
        </p:spPr>
        <p:txBody>
          <a:bodyPr wrap="square" lIns="0" tIns="0" rIns="0" bIns="0" rtlCol="0" anchor="ctr"/>
          <a:lstStyle/>
          <a:p>
            <a:pPr indent="0" marL="0">
              <a:buNone/>
            </a:pPr>
            <a:r>
              <a:rPr lang="en-US" sz="1300" dirty="0">
                <a:solidFill>
                  <a:schemeClr val="tx1"/>
                </a:solidFill>
              </a:rPr>
              <a:t>Prompt + định nghĩa tool gửi tới model</a:t>
            </a:r>
            <a:endParaRPr lang="en-US" sz="1300" dirty="0"/>
          </a:p>
        </p:txBody>
      </p:sp>
      <p:sp>
        <p:nvSpPr>
          <p:cNvPr id="18" name="Step number"/>
          <p:cNvSpPr txBox="1"/>
          <p:nvPr/>
        </p:nvSpPr>
        <p:spPr>
          <a:xfrm>
            <a:off x="3337560" y="2926080"/>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9" name="Text 16"/>
          <p:cNvSpPr txBox="1"/>
          <p:nvPr/>
        </p:nvSpPr>
        <p:spPr>
          <a:xfrm>
            <a:off x="3758184" y="2852928"/>
            <a:ext cx="2286000" cy="594360"/>
          </a:xfrm>
          <a:prstGeom prst="rect">
            <a:avLst/>
          </a:prstGeom>
          <a:noFill/>
          <a:ln/>
        </p:spPr>
        <p:txBody>
          <a:bodyPr wrap="square" lIns="0" tIns="0" rIns="0" bIns="0" rtlCol="0" anchor="ctr"/>
          <a:lstStyle/>
          <a:p>
            <a:pPr indent="0" marL="0">
              <a:buNone/>
            </a:pPr>
            <a:r>
              <a:rPr lang="en-US" sz="1300" dirty="0">
                <a:solidFill>
                  <a:schemeClr val="tx1"/>
                </a:solidFill>
              </a:rPr>
              <a:t>Model yêu cầu gọi tool kèm tham số</a:t>
            </a:r>
            <a:endParaRPr lang="en-US" sz="1300" dirty="0"/>
          </a:p>
        </p:txBody>
      </p:sp>
      <p:sp>
        <p:nvSpPr>
          <p:cNvPr id="20" name="Step number"/>
          <p:cNvSpPr txBox="1"/>
          <p:nvPr/>
        </p:nvSpPr>
        <p:spPr>
          <a:xfrm>
            <a:off x="6126480" y="2926080"/>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21" name="Text 18"/>
          <p:cNvSpPr txBox="1"/>
          <p:nvPr/>
        </p:nvSpPr>
        <p:spPr>
          <a:xfrm>
            <a:off x="6547104" y="2852928"/>
            <a:ext cx="2286000" cy="594360"/>
          </a:xfrm>
          <a:prstGeom prst="rect">
            <a:avLst/>
          </a:prstGeom>
          <a:noFill/>
          <a:ln/>
        </p:spPr>
        <p:txBody>
          <a:bodyPr wrap="square" lIns="0" tIns="0" rIns="0" bIns="0" rtlCol="0" anchor="ctr"/>
          <a:lstStyle/>
          <a:p>
            <a:pPr indent="0" marL="0">
              <a:buNone/>
            </a:pPr>
            <a:r>
              <a:rPr lang="en-US" sz="1300" dirty="0">
                <a:solidFill>
                  <a:schemeClr val="tx1"/>
                </a:solidFill>
              </a:rPr>
              <a:t>Ứng dụng chạy phương thức @Tool</a:t>
            </a:r>
            <a:endParaRPr lang="en-US" sz="1300" dirty="0"/>
          </a:p>
        </p:txBody>
      </p:sp>
      <p:sp>
        <p:nvSpPr>
          <p:cNvPr id="22" name="Step number"/>
          <p:cNvSpPr txBox="1"/>
          <p:nvPr/>
        </p:nvSpPr>
        <p:spPr>
          <a:xfrm>
            <a:off x="8915400" y="2926080"/>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3" name="Text 20"/>
          <p:cNvSpPr txBox="1"/>
          <p:nvPr/>
        </p:nvSpPr>
        <p:spPr>
          <a:xfrm>
            <a:off x="9336024" y="2852928"/>
            <a:ext cx="2286000" cy="594360"/>
          </a:xfrm>
          <a:prstGeom prst="rect">
            <a:avLst/>
          </a:prstGeom>
          <a:noFill/>
          <a:ln/>
        </p:spPr>
        <p:txBody>
          <a:bodyPr wrap="square" lIns="0" tIns="0" rIns="0" bIns="0" rtlCol="0" anchor="ctr"/>
          <a:lstStyle/>
          <a:p>
            <a:pPr indent="0" marL="0">
              <a:buNone/>
            </a:pPr>
            <a:r>
              <a:rPr lang="en-US" sz="1300" dirty="0">
                <a:solidFill>
                  <a:schemeClr val="tx1"/>
                </a:solidFill>
              </a:rPr>
              <a:t>Kết quả về model; lặp đến câu trả lời cuối</a:t>
            </a:r>
            <a:endParaRPr lang="en-US" sz="1300" dirty="0"/>
          </a:p>
        </p:txBody>
      </p:sp>
      <p:sp>
        <p:nvSpPr>
          <p:cNvPr id="24" name="Code panel ProductTools.java"/>
          <p:cNvSpPr/>
          <p:nvPr/>
        </p:nvSpPr>
        <p:spPr>
          <a:xfrm>
            <a:off x="548640" y="3749040"/>
            <a:ext cx="6949440" cy="2514600"/>
          </a:xfrm>
          <a:prstGeom prst="roundRect">
            <a:avLst>
              <a:gd name="adj" fmla="val 2909"/>
            </a:avLst>
          </a:prstGeom>
          <a:solidFill>
            <a:schemeClr val="tx2"/>
          </a:solidFill>
          <a:ln w="12700">
            <a:solidFill>
              <a:schemeClr val="tx2"/>
            </a:solidFill>
            <a:prstDash val="solid"/>
          </a:ln>
        </p:spPr>
      </p:sp>
      <p:sp>
        <p:nvSpPr>
          <p:cNvPr id="25" name="Text 22"/>
          <p:cNvSpPr txBox="1"/>
          <p:nvPr/>
        </p:nvSpPr>
        <p:spPr>
          <a:xfrm>
            <a:off x="731520" y="3840480"/>
            <a:ext cx="6583680" cy="237744"/>
          </a:xfrm>
          <a:prstGeom prst="rect">
            <a:avLst/>
          </a:prstGeom>
          <a:noFill/>
          <a:ln/>
        </p:spPr>
        <p:txBody>
          <a:bodyPr wrap="square" lIns="0" tIns="0" rIns="0" bIns="0" rtlCol="0" anchor="ctr"/>
          <a:lstStyle/>
          <a:p>
            <a:pPr indent="0" marL="0">
              <a:buNone/>
            </a:pPr>
            <a:r>
              <a:rPr lang="en-US" sz="1100" b="1" dirty="0">
                <a:solidFill>
                  <a:schemeClr val="accent5"/>
                </a:solidFill>
              </a:rPr>
              <a:t>ProductTools.java</a:t>
            </a:r>
            <a:endParaRPr lang="en-US" sz="1100" dirty="0"/>
          </a:p>
        </p:txBody>
      </p:sp>
      <p:sp>
        <p:nvSpPr>
          <p:cNvPr id="26" name="Code ProductTools.java"/>
          <p:cNvSpPr txBox="1"/>
          <p:nvPr/>
        </p:nvSpPr>
        <p:spPr>
          <a:xfrm>
            <a:off x="731520" y="4133088"/>
            <a:ext cx="6583680" cy="2057400"/>
          </a:xfrm>
          <a:prstGeom prst="rect">
            <a:avLst/>
          </a:prstGeom>
          <a:noFill/>
          <a:ln/>
        </p:spPr>
        <p:txBody>
          <a:bodyPr wrap="square" lIns="0" tIns="0" rIns="0" bIns="0" rtlCol="0" anchor="t"/>
          <a:lstStyle/>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@Component</a:t>
            </a:r>
            <a:endParaRPr lang="en-US" sz="1300" dirty="0"/>
          </a:p>
          <a:p>
            <a:pPr indent="0" marL="0">
              <a:lnSpc>
                <a:spcPts val="1600"/>
              </a:lnSpc>
              <a:buNone/>
            </a:pPr>
            <a:r>
              <a:rPr lang="en-US" sz="1300" dirty="0">
                <a:solidFill>
                  <a:srgbClr val="E0A458"/>
                </a:solidFill>
                <a:latin typeface="Courier New" pitchFamily="34" charset="0"/>
                <a:ea typeface="Courier New" pitchFamily="34" charset="-122"/>
                <a:cs typeface="Courier New" pitchFamily="34" charset="-120"/>
              </a:rPr>
              <a:t>public</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class</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ProductTools</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@Tool</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description</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F4B393"/>
                </a:solidFill>
                <a:latin typeface="Courier New" pitchFamily="34" charset="0"/>
                <a:ea typeface="Courier New" pitchFamily="34" charset="-122"/>
                <a:cs typeface="Courier New" pitchFamily="34" charset="-120"/>
              </a:rPr>
              <a:t>"Tra cứu giá sản phẩm theo mã"</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public</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BigDecimal</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getPrice</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@ToolParam</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description</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F4B393"/>
                </a:solidFill>
                <a:latin typeface="Courier New" pitchFamily="34" charset="0"/>
                <a:ea typeface="Courier New" pitchFamily="34" charset="-122"/>
                <a:cs typeface="Courier New" pitchFamily="34" charset="-120"/>
              </a:rPr>
              <a:t>"Mã sản phẩm"</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sku</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return</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productRepository</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findPriceBySku</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sku</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i="1" dirty="0">
                <a:solidFill>
                  <a:srgbClr val="86B3A8"/>
                </a:solidFill>
                <a:latin typeface="Courier New" pitchFamily="34" charset="0"/>
                <a:ea typeface="Courier New" pitchFamily="34" charset="-122"/>
                <a:cs typeface="Courier New" pitchFamily="34" charset="-120"/>
              </a:rPr>
              <a:t>// chatClient.prompt().user(...).tools(new ProductTools())</a:t>
            </a:r>
            <a:endParaRPr lang="en-US" sz="1300" dirty="0"/>
          </a:p>
        </p:txBody>
      </p:sp>
      <p:sp>
        <p:nvSpPr>
          <p:cNvPr id="27" name="Card"/>
          <p:cNvSpPr/>
          <p:nvPr/>
        </p:nvSpPr>
        <p:spPr>
          <a:xfrm>
            <a:off x="7772400" y="3749040"/>
            <a:ext cx="3867912" cy="2514600"/>
          </a:xfrm>
          <a:prstGeom prst="roundRect">
            <a:avLst>
              <a:gd name="adj" fmla="val 3636"/>
            </a:avLst>
          </a:prstGeom>
          <a:solidFill>
            <a:schemeClr val="accent2"/>
          </a:solidFill>
          <a:ln w="12700">
            <a:solidFill>
              <a:schemeClr val="accent2"/>
            </a:solidFill>
            <a:prstDash val="solid"/>
          </a:ln>
        </p:spPr>
      </p:sp>
      <p:sp>
        <p:nvSpPr>
          <p:cNvPr id="28" name="Icon circle"/>
          <p:cNvSpPr/>
          <p:nvPr/>
        </p:nvSpPr>
        <p:spPr>
          <a:xfrm>
            <a:off x="8001000" y="3931920"/>
            <a:ext cx="502920" cy="502920"/>
          </a:xfrm>
          <a:prstGeom prst="ellipse">
            <a:avLst/>
          </a:prstGeom>
          <a:solidFill>
            <a:schemeClr val="tx2"/>
          </a:solidFill>
          <a:ln w="12700">
            <a:solidFill>
              <a:schemeClr val="tx2"/>
            </a:solidFill>
            <a:prstDash val="solid"/>
          </a:ln>
        </p:spPr>
      </p:sp>
      <p:pic>
        <p:nvPicPr>
          <p:cNvPr id="29" name="Image 0" descr="Lock icon">    </p:cNvPr>
          <p:cNvPicPr>
            <a:picLocks noChangeAspect="1"/>
          </p:cNvPicPr>
          <p:nvPr/>
        </p:nvPicPr>
        <p:blipFill>
          <a:blip r:embed="rId1"/>
          <a:stretch>
            <a:fillRect/>
          </a:stretch>
        </p:blipFill>
        <p:spPr>
          <a:xfrm>
            <a:off x="8121701" y="4052621"/>
            <a:ext cx="261518" cy="261518"/>
          </a:xfrm>
          <a:prstGeom prst="rect">
            <a:avLst/>
          </a:prstGeom>
        </p:spPr>
      </p:pic>
      <p:sp>
        <p:nvSpPr>
          <p:cNvPr id="30" name="Text 26"/>
          <p:cNvSpPr txBox="1"/>
          <p:nvPr/>
        </p:nvSpPr>
        <p:spPr>
          <a:xfrm>
            <a:off x="8001000" y="4572000"/>
            <a:ext cx="3429000" cy="914400"/>
          </a:xfrm>
          <a:prstGeom prst="rect">
            <a:avLst/>
          </a:prstGeom>
          <a:noFill/>
          <a:ln/>
        </p:spPr>
        <p:txBody>
          <a:bodyPr wrap="square" lIns="0" tIns="0" rIns="0" bIns="0" rtlCol="0" anchor="t"/>
          <a:lstStyle/>
          <a:p>
            <a:pPr indent="0" marL="0">
              <a:buNone/>
            </a:pPr>
            <a:r>
              <a:rPr lang="en-US" sz="1600" b="1" dirty="0">
                <a:solidFill>
                  <a:schemeClr val="tx2"/>
                </a:solidFill>
              </a:rPr>
              <a:t>Model không bao giờ chạm DB hay API. Ứng dụng của bạn thực thi mọi tool.</a:t>
            </a:r>
            <a:endParaRPr lang="en-US" sz="1600" dirty="0"/>
          </a:p>
        </p:txBody>
      </p:sp>
      <p:sp>
        <p:nvSpPr>
          <p:cNvPr id="31" name="Text 27"/>
          <p:cNvSpPr txBox="1"/>
          <p:nvPr/>
        </p:nvSpPr>
        <p:spPr>
          <a:xfrm>
            <a:off x="8001000" y="5532120"/>
            <a:ext cx="3429000" cy="640080"/>
          </a:xfrm>
          <a:prstGeom prst="rect">
            <a:avLst/>
          </a:prstGeom>
          <a:noFill/>
          <a:ln/>
        </p:spPr>
        <p:txBody>
          <a:bodyPr wrap="square" lIns="0" tIns="0" rIns="0" bIns="0" rtlCol="0" anchor="t"/>
          <a:lstStyle/>
          <a:p>
            <a:pPr indent="0" marL="0">
              <a:buNone/>
            </a:pPr>
            <a:r>
              <a:rPr lang="en-US" sz="1300" dirty="0">
                <a:solidFill>
                  <a:schemeClr val="tx2"/>
                </a:solidFill>
              </a:rPr>
              <a:t>@Tool và @ToolParam mô tả cho model biết khi nào và gọi thế nào.</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RAG, ETL và Advisors</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Text 2"/>
          <p:cNvSpPr txBox="1"/>
          <p:nvPr/>
        </p:nvSpPr>
        <p:spPr>
          <a:xfrm>
            <a:off x="548640" y="1417320"/>
            <a:ext cx="3657600" cy="274320"/>
          </a:xfrm>
          <a:prstGeom prst="rect">
            <a:avLst/>
          </a:prstGeom>
          <a:noFill/>
          <a:ln/>
        </p:spPr>
        <p:txBody>
          <a:bodyPr wrap="square" lIns="0" tIns="0" rIns="0" bIns="0" rtlCol="0" anchor="t"/>
          <a:lstStyle/>
          <a:p>
            <a:pPr indent="0" marL="0">
              <a:buNone/>
            </a:pPr>
            <a:r>
              <a:rPr lang="en-US" sz="1500" b="1" dirty="0">
                <a:solidFill>
                  <a:schemeClr val="tx2"/>
                </a:solidFill>
              </a:rPr>
              <a:t>Lúc truy vấn</a:t>
            </a:r>
            <a:endParaRPr lang="en-US" sz="1500" dirty="0"/>
          </a:p>
        </p:txBody>
      </p:sp>
      <p:sp>
        <p:nvSpPr>
          <p:cNvPr id="6" name="Box"/>
          <p:cNvSpPr txBox="1"/>
          <p:nvPr/>
        </p:nvSpPr>
        <p:spPr>
          <a:xfrm>
            <a:off x="548640" y="17830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Câu hỏi người dùng</a:t>
            </a:r>
            <a:endParaRPr lang="en-US" sz="1400" dirty="0"/>
          </a:p>
        </p:txBody>
      </p:sp>
      <p:sp>
        <p:nvSpPr>
          <p:cNvPr id="7" name="Arrow"/>
          <p:cNvSpPr/>
          <p:nvPr/>
        </p:nvSpPr>
        <p:spPr>
          <a:xfrm>
            <a:off x="2487168" y="2148840"/>
            <a:ext cx="329184" cy="0"/>
          </a:xfrm>
          <a:prstGeom prst="line">
            <a:avLst/>
          </a:prstGeom>
          <a:noFill/>
          <a:ln w="22225">
            <a:solidFill>
              <a:schemeClr val="accent6"/>
            </a:solidFill>
            <a:prstDash val="solid"/>
            <a:tailEnd type="triangle"/>
          </a:ln>
        </p:spPr>
      </p:sp>
      <p:sp>
        <p:nvSpPr>
          <p:cNvPr id="8" name="Box"/>
          <p:cNvSpPr txBox="1"/>
          <p:nvPr/>
        </p:nvSpPr>
        <p:spPr>
          <a:xfrm>
            <a:off x="2834640" y="17830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Embed câu hỏi</a:t>
            </a:r>
            <a:endParaRPr lang="en-US" sz="1400" dirty="0"/>
          </a:p>
        </p:txBody>
      </p:sp>
      <p:sp>
        <p:nvSpPr>
          <p:cNvPr id="9" name="Arrow"/>
          <p:cNvSpPr/>
          <p:nvPr/>
        </p:nvSpPr>
        <p:spPr>
          <a:xfrm>
            <a:off x="4773168" y="2148840"/>
            <a:ext cx="329184" cy="0"/>
          </a:xfrm>
          <a:prstGeom prst="line">
            <a:avLst/>
          </a:prstGeom>
          <a:noFill/>
          <a:ln w="22225">
            <a:solidFill>
              <a:schemeClr val="accent6"/>
            </a:solidFill>
            <a:prstDash val="solid"/>
            <a:tailEnd type="triangle"/>
          </a:ln>
        </p:spPr>
      </p:sp>
      <p:sp>
        <p:nvSpPr>
          <p:cNvPr id="10" name="Box"/>
          <p:cNvSpPr txBox="1"/>
          <p:nvPr/>
        </p:nvSpPr>
        <p:spPr>
          <a:xfrm>
            <a:off x="5120640" y="1783080"/>
            <a:ext cx="1920240" cy="731520"/>
          </a:xfrm>
          <a:prstGeom prst="roundRect">
            <a:avLst>
              <a:gd name="adj" fmla="val 125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1"/>
                </a:solidFill>
              </a:rPr>
              <a:t>Tìm trong VectorStore</a:t>
            </a:r>
            <a:endParaRPr lang="en-US" sz="1400" dirty="0"/>
          </a:p>
        </p:txBody>
      </p:sp>
      <p:sp>
        <p:nvSpPr>
          <p:cNvPr id="11" name="Arrow"/>
          <p:cNvSpPr/>
          <p:nvPr/>
        </p:nvSpPr>
        <p:spPr>
          <a:xfrm>
            <a:off x="7059168" y="2148840"/>
            <a:ext cx="329184" cy="0"/>
          </a:xfrm>
          <a:prstGeom prst="line">
            <a:avLst/>
          </a:prstGeom>
          <a:noFill/>
          <a:ln w="22225">
            <a:solidFill>
              <a:schemeClr val="accent6"/>
            </a:solidFill>
            <a:prstDash val="solid"/>
            <a:tailEnd type="triangle"/>
          </a:ln>
        </p:spPr>
      </p:sp>
      <p:sp>
        <p:nvSpPr>
          <p:cNvPr id="12" name="Box"/>
          <p:cNvSpPr txBox="1"/>
          <p:nvPr/>
        </p:nvSpPr>
        <p:spPr>
          <a:xfrm>
            <a:off x="7406640" y="17830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Ghép vào prompt (augment)</a:t>
            </a:r>
            <a:endParaRPr lang="en-US" sz="1400" dirty="0"/>
          </a:p>
        </p:txBody>
      </p:sp>
      <p:sp>
        <p:nvSpPr>
          <p:cNvPr id="13" name="Arrow"/>
          <p:cNvSpPr/>
          <p:nvPr/>
        </p:nvSpPr>
        <p:spPr>
          <a:xfrm>
            <a:off x="9345168" y="2148840"/>
            <a:ext cx="329184" cy="0"/>
          </a:xfrm>
          <a:prstGeom prst="line">
            <a:avLst/>
          </a:prstGeom>
          <a:noFill/>
          <a:ln w="22225">
            <a:solidFill>
              <a:schemeClr val="accent6"/>
            </a:solidFill>
            <a:prstDash val="solid"/>
            <a:tailEnd type="triangle"/>
          </a:ln>
        </p:spPr>
      </p:sp>
      <p:sp>
        <p:nvSpPr>
          <p:cNvPr id="14" name="Box"/>
          <p:cNvSpPr txBox="1"/>
          <p:nvPr/>
        </p:nvSpPr>
        <p:spPr>
          <a:xfrm>
            <a:off x="9692640" y="1783080"/>
            <a:ext cx="1920240" cy="731520"/>
          </a:xfrm>
          <a:prstGeom prst="roundRect">
            <a:avLst>
              <a:gd name="adj" fmla="val 125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LLM trả lời</a:t>
            </a:r>
            <a:endParaRPr lang="en-US" sz="1400" dirty="0"/>
          </a:p>
        </p:txBody>
      </p:sp>
      <p:sp>
        <p:nvSpPr>
          <p:cNvPr id="15" name="Text 12"/>
          <p:cNvSpPr txBox="1"/>
          <p:nvPr/>
        </p:nvSpPr>
        <p:spPr>
          <a:xfrm>
            <a:off x="548640" y="2788920"/>
            <a:ext cx="3657600" cy="274320"/>
          </a:xfrm>
          <a:prstGeom prst="rect">
            <a:avLst/>
          </a:prstGeom>
          <a:noFill/>
          <a:ln/>
        </p:spPr>
        <p:txBody>
          <a:bodyPr wrap="square" lIns="0" tIns="0" rIns="0" bIns="0" rtlCol="0" anchor="t"/>
          <a:lstStyle/>
          <a:p>
            <a:pPr indent="0" marL="0">
              <a:buNone/>
            </a:pPr>
            <a:r>
              <a:rPr lang="en-US" sz="1500" b="1" dirty="0">
                <a:solidFill>
                  <a:schemeClr val="tx2"/>
                </a:solidFill>
              </a:rPr>
              <a:t>Nạp dữ liệu (ETL)</a:t>
            </a:r>
            <a:endParaRPr lang="en-US" sz="1500" dirty="0"/>
          </a:p>
        </p:txBody>
      </p:sp>
      <p:sp>
        <p:nvSpPr>
          <p:cNvPr id="16" name="Box"/>
          <p:cNvSpPr txBox="1"/>
          <p:nvPr/>
        </p:nvSpPr>
        <p:spPr>
          <a:xfrm>
            <a:off x="548640" y="31546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Document Reader</a:t>
            </a:r>
            <a:endParaRPr lang="en-US" sz="1400" dirty="0"/>
          </a:p>
        </p:txBody>
      </p:sp>
      <p:sp>
        <p:nvSpPr>
          <p:cNvPr id="17" name="Arrow"/>
          <p:cNvSpPr/>
          <p:nvPr/>
        </p:nvSpPr>
        <p:spPr>
          <a:xfrm>
            <a:off x="2487168" y="3520440"/>
            <a:ext cx="329184" cy="0"/>
          </a:xfrm>
          <a:prstGeom prst="line">
            <a:avLst/>
          </a:prstGeom>
          <a:noFill/>
          <a:ln w="22225">
            <a:solidFill>
              <a:schemeClr val="accent6"/>
            </a:solidFill>
            <a:prstDash val="solid"/>
            <a:tailEnd type="triangle"/>
          </a:ln>
        </p:spPr>
      </p:sp>
      <p:sp>
        <p:nvSpPr>
          <p:cNvPr id="18" name="Box"/>
          <p:cNvSpPr txBox="1"/>
          <p:nvPr/>
        </p:nvSpPr>
        <p:spPr>
          <a:xfrm>
            <a:off x="2834640" y="31546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Transformer (chunking)</a:t>
            </a:r>
            <a:endParaRPr lang="en-US" sz="1400" dirty="0"/>
          </a:p>
        </p:txBody>
      </p:sp>
      <p:sp>
        <p:nvSpPr>
          <p:cNvPr id="19" name="Arrow"/>
          <p:cNvSpPr/>
          <p:nvPr/>
        </p:nvSpPr>
        <p:spPr>
          <a:xfrm>
            <a:off x="4773168" y="3520440"/>
            <a:ext cx="329184" cy="0"/>
          </a:xfrm>
          <a:prstGeom prst="line">
            <a:avLst/>
          </a:prstGeom>
          <a:noFill/>
          <a:ln w="22225">
            <a:solidFill>
              <a:schemeClr val="accent6"/>
            </a:solidFill>
            <a:prstDash val="solid"/>
            <a:tailEnd type="triangle"/>
          </a:ln>
        </p:spPr>
      </p:sp>
      <p:sp>
        <p:nvSpPr>
          <p:cNvPr id="20" name="Box"/>
          <p:cNvSpPr txBox="1"/>
          <p:nvPr/>
        </p:nvSpPr>
        <p:spPr>
          <a:xfrm>
            <a:off x="5120640" y="315468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Embedding model</a:t>
            </a:r>
            <a:endParaRPr lang="en-US" sz="1400" dirty="0"/>
          </a:p>
        </p:txBody>
      </p:sp>
      <p:sp>
        <p:nvSpPr>
          <p:cNvPr id="21" name="Arrow"/>
          <p:cNvSpPr/>
          <p:nvPr/>
        </p:nvSpPr>
        <p:spPr>
          <a:xfrm>
            <a:off x="7059168" y="3520440"/>
            <a:ext cx="329184" cy="0"/>
          </a:xfrm>
          <a:prstGeom prst="line">
            <a:avLst/>
          </a:prstGeom>
          <a:noFill/>
          <a:ln w="22225">
            <a:solidFill>
              <a:schemeClr val="accent6"/>
            </a:solidFill>
            <a:prstDash val="solid"/>
            <a:tailEnd type="triangle"/>
          </a:ln>
        </p:spPr>
      </p:sp>
      <p:sp>
        <p:nvSpPr>
          <p:cNvPr id="22" name="Box"/>
          <p:cNvSpPr txBox="1"/>
          <p:nvPr/>
        </p:nvSpPr>
        <p:spPr>
          <a:xfrm>
            <a:off x="7406640" y="3154680"/>
            <a:ext cx="1920240" cy="731520"/>
          </a:xfrm>
          <a:prstGeom prst="roundRect">
            <a:avLst>
              <a:gd name="adj" fmla="val 125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1"/>
                </a:solidFill>
              </a:rPr>
              <a:t>Vector Store</a:t>
            </a:r>
            <a:endParaRPr lang="en-US" sz="1400" dirty="0"/>
          </a:p>
        </p:txBody>
      </p:sp>
      <p:sp>
        <p:nvSpPr>
          <p:cNvPr id="23" name="Text 20"/>
          <p:cNvSpPr txBox="1"/>
          <p:nvPr/>
        </p:nvSpPr>
        <p:spPr>
          <a:xfrm>
            <a:off x="9464040" y="3154680"/>
            <a:ext cx="2176272" cy="731520"/>
          </a:xfrm>
          <a:prstGeom prst="rect">
            <a:avLst/>
          </a:prstGeom>
          <a:noFill/>
          <a:ln/>
        </p:spPr>
        <p:txBody>
          <a:bodyPr wrap="square" lIns="0" tIns="0" rIns="0" bIns="0" rtlCol="0" anchor="ctr"/>
          <a:lstStyle/>
          <a:p>
            <a:pPr indent="0" marL="0">
              <a:buNone/>
            </a:pPr>
            <a:r>
              <a:rPr lang="en-US" sz="1250" i="1" dirty="0">
                <a:solidFill>
                  <a:schemeClr val="accent6"/>
                </a:solidFill>
              </a:rPr>
              <a:t>Tương đồng cosine → đoạn văn liên quan được thêm vào prompt</a:t>
            </a:r>
            <a:endParaRPr lang="en-US" sz="1250" dirty="0"/>
          </a:p>
        </p:txBody>
      </p:sp>
      <p:sp>
        <p:nvSpPr>
          <p:cNvPr id="24" name="Code panel RAG với QuestionAnswerAdvisor"/>
          <p:cNvSpPr/>
          <p:nvPr/>
        </p:nvSpPr>
        <p:spPr>
          <a:xfrm>
            <a:off x="548640" y="4114800"/>
            <a:ext cx="7040880" cy="2148840"/>
          </a:xfrm>
          <a:prstGeom prst="roundRect">
            <a:avLst>
              <a:gd name="adj" fmla="val 3404"/>
            </a:avLst>
          </a:prstGeom>
          <a:solidFill>
            <a:schemeClr val="tx2"/>
          </a:solidFill>
          <a:ln w="12700">
            <a:solidFill>
              <a:schemeClr val="tx2"/>
            </a:solidFill>
            <a:prstDash val="solid"/>
          </a:ln>
        </p:spPr>
      </p:sp>
      <p:sp>
        <p:nvSpPr>
          <p:cNvPr id="25" name="Text 22"/>
          <p:cNvSpPr txBox="1"/>
          <p:nvPr/>
        </p:nvSpPr>
        <p:spPr>
          <a:xfrm>
            <a:off x="731520" y="4206240"/>
            <a:ext cx="6675120" cy="237744"/>
          </a:xfrm>
          <a:prstGeom prst="rect">
            <a:avLst/>
          </a:prstGeom>
          <a:noFill/>
          <a:ln/>
        </p:spPr>
        <p:txBody>
          <a:bodyPr wrap="square" lIns="0" tIns="0" rIns="0" bIns="0" rtlCol="0" anchor="ctr"/>
          <a:lstStyle/>
          <a:p>
            <a:pPr indent="0" marL="0">
              <a:buNone/>
            </a:pPr>
            <a:r>
              <a:rPr lang="en-US" sz="1100" b="1" dirty="0">
                <a:solidFill>
                  <a:schemeClr val="accent5"/>
                </a:solidFill>
              </a:rPr>
              <a:t>RAG với QuestionAnswerAdvisor</a:t>
            </a:r>
            <a:endParaRPr lang="en-US" sz="1100" dirty="0"/>
          </a:p>
        </p:txBody>
      </p:sp>
      <p:sp>
        <p:nvSpPr>
          <p:cNvPr id="26" name="Code RAG với QuestionAnswerAdvisor"/>
          <p:cNvSpPr txBox="1"/>
          <p:nvPr/>
        </p:nvSpPr>
        <p:spPr>
          <a:xfrm>
            <a:off x="731520" y="4498848"/>
            <a:ext cx="6675120" cy="1691640"/>
          </a:xfrm>
          <a:prstGeom prst="rect">
            <a:avLst/>
          </a:prstGeom>
          <a:noFill/>
          <a:ln/>
        </p:spPr>
        <p:txBody>
          <a:bodyPr wrap="square" lIns="0" tIns="0" rIns="0" bIns="0" rtlCol="0" anchor="t"/>
          <a:lstStyle/>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var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qa</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QuestionAnswerAdvisor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vectorStore</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searchRequest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SearchRequest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topK</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4</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similarityThreshold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0.6</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var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memory</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MessageChatMemoryAdvisor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chatMemory</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answer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prompt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user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question</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advisors</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qa</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memory</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call</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content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27" name="Text 24"/>
          <p:cNvSpPr txBox="1"/>
          <p:nvPr/>
        </p:nvSpPr>
        <p:spPr>
          <a:xfrm>
            <a:off x="7818120" y="4160520"/>
            <a:ext cx="3840480" cy="210312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chemeClr val="tx1"/>
                </a:solidFill>
              </a:rPr>
              <a:t>Advisor </a:t>
            </a:r>
            <a:r>
              <a:rPr lang="en-US" sz="1400" dirty="0">
                <a:solidFill>
                  <a:schemeClr val="tx1"/>
                </a:solidFill>
              </a:rPr>
              <a:t>= bộ chặn quanh lời gọi model</a:t>
            </a:r>
            <a:endParaRPr lang="en-US" sz="1400" dirty="0"/>
          </a:p>
          <a:p>
            <a:pPr marL="177800" indent="-177800">
              <a:spcAft>
                <a:spcPts val="700"/>
              </a:spcAft>
              <a:buSzPct val="100000"/>
              <a:buChar char="•"/>
            </a:pPr>
            <a:r>
              <a:rPr lang="en-US" sz="1400" b="1" dirty="0">
                <a:solidFill>
                  <a:schemeClr val="tx1"/>
                </a:solidFill>
              </a:rPr>
              <a:t>QuestionAnswerAdvisor </a:t>
            </a:r>
            <a:r>
              <a:rPr lang="en-US" sz="1400" dirty="0">
                <a:solidFill>
                  <a:schemeClr val="tx1"/>
                </a:solidFill>
              </a:rPr>
              <a:t>tự tìm tài liệu và ghép vào prompt</a:t>
            </a:r>
            <a:endParaRPr lang="en-US" sz="1400" dirty="0"/>
          </a:p>
          <a:p>
            <a:pPr marL="177800" indent="-177800">
              <a:spcAft>
                <a:spcPts val="700"/>
              </a:spcAft>
              <a:buSzPct val="100000"/>
              <a:buChar char="•"/>
            </a:pPr>
            <a:r>
              <a:rPr lang="en-US" sz="1400" b="1" dirty="0">
                <a:solidFill>
                  <a:schemeClr val="tx1"/>
                </a:solidFill>
              </a:rPr>
              <a:t>Chat Memory </a:t>
            </a:r>
            <a:r>
              <a:rPr lang="en-US" sz="1400" dirty="0">
                <a:solidFill>
                  <a:schemeClr val="tx1"/>
                </a:solidFill>
              </a:rPr>
              <a:t>lưu lịch sử theo conversationId</a:t>
            </a:r>
            <a:endParaRPr lang="en-US" sz="1400" dirty="0"/>
          </a:p>
          <a:p>
            <a:pPr marL="177800" indent="-177800">
              <a:spcAft>
                <a:spcPts val="700"/>
              </a:spcAft>
              <a:buSzPct val="100000"/>
              <a:buChar char="•"/>
            </a:pPr>
            <a:r>
              <a:rPr lang="en-US" sz="1400" b="1" dirty="0">
                <a:solidFill>
                  <a:schemeClr val="tx1"/>
                </a:solidFill>
              </a:rPr>
              <a:t>ETL </a:t>
            </a:r>
            <a:r>
              <a:rPr lang="en-US" sz="1400" dirty="0">
                <a:solidFill>
                  <a:schemeClr val="tx1"/>
                </a:solidFill>
              </a:rPr>
              <a:t>DocumentReader → TokenTextSplitter → VectorStore.add()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Embedding và độ tương đồng cosine</a:t>
            </a:r>
            <a:endParaRPr lang="en-US" sz="3200" dirty="0"/>
          </a:p>
        </p:txBody>
      </p:sp>
      <p:sp>
        <p:nvSpPr>
          <p:cNvPr id="3" name="Section chip"/>
          <p:cNvSpPr txBox="1"/>
          <p:nvPr/>
        </p:nvSpPr>
        <p:spPr>
          <a:xfrm>
            <a:off x="548640" y="246888"/>
            <a:ext cx="193852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1B · VECTOR DATABASE</a:t>
            </a:r>
            <a:endParaRPr lang="en-US" sz="1100" dirty="0"/>
          </a:p>
        </p:txBody>
      </p:sp>
      <p:sp>
        <p:nvSpPr>
          <p:cNvPr id="5" name="Card"/>
          <p:cNvSpPr/>
          <p:nvPr/>
        </p:nvSpPr>
        <p:spPr>
          <a:xfrm>
            <a:off x="548640" y="1463040"/>
            <a:ext cx="5486400" cy="4800600"/>
          </a:xfrm>
          <a:prstGeom prst="roundRect">
            <a:avLst>
              <a:gd name="adj" fmla="val 1905"/>
            </a:avLst>
          </a:prstGeom>
          <a:solidFill>
            <a:schemeClr val="bg2"/>
          </a:solidFill>
          <a:ln w="12700">
            <a:solidFill>
              <a:schemeClr val="bg2"/>
            </a:solidFill>
            <a:prstDash val="solid"/>
          </a:ln>
        </p:spPr>
      </p:sp>
      <p:sp>
        <p:nvSpPr>
          <p:cNvPr id="6" name="Arrow"/>
          <p:cNvSpPr/>
          <p:nvPr/>
        </p:nvSpPr>
        <p:spPr>
          <a:xfrm>
            <a:off x="1005840" y="5669280"/>
            <a:ext cx="4754880" cy="0"/>
          </a:xfrm>
          <a:prstGeom prst="line">
            <a:avLst/>
          </a:prstGeom>
          <a:noFill/>
          <a:ln w="15875">
            <a:solidFill>
              <a:schemeClr val="accent6"/>
            </a:solidFill>
            <a:prstDash val="solid"/>
            <a:tailEnd type="triangle"/>
          </a:ln>
        </p:spPr>
      </p:sp>
      <p:sp>
        <p:nvSpPr>
          <p:cNvPr id="7" name="Arrow"/>
          <p:cNvSpPr/>
          <p:nvPr/>
        </p:nvSpPr>
        <p:spPr>
          <a:xfrm flipV="1">
            <a:off x="1005840" y="1737360"/>
            <a:ext cx="0" cy="3931920"/>
          </a:xfrm>
          <a:prstGeom prst="line">
            <a:avLst/>
          </a:prstGeom>
          <a:noFill/>
          <a:ln w="15875">
            <a:solidFill>
              <a:schemeClr val="accent6"/>
            </a:solidFill>
            <a:prstDash val="solid"/>
            <a:tailEnd type="triangle"/>
          </a:ln>
        </p:spPr>
      </p:sp>
      <p:sp>
        <p:nvSpPr>
          <p:cNvPr id="8" name="Arrow"/>
          <p:cNvSpPr/>
          <p:nvPr/>
        </p:nvSpPr>
        <p:spPr>
          <a:xfrm flipV="1">
            <a:off x="1005840" y="2651760"/>
            <a:ext cx="3931920" cy="3017520"/>
          </a:xfrm>
          <a:prstGeom prst="line">
            <a:avLst/>
          </a:prstGeom>
          <a:noFill/>
          <a:ln w="38100">
            <a:solidFill>
              <a:srgbClr val="1B7A6B"/>
            </a:solidFill>
            <a:prstDash val="solid"/>
            <a:tailEnd type="triangle"/>
          </a:ln>
        </p:spPr>
      </p:sp>
      <p:sp>
        <p:nvSpPr>
          <p:cNvPr id="9" name="Arrow"/>
          <p:cNvSpPr/>
          <p:nvPr/>
        </p:nvSpPr>
        <p:spPr>
          <a:xfrm flipV="1">
            <a:off x="1005840" y="3520440"/>
            <a:ext cx="4206240" cy="2148840"/>
          </a:xfrm>
          <a:prstGeom prst="line">
            <a:avLst/>
          </a:prstGeom>
          <a:noFill/>
          <a:ln w="38100">
            <a:solidFill>
              <a:srgbClr val="2A9484"/>
            </a:solidFill>
            <a:prstDash val="solid"/>
            <a:tailEnd type="triangle"/>
          </a:ln>
        </p:spPr>
      </p:sp>
      <p:sp>
        <p:nvSpPr>
          <p:cNvPr id="10" name="Arrow"/>
          <p:cNvSpPr/>
          <p:nvPr/>
        </p:nvSpPr>
        <p:spPr>
          <a:xfrm flipV="1">
            <a:off x="1005840" y="1920240"/>
            <a:ext cx="1097280" cy="3749040"/>
          </a:xfrm>
          <a:prstGeom prst="line">
            <a:avLst/>
          </a:prstGeom>
          <a:noFill/>
          <a:ln w="38100">
            <a:solidFill>
              <a:srgbClr val="C2622D"/>
            </a:solidFill>
            <a:prstDash val="solid"/>
            <a:tailEnd type="triangle"/>
          </a:ln>
        </p:spPr>
      </p:sp>
      <p:sp>
        <p:nvSpPr>
          <p:cNvPr id="11" name="Text 8"/>
          <p:cNvSpPr txBox="1"/>
          <p:nvPr/>
        </p:nvSpPr>
        <p:spPr>
          <a:xfrm>
            <a:off x="3840480" y="2194560"/>
            <a:ext cx="1737360" cy="274320"/>
          </a:xfrm>
          <a:prstGeom prst="rect">
            <a:avLst/>
          </a:prstGeom>
          <a:noFill/>
          <a:ln/>
        </p:spPr>
        <p:txBody>
          <a:bodyPr wrap="square" lIns="0" tIns="0" rIns="0" bIns="0" rtlCol="0" anchor="t"/>
          <a:lstStyle/>
          <a:p>
            <a:pPr algn="r" indent="0" marL="0">
              <a:buNone/>
            </a:pPr>
            <a:r>
              <a:rPr lang="en-US" sz="1300" b="1" dirty="0">
                <a:solidFill>
                  <a:schemeClr val="accent1"/>
                </a:solidFill>
              </a:rPr>
              <a:t>Tour biển đảo</a:t>
            </a:r>
            <a:endParaRPr lang="en-US" sz="1300" dirty="0"/>
          </a:p>
        </p:txBody>
      </p:sp>
      <p:sp>
        <p:nvSpPr>
          <p:cNvPr id="12" name="Text 9"/>
          <p:cNvSpPr txBox="1"/>
          <p:nvPr/>
        </p:nvSpPr>
        <p:spPr>
          <a:xfrm>
            <a:off x="4069080" y="4224528"/>
            <a:ext cx="1828800" cy="274320"/>
          </a:xfrm>
          <a:prstGeom prst="rect">
            <a:avLst/>
          </a:prstGeom>
          <a:noFill/>
          <a:ln/>
        </p:spPr>
        <p:txBody>
          <a:bodyPr wrap="square" lIns="0" tIns="0" rIns="0" bIns="0" rtlCol="0" anchor="t"/>
          <a:lstStyle/>
          <a:p>
            <a:pPr algn="r" indent="0" marL="0">
              <a:buNone/>
            </a:pPr>
            <a:r>
              <a:rPr lang="en-US" sz="1300" b="1" dirty="0">
                <a:solidFill>
                  <a:schemeClr val="accent4"/>
                </a:solidFill>
              </a:rPr>
              <a:t>Tour nghỉ dưỡng biển</a:t>
            </a:r>
            <a:endParaRPr lang="en-US" sz="1300" dirty="0"/>
          </a:p>
        </p:txBody>
      </p:sp>
      <p:sp>
        <p:nvSpPr>
          <p:cNvPr id="13" name="Text 10"/>
          <p:cNvSpPr txBox="1"/>
          <p:nvPr/>
        </p:nvSpPr>
        <p:spPr>
          <a:xfrm>
            <a:off x="2194560" y="1828800"/>
            <a:ext cx="1737360" cy="274320"/>
          </a:xfrm>
          <a:prstGeom prst="rect">
            <a:avLst/>
          </a:prstGeom>
          <a:noFill/>
          <a:ln/>
        </p:spPr>
        <p:txBody>
          <a:bodyPr wrap="square" lIns="0" tIns="0" rIns="0" bIns="0" rtlCol="0" anchor="t"/>
          <a:lstStyle/>
          <a:p>
            <a:pPr indent="0" marL="0">
              <a:buNone/>
            </a:pPr>
            <a:r>
              <a:rPr lang="en-US" sz="1300" b="1" dirty="0">
                <a:solidFill>
                  <a:schemeClr val="accent3"/>
                </a:solidFill>
              </a:rPr>
              <a:t>Tour núi rừng</a:t>
            </a:r>
            <a:endParaRPr lang="en-US" sz="1300" dirty="0"/>
          </a:p>
        </p:txBody>
      </p:sp>
      <p:sp>
        <p:nvSpPr>
          <p:cNvPr id="14" name="Text 11"/>
          <p:cNvSpPr txBox="1"/>
          <p:nvPr/>
        </p:nvSpPr>
        <p:spPr>
          <a:xfrm>
            <a:off x="3017520" y="3200400"/>
            <a:ext cx="1737360" cy="274320"/>
          </a:xfrm>
          <a:prstGeom prst="rect">
            <a:avLst/>
          </a:prstGeom>
          <a:noFill/>
          <a:ln/>
        </p:spPr>
        <p:txBody>
          <a:bodyPr wrap="square" lIns="0" tIns="0" rIns="0" bIns="0" rtlCol="0" anchor="t"/>
          <a:lstStyle/>
          <a:p>
            <a:pPr indent="0" marL="0">
              <a:buNone/>
            </a:pPr>
            <a:r>
              <a:rPr lang="en-US" sz="1200" i="1" dirty="0">
                <a:solidFill>
                  <a:schemeClr val="tx1"/>
                </a:solidFill>
              </a:rPr>
              <a:t>θ nhỏ → cos ≈ 1</a:t>
            </a:r>
            <a:endParaRPr lang="en-US" sz="1200" dirty="0"/>
          </a:p>
        </p:txBody>
      </p:sp>
      <p:sp>
        <p:nvSpPr>
          <p:cNvPr id="15" name="Text 12"/>
          <p:cNvSpPr txBox="1"/>
          <p:nvPr/>
        </p:nvSpPr>
        <p:spPr>
          <a:xfrm>
            <a:off x="1097280" y="3931920"/>
            <a:ext cx="1737360" cy="274320"/>
          </a:xfrm>
          <a:prstGeom prst="rect">
            <a:avLst/>
          </a:prstGeom>
          <a:noFill/>
          <a:ln/>
        </p:spPr>
        <p:txBody>
          <a:bodyPr wrap="square" lIns="0" tIns="0" rIns="0" bIns="0" rtlCol="0" anchor="t"/>
          <a:lstStyle/>
          <a:p>
            <a:pPr indent="0" marL="0">
              <a:buNone/>
            </a:pPr>
            <a:r>
              <a:rPr lang="en-US" sz="1200" i="1" dirty="0">
                <a:solidFill>
                  <a:schemeClr val="tx1"/>
                </a:solidFill>
              </a:rPr>
              <a:t>θ ≈ 90° → cos ≈ 0</a:t>
            </a:r>
            <a:endParaRPr lang="en-US" sz="1200" dirty="0"/>
          </a:p>
        </p:txBody>
      </p:sp>
      <p:sp>
        <p:nvSpPr>
          <p:cNvPr id="16" name="Text 13"/>
          <p:cNvSpPr txBox="1"/>
          <p:nvPr/>
        </p:nvSpPr>
        <p:spPr>
          <a:xfrm>
            <a:off x="777240" y="5852160"/>
            <a:ext cx="5029200" cy="274320"/>
          </a:xfrm>
          <a:prstGeom prst="rect">
            <a:avLst/>
          </a:prstGeom>
          <a:noFill/>
          <a:ln/>
        </p:spPr>
        <p:txBody>
          <a:bodyPr wrap="square" lIns="0" tIns="0" rIns="0" bIns="0" rtlCol="0" anchor="t"/>
          <a:lstStyle/>
          <a:p>
            <a:pPr indent="0" marL="0">
              <a:buNone/>
            </a:pPr>
            <a:r>
              <a:rPr lang="en-US" sz="1100" dirty="0">
                <a:solidFill>
                  <a:schemeClr val="accent6"/>
                </a:solidFill>
              </a:rPr>
              <a:t>Minh hoạ 2 chiều (thực tế hàng trăm đến hàng nghìn chiều)</a:t>
            </a:r>
            <a:endParaRPr lang="en-US" sz="1100" dirty="0"/>
          </a:p>
        </p:txBody>
      </p:sp>
      <p:sp>
        <p:nvSpPr>
          <p:cNvPr id="17" name="Card"/>
          <p:cNvSpPr/>
          <p:nvPr/>
        </p:nvSpPr>
        <p:spPr>
          <a:xfrm>
            <a:off x="6309360" y="1463040"/>
            <a:ext cx="5330952" cy="1143000"/>
          </a:xfrm>
          <a:prstGeom prst="roundRect">
            <a:avLst>
              <a:gd name="adj" fmla="val 8000"/>
            </a:avLst>
          </a:prstGeom>
          <a:solidFill>
            <a:schemeClr val="tx2"/>
          </a:solidFill>
          <a:ln w="12700">
            <a:solidFill>
              <a:schemeClr val="tx2"/>
            </a:solidFill>
            <a:prstDash val="solid"/>
          </a:ln>
        </p:spPr>
      </p:sp>
      <p:sp>
        <p:nvSpPr>
          <p:cNvPr id="18" name="Text 15"/>
          <p:cNvSpPr txBox="1"/>
          <p:nvPr/>
        </p:nvSpPr>
        <p:spPr>
          <a:xfrm>
            <a:off x="6309360" y="1463040"/>
            <a:ext cx="5330952" cy="1143000"/>
          </a:xfrm>
          <a:prstGeom prst="rect">
            <a:avLst/>
          </a:prstGeom>
          <a:noFill/>
          <a:ln/>
        </p:spPr>
        <p:txBody>
          <a:bodyPr wrap="square" lIns="0" tIns="0" rIns="0" bIns="0" rtlCol="0" anchor="ctr"/>
          <a:lstStyle/>
          <a:p>
            <a:pPr algn="ctr" indent="0" marL="0">
              <a:buNone/>
            </a:pPr>
            <a:r>
              <a:rPr lang="en-US" sz="2600" b="1" dirty="0">
                <a:solidFill>
                  <a:schemeClr val="bg1"/>
                </a:solidFill>
              </a:rPr>
              <a:t>cos(θ) = (A · B) / (‖A‖ ‖B‖)</a:t>
            </a:r>
            <a:endParaRPr lang="en-US" sz="2600" dirty="0"/>
          </a:p>
        </p:txBody>
      </p:sp>
      <p:sp>
        <p:nvSpPr>
          <p:cNvPr id="19" name="Card"/>
          <p:cNvSpPr/>
          <p:nvPr/>
        </p:nvSpPr>
        <p:spPr>
          <a:xfrm>
            <a:off x="6309360" y="2788920"/>
            <a:ext cx="1728216" cy="1051560"/>
          </a:xfrm>
          <a:prstGeom prst="roundRect">
            <a:avLst>
              <a:gd name="adj" fmla="val 8696"/>
            </a:avLst>
          </a:prstGeom>
          <a:solidFill>
            <a:schemeClr val="bg2"/>
          </a:solidFill>
          <a:ln w="12700">
            <a:solidFill>
              <a:schemeClr val="bg2"/>
            </a:solidFill>
            <a:prstDash val="solid"/>
          </a:ln>
        </p:spPr>
      </p:sp>
      <p:sp>
        <p:nvSpPr>
          <p:cNvPr id="20" name="Text 17"/>
          <p:cNvSpPr txBox="1"/>
          <p:nvPr/>
        </p:nvSpPr>
        <p:spPr>
          <a:xfrm>
            <a:off x="6309360" y="2852928"/>
            <a:ext cx="1728216" cy="411480"/>
          </a:xfrm>
          <a:prstGeom prst="rect">
            <a:avLst/>
          </a:prstGeom>
          <a:noFill/>
          <a:ln/>
        </p:spPr>
        <p:txBody>
          <a:bodyPr wrap="square" lIns="0" tIns="0" rIns="0" bIns="0" rtlCol="0" anchor="t"/>
          <a:lstStyle/>
          <a:p>
            <a:pPr algn="ctr" indent="0" marL="0">
              <a:buNone/>
            </a:pPr>
            <a:r>
              <a:rPr lang="en-US" sz="1800" b="1" dirty="0">
                <a:solidFill>
                  <a:schemeClr val="accent1"/>
                </a:solidFill>
              </a:rPr>
              <a:t>cos ≈ 1</a:t>
            </a:r>
            <a:endParaRPr lang="en-US" sz="1800" dirty="0"/>
          </a:p>
        </p:txBody>
      </p:sp>
      <p:sp>
        <p:nvSpPr>
          <p:cNvPr id="21" name="Text 18"/>
          <p:cNvSpPr txBox="1"/>
          <p:nvPr/>
        </p:nvSpPr>
        <p:spPr>
          <a:xfrm>
            <a:off x="6355080" y="3310128"/>
            <a:ext cx="1636776" cy="457200"/>
          </a:xfrm>
          <a:prstGeom prst="rect">
            <a:avLst/>
          </a:prstGeom>
          <a:noFill/>
          <a:ln/>
        </p:spPr>
        <p:txBody>
          <a:bodyPr wrap="square" lIns="0" tIns="0" rIns="0" bIns="0" rtlCol="0" anchor="t"/>
          <a:lstStyle/>
          <a:p>
            <a:pPr algn="ctr" indent="0" marL="0">
              <a:buNone/>
            </a:pPr>
            <a:r>
              <a:rPr lang="en-US" sz="1200" dirty="0">
                <a:solidFill>
                  <a:schemeClr val="tx1"/>
                </a:solidFill>
              </a:rPr>
              <a:t>θ ≈ 0° · Giống nhau</a:t>
            </a:r>
            <a:endParaRPr lang="en-US" sz="1200" dirty="0"/>
          </a:p>
        </p:txBody>
      </p:sp>
      <p:sp>
        <p:nvSpPr>
          <p:cNvPr id="22" name="Card"/>
          <p:cNvSpPr/>
          <p:nvPr/>
        </p:nvSpPr>
        <p:spPr>
          <a:xfrm>
            <a:off x="8110728" y="2788920"/>
            <a:ext cx="1728216" cy="1051560"/>
          </a:xfrm>
          <a:prstGeom prst="roundRect">
            <a:avLst>
              <a:gd name="adj" fmla="val 8696"/>
            </a:avLst>
          </a:prstGeom>
          <a:solidFill>
            <a:schemeClr val="bg2"/>
          </a:solidFill>
          <a:ln w="12700">
            <a:solidFill>
              <a:schemeClr val="bg2"/>
            </a:solidFill>
            <a:prstDash val="solid"/>
          </a:ln>
        </p:spPr>
      </p:sp>
      <p:sp>
        <p:nvSpPr>
          <p:cNvPr id="23" name="Text 20"/>
          <p:cNvSpPr txBox="1"/>
          <p:nvPr/>
        </p:nvSpPr>
        <p:spPr>
          <a:xfrm>
            <a:off x="8110728" y="2852928"/>
            <a:ext cx="1728216" cy="411480"/>
          </a:xfrm>
          <a:prstGeom prst="rect">
            <a:avLst/>
          </a:prstGeom>
          <a:noFill/>
          <a:ln/>
        </p:spPr>
        <p:txBody>
          <a:bodyPr wrap="square" lIns="0" tIns="0" rIns="0" bIns="0" rtlCol="0" anchor="t"/>
          <a:lstStyle/>
          <a:p>
            <a:pPr algn="ctr" indent="0" marL="0">
              <a:buNone/>
            </a:pPr>
            <a:r>
              <a:rPr lang="en-US" sz="1800" b="1" dirty="0">
                <a:solidFill>
                  <a:schemeClr val="accent1"/>
                </a:solidFill>
              </a:rPr>
              <a:t>cos = 0</a:t>
            </a:r>
            <a:endParaRPr lang="en-US" sz="1800" dirty="0"/>
          </a:p>
        </p:txBody>
      </p:sp>
      <p:sp>
        <p:nvSpPr>
          <p:cNvPr id="24" name="Text 21"/>
          <p:cNvSpPr txBox="1"/>
          <p:nvPr/>
        </p:nvSpPr>
        <p:spPr>
          <a:xfrm>
            <a:off x="8156448" y="3310128"/>
            <a:ext cx="1636776" cy="457200"/>
          </a:xfrm>
          <a:prstGeom prst="rect">
            <a:avLst/>
          </a:prstGeom>
          <a:noFill/>
          <a:ln/>
        </p:spPr>
        <p:txBody>
          <a:bodyPr wrap="square" lIns="0" tIns="0" rIns="0" bIns="0" rtlCol="0" anchor="t"/>
          <a:lstStyle/>
          <a:p>
            <a:pPr algn="ctr" indent="0" marL="0">
              <a:buNone/>
            </a:pPr>
            <a:r>
              <a:rPr lang="en-US" sz="1200" dirty="0">
                <a:solidFill>
                  <a:schemeClr val="tx1"/>
                </a:solidFill>
              </a:rPr>
              <a:t>θ = 90° · Không liên quan</a:t>
            </a:r>
            <a:endParaRPr lang="en-US" sz="1200" dirty="0"/>
          </a:p>
        </p:txBody>
      </p:sp>
      <p:sp>
        <p:nvSpPr>
          <p:cNvPr id="25" name="Card"/>
          <p:cNvSpPr/>
          <p:nvPr/>
        </p:nvSpPr>
        <p:spPr>
          <a:xfrm>
            <a:off x="9912096" y="2788920"/>
            <a:ext cx="1728216" cy="1051560"/>
          </a:xfrm>
          <a:prstGeom prst="roundRect">
            <a:avLst>
              <a:gd name="adj" fmla="val 8696"/>
            </a:avLst>
          </a:prstGeom>
          <a:solidFill>
            <a:schemeClr val="bg2"/>
          </a:solidFill>
          <a:ln w="12700">
            <a:solidFill>
              <a:schemeClr val="bg2"/>
            </a:solidFill>
            <a:prstDash val="solid"/>
          </a:ln>
        </p:spPr>
      </p:sp>
      <p:sp>
        <p:nvSpPr>
          <p:cNvPr id="26" name="Text 23"/>
          <p:cNvSpPr txBox="1"/>
          <p:nvPr/>
        </p:nvSpPr>
        <p:spPr>
          <a:xfrm>
            <a:off x="9912096" y="2852928"/>
            <a:ext cx="1728216" cy="411480"/>
          </a:xfrm>
          <a:prstGeom prst="rect">
            <a:avLst/>
          </a:prstGeom>
          <a:noFill/>
          <a:ln/>
        </p:spPr>
        <p:txBody>
          <a:bodyPr wrap="square" lIns="0" tIns="0" rIns="0" bIns="0" rtlCol="0" anchor="t"/>
          <a:lstStyle/>
          <a:p>
            <a:pPr algn="ctr" indent="0" marL="0">
              <a:buNone/>
            </a:pPr>
            <a:r>
              <a:rPr lang="en-US" sz="1800" b="1" dirty="0">
                <a:solidFill>
                  <a:schemeClr val="accent1"/>
                </a:solidFill>
              </a:rPr>
              <a:t>cos = −1</a:t>
            </a:r>
            <a:endParaRPr lang="en-US" sz="1800" dirty="0"/>
          </a:p>
        </p:txBody>
      </p:sp>
      <p:sp>
        <p:nvSpPr>
          <p:cNvPr id="27" name="Text 24"/>
          <p:cNvSpPr txBox="1"/>
          <p:nvPr/>
        </p:nvSpPr>
        <p:spPr>
          <a:xfrm>
            <a:off x="9957816" y="3310128"/>
            <a:ext cx="1636776" cy="457200"/>
          </a:xfrm>
          <a:prstGeom prst="rect">
            <a:avLst/>
          </a:prstGeom>
          <a:noFill/>
          <a:ln/>
        </p:spPr>
        <p:txBody>
          <a:bodyPr wrap="square" lIns="0" tIns="0" rIns="0" bIns="0" rtlCol="0" anchor="t"/>
          <a:lstStyle/>
          <a:p>
            <a:pPr algn="ctr" indent="0" marL="0">
              <a:buNone/>
            </a:pPr>
            <a:r>
              <a:rPr lang="en-US" sz="1200" dirty="0">
                <a:solidFill>
                  <a:schemeClr val="tx1"/>
                </a:solidFill>
              </a:rPr>
              <a:t>θ = 180° · Đối lập</a:t>
            </a:r>
            <a:endParaRPr lang="en-US" sz="1200" dirty="0"/>
          </a:p>
        </p:txBody>
      </p:sp>
      <p:sp>
        <p:nvSpPr>
          <p:cNvPr id="28" name="Text 25"/>
          <p:cNvSpPr txBox="1"/>
          <p:nvPr/>
        </p:nvSpPr>
        <p:spPr>
          <a:xfrm>
            <a:off x="6309360" y="4023360"/>
            <a:ext cx="5330952" cy="141732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Embedding: </a:t>
            </a:r>
            <a:r>
              <a:rPr lang="en-US" sz="1400" dirty="0">
                <a:solidFill>
                  <a:schemeClr val="tx1"/>
                </a:solidFill>
              </a:rPr>
              <a:t>văn bản → vector số thực; gần nghĩa ⇒ vector gần nhau</a:t>
            </a:r>
            <a:endParaRPr lang="en-US" sz="1400" dirty="0"/>
          </a:p>
          <a:p>
            <a:pPr marL="177800" indent="-177800">
              <a:spcAft>
                <a:spcPts val="600"/>
              </a:spcAft>
              <a:buSzPct val="100000"/>
              <a:buChar char="•"/>
            </a:pPr>
            <a:r>
              <a:rPr lang="en-US" sz="1400" b="1" dirty="0">
                <a:solidFill>
                  <a:schemeClr val="tx1"/>
                </a:solidFill>
              </a:rPr>
              <a:t>EmbeddingModel.embed(text) </a:t>
            </a:r>
            <a:r>
              <a:rPr lang="en-US" sz="1400" dirty="0">
                <a:solidFill>
                  <a:schemeClr val="tx1"/>
                </a:solidFill>
              </a:rPr>
              <a:t>trả về float[]; số chiều phụ thuộc model</a:t>
            </a:r>
            <a:endParaRPr lang="en-US" sz="1400" dirty="0"/>
          </a:p>
          <a:p>
            <a:pPr marL="177800" indent="-177800">
              <a:spcAft>
                <a:spcPts val="600"/>
              </a:spcAft>
              <a:buSzPct val="100000"/>
              <a:buChar char="•"/>
            </a:pPr>
            <a:r>
              <a:rPr lang="en-US" sz="1400" b="1" dirty="0">
                <a:solidFill>
                  <a:schemeClr val="tx1"/>
                </a:solidFill>
              </a:rPr>
              <a:t>Ứng dụng: </a:t>
            </a:r>
            <a:r>
              <a:rPr lang="en-US" sz="1400" dirty="0">
                <a:solidFill>
                  <a:schemeClr val="tx1"/>
                </a:solidFill>
              </a:rPr>
              <a:t>semantic search, ngữ cảnh RAG, chatbot intent, recommendations</a:t>
            </a:r>
            <a:endParaRPr lang="en-US" sz="1400" dirty="0"/>
          </a:p>
        </p:txBody>
      </p:sp>
      <p:sp>
        <p:nvSpPr>
          <p:cNvPr id="29" name="Card"/>
          <p:cNvSpPr/>
          <p:nvPr/>
        </p:nvSpPr>
        <p:spPr>
          <a:xfrm>
            <a:off x="6309360" y="5486400"/>
            <a:ext cx="5330952" cy="777240"/>
          </a:xfrm>
          <a:prstGeom prst="roundRect">
            <a:avLst>
              <a:gd name="adj" fmla="val 11765"/>
            </a:avLst>
          </a:prstGeom>
          <a:solidFill>
            <a:schemeClr val="accent2"/>
          </a:solidFill>
          <a:ln w="12700">
            <a:solidFill>
              <a:schemeClr val="accent2"/>
            </a:solidFill>
            <a:prstDash val="solid"/>
          </a:ln>
        </p:spPr>
      </p:sp>
      <p:sp>
        <p:nvSpPr>
          <p:cNvPr id="30" name="Text 27"/>
          <p:cNvSpPr txBox="1"/>
          <p:nvPr/>
        </p:nvSpPr>
        <p:spPr>
          <a:xfrm>
            <a:off x="6492240" y="5486400"/>
            <a:ext cx="4983480" cy="777240"/>
          </a:xfrm>
          <a:prstGeom prst="rect">
            <a:avLst/>
          </a:prstGeom>
          <a:noFill/>
          <a:ln/>
        </p:spPr>
        <p:txBody>
          <a:bodyPr wrap="square" lIns="0" tIns="0" rIns="0" bIns="0" rtlCol="0" anchor="ctr"/>
          <a:lstStyle/>
          <a:p>
            <a:pPr indent="0" marL="0">
              <a:buNone/>
            </a:pPr>
            <a:r>
              <a:rPr lang="en-US" sz="1400" b="1" dirty="0">
                <a:solidFill>
                  <a:schemeClr val="tx2"/>
                </a:solidFill>
              </a:rPr>
              <a:t>Trong dự án: embed mô tả tour → tìm các tour “giống” tour khách đang xem.</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VectorStore, Document và similaritySearch</a:t>
            </a:r>
            <a:endParaRPr lang="en-US" sz="3200" dirty="0"/>
          </a:p>
        </p:txBody>
      </p:sp>
      <p:sp>
        <p:nvSpPr>
          <p:cNvPr id="3" name="Section chip"/>
          <p:cNvSpPr txBox="1"/>
          <p:nvPr/>
        </p:nvSpPr>
        <p:spPr>
          <a:xfrm>
            <a:off x="548640" y="246888"/>
            <a:ext cx="193852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1B · VECTOR DATABASE</a:t>
            </a:r>
            <a:endParaRPr lang="en-US" sz="1100" dirty="0"/>
          </a:p>
        </p:txBody>
      </p:sp>
      <p:sp>
        <p:nvSpPr>
          <p:cNvPr id="5" name="Text 2"/>
          <p:cNvSpPr txBox="1"/>
          <p:nvPr/>
        </p:nvSpPr>
        <p:spPr>
          <a:xfrm>
            <a:off x="548640" y="1417320"/>
            <a:ext cx="4480560" cy="274320"/>
          </a:xfrm>
          <a:prstGeom prst="rect">
            <a:avLst/>
          </a:prstGeom>
          <a:noFill/>
          <a:ln/>
        </p:spPr>
        <p:txBody>
          <a:bodyPr wrap="square" lIns="0" tIns="0" rIns="0" bIns="0" rtlCol="0" anchor="t"/>
          <a:lstStyle/>
          <a:p>
            <a:pPr indent="0" marL="0">
              <a:buNone/>
            </a:pPr>
            <a:r>
              <a:rPr lang="en-US" sz="1500" b="1" dirty="0">
                <a:solidFill>
                  <a:schemeClr val="tx2"/>
                </a:solidFill>
              </a:rPr>
              <a:t>Cấu trúc Document</a:t>
            </a:r>
            <a:endParaRPr lang="en-US" sz="1500" dirty="0"/>
          </a:p>
        </p:txBody>
      </p:sp>
      <p:sp>
        <p:nvSpPr>
          <p:cNvPr id="6" name="Card"/>
          <p:cNvSpPr/>
          <p:nvPr/>
        </p:nvSpPr>
        <p:spPr>
          <a:xfrm>
            <a:off x="548640" y="1783080"/>
            <a:ext cx="4480560" cy="640080"/>
          </a:xfrm>
          <a:prstGeom prst="roundRect">
            <a:avLst>
              <a:gd name="adj" fmla="val 14286"/>
            </a:avLst>
          </a:prstGeom>
          <a:solidFill>
            <a:schemeClr val="bg2"/>
          </a:solidFill>
          <a:ln w="12700">
            <a:solidFill>
              <a:schemeClr val="bg2"/>
            </a:solidFill>
            <a:prstDash val="solid"/>
          </a:ln>
        </p:spPr>
      </p:sp>
      <p:sp>
        <p:nvSpPr>
          <p:cNvPr id="7" name="Text 4"/>
          <p:cNvSpPr txBox="1"/>
          <p:nvPr/>
        </p:nvSpPr>
        <p:spPr>
          <a:xfrm>
            <a:off x="731520" y="1783080"/>
            <a:ext cx="1280160" cy="640080"/>
          </a:xfrm>
          <a:prstGeom prst="rect">
            <a:avLst/>
          </a:prstGeom>
          <a:noFill/>
          <a:ln/>
        </p:spPr>
        <p:txBody>
          <a:bodyPr wrap="square" lIns="0" tIns="0" rIns="0" bIns="0" rtlCol="0" anchor="ctr"/>
          <a:lstStyle/>
          <a:p>
            <a:pPr indent="0" marL="0">
              <a:buNone/>
            </a:pPr>
            <a:r>
              <a:rPr lang="en-US" sz="1500" b="1" dirty="0">
                <a:solidFill>
                  <a:schemeClr val="accent1"/>
                </a:solidFill>
              </a:rPr>
              <a:t>id</a:t>
            </a:r>
            <a:endParaRPr lang="en-US" sz="1500" dirty="0"/>
          </a:p>
        </p:txBody>
      </p:sp>
      <p:sp>
        <p:nvSpPr>
          <p:cNvPr id="8" name="Text 5"/>
          <p:cNvSpPr txBox="1"/>
          <p:nvPr/>
        </p:nvSpPr>
        <p:spPr>
          <a:xfrm>
            <a:off x="2011680" y="1783080"/>
            <a:ext cx="2926080" cy="640080"/>
          </a:xfrm>
          <a:prstGeom prst="rect">
            <a:avLst/>
          </a:prstGeom>
          <a:noFill/>
          <a:ln/>
        </p:spPr>
        <p:txBody>
          <a:bodyPr wrap="square" lIns="0" tIns="0" rIns="0" bIns="0" rtlCol="0" anchor="ctr"/>
          <a:lstStyle/>
          <a:p>
            <a:pPr indent="0" marL="0">
              <a:buNone/>
            </a:pPr>
            <a:r>
              <a:rPr lang="en-US" sz="1300" dirty="0">
                <a:solidFill>
                  <a:schemeClr val="tx1"/>
                </a:solidFill>
              </a:rPr>
              <a:t>định danh (String / UUID)</a:t>
            </a:r>
            <a:endParaRPr lang="en-US" sz="1300" dirty="0"/>
          </a:p>
        </p:txBody>
      </p:sp>
      <p:sp>
        <p:nvSpPr>
          <p:cNvPr id="9" name="Card"/>
          <p:cNvSpPr/>
          <p:nvPr/>
        </p:nvSpPr>
        <p:spPr>
          <a:xfrm>
            <a:off x="548640" y="2532888"/>
            <a:ext cx="4480560" cy="640080"/>
          </a:xfrm>
          <a:prstGeom prst="roundRect">
            <a:avLst>
              <a:gd name="adj" fmla="val 14286"/>
            </a:avLst>
          </a:prstGeom>
          <a:solidFill>
            <a:schemeClr val="bg2"/>
          </a:solidFill>
          <a:ln w="12700">
            <a:solidFill>
              <a:schemeClr val="bg2"/>
            </a:solidFill>
            <a:prstDash val="solid"/>
          </a:ln>
        </p:spPr>
      </p:sp>
      <p:sp>
        <p:nvSpPr>
          <p:cNvPr id="10" name="Text 7"/>
          <p:cNvSpPr txBox="1"/>
          <p:nvPr/>
        </p:nvSpPr>
        <p:spPr>
          <a:xfrm>
            <a:off x="731520" y="2532888"/>
            <a:ext cx="1280160" cy="640080"/>
          </a:xfrm>
          <a:prstGeom prst="rect">
            <a:avLst/>
          </a:prstGeom>
          <a:noFill/>
          <a:ln/>
        </p:spPr>
        <p:txBody>
          <a:bodyPr wrap="square" lIns="0" tIns="0" rIns="0" bIns="0" rtlCol="0" anchor="ctr"/>
          <a:lstStyle/>
          <a:p>
            <a:pPr indent="0" marL="0">
              <a:buNone/>
            </a:pPr>
            <a:r>
              <a:rPr lang="en-US" sz="1500" b="1" dirty="0">
                <a:solidFill>
                  <a:schemeClr val="accent1"/>
                </a:solidFill>
              </a:rPr>
              <a:t>text</a:t>
            </a:r>
            <a:endParaRPr lang="en-US" sz="1500" dirty="0"/>
          </a:p>
        </p:txBody>
      </p:sp>
      <p:sp>
        <p:nvSpPr>
          <p:cNvPr id="11" name="Text 8"/>
          <p:cNvSpPr txBox="1"/>
          <p:nvPr/>
        </p:nvSpPr>
        <p:spPr>
          <a:xfrm>
            <a:off x="2011680" y="2532888"/>
            <a:ext cx="2926080" cy="640080"/>
          </a:xfrm>
          <a:prstGeom prst="rect">
            <a:avLst/>
          </a:prstGeom>
          <a:noFill/>
          <a:ln/>
        </p:spPr>
        <p:txBody>
          <a:bodyPr wrap="square" lIns="0" tIns="0" rIns="0" bIns="0" rtlCol="0" anchor="ctr"/>
          <a:lstStyle/>
          <a:p>
            <a:pPr indent="0" marL="0">
              <a:buNone/>
            </a:pPr>
            <a:r>
              <a:rPr lang="en-US" sz="1300" dirty="0">
                <a:solidFill>
                  <a:schemeClr val="tx1"/>
                </a:solidFill>
              </a:rPr>
              <a:t>nội dung dùng để tính embedding</a:t>
            </a:r>
            <a:endParaRPr lang="en-US" sz="1300" dirty="0"/>
          </a:p>
        </p:txBody>
      </p:sp>
      <p:sp>
        <p:nvSpPr>
          <p:cNvPr id="12" name="Card"/>
          <p:cNvSpPr/>
          <p:nvPr/>
        </p:nvSpPr>
        <p:spPr>
          <a:xfrm>
            <a:off x="548640" y="3282696"/>
            <a:ext cx="4480560" cy="640080"/>
          </a:xfrm>
          <a:prstGeom prst="roundRect">
            <a:avLst>
              <a:gd name="adj" fmla="val 14286"/>
            </a:avLst>
          </a:prstGeom>
          <a:solidFill>
            <a:schemeClr val="bg2"/>
          </a:solidFill>
          <a:ln w="12700">
            <a:solidFill>
              <a:schemeClr val="bg2"/>
            </a:solidFill>
            <a:prstDash val="solid"/>
          </a:ln>
        </p:spPr>
      </p:sp>
      <p:sp>
        <p:nvSpPr>
          <p:cNvPr id="13" name="Text 10"/>
          <p:cNvSpPr txBox="1"/>
          <p:nvPr/>
        </p:nvSpPr>
        <p:spPr>
          <a:xfrm>
            <a:off x="731520" y="3282696"/>
            <a:ext cx="1280160" cy="640080"/>
          </a:xfrm>
          <a:prstGeom prst="rect">
            <a:avLst/>
          </a:prstGeom>
          <a:noFill/>
          <a:ln/>
        </p:spPr>
        <p:txBody>
          <a:bodyPr wrap="square" lIns="0" tIns="0" rIns="0" bIns="0" rtlCol="0" anchor="ctr"/>
          <a:lstStyle/>
          <a:p>
            <a:pPr indent="0" marL="0">
              <a:buNone/>
            </a:pPr>
            <a:r>
              <a:rPr lang="en-US" sz="1500" b="1" dirty="0">
                <a:solidFill>
                  <a:schemeClr val="accent1"/>
                </a:solidFill>
              </a:rPr>
              <a:t>metadata</a:t>
            </a:r>
            <a:endParaRPr lang="en-US" sz="1500" dirty="0"/>
          </a:p>
        </p:txBody>
      </p:sp>
      <p:sp>
        <p:nvSpPr>
          <p:cNvPr id="14" name="Text 11"/>
          <p:cNvSpPr txBox="1"/>
          <p:nvPr/>
        </p:nvSpPr>
        <p:spPr>
          <a:xfrm>
            <a:off x="2011680" y="3282696"/>
            <a:ext cx="2926080" cy="640080"/>
          </a:xfrm>
          <a:prstGeom prst="rect">
            <a:avLst/>
          </a:prstGeom>
          <a:noFill/>
          <a:ln/>
        </p:spPr>
        <p:txBody>
          <a:bodyPr wrap="square" lIns="0" tIns="0" rIns="0" bIns="0" rtlCol="0" anchor="ctr"/>
          <a:lstStyle/>
          <a:p>
            <a:pPr indent="0" marL="0">
              <a:buNone/>
            </a:pPr>
            <a:r>
              <a:rPr lang="en-US" sz="1300" dirty="0">
                <a:solidFill>
                  <a:schemeClr val="tx1"/>
                </a:solidFill>
              </a:rPr>
              <a:t>Map&lt;String,Object&gt;: category, price…</a:t>
            </a:r>
            <a:endParaRPr lang="en-US" sz="1300" dirty="0"/>
          </a:p>
        </p:txBody>
      </p:sp>
      <p:sp>
        <p:nvSpPr>
          <p:cNvPr id="15" name="Card"/>
          <p:cNvSpPr/>
          <p:nvPr/>
        </p:nvSpPr>
        <p:spPr>
          <a:xfrm>
            <a:off x="548640" y="4032504"/>
            <a:ext cx="4480560" cy="640080"/>
          </a:xfrm>
          <a:prstGeom prst="roundRect">
            <a:avLst>
              <a:gd name="adj" fmla="val 14286"/>
            </a:avLst>
          </a:prstGeom>
          <a:solidFill>
            <a:srgbClr val="FFFFFF"/>
          </a:solidFill>
          <a:ln w="15875">
            <a:solidFill>
              <a:schemeClr val="accent5"/>
            </a:solidFill>
            <a:prstDash val="solid"/>
          </a:ln>
        </p:spPr>
      </p:sp>
      <p:sp>
        <p:nvSpPr>
          <p:cNvPr id="16" name="Text 13"/>
          <p:cNvSpPr txBox="1"/>
          <p:nvPr/>
        </p:nvSpPr>
        <p:spPr>
          <a:xfrm>
            <a:off x="731520" y="4032504"/>
            <a:ext cx="1280160" cy="640080"/>
          </a:xfrm>
          <a:prstGeom prst="rect">
            <a:avLst/>
          </a:prstGeom>
          <a:noFill/>
          <a:ln/>
        </p:spPr>
        <p:txBody>
          <a:bodyPr wrap="square" lIns="0" tIns="0" rIns="0" bIns="0" rtlCol="0" anchor="ctr"/>
          <a:lstStyle/>
          <a:p>
            <a:pPr indent="0" marL="0">
              <a:buNone/>
            </a:pPr>
            <a:r>
              <a:rPr lang="en-US" sz="1500" b="1" dirty="0">
                <a:solidFill>
                  <a:schemeClr val="accent1"/>
                </a:solidFill>
              </a:rPr>
              <a:t>embedding</a:t>
            </a:r>
            <a:endParaRPr lang="en-US" sz="1500" dirty="0"/>
          </a:p>
        </p:txBody>
      </p:sp>
      <p:sp>
        <p:nvSpPr>
          <p:cNvPr id="17" name="Text 14"/>
          <p:cNvSpPr txBox="1"/>
          <p:nvPr/>
        </p:nvSpPr>
        <p:spPr>
          <a:xfrm>
            <a:off x="2011680" y="4032504"/>
            <a:ext cx="2926080" cy="640080"/>
          </a:xfrm>
          <a:prstGeom prst="rect">
            <a:avLst/>
          </a:prstGeom>
          <a:noFill/>
          <a:ln/>
        </p:spPr>
        <p:txBody>
          <a:bodyPr wrap="square" lIns="0" tIns="0" rIns="0" bIns="0" rtlCol="0" anchor="ctr"/>
          <a:lstStyle/>
          <a:p>
            <a:pPr indent="0" marL="0">
              <a:buNone/>
            </a:pPr>
            <a:r>
              <a:rPr lang="en-US" sz="1300" dirty="0">
                <a:solidFill>
                  <a:schemeClr val="tx1"/>
                </a:solidFill>
              </a:rPr>
              <a:t>VectorStore tự tính qua EmbeddingModel</a:t>
            </a:r>
            <a:endParaRPr lang="en-US" sz="1300" dirty="0"/>
          </a:p>
        </p:txBody>
      </p:sp>
      <p:sp>
        <p:nvSpPr>
          <p:cNvPr id="18" name="Text 15"/>
          <p:cNvSpPr txBox="1"/>
          <p:nvPr/>
        </p:nvSpPr>
        <p:spPr>
          <a:xfrm>
            <a:off x="548640" y="4892040"/>
            <a:ext cx="4480560" cy="274320"/>
          </a:xfrm>
          <a:prstGeom prst="rect">
            <a:avLst/>
          </a:prstGeom>
          <a:noFill/>
          <a:ln/>
        </p:spPr>
        <p:txBody>
          <a:bodyPr wrap="square" lIns="0" tIns="0" rIns="0" bIns="0" rtlCol="0" anchor="t"/>
          <a:lstStyle/>
          <a:p>
            <a:pPr indent="0" marL="0">
              <a:buNone/>
            </a:pPr>
            <a:r>
              <a:rPr lang="en-US" sz="1500" b="1" dirty="0">
                <a:solidFill>
                  <a:schemeClr val="tx2"/>
                </a:solidFill>
              </a:rPr>
              <a:t>Các VectorStore (cùng một API)</a:t>
            </a:r>
            <a:endParaRPr lang="en-US" sz="1500" dirty="0"/>
          </a:p>
        </p:txBody>
      </p:sp>
      <p:sp>
        <p:nvSpPr>
          <p:cNvPr id="19" name="Box"/>
          <p:cNvSpPr txBox="1"/>
          <p:nvPr/>
        </p:nvSpPr>
        <p:spPr>
          <a:xfrm>
            <a:off x="548640" y="5257800"/>
            <a:ext cx="2194560" cy="384048"/>
          </a:xfrm>
          <a:prstGeom prst="roundRect">
            <a:avLst>
              <a:gd name="adj" fmla="val 23810"/>
            </a:avLst>
          </a:prstGeom>
          <a:solidFill>
            <a:schemeClr val="accent2"/>
          </a:solidFill>
          <a:ln>
            <a:solidFill>
              <a:schemeClr val="accent2"/>
            </a:solidFill>
          </a:ln>
        </p:spPr>
        <p:txBody>
          <a:bodyPr wrap="square" lIns="76200" tIns="76200" rIns="76200" bIns="76200" rtlCol="0" anchor="ctr"/>
          <a:lstStyle/>
          <a:p>
            <a:pPr algn="ctr" indent="0" marL="0">
              <a:buNone/>
            </a:pPr>
            <a:r>
              <a:rPr lang="en-US" sz="1200" b="1" dirty="0">
                <a:solidFill>
                  <a:schemeClr val="tx2"/>
                </a:solidFill>
              </a:rPr>
              <a:t>SimpleVectorStore</a:t>
            </a:r>
            <a:endParaRPr lang="en-US" sz="1200" dirty="0"/>
          </a:p>
        </p:txBody>
      </p:sp>
      <p:sp>
        <p:nvSpPr>
          <p:cNvPr id="20" name="Box"/>
          <p:cNvSpPr txBox="1"/>
          <p:nvPr/>
        </p:nvSpPr>
        <p:spPr>
          <a:xfrm>
            <a:off x="2816352" y="5257800"/>
            <a:ext cx="2194560"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PGvector</a:t>
            </a:r>
            <a:endParaRPr lang="en-US" sz="1200" dirty="0"/>
          </a:p>
        </p:txBody>
      </p:sp>
      <p:sp>
        <p:nvSpPr>
          <p:cNvPr id="21" name="Box"/>
          <p:cNvSpPr txBox="1"/>
          <p:nvPr/>
        </p:nvSpPr>
        <p:spPr>
          <a:xfrm>
            <a:off x="548640" y="5760720"/>
            <a:ext cx="1426464"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Qdrant</a:t>
            </a:r>
            <a:endParaRPr lang="en-US" sz="1200" dirty="0"/>
          </a:p>
        </p:txBody>
      </p:sp>
      <p:sp>
        <p:nvSpPr>
          <p:cNvPr id="22" name="Box"/>
          <p:cNvSpPr txBox="1"/>
          <p:nvPr/>
        </p:nvSpPr>
        <p:spPr>
          <a:xfrm>
            <a:off x="2048256" y="5760720"/>
            <a:ext cx="1426464"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Weaviate</a:t>
            </a:r>
            <a:endParaRPr lang="en-US" sz="1200" dirty="0"/>
          </a:p>
        </p:txBody>
      </p:sp>
      <p:sp>
        <p:nvSpPr>
          <p:cNvPr id="23" name="Box"/>
          <p:cNvSpPr txBox="1"/>
          <p:nvPr/>
        </p:nvSpPr>
        <p:spPr>
          <a:xfrm>
            <a:off x="3547872" y="5760720"/>
            <a:ext cx="1426464" cy="384048"/>
          </a:xfrm>
          <a:prstGeom prst="roundRect">
            <a:avLst>
              <a:gd name="adj" fmla="val 23810"/>
            </a:avLst>
          </a:prstGeom>
          <a:solidFill>
            <a:schemeClr val="accent1"/>
          </a:solidFill>
          <a:ln>
            <a:solidFill>
              <a:schemeClr val="accent1"/>
            </a:solidFill>
          </a:ln>
        </p:spPr>
        <p:txBody>
          <a:bodyPr wrap="square" lIns="76200" tIns="76200" rIns="76200" bIns="76200" rtlCol="0" anchor="ctr"/>
          <a:lstStyle/>
          <a:p>
            <a:pPr algn="ctr" indent="0" marL="0">
              <a:buNone/>
            </a:pPr>
            <a:r>
              <a:rPr lang="en-US" sz="1200" b="1" dirty="0">
                <a:solidFill>
                  <a:schemeClr val="bg1"/>
                </a:solidFill>
              </a:rPr>
              <a:t>Redis</a:t>
            </a:r>
            <a:endParaRPr lang="en-US" sz="1200" dirty="0"/>
          </a:p>
        </p:txBody>
      </p:sp>
      <p:sp>
        <p:nvSpPr>
          <p:cNvPr id="24" name="Code panel VectorStore API"/>
          <p:cNvSpPr/>
          <p:nvPr/>
        </p:nvSpPr>
        <p:spPr>
          <a:xfrm>
            <a:off x="5303520" y="1463040"/>
            <a:ext cx="6336792" cy="3291840"/>
          </a:xfrm>
          <a:prstGeom prst="roundRect">
            <a:avLst>
              <a:gd name="adj" fmla="val 2222"/>
            </a:avLst>
          </a:prstGeom>
          <a:solidFill>
            <a:schemeClr val="tx2"/>
          </a:solidFill>
          <a:ln w="12700">
            <a:solidFill>
              <a:schemeClr val="tx2"/>
            </a:solidFill>
            <a:prstDash val="solid"/>
          </a:ln>
        </p:spPr>
      </p:sp>
      <p:sp>
        <p:nvSpPr>
          <p:cNvPr id="25" name="Text 22"/>
          <p:cNvSpPr txBox="1"/>
          <p:nvPr/>
        </p:nvSpPr>
        <p:spPr>
          <a:xfrm>
            <a:off x="5486400" y="1554480"/>
            <a:ext cx="5971032" cy="237744"/>
          </a:xfrm>
          <a:prstGeom prst="rect">
            <a:avLst/>
          </a:prstGeom>
          <a:noFill/>
          <a:ln/>
        </p:spPr>
        <p:txBody>
          <a:bodyPr wrap="square" lIns="0" tIns="0" rIns="0" bIns="0" rtlCol="0" anchor="ctr"/>
          <a:lstStyle/>
          <a:p>
            <a:pPr indent="0" marL="0">
              <a:buNone/>
            </a:pPr>
            <a:r>
              <a:rPr lang="en-US" sz="1100" b="1" dirty="0">
                <a:solidFill>
                  <a:schemeClr val="accent5"/>
                </a:solidFill>
              </a:rPr>
              <a:t>VectorStore API</a:t>
            </a:r>
            <a:endParaRPr lang="en-US" sz="1100" dirty="0"/>
          </a:p>
        </p:txBody>
      </p:sp>
      <p:sp>
        <p:nvSpPr>
          <p:cNvPr id="26" name="Code VectorStore API"/>
          <p:cNvSpPr txBox="1"/>
          <p:nvPr/>
        </p:nvSpPr>
        <p:spPr>
          <a:xfrm>
            <a:off x="5486400" y="1847088"/>
            <a:ext cx="5971032" cy="2834640"/>
          </a:xfrm>
          <a:prstGeom prst="rect">
            <a:avLst/>
          </a:prstGeom>
          <a:noFill/>
          <a:ln/>
        </p:spPr>
        <p:txBody>
          <a:bodyPr wrap="square" lIns="0" tIns="0" rIns="0" bIns="0" rtlCol="0" anchor="t"/>
          <a:lstStyle/>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vectorStore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add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List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of</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new</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Document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id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F4B393"/>
                </a:solidFill>
                <a:latin typeface="Courier New" pitchFamily="34" charset="0"/>
                <a:ea typeface="Courier New" pitchFamily="34" charset="-122"/>
                <a:cs typeface="Courier New" pitchFamily="34" charset="-120"/>
              </a:rPr>
              <a:t>"Phú Quốc - lặn ngắm san hô, hoàng hôn..."</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Map</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of</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"category"</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F4B393"/>
                </a:solidFill>
                <a:latin typeface="Courier New" pitchFamily="34" charset="0"/>
                <a:ea typeface="Courier New" pitchFamily="34" charset="-122"/>
                <a:cs typeface="Courier New" pitchFamily="34" charset="-120"/>
              </a:rPr>
              <a:t>"Biển đảo"</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F4B393"/>
                </a:solidFill>
                <a:latin typeface="Courier New" pitchFamily="34" charset="0"/>
                <a:ea typeface="Courier New" pitchFamily="34" charset="-122"/>
                <a:cs typeface="Courier New" pitchFamily="34" charset="-120"/>
              </a:rPr>
              <a:t>"price"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5990000</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List</a:t>
            </a:r>
            <a:r>
              <a:rPr lang="en-US" sz="1200" dirty="0">
                <a:solidFill>
                  <a:srgbClr val="EFF7F5"/>
                </a:solidFill>
                <a:latin typeface="Courier New" pitchFamily="34" charset="0"/>
                <a:ea typeface="Courier New" pitchFamily="34" charset="-122"/>
                <a:cs typeface="Courier New" pitchFamily="34" charset="-120"/>
              </a:rPr>
              <a:t>&lt;Document</a:t>
            </a:r>
            <a:r>
              <a:rPr lang="en-US" sz="1200" dirty="0">
                <a:solidFill>
                  <a:srgbClr val="EFF7F5"/>
                </a:solidFill>
                <a:latin typeface="Courier New" pitchFamily="34" charset="0"/>
                <a:ea typeface="Courier New" pitchFamily="34" charset="-122"/>
                <a:cs typeface="Courier New" pitchFamily="34" charset="-120"/>
              </a:rPr>
              <a:t>&gt;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hits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vectorStore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similaritySearch</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SearchRequest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query</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"biển yên tĩnh cho gia đình"</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topK</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5</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i="1" dirty="0">
                <a:solidFill>
                  <a:srgbClr val="86B3A8"/>
                </a:solidFill>
                <a:latin typeface="Courier New" pitchFamily="34" charset="0"/>
                <a:ea typeface="Courier New" pitchFamily="34" charset="-122"/>
                <a:cs typeface="Courier New" pitchFamily="34" charset="-120"/>
              </a:rPr>
              <a:t>// tối đa 5 kết quả</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similarityThreshold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0.6</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i="1" dirty="0">
                <a:solidFill>
                  <a:srgbClr val="86B3A8"/>
                </a:solidFill>
                <a:latin typeface="Courier New" pitchFamily="34" charset="0"/>
                <a:ea typeface="Courier New" pitchFamily="34" charset="-122"/>
                <a:cs typeface="Courier New" pitchFamily="34" charset="-120"/>
              </a:rPr>
              <a:t>// bỏ kết quả kém giống</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filterExpression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"price &lt;= 8000000"</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build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27" name="Card"/>
          <p:cNvSpPr/>
          <p:nvPr/>
        </p:nvSpPr>
        <p:spPr>
          <a:xfrm>
            <a:off x="5303520" y="4937760"/>
            <a:ext cx="6336792" cy="1188720"/>
          </a:xfrm>
          <a:prstGeom prst="roundRect">
            <a:avLst>
              <a:gd name="adj" fmla="val 7692"/>
            </a:avLst>
          </a:prstGeom>
          <a:solidFill>
            <a:schemeClr val="bg2"/>
          </a:solidFill>
          <a:ln w="12700">
            <a:solidFill>
              <a:schemeClr val="bg2"/>
            </a:solidFill>
            <a:prstDash val="solid"/>
          </a:ln>
        </p:spPr>
      </p:sp>
      <p:sp>
        <p:nvSpPr>
          <p:cNvPr id="28" name="Text 25"/>
          <p:cNvSpPr txBox="1"/>
          <p:nvPr/>
        </p:nvSpPr>
        <p:spPr>
          <a:xfrm>
            <a:off x="5532120" y="4983480"/>
            <a:ext cx="5897880" cy="1097280"/>
          </a:xfrm>
          <a:prstGeom prst="rect">
            <a:avLst/>
          </a:prstGeom>
          <a:noFill/>
          <a:ln/>
        </p:spPr>
        <p:txBody>
          <a:bodyPr wrap="square" lIns="0" tIns="0" rIns="0" bIns="0" rtlCol="0" anchor="ctr"/>
          <a:lstStyle/>
          <a:p>
            <a:pPr indent="0" marL="0">
              <a:buNone/>
            </a:pPr>
            <a:r>
              <a:rPr lang="en-US" sz="1500" b="1" dirty="0">
                <a:solidFill>
                  <a:srgbClr val="0A3833"/>
                </a:solidFill>
              </a:rPr>
              <a:t>Biểu thức lọc metadata: </a:t>
            </a:r>
            <a:r>
              <a:rPr lang="en-US" sz="1500" dirty="0">
                <a:solidFill>
                  <a:schemeClr val="tx1"/>
                </a:solidFill>
              </a:rPr>
              <a:t>==  !=  &lt;  &lt;=  &gt;  &gt;=  in  nin  &amp;&amp;  ||  — ví dụ  category == 'Biển đảo' &amp;&amp; price &lt; 8000000</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Vector DB trong dự án giỏ hàng</a:t>
            </a:r>
            <a:endParaRPr lang="en-US" sz="3200" dirty="0"/>
          </a:p>
        </p:txBody>
      </p:sp>
      <p:sp>
        <p:nvSpPr>
          <p:cNvPr id="3" name="Section chip"/>
          <p:cNvSpPr txBox="1"/>
          <p:nvPr/>
        </p:nvSpPr>
        <p:spPr>
          <a:xfrm>
            <a:off x="548640" y="246888"/>
            <a:ext cx="193852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1B · VECTOR DATABASE</a:t>
            </a:r>
            <a:endParaRPr lang="en-US" sz="1100" dirty="0"/>
          </a:p>
        </p:txBody>
      </p:sp>
      <p:sp>
        <p:nvSpPr>
          <p:cNvPr id="5" name="Card"/>
          <p:cNvSpPr/>
          <p:nvPr/>
        </p:nvSpPr>
        <p:spPr>
          <a:xfrm>
            <a:off x="548640" y="1463040"/>
            <a:ext cx="3611880" cy="2286000"/>
          </a:xfrm>
          <a:prstGeom prst="roundRect">
            <a:avLst>
              <a:gd name="adj" fmla="val 4000"/>
            </a:avLst>
          </a:prstGeom>
          <a:solidFill>
            <a:schemeClr val="bg2"/>
          </a:solidFill>
          <a:ln w="12700">
            <a:solidFill>
              <a:schemeClr val="bg2"/>
            </a:solidFill>
            <a:prstDash val="solid"/>
          </a:ln>
        </p:spPr>
      </p:sp>
      <p:sp>
        <p:nvSpPr>
          <p:cNvPr id="6" name="Icon circle"/>
          <p:cNvSpPr/>
          <p:nvPr/>
        </p:nvSpPr>
        <p:spPr>
          <a:xfrm>
            <a:off x="731520" y="1627632"/>
            <a:ext cx="502920" cy="502920"/>
          </a:xfrm>
          <a:prstGeom prst="ellipse">
            <a:avLst/>
          </a:prstGeom>
          <a:solidFill>
            <a:schemeClr val="accent1"/>
          </a:solidFill>
          <a:ln w="12700">
            <a:solidFill>
              <a:schemeClr val="accent1"/>
            </a:solidFill>
            <a:prstDash val="solid"/>
          </a:ln>
        </p:spPr>
      </p:sp>
      <p:pic>
        <p:nvPicPr>
          <p:cNvPr id="7" name="Image 0" descr="Search icon">    </p:cNvPr>
          <p:cNvPicPr>
            <a:picLocks noChangeAspect="1"/>
          </p:cNvPicPr>
          <p:nvPr/>
        </p:nvPicPr>
        <p:blipFill>
          <a:blip r:embed="rId1"/>
          <a:stretch>
            <a:fillRect/>
          </a:stretch>
        </p:blipFill>
        <p:spPr>
          <a:xfrm>
            <a:off x="852221" y="1748333"/>
            <a:ext cx="261518" cy="261518"/>
          </a:xfrm>
          <a:prstGeom prst="rect">
            <a:avLst/>
          </a:prstGeom>
        </p:spPr>
      </p:pic>
      <p:sp>
        <p:nvSpPr>
          <p:cNvPr id="8" name="Text 4"/>
          <p:cNvSpPr txBox="1"/>
          <p:nvPr/>
        </p:nvSpPr>
        <p:spPr>
          <a:xfrm>
            <a:off x="1371600" y="1627632"/>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Semantic search</a:t>
            </a:r>
            <a:endParaRPr lang="en-US" sz="1600" dirty="0"/>
          </a:p>
        </p:txBody>
      </p:sp>
      <p:sp>
        <p:nvSpPr>
          <p:cNvPr id="9" name="Text 5"/>
          <p:cNvSpPr txBox="1"/>
          <p:nvPr/>
        </p:nvSpPr>
        <p:spPr>
          <a:xfrm>
            <a:off x="731520" y="2286000"/>
            <a:ext cx="3246120" cy="1417320"/>
          </a:xfrm>
          <a:prstGeom prst="rect">
            <a:avLst/>
          </a:prstGeom>
          <a:noFill/>
          <a:ln/>
        </p:spPr>
        <p:txBody>
          <a:bodyPr wrap="square" lIns="0" tIns="0" rIns="0" bIns="0" rtlCol="0" anchor="t"/>
          <a:lstStyle/>
          <a:p>
            <a:pPr indent="0" marL="0">
              <a:buNone/>
            </a:pPr>
            <a:r>
              <a:rPr lang="en-US" sz="1500" dirty="0">
                <a:solidFill>
                  <a:schemeClr val="tx1"/>
                </a:solidFill>
              </a:rPr>
              <a:t>Tìm theo ý, không chỉ theo từ khoá. LIKE '%biển%' bỏ sót “đảo xanh, nghỉ dưỡng”; vector search khớp được.</a:t>
            </a:r>
            <a:endParaRPr lang="en-US" sz="1500" dirty="0"/>
          </a:p>
        </p:txBody>
      </p:sp>
      <p:sp>
        <p:nvSpPr>
          <p:cNvPr id="10" name="Card"/>
          <p:cNvSpPr/>
          <p:nvPr/>
        </p:nvSpPr>
        <p:spPr>
          <a:xfrm>
            <a:off x="4297680" y="1463040"/>
            <a:ext cx="3611880" cy="2286000"/>
          </a:xfrm>
          <a:prstGeom prst="roundRect">
            <a:avLst>
              <a:gd name="adj" fmla="val 4000"/>
            </a:avLst>
          </a:prstGeom>
          <a:solidFill>
            <a:schemeClr val="bg2"/>
          </a:solidFill>
          <a:ln w="12700">
            <a:solidFill>
              <a:schemeClr val="bg2"/>
            </a:solidFill>
            <a:prstDash val="solid"/>
          </a:ln>
        </p:spPr>
      </p:sp>
      <p:sp>
        <p:nvSpPr>
          <p:cNvPr id="11" name="Icon circle"/>
          <p:cNvSpPr/>
          <p:nvPr/>
        </p:nvSpPr>
        <p:spPr>
          <a:xfrm>
            <a:off x="4480560" y="1627632"/>
            <a:ext cx="502920" cy="502920"/>
          </a:xfrm>
          <a:prstGeom prst="ellipse">
            <a:avLst/>
          </a:prstGeom>
          <a:solidFill>
            <a:schemeClr val="accent1"/>
          </a:solidFill>
          <a:ln w="12700">
            <a:solidFill>
              <a:schemeClr val="accent1"/>
            </a:solidFill>
            <a:prstDash val="solid"/>
          </a:ln>
        </p:spPr>
      </p:sp>
      <p:pic>
        <p:nvPicPr>
          <p:cNvPr id="12" name="Image 1" descr="ShoppingCart icon">    </p:cNvPr>
          <p:cNvPicPr>
            <a:picLocks noChangeAspect="1"/>
          </p:cNvPicPr>
          <p:nvPr/>
        </p:nvPicPr>
        <p:blipFill>
          <a:blip r:embed="rId2"/>
          <a:stretch>
            <a:fillRect/>
          </a:stretch>
        </p:blipFill>
        <p:spPr>
          <a:xfrm>
            <a:off x="4601261" y="1748333"/>
            <a:ext cx="261518" cy="261518"/>
          </a:xfrm>
          <a:prstGeom prst="rect">
            <a:avLst/>
          </a:prstGeom>
        </p:spPr>
      </p:pic>
      <p:sp>
        <p:nvSpPr>
          <p:cNvPr id="13" name="Text 8"/>
          <p:cNvSpPr txBox="1"/>
          <p:nvPr/>
        </p:nvSpPr>
        <p:spPr>
          <a:xfrm>
            <a:off x="5120640" y="1627632"/>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Sản phẩm tương tự</a:t>
            </a:r>
            <a:endParaRPr lang="en-US" sz="1600" dirty="0"/>
          </a:p>
        </p:txBody>
      </p:sp>
      <p:sp>
        <p:nvSpPr>
          <p:cNvPr id="14" name="Text 9"/>
          <p:cNvSpPr txBox="1"/>
          <p:nvPr/>
        </p:nvSpPr>
        <p:spPr>
          <a:xfrm>
            <a:off x="4480560" y="2286000"/>
            <a:ext cx="3246120" cy="1417320"/>
          </a:xfrm>
          <a:prstGeom prst="rect">
            <a:avLst/>
          </a:prstGeom>
          <a:noFill/>
          <a:ln/>
        </p:spPr>
        <p:txBody>
          <a:bodyPr wrap="square" lIns="0" tIns="0" rIns="0" bIns="0" rtlCol="0" anchor="t"/>
          <a:lstStyle/>
          <a:p>
            <a:pPr indent="0" marL="0">
              <a:buNone/>
            </a:pPr>
            <a:r>
              <a:rPr lang="en-US" sz="1500" dirty="0">
                <a:solidFill>
                  <a:schemeClr val="tx1"/>
                </a:solidFill>
              </a:rPr>
              <a:t>Lấy vector của sản phẩm đang xem, tìm các sản phẩm gần nhất: “khách xem X cũng quan tâm Y”.</a:t>
            </a:r>
            <a:endParaRPr lang="en-US" sz="1500" dirty="0"/>
          </a:p>
        </p:txBody>
      </p:sp>
      <p:sp>
        <p:nvSpPr>
          <p:cNvPr id="15" name="Card"/>
          <p:cNvSpPr/>
          <p:nvPr/>
        </p:nvSpPr>
        <p:spPr>
          <a:xfrm>
            <a:off x="8046720" y="1463040"/>
            <a:ext cx="3611880" cy="2286000"/>
          </a:xfrm>
          <a:prstGeom prst="roundRect">
            <a:avLst>
              <a:gd name="adj" fmla="val 4000"/>
            </a:avLst>
          </a:prstGeom>
          <a:solidFill>
            <a:schemeClr val="bg2"/>
          </a:solidFill>
          <a:ln w="12700">
            <a:solidFill>
              <a:schemeClr val="bg2"/>
            </a:solidFill>
            <a:prstDash val="solid"/>
          </a:ln>
        </p:spPr>
      </p:sp>
      <p:sp>
        <p:nvSpPr>
          <p:cNvPr id="16" name="Icon circle"/>
          <p:cNvSpPr/>
          <p:nvPr/>
        </p:nvSpPr>
        <p:spPr>
          <a:xfrm>
            <a:off x="8229600" y="1627632"/>
            <a:ext cx="502920" cy="502920"/>
          </a:xfrm>
          <a:prstGeom prst="ellipse">
            <a:avLst/>
          </a:prstGeom>
          <a:solidFill>
            <a:schemeClr val="accent1"/>
          </a:solidFill>
          <a:ln w="12700">
            <a:solidFill>
              <a:schemeClr val="accent1"/>
            </a:solidFill>
            <a:prstDash val="solid"/>
          </a:ln>
        </p:spPr>
      </p:sp>
      <p:pic>
        <p:nvPicPr>
          <p:cNvPr id="17" name="Image 2" descr="Robot icon">    </p:cNvPr>
          <p:cNvPicPr>
            <a:picLocks noChangeAspect="1"/>
          </p:cNvPicPr>
          <p:nvPr/>
        </p:nvPicPr>
        <p:blipFill>
          <a:blip r:embed="rId3"/>
          <a:stretch>
            <a:fillRect/>
          </a:stretch>
        </p:blipFill>
        <p:spPr>
          <a:xfrm>
            <a:off x="8350301" y="1748333"/>
            <a:ext cx="261518" cy="261518"/>
          </a:xfrm>
          <a:prstGeom prst="rect">
            <a:avLst/>
          </a:prstGeom>
        </p:spPr>
      </p:pic>
      <p:sp>
        <p:nvSpPr>
          <p:cNvPr id="18" name="Text 12"/>
          <p:cNvSpPr txBox="1"/>
          <p:nvPr/>
        </p:nvSpPr>
        <p:spPr>
          <a:xfrm>
            <a:off x="8869680" y="1627632"/>
            <a:ext cx="2651760" cy="502920"/>
          </a:xfrm>
          <a:prstGeom prst="rect">
            <a:avLst/>
          </a:prstGeom>
          <a:noFill/>
          <a:ln/>
        </p:spPr>
        <p:txBody>
          <a:bodyPr wrap="square" lIns="0" tIns="0" rIns="0" bIns="0" rtlCol="0" anchor="ctr"/>
          <a:lstStyle/>
          <a:p>
            <a:pPr indent="0" marL="0">
              <a:buNone/>
            </a:pPr>
            <a:r>
              <a:rPr lang="en-US" sz="1600" b="1" dirty="0">
                <a:solidFill>
                  <a:schemeClr val="tx2"/>
                </a:solidFill>
              </a:rPr>
              <a:t>Chatbot tư vấn (RAG)</a:t>
            </a:r>
            <a:endParaRPr lang="en-US" sz="1600" dirty="0"/>
          </a:p>
        </p:txBody>
      </p:sp>
      <p:sp>
        <p:nvSpPr>
          <p:cNvPr id="19" name="Text 13"/>
          <p:cNvSpPr txBox="1"/>
          <p:nvPr/>
        </p:nvSpPr>
        <p:spPr>
          <a:xfrm>
            <a:off x="8229600" y="2286000"/>
            <a:ext cx="3246120" cy="1417320"/>
          </a:xfrm>
          <a:prstGeom prst="rect">
            <a:avLst/>
          </a:prstGeom>
          <a:noFill/>
          <a:ln/>
        </p:spPr>
        <p:txBody>
          <a:bodyPr wrap="square" lIns="0" tIns="0" rIns="0" bIns="0" rtlCol="0" anchor="t"/>
          <a:lstStyle/>
          <a:p>
            <a:pPr indent="0" marL="0">
              <a:buNone/>
            </a:pPr>
            <a:r>
              <a:rPr lang="en-US" sz="1500" dirty="0">
                <a:solidFill>
                  <a:schemeClr val="tx1"/>
                </a:solidFill>
              </a:rPr>
              <a:t>Lấy mô tả, chính sách, đánh giá liên quan làm ngữ cảnh để LLM trả lời đúng dữ liệu của cửa hàng.</a:t>
            </a:r>
            <a:endParaRPr lang="en-US" sz="1500" dirty="0"/>
          </a:p>
        </p:txBody>
      </p:sp>
      <p:sp>
        <p:nvSpPr>
          <p:cNvPr id="20" name="Card"/>
          <p:cNvSpPr/>
          <p:nvPr/>
        </p:nvSpPr>
        <p:spPr>
          <a:xfrm>
            <a:off x="548640" y="3931920"/>
            <a:ext cx="11091672" cy="2331720"/>
          </a:xfrm>
          <a:prstGeom prst="roundRect">
            <a:avLst>
              <a:gd name="adj" fmla="val 3922"/>
            </a:avLst>
          </a:prstGeom>
          <a:solidFill>
            <a:schemeClr val="tx2"/>
          </a:solidFill>
          <a:ln w="12700">
            <a:solidFill>
              <a:schemeClr val="tx2"/>
            </a:solidFill>
            <a:prstDash val="solid"/>
          </a:ln>
        </p:spPr>
      </p:sp>
      <p:sp>
        <p:nvSpPr>
          <p:cNvPr id="21" name="Icon circle"/>
          <p:cNvSpPr/>
          <p:nvPr/>
        </p:nvSpPr>
        <p:spPr>
          <a:xfrm>
            <a:off x="777240" y="4069080"/>
            <a:ext cx="457200" cy="457200"/>
          </a:xfrm>
          <a:prstGeom prst="ellipse">
            <a:avLst/>
          </a:prstGeom>
          <a:solidFill>
            <a:schemeClr val="accent2"/>
          </a:solidFill>
          <a:ln w="12700">
            <a:solidFill>
              <a:schemeClr val="accent2"/>
            </a:solidFill>
            <a:prstDash val="solid"/>
          </a:ln>
        </p:spPr>
      </p:sp>
      <p:pic>
        <p:nvPicPr>
          <p:cNvPr id="22" name="Image 3" descr="ChartBar icon">    </p:cNvPr>
          <p:cNvPicPr>
            <a:picLocks noChangeAspect="1"/>
          </p:cNvPicPr>
          <p:nvPr/>
        </p:nvPicPr>
        <p:blipFill>
          <a:blip r:embed="rId4"/>
          <a:stretch>
            <a:fillRect/>
          </a:stretch>
        </p:blipFill>
        <p:spPr>
          <a:xfrm>
            <a:off x="886968" y="4178808"/>
            <a:ext cx="237744" cy="237744"/>
          </a:xfrm>
          <a:prstGeom prst="rect">
            <a:avLst/>
          </a:prstGeom>
        </p:spPr>
      </p:pic>
      <p:sp>
        <p:nvSpPr>
          <p:cNvPr id="23" name="Text 16"/>
          <p:cNvSpPr txBox="1"/>
          <p:nvPr/>
        </p:nvSpPr>
        <p:spPr>
          <a:xfrm>
            <a:off x="1417320" y="4069080"/>
            <a:ext cx="5486400" cy="457200"/>
          </a:xfrm>
          <a:prstGeom prst="rect">
            <a:avLst/>
          </a:prstGeom>
          <a:noFill/>
          <a:ln/>
        </p:spPr>
        <p:txBody>
          <a:bodyPr wrap="square" lIns="0" tIns="0" rIns="0" bIns="0" rtlCol="0" anchor="ctr"/>
          <a:lstStyle/>
          <a:p>
            <a:pPr indent="0" marL="0">
              <a:buNone/>
            </a:pPr>
            <a:r>
              <a:rPr lang="en-US" sz="1700" b="1" dirty="0">
                <a:solidFill>
                  <a:schemeClr val="bg1"/>
                </a:solidFill>
              </a:rPr>
              <a:t>Thống kê theo tiêu chí</a:t>
            </a:r>
            <a:endParaRPr lang="en-US" sz="1700" dirty="0"/>
          </a:p>
        </p:txBody>
      </p:sp>
      <p:sp>
        <p:nvSpPr>
          <p:cNvPr id="24" name="Text 17"/>
          <p:cNvSpPr txBox="1"/>
          <p:nvPr/>
        </p:nvSpPr>
        <p:spPr>
          <a:xfrm>
            <a:off x="777240" y="4663440"/>
            <a:ext cx="3383280" cy="274320"/>
          </a:xfrm>
          <a:prstGeom prst="rect">
            <a:avLst/>
          </a:prstGeom>
          <a:noFill/>
          <a:ln/>
        </p:spPr>
        <p:txBody>
          <a:bodyPr wrap="square" lIns="0" tIns="0" rIns="0" bIns="0" rtlCol="0" anchor="t"/>
          <a:lstStyle/>
          <a:p>
            <a:pPr indent="0" marL="0">
              <a:buNone/>
            </a:pPr>
            <a:r>
              <a:rPr lang="en-US" sz="1400" b="1" dirty="0">
                <a:solidFill>
                  <a:schemeClr val="accent2"/>
                </a:solidFill>
              </a:rPr>
              <a:t>Lọc metadata rồi đếm</a:t>
            </a:r>
            <a:endParaRPr lang="en-US" sz="1400" dirty="0"/>
          </a:p>
        </p:txBody>
      </p:sp>
      <p:sp>
        <p:nvSpPr>
          <p:cNvPr id="25" name="Text 18"/>
          <p:cNvSpPr txBox="1"/>
          <p:nvPr/>
        </p:nvSpPr>
        <p:spPr>
          <a:xfrm>
            <a:off x="777240" y="4983480"/>
            <a:ext cx="3383280" cy="822960"/>
          </a:xfrm>
          <a:prstGeom prst="rect">
            <a:avLst/>
          </a:prstGeom>
          <a:noFill/>
          <a:ln/>
        </p:spPr>
        <p:txBody>
          <a:bodyPr wrap="square" lIns="0" tIns="0" rIns="0" bIns="0" rtlCol="0" anchor="t"/>
          <a:lstStyle/>
          <a:p>
            <a:pPr indent="0" marL="0">
              <a:buNone/>
            </a:pPr>
            <a:r>
              <a:rPr lang="en-US" sz="1300" dirty="0">
                <a:solidFill>
                  <a:schemeClr val="bg1"/>
                </a:solidFill>
              </a:rPr>
              <a:t>filterExpression theo category, price, rating; đếm/xếp hạng kết quả khớp</a:t>
            </a:r>
            <a:endParaRPr lang="en-US" sz="1300" dirty="0"/>
          </a:p>
        </p:txBody>
      </p:sp>
      <p:sp>
        <p:nvSpPr>
          <p:cNvPr id="26" name="Text 19"/>
          <p:cNvSpPr txBox="1"/>
          <p:nvPr/>
        </p:nvSpPr>
        <p:spPr>
          <a:xfrm>
            <a:off x="4389120" y="4663440"/>
            <a:ext cx="3383280" cy="274320"/>
          </a:xfrm>
          <a:prstGeom prst="rect">
            <a:avLst/>
          </a:prstGeom>
          <a:noFill/>
          <a:ln/>
        </p:spPr>
        <p:txBody>
          <a:bodyPr wrap="square" lIns="0" tIns="0" rIns="0" bIns="0" rtlCol="0" anchor="t"/>
          <a:lstStyle/>
          <a:p>
            <a:pPr indent="0" marL="0">
              <a:buNone/>
            </a:pPr>
            <a:r>
              <a:rPr lang="en-US" sz="1400" b="1" dirty="0">
                <a:solidFill>
                  <a:schemeClr val="accent2"/>
                </a:solidFill>
              </a:rPr>
              <a:t>Nhóm theo chủ đề</a:t>
            </a:r>
            <a:endParaRPr lang="en-US" sz="1400" dirty="0"/>
          </a:p>
        </p:txBody>
      </p:sp>
      <p:sp>
        <p:nvSpPr>
          <p:cNvPr id="27" name="Text 20"/>
          <p:cNvSpPr txBox="1"/>
          <p:nvPr/>
        </p:nvSpPr>
        <p:spPr>
          <a:xfrm>
            <a:off x="4389120" y="4983480"/>
            <a:ext cx="3383280" cy="822960"/>
          </a:xfrm>
          <a:prstGeom prst="rect">
            <a:avLst/>
          </a:prstGeom>
          <a:noFill/>
          <a:ln/>
        </p:spPr>
        <p:txBody>
          <a:bodyPr wrap="square" lIns="0" tIns="0" rIns="0" bIns="0" rtlCol="0" anchor="t"/>
          <a:lstStyle/>
          <a:p>
            <a:pPr indent="0" marL="0">
              <a:buNone/>
            </a:pPr>
            <a:r>
              <a:rPr lang="en-US" sz="1300" dirty="0">
                <a:solidFill>
                  <a:schemeClr val="bg1"/>
                </a:solidFill>
              </a:rPr>
              <a:t>Gom sản phẩm hay đánh giá có vector gần nhau (cluster) để thống kê theo nhóm ngữ nghĩa</a:t>
            </a:r>
            <a:endParaRPr lang="en-US" sz="1300" dirty="0"/>
          </a:p>
        </p:txBody>
      </p:sp>
      <p:sp>
        <p:nvSpPr>
          <p:cNvPr id="28" name="Text 21"/>
          <p:cNvSpPr txBox="1"/>
          <p:nvPr/>
        </p:nvSpPr>
        <p:spPr>
          <a:xfrm>
            <a:off x="8001000" y="4663440"/>
            <a:ext cx="3383280" cy="274320"/>
          </a:xfrm>
          <a:prstGeom prst="rect">
            <a:avLst/>
          </a:prstGeom>
          <a:noFill/>
          <a:ln/>
        </p:spPr>
        <p:txBody>
          <a:bodyPr wrap="square" lIns="0" tIns="0" rIns="0" bIns="0" rtlCol="0" anchor="t"/>
          <a:lstStyle/>
          <a:p>
            <a:pPr indent="0" marL="0">
              <a:buNone/>
            </a:pPr>
            <a:r>
              <a:rPr lang="en-US" sz="1400" b="1" dirty="0">
                <a:solidFill>
                  <a:schemeClr val="accent2"/>
                </a:solidFill>
              </a:rPr>
              <a:t>LLM + Structured Output</a:t>
            </a:r>
            <a:endParaRPr lang="en-US" sz="1400" dirty="0"/>
          </a:p>
        </p:txBody>
      </p:sp>
      <p:sp>
        <p:nvSpPr>
          <p:cNvPr id="29" name="Text 22"/>
          <p:cNvSpPr txBox="1"/>
          <p:nvPr/>
        </p:nvSpPr>
        <p:spPr>
          <a:xfrm>
            <a:off x="8001000" y="4983480"/>
            <a:ext cx="3383280" cy="822960"/>
          </a:xfrm>
          <a:prstGeom prst="rect">
            <a:avLst/>
          </a:prstGeom>
          <a:noFill/>
          <a:ln/>
        </p:spPr>
        <p:txBody>
          <a:bodyPr wrap="square" lIns="0" tIns="0" rIns="0" bIns="0" rtlCol="0" anchor="t"/>
          <a:lstStyle/>
          <a:p>
            <a:pPr indent="0" marL="0">
              <a:buNone/>
            </a:pPr>
            <a:r>
              <a:rPr lang="en-US" sz="1300" dirty="0">
                <a:solidFill>
                  <a:schemeClr val="bg1"/>
                </a:solidFill>
              </a:rPr>
              <a:t>Phân loại đánh giá (tích cực/tiêu cực, chủ đề) thành record rồi đếm bằng SQL</a:t>
            </a:r>
            <a:endParaRPr lang="en-US" sz="1300" dirty="0"/>
          </a:p>
        </p:txBody>
      </p:sp>
      <p:sp>
        <p:nvSpPr>
          <p:cNvPr id="30" name="Text 23"/>
          <p:cNvSpPr txBox="1"/>
          <p:nvPr/>
        </p:nvSpPr>
        <p:spPr>
          <a:xfrm>
            <a:off x="777240" y="5852160"/>
            <a:ext cx="10634472" cy="320040"/>
          </a:xfrm>
          <a:prstGeom prst="rect">
            <a:avLst/>
          </a:prstGeom>
          <a:noFill/>
          <a:ln/>
        </p:spPr>
        <p:txBody>
          <a:bodyPr wrap="square" lIns="0" tIns="0" rIns="0" bIns="0" rtlCol="0" anchor="t"/>
          <a:lstStyle/>
          <a:p>
            <a:pPr indent="0" marL="0">
              <a:buNone/>
            </a:pPr>
            <a:r>
              <a:rPr lang="en-US" sz="1300" i="1" dirty="0">
                <a:solidFill>
                  <a:schemeClr val="accent5"/>
                </a:solidFill>
              </a:rPr>
              <a:t>Vector DB tối ưu cho tìm tương đồng; tổng hợp SUM/GROUP BY vẫn dùng SQL → kết hợp cả hai (hybrid).</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Best practices và DevOps cho ứng dụng AI</a:t>
            </a:r>
            <a:endParaRPr lang="en-US" sz="3200" dirty="0"/>
          </a:p>
        </p:txBody>
      </p:sp>
      <p:sp>
        <p:nvSpPr>
          <p:cNvPr id="3" name="Section chip"/>
          <p:cNvSpPr txBox="1"/>
          <p:nvPr/>
        </p:nvSpPr>
        <p:spPr>
          <a:xfrm>
            <a:off x="548640" y="246888"/>
            <a:ext cx="14173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1A · SPRING AI</a:t>
            </a:r>
            <a:endParaRPr lang="en-US" sz="1100" dirty="0"/>
          </a:p>
        </p:txBody>
      </p:sp>
      <p:sp>
        <p:nvSpPr>
          <p:cNvPr id="5" name="Card"/>
          <p:cNvSpPr/>
          <p:nvPr/>
        </p:nvSpPr>
        <p:spPr>
          <a:xfrm>
            <a:off x="548640" y="1463040"/>
            <a:ext cx="2679192" cy="2697480"/>
          </a:xfrm>
          <a:prstGeom prst="roundRect">
            <a:avLst>
              <a:gd name="adj" fmla="val 3413"/>
            </a:avLst>
          </a:prstGeom>
          <a:solidFill>
            <a:schemeClr val="bg2"/>
          </a:solidFill>
          <a:ln w="12700">
            <a:solidFill>
              <a:schemeClr val="bg2"/>
            </a:solidFill>
            <a:prstDash val="solid"/>
          </a:ln>
        </p:spPr>
      </p:sp>
      <p:sp>
        <p:nvSpPr>
          <p:cNvPr id="6" name="Icon circle"/>
          <p:cNvSpPr/>
          <p:nvPr/>
        </p:nvSpPr>
        <p:spPr>
          <a:xfrm>
            <a:off x="731520" y="1627632"/>
            <a:ext cx="457200" cy="457200"/>
          </a:xfrm>
          <a:prstGeom prst="ellipse">
            <a:avLst/>
          </a:prstGeom>
          <a:solidFill>
            <a:schemeClr val="accent1"/>
          </a:solidFill>
          <a:ln w="12700">
            <a:solidFill>
              <a:schemeClr val="accent1"/>
            </a:solidFill>
            <a:prstDash val="solid"/>
          </a:ln>
        </p:spPr>
      </p:sp>
      <p:pic>
        <p:nvPicPr>
          <p:cNvPr id="7" name="Image 0" descr="Key icon">    </p:cNvPr>
          <p:cNvPicPr>
            <a:picLocks noChangeAspect="1"/>
          </p:cNvPicPr>
          <p:nvPr/>
        </p:nvPicPr>
        <p:blipFill>
          <a:blip r:embed="rId1"/>
          <a:stretch>
            <a:fillRect/>
          </a:stretch>
        </p:blipFill>
        <p:spPr>
          <a:xfrm>
            <a:off x="841248" y="1737360"/>
            <a:ext cx="237744" cy="237744"/>
          </a:xfrm>
          <a:prstGeom prst="rect">
            <a:avLst/>
          </a:prstGeom>
        </p:spPr>
      </p:pic>
      <p:sp>
        <p:nvSpPr>
          <p:cNvPr id="8" name="Text 4"/>
          <p:cNvSpPr txBox="1"/>
          <p:nvPr/>
        </p:nvSpPr>
        <p:spPr>
          <a:xfrm>
            <a:off x="1325880" y="1627632"/>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Bảo mật &amp; cấu hình</a:t>
            </a:r>
            <a:endParaRPr lang="en-US" sz="1400" dirty="0"/>
          </a:p>
        </p:txBody>
      </p:sp>
      <p:sp>
        <p:nvSpPr>
          <p:cNvPr id="9" name="Text 5"/>
          <p:cNvSpPr txBox="1"/>
          <p:nvPr/>
        </p:nvSpPr>
        <p:spPr>
          <a:xfrm>
            <a:off x="731520" y="2286000"/>
            <a:ext cx="233172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API key trong env, Vault hoặc CI secrets</a:t>
            </a:r>
            <a:endParaRPr lang="en-US" sz="1400" dirty="0"/>
          </a:p>
          <a:p>
            <a:pPr marL="177800" indent="-177800">
              <a:spcAft>
                <a:spcPts val="800"/>
              </a:spcAft>
              <a:buSzPct val="100000"/>
              <a:buChar char="•"/>
            </a:pPr>
            <a:r>
              <a:rPr lang="en-US" sz="1400" dirty="0">
                <a:solidFill>
                  <a:schemeClr val="tx1"/>
                </a:solidFill>
              </a:rPr>
              <a:t>Không commit key; thu hồi key bị lộ</a:t>
            </a:r>
            <a:endParaRPr lang="en-US" sz="1400" dirty="0"/>
          </a:p>
        </p:txBody>
      </p:sp>
      <p:sp>
        <p:nvSpPr>
          <p:cNvPr id="10" name="Card"/>
          <p:cNvSpPr/>
          <p:nvPr/>
        </p:nvSpPr>
        <p:spPr>
          <a:xfrm>
            <a:off x="3346704" y="1463040"/>
            <a:ext cx="2679192" cy="2697480"/>
          </a:xfrm>
          <a:prstGeom prst="roundRect">
            <a:avLst>
              <a:gd name="adj" fmla="val 3413"/>
            </a:avLst>
          </a:prstGeom>
          <a:solidFill>
            <a:schemeClr val="bg2"/>
          </a:solidFill>
          <a:ln w="12700">
            <a:solidFill>
              <a:schemeClr val="bg2"/>
            </a:solidFill>
            <a:prstDash val="solid"/>
          </a:ln>
        </p:spPr>
      </p:sp>
      <p:sp>
        <p:nvSpPr>
          <p:cNvPr id="11" name="Icon circle"/>
          <p:cNvSpPr/>
          <p:nvPr/>
        </p:nvSpPr>
        <p:spPr>
          <a:xfrm>
            <a:off x="3529584" y="1627632"/>
            <a:ext cx="457200" cy="457200"/>
          </a:xfrm>
          <a:prstGeom prst="ellipse">
            <a:avLst/>
          </a:prstGeom>
          <a:solidFill>
            <a:schemeClr val="accent1"/>
          </a:solidFill>
          <a:ln w="12700">
            <a:solidFill>
              <a:schemeClr val="accent1"/>
            </a:solidFill>
            <a:prstDash val="solid"/>
          </a:ln>
        </p:spPr>
      </p:sp>
      <p:pic>
        <p:nvPicPr>
          <p:cNvPr id="12" name="Image 1" descr="Bolt icon">    </p:cNvPr>
          <p:cNvPicPr>
            <a:picLocks noChangeAspect="1"/>
          </p:cNvPicPr>
          <p:nvPr/>
        </p:nvPicPr>
        <p:blipFill>
          <a:blip r:embed="rId2"/>
          <a:stretch>
            <a:fillRect/>
          </a:stretch>
        </p:blipFill>
        <p:spPr>
          <a:xfrm>
            <a:off x="3639312" y="1737360"/>
            <a:ext cx="237744" cy="237744"/>
          </a:xfrm>
          <a:prstGeom prst="rect">
            <a:avLst/>
          </a:prstGeom>
        </p:spPr>
      </p:pic>
      <p:sp>
        <p:nvSpPr>
          <p:cNvPr id="13" name="Text 8"/>
          <p:cNvSpPr txBox="1"/>
          <p:nvPr/>
        </p:nvSpPr>
        <p:spPr>
          <a:xfrm>
            <a:off x="4123944" y="1627632"/>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Tối ưu prompt</a:t>
            </a:r>
            <a:endParaRPr lang="en-US" sz="1400" dirty="0"/>
          </a:p>
        </p:txBody>
      </p:sp>
      <p:sp>
        <p:nvSpPr>
          <p:cNvPr id="14" name="Text 9"/>
          <p:cNvSpPr txBox="1"/>
          <p:nvPr/>
        </p:nvSpPr>
        <p:spPr>
          <a:xfrm>
            <a:off x="3529584" y="2286000"/>
            <a:ext cx="233172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Prompt ngắn để tiết kiệm token</a:t>
            </a:r>
            <a:endParaRPr lang="en-US" sz="1400" dirty="0"/>
          </a:p>
          <a:p>
            <a:pPr marL="177800" indent="-177800">
              <a:spcAft>
                <a:spcPts val="800"/>
              </a:spcAft>
              <a:buSzPct val="100000"/>
              <a:buChar char="•"/>
            </a:pPr>
            <a:r>
              <a:rPr lang="en-US" sz="1400" dirty="0">
                <a:solidFill>
                  <a:schemeClr val="tx1"/>
                </a:solidFill>
              </a:rPr>
              <a:t>Dùng template; tách ngữ cảnh và câu hỏi</a:t>
            </a:r>
            <a:endParaRPr lang="en-US" sz="1400" dirty="0"/>
          </a:p>
        </p:txBody>
      </p:sp>
      <p:sp>
        <p:nvSpPr>
          <p:cNvPr id="15" name="Card"/>
          <p:cNvSpPr/>
          <p:nvPr/>
        </p:nvSpPr>
        <p:spPr>
          <a:xfrm>
            <a:off x="6144768" y="1463040"/>
            <a:ext cx="2679192" cy="2697480"/>
          </a:xfrm>
          <a:prstGeom prst="roundRect">
            <a:avLst>
              <a:gd name="adj" fmla="val 3413"/>
            </a:avLst>
          </a:prstGeom>
          <a:solidFill>
            <a:schemeClr val="bg2"/>
          </a:solidFill>
          <a:ln w="12700">
            <a:solidFill>
              <a:schemeClr val="bg2"/>
            </a:solidFill>
            <a:prstDash val="solid"/>
          </a:ln>
        </p:spPr>
      </p:sp>
      <p:sp>
        <p:nvSpPr>
          <p:cNvPr id="16" name="Icon circle"/>
          <p:cNvSpPr/>
          <p:nvPr/>
        </p:nvSpPr>
        <p:spPr>
          <a:xfrm>
            <a:off x="6327648" y="1627632"/>
            <a:ext cx="457200" cy="457200"/>
          </a:xfrm>
          <a:prstGeom prst="ellipse">
            <a:avLst/>
          </a:prstGeom>
          <a:solidFill>
            <a:schemeClr val="accent1"/>
          </a:solidFill>
          <a:ln w="12700">
            <a:solidFill>
              <a:schemeClr val="accent1"/>
            </a:solidFill>
            <a:prstDash val="solid"/>
          </a:ln>
        </p:spPr>
      </p:sp>
      <p:pic>
        <p:nvPicPr>
          <p:cNvPr id="17" name="Image 2" descr="Bug icon">    </p:cNvPr>
          <p:cNvPicPr>
            <a:picLocks noChangeAspect="1"/>
          </p:cNvPicPr>
          <p:nvPr/>
        </p:nvPicPr>
        <p:blipFill>
          <a:blip r:embed="rId3"/>
          <a:stretch>
            <a:fillRect/>
          </a:stretch>
        </p:blipFill>
        <p:spPr>
          <a:xfrm>
            <a:off x="6437376" y="1737360"/>
            <a:ext cx="237744" cy="237744"/>
          </a:xfrm>
          <a:prstGeom prst="rect">
            <a:avLst/>
          </a:prstGeom>
        </p:spPr>
      </p:pic>
      <p:sp>
        <p:nvSpPr>
          <p:cNvPr id="18" name="Text 12"/>
          <p:cNvSpPr txBox="1"/>
          <p:nvPr/>
        </p:nvSpPr>
        <p:spPr>
          <a:xfrm>
            <a:off x="6922008" y="1627632"/>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Logging &amp; debug</a:t>
            </a:r>
            <a:endParaRPr lang="en-US" sz="1400" dirty="0"/>
          </a:p>
        </p:txBody>
      </p:sp>
      <p:sp>
        <p:nvSpPr>
          <p:cNvPr id="19" name="Text 13"/>
          <p:cNvSpPr txBox="1"/>
          <p:nvPr/>
        </p:nvSpPr>
        <p:spPr>
          <a:xfrm>
            <a:off x="6327648" y="2286000"/>
            <a:ext cx="233172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Log input, prompt, response</a:t>
            </a:r>
            <a:endParaRPr lang="en-US" sz="1400" dirty="0"/>
          </a:p>
          <a:p>
            <a:pPr marL="177800" indent="-177800">
              <a:spcAft>
                <a:spcPts val="800"/>
              </a:spcAft>
              <a:buSzPct val="100000"/>
              <a:buChar char="•"/>
            </a:pPr>
            <a:r>
              <a:rPr lang="en-US" sz="1400" dirty="0">
                <a:solidFill>
                  <a:schemeClr val="tx1"/>
                </a:solidFill>
              </a:rPr>
              <a:t>Theo dõi độ trễ (latency)</a:t>
            </a:r>
            <a:endParaRPr lang="en-US" sz="1400" dirty="0"/>
          </a:p>
        </p:txBody>
      </p:sp>
      <p:sp>
        <p:nvSpPr>
          <p:cNvPr id="20" name="Card"/>
          <p:cNvSpPr/>
          <p:nvPr/>
        </p:nvSpPr>
        <p:spPr>
          <a:xfrm>
            <a:off x="8942832" y="1463040"/>
            <a:ext cx="2679192" cy="2697480"/>
          </a:xfrm>
          <a:prstGeom prst="roundRect">
            <a:avLst>
              <a:gd name="adj" fmla="val 3413"/>
            </a:avLst>
          </a:prstGeom>
          <a:solidFill>
            <a:schemeClr val="bg2"/>
          </a:solidFill>
          <a:ln w="12700">
            <a:solidFill>
              <a:schemeClr val="bg2"/>
            </a:solidFill>
            <a:prstDash val="solid"/>
          </a:ln>
        </p:spPr>
      </p:sp>
      <p:sp>
        <p:nvSpPr>
          <p:cNvPr id="21" name="Icon circle"/>
          <p:cNvSpPr/>
          <p:nvPr/>
        </p:nvSpPr>
        <p:spPr>
          <a:xfrm>
            <a:off x="9125712" y="1627632"/>
            <a:ext cx="457200" cy="457200"/>
          </a:xfrm>
          <a:prstGeom prst="ellipse">
            <a:avLst/>
          </a:prstGeom>
          <a:solidFill>
            <a:schemeClr val="accent1"/>
          </a:solidFill>
          <a:ln w="12700">
            <a:solidFill>
              <a:schemeClr val="accent1"/>
            </a:solidFill>
            <a:prstDash val="solid"/>
          </a:ln>
        </p:spPr>
      </p:sp>
      <p:pic>
        <p:nvPicPr>
          <p:cNvPr id="22" name="Image 3" descr="LayerGroup icon">    </p:cNvPr>
          <p:cNvPicPr>
            <a:picLocks noChangeAspect="1"/>
          </p:cNvPicPr>
          <p:nvPr/>
        </p:nvPicPr>
        <p:blipFill>
          <a:blip r:embed="rId4"/>
          <a:stretch>
            <a:fillRect/>
          </a:stretch>
        </p:blipFill>
        <p:spPr>
          <a:xfrm>
            <a:off x="9235440" y="1737360"/>
            <a:ext cx="237744" cy="237744"/>
          </a:xfrm>
          <a:prstGeom prst="rect">
            <a:avLst/>
          </a:prstGeom>
        </p:spPr>
      </p:pic>
      <p:sp>
        <p:nvSpPr>
          <p:cNvPr id="23" name="Text 16"/>
          <p:cNvSpPr txBox="1"/>
          <p:nvPr/>
        </p:nvSpPr>
        <p:spPr>
          <a:xfrm>
            <a:off x="9720072" y="1627632"/>
            <a:ext cx="1828800" cy="457200"/>
          </a:xfrm>
          <a:prstGeom prst="rect">
            <a:avLst/>
          </a:prstGeom>
          <a:noFill/>
          <a:ln/>
        </p:spPr>
        <p:txBody>
          <a:bodyPr wrap="square" lIns="0" tIns="0" rIns="0" bIns="0" rtlCol="0" anchor="ctr"/>
          <a:lstStyle/>
          <a:p>
            <a:pPr indent="0" marL="0">
              <a:buNone/>
            </a:pPr>
            <a:r>
              <a:rPr lang="en-US" sz="1400" b="1" dirty="0">
                <a:solidFill>
                  <a:schemeClr val="tx2"/>
                </a:solidFill>
              </a:rPr>
              <a:t>Thiết kế module</a:t>
            </a:r>
            <a:endParaRPr lang="en-US" sz="1400" dirty="0"/>
          </a:p>
        </p:txBody>
      </p:sp>
      <p:sp>
        <p:nvSpPr>
          <p:cNvPr id="24" name="Text 17"/>
          <p:cNvSpPr txBox="1"/>
          <p:nvPr/>
        </p:nvSpPr>
        <p:spPr>
          <a:xfrm>
            <a:off x="9125712" y="2286000"/>
            <a:ext cx="233172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Mỗi dịch vụ AI một interface để đổi model</a:t>
            </a:r>
            <a:endParaRPr lang="en-US" sz="1400" dirty="0"/>
          </a:p>
          <a:p>
            <a:pPr marL="177800" indent="-177800">
              <a:spcAft>
                <a:spcPts val="800"/>
              </a:spcAft>
              <a:buSzPct val="100000"/>
              <a:buChar char="•"/>
            </a:pPr>
            <a:r>
              <a:rPr lang="en-US" sz="1400" dirty="0">
                <a:solidFill>
                  <a:schemeClr val="tx1"/>
                </a:solidFill>
              </a:rPr>
              <a:t>Mock phản hồi AI trong unit test</a:t>
            </a:r>
            <a:endParaRPr lang="en-US" sz="1400" dirty="0"/>
          </a:p>
        </p:txBody>
      </p:sp>
      <p:sp>
        <p:nvSpPr>
          <p:cNvPr id="25" name="Text 18"/>
          <p:cNvSpPr txBox="1"/>
          <p:nvPr/>
        </p:nvSpPr>
        <p:spPr>
          <a:xfrm>
            <a:off x="548640" y="4389120"/>
            <a:ext cx="7315200" cy="274320"/>
          </a:xfrm>
          <a:prstGeom prst="rect">
            <a:avLst/>
          </a:prstGeom>
          <a:noFill/>
          <a:ln/>
        </p:spPr>
        <p:txBody>
          <a:bodyPr wrap="square" lIns="0" tIns="0" rIns="0" bIns="0" rtlCol="0" anchor="t"/>
          <a:lstStyle/>
          <a:p>
            <a:pPr indent="0" marL="0">
              <a:buNone/>
            </a:pPr>
            <a:r>
              <a:rPr lang="en-US" sz="1500" b="1" dirty="0">
                <a:solidFill>
                  <a:schemeClr val="tx2"/>
                </a:solidFill>
              </a:rPr>
              <a:t>Pipeline DevOps cho ứng dụng có AI</a:t>
            </a:r>
            <a:endParaRPr lang="en-US" sz="1500" dirty="0"/>
          </a:p>
        </p:txBody>
      </p:sp>
      <p:sp>
        <p:nvSpPr>
          <p:cNvPr id="26" name="Box"/>
          <p:cNvSpPr txBox="1"/>
          <p:nvPr/>
        </p:nvSpPr>
        <p:spPr>
          <a:xfrm>
            <a:off x="548640" y="4754880"/>
            <a:ext cx="1920240" cy="594360"/>
          </a:xfrm>
          <a:prstGeom prst="roundRect">
            <a:avLst>
              <a:gd name="adj" fmla="val 15385"/>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Git push</a:t>
            </a:r>
            <a:endParaRPr lang="en-US" sz="1400" dirty="0"/>
          </a:p>
        </p:txBody>
      </p:sp>
      <p:sp>
        <p:nvSpPr>
          <p:cNvPr id="27" name="Arrow"/>
          <p:cNvSpPr/>
          <p:nvPr/>
        </p:nvSpPr>
        <p:spPr>
          <a:xfrm>
            <a:off x="2487168" y="5047488"/>
            <a:ext cx="329184" cy="0"/>
          </a:xfrm>
          <a:prstGeom prst="line">
            <a:avLst/>
          </a:prstGeom>
          <a:noFill/>
          <a:ln w="22225">
            <a:solidFill>
              <a:schemeClr val="accent6"/>
            </a:solidFill>
            <a:prstDash val="solid"/>
            <a:tailEnd type="triangle"/>
          </a:ln>
        </p:spPr>
      </p:sp>
      <p:sp>
        <p:nvSpPr>
          <p:cNvPr id="28" name="Box"/>
          <p:cNvSpPr txBox="1"/>
          <p:nvPr/>
        </p:nvSpPr>
        <p:spPr>
          <a:xfrm>
            <a:off x="2834640" y="4754880"/>
            <a:ext cx="1920240" cy="594360"/>
          </a:xfrm>
          <a:prstGeom prst="roundRect">
            <a:avLst>
              <a:gd name="adj" fmla="val 15385"/>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CI: build &amp; test</a:t>
            </a:r>
            <a:endParaRPr lang="en-US" sz="1400" dirty="0"/>
          </a:p>
        </p:txBody>
      </p:sp>
      <p:sp>
        <p:nvSpPr>
          <p:cNvPr id="29" name="Arrow"/>
          <p:cNvSpPr/>
          <p:nvPr/>
        </p:nvSpPr>
        <p:spPr>
          <a:xfrm>
            <a:off x="4773168" y="5047488"/>
            <a:ext cx="329184" cy="0"/>
          </a:xfrm>
          <a:prstGeom prst="line">
            <a:avLst/>
          </a:prstGeom>
          <a:noFill/>
          <a:ln w="22225">
            <a:solidFill>
              <a:schemeClr val="accent6"/>
            </a:solidFill>
            <a:prstDash val="solid"/>
            <a:tailEnd type="triangle"/>
          </a:ln>
        </p:spPr>
      </p:sp>
      <p:sp>
        <p:nvSpPr>
          <p:cNvPr id="30" name="Box"/>
          <p:cNvSpPr txBox="1"/>
          <p:nvPr/>
        </p:nvSpPr>
        <p:spPr>
          <a:xfrm>
            <a:off x="5120640" y="4754880"/>
            <a:ext cx="1920240" cy="594360"/>
          </a:xfrm>
          <a:prstGeom prst="roundRect">
            <a:avLst>
              <a:gd name="adj" fmla="val 15385"/>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Docker image</a:t>
            </a:r>
            <a:endParaRPr lang="en-US" sz="1400" dirty="0"/>
          </a:p>
        </p:txBody>
      </p:sp>
      <p:sp>
        <p:nvSpPr>
          <p:cNvPr id="31" name="Arrow"/>
          <p:cNvSpPr/>
          <p:nvPr/>
        </p:nvSpPr>
        <p:spPr>
          <a:xfrm>
            <a:off x="7059168" y="5047488"/>
            <a:ext cx="329184" cy="0"/>
          </a:xfrm>
          <a:prstGeom prst="line">
            <a:avLst/>
          </a:prstGeom>
          <a:noFill/>
          <a:ln w="22225">
            <a:solidFill>
              <a:schemeClr val="accent6"/>
            </a:solidFill>
            <a:prstDash val="solid"/>
            <a:tailEnd type="triangle"/>
          </a:ln>
        </p:spPr>
      </p:sp>
      <p:sp>
        <p:nvSpPr>
          <p:cNvPr id="32" name="Box"/>
          <p:cNvSpPr txBox="1"/>
          <p:nvPr/>
        </p:nvSpPr>
        <p:spPr>
          <a:xfrm>
            <a:off x="7406640" y="4754880"/>
            <a:ext cx="1920240" cy="594360"/>
          </a:xfrm>
          <a:prstGeom prst="roundRect">
            <a:avLst>
              <a:gd name="adj" fmla="val 15385"/>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Deploy: K8s</a:t>
            </a:r>
            <a:endParaRPr lang="en-US" sz="1400" dirty="0"/>
          </a:p>
        </p:txBody>
      </p:sp>
      <p:sp>
        <p:nvSpPr>
          <p:cNvPr id="33" name="Arrow"/>
          <p:cNvSpPr/>
          <p:nvPr/>
        </p:nvSpPr>
        <p:spPr>
          <a:xfrm>
            <a:off x="9345168" y="5047488"/>
            <a:ext cx="329184" cy="0"/>
          </a:xfrm>
          <a:prstGeom prst="line">
            <a:avLst/>
          </a:prstGeom>
          <a:noFill/>
          <a:ln w="22225">
            <a:solidFill>
              <a:schemeClr val="accent6"/>
            </a:solidFill>
            <a:prstDash val="solid"/>
            <a:tailEnd type="triangle"/>
          </a:ln>
        </p:spPr>
      </p:sp>
      <p:sp>
        <p:nvSpPr>
          <p:cNvPr id="34" name="Box"/>
          <p:cNvSpPr txBox="1"/>
          <p:nvPr/>
        </p:nvSpPr>
        <p:spPr>
          <a:xfrm>
            <a:off x="9692640" y="4754880"/>
            <a:ext cx="1920240" cy="594360"/>
          </a:xfrm>
          <a:prstGeom prst="roundRect">
            <a:avLst>
              <a:gd name="adj" fmla="val 15385"/>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2"/>
                </a:solidFill>
              </a:rPr>
              <a:t>Observe</a:t>
            </a:r>
            <a:endParaRPr lang="en-US" sz="1400" dirty="0"/>
          </a:p>
        </p:txBody>
      </p:sp>
      <p:sp>
        <p:nvSpPr>
          <p:cNvPr id="35" name="Text 28"/>
          <p:cNvSpPr txBox="1"/>
          <p:nvPr/>
        </p:nvSpPr>
        <p:spPr>
          <a:xfrm>
            <a:off x="548640" y="5577840"/>
            <a:ext cx="5394960" cy="640080"/>
          </a:xfrm>
          <a:prstGeom prst="rect">
            <a:avLst/>
          </a:prstGeom>
          <a:noFill/>
          <a:ln/>
        </p:spPr>
        <p:txBody>
          <a:bodyPr wrap="square" lIns="0" tIns="0" rIns="0" bIns="0" rtlCol="0" anchor="t"/>
          <a:lstStyle/>
          <a:p>
            <a:pPr indent="0" marL="0">
              <a:buNone/>
            </a:pPr>
            <a:r>
              <a:rPr lang="en-US" sz="1300" b="1" dirty="0">
                <a:solidFill>
                  <a:schemeClr val="tx1"/>
                </a:solidFill>
              </a:rPr>
              <a:t>Cấu hình &amp; bí mật: </a:t>
            </a:r>
            <a:r>
              <a:rPr lang="en-US" sz="1300" dirty="0">
                <a:solidFill>
                  <a:schemeClr val="tx1"/>
                </a:solidFill>
              </a:rPr>
              <a:t>key từ Vault/K8s Secrets/CI; dev dùng Ollama, prod dùng cloud model.</a:t>
            </a:r>
            <a:endParaRPr lang="en-US" sz="1300" dirty="0"/>
          </a:p>
        </p:txBody>
      </p:sp>
      <p:sp>
        <p:nvSpPr>
          <p:cNvPr id="36" name="Text 29"/>
          <p:cNvSpPr txBox="1"/>
          <p:nvPr/>
        </p:nvSpPr>
        <p:spPr>
          <a:xfrm>
            <a:off x="6245352" y="5577840"/>
            <a:ext cx="5394960" cy="640080"/>
          </a:xfrm>
          <a:prstGeom prst="rect">
            <a:avLst/>
          </a:prstGeom>
          <a:noFill/>
          <a:ln/>
        </p:spPr>
        <p:txBody>
          <a:bodyPr wrap="square" lIns="0" tIns="0" rIns="0" bIns="0" rtlCol="0" anchor="t"/>
          <a:lstStyle/>
          <a:p>
            <a:pPr indent="0" marL="0">
              <a:buNone/>
            </a:pPr>
            <a:r>
              <a:rPr lang="en-US" sz="1300" b="1" dirty="0">
                <a:solidFill>
                  <a:schemeClr val="tx1"/>
                </a:solidFill>
              </a:rPr>
              <a:t>Kiểm thử &amp; quan sát: </a:t>
            </a:r>
            <a:r>
              <a:rPr lang="en-US" sz="1300" dirty="0">
                <a:solidFill>
                  <a:schemeClr val="tx1"/>
                </a:solidFill>
              </a:rPr>
              <a:t>mock ChatModel trong CI; Micrometer: latency, số lần gọi tool, lỗi.</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User tracking: đo những gì, để làm gì</a:t>
            </a:r>
            <a:endParaRPr lang="en-US" sz="3200" dirty="0"/>
          </a:p>
        </p:txBody>
      </p:sp>
      <p:sp>
        <p:nvSpPr>
          <p:cNvPr id="3" name="Section chip"/>
          <p:cNvSpPr txBox="1"/>
          <p:nvPr/>
        </p:nvSpPr>
        <p:spPr>
          <a:xfrm>
            <a:off x="548640" y="246888"/>
            <a:ext cx="176479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1C · USER TRACKING</a:t>
            </a:r>
            <a:endParaRPr lang="en-US" sz="1100" dirty="0"/>
          </a:p>
        </p:txBody>
      </p:sp>
      <p:sp>
        <p:nvSpPr>
          <p:cNvPr id="5" name="Card"/>
          <p:cNvSpPr/>
          <p:nvPr/>
        </p:nvSpPr>
        <p:spPr>
          <a:xfrm>
            <a:off x="548640" y="1463040"/>
            <a:ext cx="2103120" cy="2240280"/>
          </a:xfrm>
          <a:prstGeom prst="roundRect">
            <a:avLst>
              <a:gd name="adj" fmla="val 4348"/>
            </a:avLst>
          </a:prstGeom>
          <a:solidFill>
            <a:schemeClr val="bg2"/>
          </a:solidFill>
          <a:ln w="12700">
            <a:solidFill>
              <a:schemeClr val="bg2"/>
            </a:solidFill>
            <a:prstDash val="solid"/>
          </a:ln>
        </p:spPr>
      </p:sp>
      <p:sp>
        <p:nvSpPr>
          <p:cNvPr id="6" name="Icon circle"/>
          <p:cNvSpPr/>
          <p:nvPr/>
        </p:nvSpPr>
        <p:spPr>
          <a:xfrm>
            <a:off x="731520" y="1627632"/>
            <a:ext cx="502920" cy="502920"/>
          </a:xfrm>
          <a:prstGeom prst="ellipse">
            <a:avLst/>
          </a:prstGeom>
          <a:solidFill>
            <a:schemeClr val="accent1"/>
          </a:solidFill>
          <a:ln w="12700">
            <a:solidFill>
              <a:schemeClr val="accent1"/>
            </a:solidFill>
            <a:prstDash val="solid"/>
          </a:ln>
        </p:spPr>
      </p:sp>
      <p:pic>
        <p:nvPicPr>
          <p:cNvPr id="7" name="Image 0" descr="Clock icon">    </p:cNvPr>
          <p:cNvPicPr>
            <a:picLocks noChangeAspect="1"/>
          </p:cNvPicPr>
          <p:nvPr/>
        </p:nvPicPr>
        <p:blipFill>
          <a:blip r:embed="rId1"/>
          <a:stretch>
            <a:fillRect/>
          </a:stretch>
        </p:blipFill>
        <p:spPr>
          <a:xfrm>
            <a:off x="852221" y="1748333"/>
            <a:ext cx="261518" cy="261518"/>
          </a:xfrm>
          <a:prstGeom prst="rect">
            <a:avLst/>
          </a:prstGeom>
        </p:spPr>
      </p:pic>
      <p:sp>
        <p:nvSpPr>
          <p:cNvPr id="8" name="Text 4"/>
          <p:cNvSpPr txBox="1"/>
          <p:nvPr/>
        </p:nvSpPr>
        <p:spPr>
          <a:xfrm>
            <a:off x="731520" y="2286000"/>
            <a:ext cx="1783080" cy="548640"/>
          </a:xfrm>
          <a:prstGeom prst="rect">
            <a:avLst/>
          </a:prstGeom>
          <a:noFill/>
          <a:ln/>
        </p:spPr>
        <p:txBody>
          <a:bodyPr wrap="square" lIns="0" tIns="0" rIns="0" bIns="0" rtlCol="0" anchor="t"/>
          <a:lstStyle/>
          <a:p>
            <a:pPr indent="0" marL="0">
              <a:buNone/>
            </a:pPr>
            <a:r>
              <a:rPr lang="en-US" sz="1500" b="1" dirty="0">
                <a:solidFill>
                  <a:schemeClr val="tx2"/>
                </a:solidFill>
              </a:rPr>
              <a:t>Thời gian trên trang</a:t>
            </a:r>
            <a:endParaRPr lang="en-US" sz="1500" dirty="0"/>
          </a:p>
        </p:txBody>
      </p:sp>
      <p:sp>
        <p:nvSpPr>
          <p:cNvPr id="9" name="Text 5"/>
          <p:cNvSpPr txBox="1"/>
          <p:nvPr/>
        </p:nvSpPr>
        <p:spPr>
          <a:xfrm>
            <a:off x="731520" y="2834640"/>
            <a:ext cx="1783080" cy="822960"/>
          </a:xfrm>
          <a:prstGeom prst="rect">
            <a:avLst/>
          </a:prstGeom>
          <a:noFill/>
          <a:ln/>
        </p:spPr>
        <p:txBody>
          <a:bodyPr wrap="square" lIns="0" tIns="0" rIns="0" bIns="0" rtlCol="0" anchor="t"/>
          <a:lstStyle/>
          <a:p>
            <a:pPr indent="0" marL="0">
              <a:buNone/>
            </a:pPr>
            <a:r>
              <a:rPr lang="en-US" sz="1400" dirty="0">
                <a:solidFill>
                  <a:schemeClr val="tx1"/>
                </a:solidFill>
              </a:rPr>
              <a:t>Time on page: khách đọc kỹ sản phẩm nào</a:t>
            </a:r>
            <a:endParaRPr lang="en-US" sz="1400" dirty="0"/>
          </a:p>
        </p:txBody>
      </p:sp>
      <p:sp>
        <p:nvSpPr>
          <p:cNvPr id="10" name="Card"/>
          <p:cNvSpPr/>
          <p:nvPr/>
        </p:nvSpPr>
        <p:spPr>
          <a:xfrm>
            <a:off x="2798064" y="1463040"/>
            <a:ext cx="2103120" cy="2240280"/>
          </a:xfrm>
          <a:prstGeom prst="roundRect">
            <a:avLst>
              <a:gd name="adj" fmla="val 4348"/>
            </a:avLst>
          </a:prstGeom>
          <a:solidFill>
            <a:schemeClr val="bg2"/>
          </a:solidFill>
          <a:ln w="12700">
            <a:solidFill>
              <a:schemeClr val="bg2"/>
            </a:solidFill>
            <a:prstDash val="solid"/>
          </a:ln>
        </p:spPr>
      </p:sp>
      <p:sp>
        <p:nvSpPr>
          <p:cNvPr id="11" name="Icon circle"/>
          <p:cNvSpPr/>
          <p:nvPr/>
        </p:nvSpPr>
        <p:spPr>
          <a:xfrm>
            <a:off x="2980944" y="1627632"/>
            <a:ext cx="502920" cy="502920"/>
          </a:xfrm>
          <a:prstGeom prst="ellipse">
            <a:avLst/>
          </a:prstGeom>
          <a:solidFill>
            <a:schemeClr val="accent1"/>
          </a:solidFill>
          <a:ln w="12700">
            <a:solidFill>
              <a:schemeClr val="accent1"/>
            </a:solidFill>
            <a:prstDash val="solid"/>
          </a:ln>
        </p:spPr>
      </p:sp>
      <p:pic>
        <p:nvPicPr>
          <p:cNvPr id="12" name="Image 1" descr="MousePointer icon">    </p:cNvPr>
          <p:cNvPicPr>
            <a:picLocks noChangeAspect="1"/>
          </p:cNvPicPr>
          <p:nvPr/>
        </p:nvPicPr>
        <p:blipFill>
          <a:blip r:embed="rId2"/>
          <a:stretch>
            <a:fillRect/>
          </a:stretch>
        </p:blipFill>
        <p:spPr>
          <a:xfrm>
            <a:off x="3101645" y="1748333"/>
            <a:ext cx="261518" cy="261518"/>
          </a:xfrm>
          <a:prstGeom prst="rect">
            <a:avLst/>
          </a:prstGeom>
        </p:spPr>
      </p:pic>
      <p:sp>
        <p:nvSpPr>
          <p:cNvPr id="13" name="Text 8"/>
          <p:cNvSpPr txBox="1"/>
          <p:nvPr/>
        </p:nvSpPr>
        <p:spPr>
          <a:xfrm>
            <a:off x="2980944" y="2286000"/>
            <a:ext cx="1783080" cy="548640"/>
          </a:xfrm>
          <a:prstGeom prst="rect">
            <a:avLst/>
          </a:prstGeom>
          <a:noFill/>
          <a:ln/>
        </p:spPr>
        <p:txBody>
          <a:bodyPr wrap="square" lIns="0" tIns="0" rIns="0" bIns="0" rtlCol="0" anchor="t"/>
          <a:lstStyle/>
          <a:p>
            <a:pPr indent="0" marL="0">
              <a:buNone/>
            </a:pPr>
            <a:r>
              <a:rPr lang="en-US" sz="1500" b="1" dirty="0">
                <a:solidFill>
                  <a:schemeClr val="tx2"/>
                </a:solidFill>
              </a:rPr>
              <a:t>Click vào sản phẩm</a:t>
            </a:r>
            <a:endParaRPr lang="en-US" sz="1500" dirty="0"/>
          </a:p>
        </p:txBody>
      </p:sp>
      <p:sp>
        <p:nvSpPr>
          <p:cNvPr id="14" name="Text 9"/>
          <p:cNvSpPr txBox="1"/>
          <p:nvPr/>
        </p:nvSpPr>
        <p:spPr>
          <a:xfrm>
            <a:off x="2980944" y="2834640"/>
            <a:ext cx="1783080" cy="822960"/>
          </a:xfrm>
          <a:prstGeom prst="rect">
            <a:avLst/>
          </a:prstGeom>
          <a:noFill/>
          <a:ln/>
        </p:spPr>
        <p:txBody>
          <a:bodyPr wrap="square" lIns="0" tIns="0" rIns="0" bIns="0" rtlCol="0" anchor="t"/>
          <a:lstStyle/>
          <a:p>
            <a:pPr indent="0" marL="0">
              <a:buNone/>
            </a:pPr>
            <a:r>
              <a:rPr lang="en-US" sz="1400" dirty="0">
                <a:solidFill>
                  <a:schemeClr val="tx1"/>
                </a:solidFill>
              </a:rPr>
              <a:t>CTR = click / lượt xem</a:t>
            </a:r>
            <a:endParaRPr lang="en-US" sz="1400" dirty="0"/>
          </a:p>
        </p:txBody>
      </p:sp>
      <p:sp>
        <p:nvSpPr>
          <p:cNvPr id="15" name="Card"/>
          <p:cNvSpPr/>
          <p:nvPr/>
        </p:nvSpPr>
        <p:spPr>
          <a:xfrm>
            <a:off x="5047488" y="1463040"/>
            <a:ext cx="2103120" cy="2240280"/>
          </a:xfrm>
          <a:prstGeom prst="roundRect">
            <a:avLst>
              <a:gd name="adj" fmla="val 4348"/>
            </a:avLst>
          </a:prstGeom>
          <a:solidFill>
            <a:schemeClr val="bg2"/>
          </a:solidFill>
          <a:ln w="12700">
            <a:solidFill>
              <a:schemeClr val="bg2"/>
            </a:solidFill>
            <a:prstDash val="solid"/>
          </a:ln>
        </p:spPr>
      </p:sp>
      <p:sp>
        <p:nvSpPr>
          <p:cNvPr id="16" name="Icon circle"/>
          <p:cNvSpPr/>
          <p:nvPr/>
        </p:nvSpPr>
        <p:spPr>
          <a:xfrm>
            <a:off x="5230368" y="1627632"/>
            <a:ext cx="502920" cy="502920"/>
          </a:xfrm>
          <a:prstGeom prst="ellipse">
            <a:avLst/>
          </a:prstGeom>
          <a:solidFill>
            <a:schemeClr val="accent1"/>
          </a:solidFill>
          <a:ln w="12700">
            <a:solidFill>
              <a:schemeClr val="accent1"/>
            </a:solidFill>
            <a:prstDash val="solid"/>
          </a:ln>
        </p:spPr>
      </p:sp>
      <p:pic>
        <p:nvPicPr>
          <p:cNvPr id="17" name="Image 2" descr="ShoppingCart icon">    </p:cNvPr>
          <p:cNvPicPr>
            <a:picLocks noChangeAspect="1"/>
          </p:cNvPicPr>
          <p:nvPr/>
        </p:nvPicPr>
        <p:blipFill>
          <a:blip r:embed="rId3"/>
          <a:stretch>
            <a:fillRect/>
          </a:stretch>
        </p:blipFill>
        <p:spPr>
          <a:xfrm>
            <a:off x="5351069" y="1748333"/>
            <a:ext cx="261518" cy="261518"/>
          </a:xfrm>
          <a:prstGeom prst="rect">
            <a:avLst/>
          </a:prstGeom>
        </p:spPr>
      </p:pic>
      <p:sp>
        <p:nvSpPr>
          <p:cNvPr id="18" name="Text 12"/>
          <p:cNvSpPr txBox="1"/>
          <p:nvPr/>
        </p:nvSpPr>
        <p:spPr>
          <a:xfrm>
            <a:off x="5230368" y="2286000"/>
            <a:ext cx="1783080" cy="548640"/>
          </a:xfrm>
          <a:prstGeom prst="rect">
            <a:avLst/>
          </a:prstGeom>
          <a:noFill/>
          <a:ln/>
        </p:spPr>
        <p:txBody>
          <a:bodyPr wrap="square" lIns="0" tIns="0" rIns="0" bIns="0" rtlCol="0" anchor="t"/>
          <a:lstStyle/>
          <a:p>
            <a:pPr indent="0" marL="0">
              <a:buNone/>
            </a:pPr>
            <a:r>
              <a:rPr lang="en-US" sz="1500" b="1" dirty="0">
                <a:solidFill>
                  <a:schemeClr val="tx2"/>
                </a:solidFill>
              </a:rPr>
              <a:t>Thêm vào giỏ</a:t>
            </a:r>
            <a:endParaRPr lang="en-US" sz="1500" dirty="0"/>
          </a:p>
        </p:txBody>
      </p:sp>
      <p:sp>
        <p:nvSpPr>
          <p:cNvPr id="19" name="Text 13"/>
          <p:cNvSpPr txBox="1"/>
          <p:nvPr/>
        </p:nvSpPr>
        <p:spPr>
          <a:xfrm>
            <a:off x="5230368" y="2834640"/>
            <a:ext cx="1783080" cy="822960"/>
          </a:xfrm>
          <a:prstGeom prst="rect">
            <a:avLst/>
          </a:prstGeom>
          <a:noFill/>
          <a:ln/>
        </p:spPr>
        <p:txBody>
          <a:bodyPr wrap="square" lIns="0" tIns="0" rIns="0" bIns="0" rtlCol="0" anchor="t"/>
          <a:lstStyle/>
          <a:p>
            <a:pPr indent="0" marL="0">
              <a:buNone/>
            </a:pPr>
            <a:r>
              <a:rPr lang="en-US" sz="1400" dirty="0">
                <a:solidFill>
                  <a:schemeClr val="tx1"/>
                </a:solidFill>
              </a:rPr>
              <a:t>Add-to-cart rate của từng sản phẩm</a:t>
            </a:r>
            <a:endParaRPr lang="en-US" sz="1400" dirty="0"/>
          </a:p>
        </p:txBody>
      </p:sp>
      <p:sp>
        <p:nvSpPr>
          <p:cNvPr id="20" name="Card"/>
          <p:cNvSpPr/>
          <p:nvPr/>
        </p:nvSpPr>
        <p:spPr>
          <a:xfrm>
            <a:off x="7296912" y="1463040"/>
            <a:ext cx="2103120" cy="2240280"/>
          </a:xfrm>
          <a:prstGeom prst="roundRect">
            <a:avLst>
              <a:gd name="adj" fmla="val 4348"/>
            </a:avLst>
          </a:prstGeom>
          <a:solidFill>
            <a:schemeClr val="bg2"/>
          </a:solidFill>
          <a:ln w="12700">
            <a:solidFill>
              <a:schemeClr val="bg2"/>
            </a:solidFill>
            <a:prstDash val="solid"/>
          </a:ln>
        </p:spPr>
      </p:sp>
      <p:sp>
        <p:nvSpPr>
          <p:cNvPr id="21" name="Icon circle"/>
          <p:cNvSpPr/>
          <p:nvPr/>
        </p:nvSpPr>
        <p:spPr>
          <a:xfrm>
            <a:off x="7479792" y="1627632"/>
            <a:ext cx="502920" cy="502920"/>
          </a:xfrm>
          <a:prstGeom prst="ellipse">
            <a:avLst/>
          </a:prstGeom>
          <a:solidFill>
            <a:schemeClr val="accent1"/>
          </a:solidFill>
          <a:ln w="12700">
            <a:solidFill>
              <a:schemeClr val="accent1"/>
            </a:solidFill>
            <a:prstDash val="solid"/>
          </a:ln>
        </p:spPr>
      </p:sp>
      <p:pic>
        <p:nvPicPr>
          <p:cNvPr id="22" name="Image 3" descr="ChartBar icon">    </p:cNvPr>
          <p:cNvPicPr>
            <a:picLocks noChangeAspect="1"/>
          </p:cNvPicPr>
          <p:nvPr/>
        </p:nvPicPr>
        <p:blipFill>
          <a:blip r:embed="rId4"/>
          <a:stretch>
            <a:fillRect/>
          </a:stretch>
        </p:blipFill>
        <p:spPr>
          <a:xfrm>
            <a:off x="7600493" y="1748333"/>
            <a:ext cx="261518" cy="261518"/>
          </a:xfrm>
          <a:prstGeom prst="rect">
            <a:avLst/>
          </a:prstGeom>
        </p:spPr>
      </p:pic>
      <p:sp>
        <p:nvSpPr>
          <p:cNvPr id="23" name="Text 16"/>
          <p:cNvSpPr txBox="1"/>
          <p:nvPr/>
        </p:nvSpPr>
        <p:spPr>
          <a:xfrm>
            <a:off x="7479792" y="2286000"/>
            <a:ext cx="1783080" cy="548640"/>
          </a:xfrm>
          <a:prstGeom prst="rect">
            <a:avLst/>
          </a:prstGeom>
          <a:noFill/>
          <a:ln/>
        </p:spPr>
        <p:txBody>
          <a:bodyPr wrap="square" lIns="0" tIns="0" rIns="0" bIns="0" rtlCol="0" anchor="t"/>
          <a:lstStyle/>
          <a:p>
            <a:pPr indent="0" marL="0">
              <a:buNone/>
            </a:pPr>
            <a:r>
              <a:rPr lang="en-US" sz="1500" b="1" dirty="0">
                <a:solidFill>
                  <a:schemeClr val="tx2"/>
                </a:solidFill>
              </a:rPr>
              <a:t>Đặt nhiều nhất</a:t>
            </a:r>
            <a:endParaRPr lang="en-US" sz="1500" dirty="0"/>
          </a:p>
        </p:txBody>
      </p:sp>
      <p:sp>
        <p:nvSpPr>
          <p:cNvPr id="24" name="Text 17"/>
          <p:cNvSpPr txBox="1"/>
          <p:nvPr/>
        </p:nvSpPr>
        <p:spPr>
          <a:xfrm>
            <a:off x="7479792" y="2834640"/>
            <a:ext cx="1783080" cy="822960"/>
          </a:xfrm>
          <a:prstGeom prst="rect">
            <a:avLst/>
          </a:prstGeom>
          <a:noFill/>
          <a:ln/>
        </p:spPr>
        <p:txBody>
          <a:bodyPr wrap="square" lIns="0" tIns="0" rIns="0" bIns="0" rtlCol="0" anchor="t"/>
          <a:lstStyle/>
          <a:p>
            <a:pPr indent="0" marL="0">
              <a:buNone/>
            </a:pPr>
            <a:r>
              <a:rPr lang="en-US" sz="1400" dirty="0">
                <a:solidFill>
                  <a:schemeClr val="tx1"/>
                </a:solidFill>
              </a:rPr>
              <a:t>Sản phẩm được đặt thường xuyên</a:t>
            </a:r>
            <a:endParaRPr lang="en-US" sz="1400" dirty="0"/>
          </a:p>
        </p:txBody>
      </p:sp>
      <p:sp>
        <p:nvSpPr>
          <p:cNvPr id="25" name="Card"/>
          <p:cNvSpPr/>
          <p:nvPr/>
        </p:nvSpPr>
        <p:spPr>
          <a:xfrm>
            <a:off x="9546336" y="1463040"/>
            <a:ext cx="2103120" cy="2240280"/>
          </a:xfrm>
          <a:prstGeom prst="roundRect">
            <a:avLst>
              <a:gd name="adj" fmla="val 4348"/>
            </a:avLst>
          </a:prstGeom>
          <a:solidFill>
            <a:schemeClr val="bg2"/>
          </a:solidFill>
          <a:ln w="12700">
            <a:solidFill>
              <a:schemeClr val="bg2"/>
            </a:solidFill>
            <a:prstDash val="solid"/>
          </a:ln>
        </p:spPr>
      </p:sp>
      <p:sp>
        <p:nvSpPr>
          <p:cNvPr id="26" name="Icon circle"/>
          <p:cNvSpPr/>
          <p:nvPr/>
        </p:nvSpPr>
        <p:spPr>
          <a:xfrm>
            <a:off x="9729216" y="1627632"/>
            <a:ext cx="502920" cy="502920"/>
          </a:xfrm>
          <a:prstGeom prst="ellipse">
            <a:avLst/>
          </a:prstGeom>
          <a:solidFill>
            <a:schemeClr val="accent1"/>
          </a:solidFill>
          <a:ln w="12700">
            <a:solidFill>
              <a:schemeClr val="accent1"/>
            </a:solidFill>
            <a:prstDash val="solid"/>
          </a:ln>
        </p:spPr>
      </p:sp>
      <p:pic>
        <p:nvPicPr>
          <p:cNvPr id="27" name="Image 4" descr="Search icon">    </p:cNvPr>
          <p:cNvPicPr>
            <a:picLocks noChangeAspect="1"/>
          </p:cNvPicPr>
          <p:nvPr/>
        </p:nvPicPr>
        <p:blipFill>
          <a:blip r:embed="rId5"/>
          <a:stretch>
            <a:fillRect/>
          </a:stretch>
        </p:blipFill>
        <p:spPr>
          <a:xfrm>
            <a:off x="9849917" y="1748333"/>
            <a:ext cx="261518" cy="261518"/>
          </a:xfrm>
          <a:prstGeom prst="rect">
            <a:avLst/>
          </a:prstGeom>
        </p:spPr>
      </p:pic>
      <p:sp>
        <p:nvSpPr>
          <p:cNvPr id="28" name="Text 20"/>
          <p:cNvSpPr txBox="1"/>
          <p:nvPr/>
        </p:nvSpPr>
        <p:spPr>
          <a:xfrm>
            <a:off x="9729216" y="2286000"/>
            <a:ext cx="1783080" cy="548640"/>
          </a:xfrm>
          <a:prstGeom prst="rect">
            <a:avLst/>
          </a:prstGeom>
          <a:noFill/>
          <a:ln/>
        </p:spPr>
        <p:txBody>
          <a:bodyPr wrap="square" lIns="0" tIns="0" rIns="0" bIns="0" rtlCol="0" anchor="t"/>
          <a:lstStyle/>
          <a:p>
            <a:pPr indent="0" marL="0">
              <a:buNone/>
            </a:pPr>
            <a:r>
              <a:rPr lang="en-US" sz="1500" b="1" dirty="0">
                <a:solidFill>
                  <a:schemeClr val="tx2"/>
                </a:solidFill>
              </a:rPr>
              <a:t>Từ khoá tìm kiếm</a:t>
            </a:r>
            <a:endParaRPr lang="en-US" sz="1500" dirty="0"/>
          </a:p>
        </p:txBody>
      </p:sp>
      <p:sp>
        <p:nvSpPr>
          <p:cNvPr id="29" name="Text 21"/>
          <p:cNvSpPr txBox="1"/>
          <p:nvPr/>
        </p:nvSpPr>
        <p:spPr>
          <a:xfrm>
            <a:off x="9729216" y="2834640"/>
            <a:ext cx="1783080" cy="822960"/>
          </a:xfrm>
          <a:prstGeom prst="rect">
            <a:avLst/>
          </a:prstGeom>
          <a:noFill/>
          <a:ln/>
        </p:spPr>
        <p:txBody>
          <a:bodyPr wrap="square" lIns="0" tIns="0" rIns="0" bIns="0" rtlCol="0" anchor="t"/>
          <a:lstStyle/>
          <a:p>
            <a:pPr indent="0" marL="0">
              <a:buNone/>
            </a:pPr>
            <a:r>
              <a:rPr lang="en-US" sz="1400" dirty="0">
                <a:solidFill>
                  <a:schemeClr val="tx1"/>
                </a:solidFill>
              </a:rPr>
              <a:t>Nhu cầu thật và từ khoá không có kết quả</a:t>
            </a:r>
            <a:endParaRPr lang="en-US" sz="1400" dirty="0"/>
          </a:p>
        </p:txBody>
      </p:sp>
      <p:sp>
        <p:nvSpPr>
          <p:cNvPr id="30" name="Text 22"/>
          <p:cNvSpPr txBox="1"/>
          <p:nvPr/>
        </p:nvSpPr>
        <p:spPr>
          <a:xfrm>
            <a:off x="548640" y="3977640"/>
            <a:ext cx="5486400" cy="274320"/>
          </a:xfrm>
          <a:prstGeom prst="rect">
            <a:avLst/>
          </a:prstGeom>
          <a:noFill/>
          <a:ln/>
        </p:spPr>
        <p:txBody>
          <a:bodyPr wrap="square" lIns="0" tIns="0" rIns="0" bIns="0" rtlCol="0" anchor="t"/>
          <a:lstStyle/>
          <a:p>
            <a:pPr indent="0" marL="0">
              <a:buNone/>
            </a:pPr>
            <a:r>
              <a:rPr lang="en-US" sz="1500" b="1" dirty="0">
                <a:solidFill>
                  <a:schemeClr val="tx2"/>
                </a:solidFill>
              </a:rPr>
              <a:t>Phễu chuyển đổi (funnel)</a:t>
            </a:r>
            <a:endParaRPr lang="en-US" sz="1500" dirty="0"/>
          </a:p>
        </p:txBody>
      </p:sp>
      <p:sp>
        <p:nvSpPr>
          <p:cNvPr id="31" name="Box"/>
          <p:cNvSpPr txBox="1"/>
          <p:nvPr/>
        </p:nvSpPr>
        <p:spPr>
          <a:xfrm>
            <a:off x="548640" y="4389120"/>
            <a:ext cx="2331720" cy="777240"/>
          </a:xfrm>
          <a:prstGeom prst="roundRect">
            <a:avLst>
              <a:gd name="adj" fmla="val 11765"/>
            </a:avLst>
          </a:prstGeom>
          <a:solidFill>
            <a:schemeClr val="bg2"/>
          </a:solidFill>
          <a:ln>
            <a:solidFill>
              <a:schemeClr val="bg2"/>
            </a:solidFill>
          </a:ln>
        </p:spPr>
        <p:txBody>
          <a:bodyPr wrap="square" lIns="76200" tIns="76200" rIns="76200" bIns="76200" rtlCol="0" anchor="ctr"/>
          <a:lstStyle/>
          <a:p>
            <a:pPr algn="ctr" indent="0" marL="0">
              <a:buNone/>
            </a:pPr>
            <a:r>
              <a:rPr lang="en-US" sz="1600" b="1" dirty="0">
                <a:solidFill>
                  <a:schemeClr val="tx1"/>
                </a:solidFill>
              </a:rPr>
              <a:t>Xem trang</a:t>
            </a:r>
            <a:endParaRPr lang="en-US" sz="1600" dirty="0"/>
          </a:p>
        </p:txBody>
      </p:sp>
      <p:sp>
        <p:nvSpPr>
          <p:cNvPr id="32" name="Arrow"/>
          <p:cNvSpPr/>
          <p:nvPr/>
        </p:nvSpPr>
        <p:spPr>
          <a:xfrm>
            <a:off x="2898648" y="4773168"/>
            <a:ext cx="530352" cy="0"/>
          </a:xfrm>
          <a:prstGeom prst="line">
            <a:avLst/>
          </a:prstGeom>
          <a:noFill/>
          <a:ln w="22225">
            <a:solidFill>
              <a:schemeClr val="accent6"/>
            </a:solidFill>
            <a:prstDash val="solid"/>
            <a:tailEnd type="triangle"/>
          </a:ln>
        </p:spPr>
      </p:sp>
      <p:sp>
        <p:nvSpPr>
          <p:cNvPr id="33" name="Text 25"/>
          <p:cNvSpPr txBox="1"/>
          <p:nvPr/>
        </p:nvSpPr>
        <p:spPr>
          <a:xfrm>
            <a:off x="2478024" y="5230368"/>
            <a:ext cx="1371600" cy="274320"/>
          </a:xfrm>
          <a:prstGeom prst="rect">
            <a:avLst/>
          </a:prstGeom>
          <a:noFill/>
          <a:ln/>
        </p:spPr>
        <p:txBody>
          <a:bodyPr wrap="square" lIns="0" tIns="0" rIns="0" bIns="0" rtlCol="0" anchor="t"/>
          <a:lstStyle/>
          <a:p>
            <a:pPr algn="ctr" indent="0" marL="0">
              <a:buNone/>
            </a:pPr>
            <a:r>
              <a:rPr lang="en-US" sz="1200" i="1" dirty="0">
                <a:solidFill>
                  <a:schemeClr val="accent6"/>
                </a:solidFill>
              </a:rPr>
              <a:t>CTR</a:t>
            </a:r>
            <a:endParaRPr lang="en-US" sz="1200" dirty="0"/>
          </a:p>
        </p:txBody>
      </p:sp>
      <p:sp>
        <p:nvSpPr>
          <p:cNvPr id="34" name="Box"/>
          <p:cNvSpPr txBox="1"/>
          <p:nvPr/>
        </p:nvSpPr>
        <p:spPr>
          <a:xfrm>
            <a:off x="3447288" y="4389120"/>
            <a:ext cx="2331720" cy="777240"/>
          </a:xfrm>
          <a:prstGeom prst="roundRect">
            <a:avLst>
              <a:gd name="adj" fmla="val 11765"/>
            </a:avLst>
          </a:prstGeom>
          <a:solidFill>
            <a:schemeClr val="accent5"/>
          </a:solidFill>
          <a:ln>
            <a:solidFill>
              <a:schemeClr val="accent5"/>
            </a:solidFill>
          </a:ln>
        </p:spPr>
        <p:txBody>
          <a:bodyPr wrap="square" lIns="76200" tIns="76200" rIns="76200" bIns="76200" rtlCol="0" anchor="ctr"/>
          <a:lstStyle/>
          <a:p>
            <a:pPr algn="ctr" indent="0" marL="0">
              <a:buNone/>
            </a:pPr>
            <a:r>
              <a:rPr lang="en-US" sz="1600" b="1" dirty="0">
                <a:solidFill>
                  <a:schemeClr val="tx1"/>
                </a:solidFill>
              </a:rPr>
              <a:t>Click chi tiết</a:t>
            </a:r>
            <a:endParaRPr lang="en-US" sz="1600" dirty="0"/>
          </a:p>
        </p:txBody>
      </p:sp>
      <p:sp>
        <p:nvSpPr>
          <p:cNvPr id="35" name="Arrow"/>
          <p:cNvSpPr/>
          <p:nvPr/>
        </p:nvSpPr>
        <p:spPr>
          <a:xfrm>
            <a:off x="5797296" y="4773168"/>
            <a:ext cx="530352" cy="0"/>
          </a:xfrm>
          <a:prstGeom prst="line">
            <a:avLst/>
          </a:prstGeom>
          <a:noFill/>
          <a:ln w="22225">
            <a:solidFill>
              <a:schemeClr val="accent6"/>
            </a:solidFill>
            <a:prstDash val="solid"/>
            <a:tailEnd type="triangle"/>
          </a:ln>
        </p:spPr>
      </p:sp>
      <p:sp>
        <p:nvSpPr>
          <p:cNvPr id="36" name="Text 28"/>
          <p:cNvSpPr txBox="1"/>
          <p:nvPr/>
        </p:nvSpPr>
        <p:spPr>
          <a:xfrm>
            <a:off x="5376672" y="5230368"/>
            <a:ext cx="1371600" cy="274320"/>
          </a:xfrm>
          <a:prstGeom prst="rect">
            <a:avLst/>
          </a:prstGeom>
          <a:noFill/>
          <a:ln/>
        </p:spPr>
        <p:txBody>
          <a:bodyPr wrap="square" lIns="0" tIns="0" rIns="0" bIns="0" rtlCol="0" anchor="t"/>
          <a:lstStyle/>
          <a:p>
            <a:pPr algn="ctr" indent="0" marL="0">
              <a:buNone/>
            </a:pPr>
            <a:r>
              <a:rPr lang="en-US" sz="1200" i="1" dirty="0">
                <a:solidFill>
                  <a:schemeClr val="accent6"/>
                </a:solidFill>
              </a:rPr>
              <a:t>tỉ lệ thêm giỏ</a:t>
            </a:r>
            <a:endParaRPr lang="en-US" sz="1200" dirty="0"/>
          </a:p>
        </p:txBody>
      </p:sp>
      <p:sp>
        <p:nvSpPr>
          <p:cNvPr id="37" name="Box"/>
          <p:cNvSpPr txBox="1"/>
          <p:nvPr/>
        </p:nvSpPr>
        <p:spPr>
          <a:xfrm>
            <a:off x="6345936" y="4389120"/>
            <a:ext cx="2331720" cy="777240"/>
          </a:xfrm>
          <a:prstGeom prst="roundRect">
            <a:avLst>
              <a:gd name="adj" fmla="val 11765"/>
            </a:avLst>
          </a:prstGeom>
          <a:solidFill>
            <a:schemeClr val="accent4"/>
          </a:solidFill>
          <a:ln>
            <a:solidFill>
              <a:schemeClr val="accent4"/>
            </a:solidFill>
          </a:ln>
        </p:spPr>
        <p:txBody>
          <a:bodyPr wrap="square" lIns="76200" tIns="76200" rIns="76200" bIns="76200" rtlCol="0" anchor="ctr"/>
          <a:lstStyle/>
          <a:p>
            <a:pPr algn="ctr" indent="0" marL="0">
              <a:buNone/>
            </a:pPr>
            <a:r>
              <a:rPr lang="en-US" sz="1600" b="1" dirty="0">
                <a:solidFill>
                  <a:schemeClr val="tx1"/>
                </a:solidFill>
              </a:rPr>
              <a:t>Thêm vào giỏ</a:t>
            </a:r>
            <a:endParaRPr lang="en-US" sz="1600" dirty="0"/>
          </a:p>
        </p:txBody>
      </p:sp>
      <p:sp>
        <p:nvSpPr>
          <p:cNvPr id="38" name="Arrow"/>
          <p:cNvSpPr/>
          <p:nvPr/>
        </p:nvSpPr>
        <p:spPr>
          <a:xfrm>
            <a:off x="8695944" y="4773168"/>
            <a:ext cx="530352" cy="0"/>
          </a:xfrm>
          <a:prstGeom prst="line">
            <a:avLst/>
          </a:prstGeom>
          <a:noFill/>
          <a:ln w="22225">
            <a:solidFill>
              <a:schemeClr val="accent6"/>
            </a:solidFill>
            <a:prstDash val="solid"/>
            <a:tailEnd type="triangle"/>
          </a:ln>
        </p:spPr>
      </p:sp>
      <p:sp>
        <p:nvSpPr>
          <p:cNvPr id="39" name="Text 31"/>
          <p:cNvSpPr txBox="1"/>
          <p:nvPr/>
        </p:nvSpPr>
        <p:spPr>
          <a:xfrm>
            <a:off x="8275320" y="5230368"/>
            <a:ext cx="1371600" cy="274320"/>
          </a:xfrm>
          <a:prstGeom prst="rect">
            <a:avLst/>
          </a:prstGeom>
          <a:noFill/>
          <a:ln/>
        </p:spPr>
        <p:txBody>
          <a:bodyPr wrap="square" lIns="0" tIns="0" rIns="0" bIns="0" rtlCol="0" anchor="t"/>
          <a:lstStyle/>
          <a:p>
            <a:pPr algn="ctr" indent="0" marL="0">
              <a:buNone/>
            </a:pPr>
            <a:r>
              <a:rPr lang="en-US" sz="1200" i="1" dirty="0">
                <a:solidFill>
                  <a:schemeClr val="accent6"/>
                </a:solidFill>
              </a:rPr>
              <a:t>tỉ lệ chốt đơn</a:t>
            </a:r>
            <a:endParaRPr lang="en-US" sz="1200" dirty="0"/>
          </a:p>
        </p:txBody>
      </p:sp>
      <p:sp>
        <p:nvSpPr>
          <p:cNvPr id="40" name="Box"/>
          <p:cNvSpPr txBox="1"/>
          <p:nvPr/>
        </p:nvSpPr>
        <p:spPr>
          <a:xfrm>
            <a:off x="9244584" y="4389120"/>
            <a:ext cx="2331720" cy="777240"/>
          </a:xfrm>
          <a:prstGeom prst="roundRect">
            <a:avLst>
              <a:gd name="adj" fmla="val 11765"/>
            </a:avLst>
          </a:prstGeom>
          <a:solidFill>
            <a:schemeClr val="accent1"/>
          </a:solidFill>
          <a:ln>
            <a:solidFill>
              <a:schemeClr val="accent1"/>
            </a:solidFill>
          </a:ln>
        </p:spPr>
        <p:txBody>
          <a:bodyPr wrap="square" lIns="76200" tIns="76200" rIns="76200" bIns="76200" rtlCol="0" anchor="ctr"/>
          <a:lstStyle/>
          <a:p>
            <a:pPr algn="ctr" indent="0" marL="0">
              <a:buNone/>
            </a:pPr>
            <a:r>
              <a:rPr lang="en-US" sz="1600" b="1" dirty="0">
                <a:solidFill>
                  <a:schemeClr val="bg1"/>
                </a:solidFill>
              </a:rPr>
              <a:t>Đặt hàng</a:t>
            </a:r>
            <a:endParaRPr lang="en-US" sz="1600" dirty="0"/>
          </a:p>
        </p:txBody>
      </p:sp>
      <p:sp>
        <p:nvSpPr>
          <p:cNvPr id="41" name="Text 33"/>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1500" b="1" dirty="0">
                <a:solidFill>
                  <a:schemeClr val="accent1"/>
                </a:solidFill>
              </a:rPr>
              <a:t>Mục tiêu: hiểu người dùng để cải thiện giao diện, gợi ý đúng sản phẩm và tối ưu chiến dịch.</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Thu thập sự kiện ở front-end</a:t>
            </a:r>
            <a:endParaRPr lang="en-US" sz="3200" dirty="0"/>
          </a:p>
        </p:txBody>
      </p:sp>
      <p:sp>
        <p:nvSpPr>
          <p:cNvPr id="3" name="Section chip"/>
          <p:cNvSpPr txBox="1"/>
          <p:nvPr/>
        </p:nvSpPr>
        <p:spPr>
          <a:xfrm>
            <a:off x="548640" y="246888"/>
            <a:ext cx="176479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1C · USER TRACKING</a:t>
            </a:r>
            <a:endParaRPr lang="en-US" sz="1100" dirty="0"/>
          </a:p>
        </p:txBody>
      </p:sp>
      <p:sp>
        <p:nvSpPr>
          <p:cNvPr id="5" name="Box"/>
          <p:cNvSpPr txBox="1"/>
          <p:nvPr/>
        </p:nvSpPr>
        <p:spPr>
          <a:xfrm>
            <a:off x="548640" y="1463040"/>
            <a:ext cx="1920240" cy="731520"/>
          </a:xfrm>
          <a:prstGeom prst="roundRect">
            <a:avLst>
              <a:gd name="adj" fmla="val 12500"/>
            </a:avLst>
          </a:prstGeom>
          <a:solidFill>
            <a:schemeClr val="accent1"/>
          </a:solidFill>
          <a:ln>
            <a:solidFill>
              <a:schemeClr val="accent1"/>
            </a:solidFill>
          </a:ln>
        </p:spPr>
        <p:txBody>
          <a:bodyPr wrap="square" lIns="76200" tIns="76200" rIns="76200" bIns="76200" rtlCol="0" anchor="ctr"/>
          <a:lstStyle/>
          <a:p>
            <a:pPr algn="ctr" indent="0" marL="0">
              <a:buNone/>
            </a:pPr>
            <a:r>
              <a:rPr lang="en-US" sz="1400" b="1" dirty="0">
                <a:solidFill>
                  <a:schemeClr val="bg1"/>
                </a:solidFill>
              </a:rPr>
              <a:t>Trình duyệt (JS)</a:t>
            </a:r>
            <a:endParaRPr lang="en-US" sz="1400" dirty="0"/>
          </a:p>
        </p:txBody>
      </p:sp>
      <p:sp>
        <p:nvSpPr>
          <p:cNvPr id="6" name="Arrow"/>
          <p:cNvSpPr/>
          <p:nvPr/>
        </p:nvSpPr>
        <p:spPr>
          <a:xfrm>
            <a:off x="2487168" y="1828800"/>
            <a:ext cx="329184" cy="0"/>
          </a:xfrm>
          <a:prstGeom prst="line">
            <a:avLst/>
          </a:prstGeom>
          <a:noFill/>
          <a:ln w="22225">
            <a:solidFill>
              <a:schemeClr val="accent6"/>
            </a:solidFill>
            <a:prstDash val="solid"/>
            <a:tailEnd type="triangle"/>
          </a:ln>
        </p:spPr>
      </p:sp>
      <p:sp>
        <p:nvSpPr>
          <p:cNvPr id="7" name="Box"/>
          <p:cNvSpPr txBox="1"/>
          <p:nvPr/>
        </p:nvSpPr>
        <p:spPr>
          <a:xfrm>
            <a:off x="2834640" y="146304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POST /api/tracking</a:t>
            </a:r>
            <a:endParaRPr lang="en-US" sz="1400" dirty="0"/>
          </a:p>
        </p:txBody>
      </p:sp>
      <p:sp>
        <p:nvSpPr>
          <p:cNvPr id="8" name="Arrow"/>
          <p:cNvSpPr/>
          <p:nvPr/>
        </p:nvSpPr>
        <p:spPr>
          <a:xfrm>
            <a:off x="4773168" y="1828800"/>
            <a:ext cx="329184" cy="0"/>
          </a:xfrm>
          <a:prstGeom prst="line">
            <a:avLst/>
          </a:prstGeom>
          <a:noFill/>
          <a:ln w="22225">
            <a:solidFill>
              <a:schemeClr val="accent6"/>
            </a:solidFill>
            <a:prstDash val="solid"/>
            <a:tailEnd type="triangle"/>
          </a:ln>
        </p:spPr>
      </p:sp>
      <p:sp>
        <p:nvSpPr>
          <p:cNvPr id="9" name="Box"/>
          <p:cNvSpPr txBox="1"/>
          <p:nvPr/>
        </p:nvSpPr>
        <p:spPr>
          <a:xfrm>
            <a:off x="5120640" y="146304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Controller + validate</a:t>
            </a:r>
            <a:endParaRPr lang="en-US" sz="1400" dirty="0"/>
          </a:p>
        </p:txBody>
      </p:sp>
      <p:sp>
        <p:nvSpPr>
          <p:cNvPr id="10" name="Arrow"/>
          <p:cNvSpPr/>
          <p:nvPr/>
        </p:nvSpPr>
        <p:spPr>
          <a:xfrm>
            <a:off x="7059168" y="1828800"/>
            <a:ext cx="329184" cy="0"/>
          </a:xfrm>
          <a:prstGeom prst="line">
            <a:avLst/>
          </a:prstGeom>
          <a:noFill/>
          <a:ln w="22225">
            <a:solidFill>
              <a:schemeClr val="accent6"/>
            </a:solidFill>
            <a:prstDash val="solid"/>
            <a:tailEnd type="triangle"/>
          </a:ln>
        </p:spPr>
      </p:sp>
      <p:sp>
        <p:nvSpPr>
          <p:cNvPr id="11" name="Box"/>
          <p:cNvSpPr txBox="1"/>
          <p:nvPr/>
        </p:nvSpPr>
        <p:spPr>
          <a:xfrm>
            <a:off x="7406640" y="1463040"/>
            <a:ext cx="1920240" cy="731520"/>
          </a:xfrm>
          <a:prstGeom prst="roundRect">
            <a:avLst>
              <a:gd name="adj" fmla="val 12500"/>
            </a:avLst>
          </a:prstGeom>
          <a:solidFill>
            <a:schemeClr val="accent2"/>
          </a:solidFill>
          <a:ln>
            <a:solidFill>
              <a:schemeClr val="accent2"/>
            </a:solidFill>
          </a:ln>
        </p:spPr>
        <p:txBody>
          <a:bodyPr wrap="square" lIns="76200" tIns="76200" rIns="76200" bIns="76200" rtlCol="0" anchor="ctr"/>
          <a:lstStyle/>
          <a:p>
            <a:pPr algn="ctr" indent="0" marL="0">
              <a:buNone/>
            </a:pPr>
            <a:r>
              <a:rPr lang="en-US" sz="1400" b="1" dirty="0">
                <a:solidFill>
                  <a:schemeClr val="tx1"/>
                </a:solidFill>
              </a:rPr>
              <a:t>Lưu CSDL</a:t>
            </a:r>
            <a:endParaRPr lang="en-US" sz="1400" dirty="0"/>
          </a:p>
        </p:txBody>
      </p:sp>
      <p:sp>
        <p:nvSpPr>
          <p:cNvPr id="12" name="Arrow"/>
          <p:cNvSpPr/>
          <p:nvPr/>
        </p:nvSpPr>
        <p:spPr>
          <a:xfrm>
            <a:off x="9345168" y="1828800"/>
            <a:ext cx="329184" cy="0"/>
          </a:xfrm>
          <a:prstGeom prst="line">
            <a:avLst/>
          </a:prstGeom>
          <a:noFill/>
          <a:ln w="22225">
            <a:solidFill>
              <a:schemeClr val="accent6"/>
            </a:solidFill>
            <a:prstDash val="solid"/>
            <a:tailEnd type="triangle"/>
          </a:ln>
        </p:spPr>
      </p:sp>
      <p:sp>
        <p:nvSpPr>
          <p:cNvPr id="13" name="Box"/>
          <p:cNvSpPr txBox="1"/>
          <p:nvPr/>
        </p:nvSpPr>
        <p:spPr>
          <a:xfrm>
            <a:off x="9692640" y="1463040"/>
            <a:ext cx="1920240" cy="731520"/>
          </a:xfrm>
          <a:prstGeom prst="roundRect">
            <a:avLst>
              <a:gd name="adj" fmla="val 12500"/>
            </a:avLst>
          </a:prstGeom>
          <a:solidFill>
            <a:schemeClr val="bg2"/>
          </a:solidFill>
          <a:ln>
            <a:solidFill>
              <a:schemeClr val="bg2"/>
            </a:solidFill>
          </a:ln>
        </p:spPr>
        <p:txBody>
          <a:bodyPr wrap="square" lIns="76200" tIns="76200" rIns="76200" bIns="76200" rtlCol="0" anchor="ctr"/>
          <a:lstStyle/>
          <a:p>
            <a:pPr algn="ctr" indent="0" marL="0">
              <a:buNone/>
            </a:pPr>
            <a:r>
              <a:rPr lang="en-US" sz="1400" dirty="0">
                <a:solidFill>
                  <a:schemeClr val="tx1"/>
                </a:solidFill>
              </a:rPr>
              <a:t>Báo cáo / dashboard</a:t>
            </a:r>
            <a:endParaRPr lang="en-US" sz="1400" dirty="0"/>
          </a:p>
        </p:txBody>
      </p:sp>
      <p:sp>
        <p:nvSpPr>
          <p:cNvPr id="14" name="Icon circle"/>
          <p:cNvSpPr/>
          <p:nvPr/>
        </p:nvSpPr>
        <p:spPr>
          <a:xfrm>
            <a:off x="548640" y="2514600"/>
            <a:ext cx="502920" cy="502920"/>
          </a:xfrm>
          <a:prstGeom prst="ellipse">
            <a:avLst/>
          </a:prstGeom>
          <a:solidFill>
            <a:schemeClr val="accent1"/>
          </a:solidFill>
          <a:ln w="12700">
            <a:solidFill>
              <a:schemeClr val="accent1"/>
            </a:solidFill>
            <a:prstDash val="solid"/>
          </a:ln>
        </p:spPr>
      </p:sp>
      <p:pic>
        <p:nvPicPr>
          <p:cNvPr id="15" name="Image 0" descr="MousePointer icon">    </p:cNvPr>
          <p:cNvPicPr>
            <a:picLocks noChangeAspect="1"/>
          </p:cNvPicPr>
          <p:nvPr/>
        </p:nvPicPr>
        <p:blipFill>
          <a:blip r:embed="rId1"/>
          <a:stretch>
            <a:fillRect/>
          </a:stretch>
        </p:blipFill>
        <p:spPr>
          <a:xfrm>
            <a:off x="669341" y="2635301"/>
            <a:ext cx="261518" cy="261518"/>
          </a:xfrm>
          <a:prstGeom prst="rect">
            <a:avLst/>
          </a:prstGeom>
        </p:spPr>
      </p:pic>
      <p:sp>
        <p:nvSpPr>
          <p:cNvPr id="16" name="Text 12"/>
          <p:cNvSpPr txBox="1"/>
          <p:nvPr/>
        </p:nvSpPr>
        <p:spPr>
          <a:xfrm>
            <a:off x="1234440" y="2478024"/>
            <a:ext cx="5120640" cy="292608"/>
          </a:xfrm>
          <a:prstGeom prst="rect">
            <a:avLst/>
          </a:prstGeom>
          <a:noFill/>
          <a:ln/>
        </p:spPr>
        <p:txBody>
          <a:bodyPr wrap="square" lIns="0" tIns="0" rIns="0" bIns="0" rtlCol="0" anchor="t"/>
          <a:lstStyle/>
          <a:p>
            <a:pPr indent="0" marL="0">
              <a:buNone/>
            </a:pPr>
            <a:r>
              <a:rPr lang="en-US" sz="1500" b="1" dirty="0">
                <a:solidFill>
                  <a:schemeClr val="tx2"/>
                </a:solidFill>
              </a:rPr>
              <a:t>Event delegation</a:t>
            </a:r>
            <a:endParaRPr lang="en-US" sz="1500" dirty="0"/>
          </a:p>
        </p:txBody>
      </p:sp>
      <p:sp>
        <p:nvSpPr>
          <p:cNvPr id="17" name="Text 13"/>
          <p:cNvSpPr txBox="1"/>
          <p:nvPr/>
        </p:nvSpPr>
        <p:spPr>
          <a:xfrm>
            <a:off x="1234440" y="2788920"/>
            <a:ext cx="5120640" cy="457200"/>
          </a:xfrm>
          <a:prstGeom prst="rect">
            <a:avLst/>
          </a:prstGeom>
          <a:noFill/>
          <a:ln/>
        </p:spPr>
        <p:txBody>
          <a:bodyPr wrap="square" lIns="0" tIns="0" rIns="0" bIns="0" rtlCol="0" anchor="t"/>
          <a:lstStyle/>
          <a:p>
            <a:pPr indent="0" marL="0">
              <a:buNone/>
            </a:pPr>
            <a:r>
              <a:rPr lang="en-US" sz="1300" dirty="0">
                <a:solidFill>
                  <a:schemeClr val="tx1"/>
                </a:solidFill>
              </a:rPr>
              <a:t>một listener bắt click cho cả trang</a:t>
            </a:r>
            <a:endParaRPr lang="en-US" sz="1300" dirty="0"/>
          </a:p>
        </p:txBody>
      </p:sp>
      <p:sp>
        <p:nvSpPr>
          <p:cNvPr id="18" name="Icon circle"/>
          <p:cNvSpPr/>
          <p:nvPr/>
        </p:nvSpPr>
        <p:spPr>
          <a:xfrm>
            <a:off x="548640" y="3456432"/>
            <a:ext cx="502920" cy="502920"/>
          </a:xfrm>
          <a:prstGeom prst="ellipse">
            <a:avLst/>
          </a:prstGeom>
          <a:solidFill>
            <a:schemeClr val="accent1"/>
          </a:solidFill>
          <a:ln w="12700">
            <a:solidFill>
              <a:schemeClr val="accent1"/>
            </a:solidFill>
            <a:prstDash val="solid"/>
          </a:ln>
        </p:spPr>
      </p:sp>
      <p:pic>
        <p:nvPicPr>
          <p:cNvPr id="19" name="Image 1" descr="Eye icon">    </p:cNvPr>
          <p:cNvPicPr>
            <a:picLocks noChangeAspect="1"/>
          </p:cNvPicPr>
          <p:nvPr/>
        </p:nvPicPr>
        <p:blipFill>
          <a:blip r:embed="rId2"/>
          <a:stretch>
            <a:fillRect/>
          </a:stretch>
        </p:blipFill>
        <p:spPr>
          <a:xfrm>
            <a:off x="669341" y="3577133"/>
            <a:ext cx="261518" cy="261518"/>
          </a:xfrm>
          <a:prstGeom prst="rect">
            <a:avLst/>
          </a:prstGeom>
        </p:spPr>
      </p:pic>
      <p:sp>
        <p:nvSpPr>
          <p:cNvPr id="20" name="Text 15"/>
          <p:cNvSpPr txBox="1"/>
          <p:nvPr/>
        </p:nvSpPr>
        <p:spPr>
          <a:xfrm>
            <a:off x="1234440" y="3419856"/>
            <a:ext cx="5120640" cy="292608"/>
          </a:xfrm>
          <a:prstGeom prst="rect">
            <a:avLst/>
          </a:prstGeom>
          <a:noFill/>
          <a:ln/>
        </p:spPr>
        <p:txBody>
          <a:bodyPr wrap="square" lIns="0" tIns="0" rIns="0" bIns="0" rtlCol="0" anchor="t"/>
          <a:lstStyle/>
          <a:p>
            <a:pPr indent="0" marL="0">
              <a:buNone/>
            </a:pPr>
            <a:r>
              <a:rPr lang="en-US" sz="1500" b="1" dirty="0">
                <a:solidFill>
                  <a:schemeClr val="tx2"/>
                </a:solidFill>
              </a:rPr>
              <a:t>Page Visibility API</a:t>
            </a:r>
            <a:endParaRPr lang="en-US" sz="1500" dirty="0"/>
          </a:p>
        </p:txBody>
      </p:sp>
      <p:sp>
        <p:nvSpPr>
          <p:cNvPr id="21" name="Text 16"/>
          <p:cNvSpPr txBox="1"/>
          <p:nvPr/>
        </p:nvSpPr>
        <p:spPr>
          <a:xfrm>
            <a:off x="1234440" y="3730752"/>
            <a:ext cx="5120640" cy="457200"/>
          </a:xfrm>
          <a:prstGeom prst="rect">
            <a:avLst/>
          </a:prstGeom>
          <a:noFill/>
          <a:ln/>
        </p:spPr>
        <p:txBody>
          <a:bodyPr wrap="square" lIns="0" tIns="0" rIns="0" bIns="0" rtlCol="0" anchor="t"/>
          <a:lstStyle/>
          <a:p>
            <a:pPr indent="0" marL="0">
              <a:buNone/>
            </a:pPr>
            <a:r>
              <a:rPr lang="en-US" sz="1300" dirty="0">
                <a:solidFill>
                  <a:schemeClr val="tx1"/>
                </a:solidFill>
              </a:rPr>
              <a:t>visibilitychange: đo thời gian xem thực sự</a:t>
            </a:r>
            <a:endParaRPr lang="en-US" sz="1300" dirty="0"/>
          </a:p>
        </p:txBody>
      </p:sp>
      <p:sp>
        <p:nvSpPr>
          <p:cNvPr id="22" name="Icon circle"/>
          <p:cNvSpPr/>
          <p:nvPr/>
        </p:nvSpPr>
        <p:spPr>
          <a:xfrm>
            <a:off x="548640" y="4398264"/>
            <a:ext cx="502920" cy="502920"/>
          </a:xfrm>
          <a:prstGeom prst="ellipse">
            <a:avLst/>
          </a:prstGeom>
          <a:solidFill>
            <a:schemeClr val="accent1"/>
          </a:solidFill>
          <a:ln w="12700">
            <a:solidFill>
              <a:schemeClr val="accent1"/>
            </a:solidFill>
            <a:prstDash val="solid"/>
          </a:ln>
        </p:spPr>
      </p:sp>
      <p:pic>
        <p:nvPicPr>
          <p:cNvPr id="23" name="Image 2" descr="Route icon">    </p:cNvPr>
          <p:cNvPicPr>
            <a:picLocks noChangeAspect="1"/>
          </p:cNvPicPr>
          <p:nvPr/>
        </p:nvPicPr>
        <p:blipFill>
          <a:blip r:embed="rId3"/>
          <a:stretch>
            <a:fillRect/>
          </a:stretch>
        </p:blipFill>
        <p:spPr>
          <a:xfrm>
            <a:off x="669341" y="4518965"/>
            <a:ext cx="261518" cy="261518"/>
          </a:xfrm>
          <a:prstGeom prst="rect">
            <a:avLst/>
          </a:prstGeom>
        </p:spPr>
      </p:pic>
      <p:sp>
        <p:nvSpPr>
          <p:cNvPr id="24" name="Text 18"/>
          <p:cNvSpPr txBox="1"/>
          <p:nvPr/>
        </p:nvSpPr>
        <p:spPr>
          <a:xfrm>
            <a:off x="1234440" y="4361688"/>
            <a:ext cx="5120640" cy="292608"/>
          </a:xfrm>
          <a:prstGeom prst="rect">
            <a:avLst/>
          </a:prstGeom>
          <a:noFill/>
          <a:ln/>
        </p:spPr>
        <p:txBody>
          <a:bodyPr wrap="square" lIns="0" tIns="0" rIns="0" bIns="0" rtlCol="0" anchor="t"/>
          <a:lstStyle/>
          <a:p>
            <a:pPr indent="0" marL="0">
              <a:buNone/>
            </a:pPr>
            <a:r>
              <a:rPr lang="en-US" sz="1500" b="1" dirty="0">
                <a:solidFill>
                  <a:schemeClr val="tx2"/>
                </a:solidFill>
              </a:rPr>
              <a:t>fetch keepalive / sendBeacon</a:t>
            </a:r>
            <a:endParaRPr lang="en-US" sz="1500" dirty="0"/>
          </a:p>
        </p:txBody>
      </p:sp>
      <p:sp>
        <p:nvSpPr>
          <p:cNvPr id="25" name="Text 19"/>
          <p:cNvSpPr txBox="1"/>
          <p:nvPr/>
        </p:nvSpPr>
        <p:spPr>
          <a:xfrm>
            <a:off x="1234440" y="4672584"/>
            <a:ext cx="5120640" cy="457200"/>
          </a:xfrm>
          <a:prstGeom prst="rect">
            <a:avLst/>
          </a:prstGeom>
          <a:noFill/>
          <a:ln/>
        </p:spPr>
        <p:txBody>
          <a:bodyPr wrap="square" lIns="0" tIns="0" rIns="0" bIns="0" rtlCol="0" anchor="t"/>
          <a:lstStyle/>
          <a:p>
            <a:pPr indent="0" marL="0">
              <a:buNone/>
            </a:pPr>
            <a:r>
              <a:rPr lang="en-US" sz="1300" dirty="0">
                <a:solidFill>
                  <a:schemeClr val="tx1"/>
                </a:solidFill>
              </a:rPr>
              <a:t>gửi được cả khi đóng tab</a:t>
            </a:r>
            <a:endParaRPr lang="en-US" sz="1300" dirty="0"/>
          </a:p>
        </p:txBody>
      </p:sp>
      <p:sp>
        <p:nvSpPr>
          <p:cNvPr id="26" name="Icon circle"/>
          <p:cNvSpPr/>
          <p:nvPr/>
        </p:nvSpPr>
        <p:spPr>
          <a:xfrm>
            <a:off x="548640" y="5340096"/>
            <a:ext cx="502920" cy="502920"/>
          </a:xfrm>
          <a:prstGeom prst="ellipse">
            <a:avLst/>
          </a:prstGeom>
          <a:solidFill>
            <a:schemeClr val="accent1"/>
          </a:solidFill>
          <a:ln w="12700">
            <a:solidFill>
              <a:schemeClr val="accent1"/>
            </a:solidFill>
            <a:prstDash val="solid"/>
          </a:ln>
        </p:spPr>
      </p:sp>
      <p:pic>
        <p:nvPicPr>
          <p:cNvPr id="27" name="Image 3" descr="ListUl icon">    </p:cNvPr>
          <p:cNvPicPr>
            <a:picLocks noChangeAspect="1"/>
          </p:cNvPicPr>
          <p:nvPr/>
        </p:nvPicPr>
        <p:blipFill>
          <a:blip r:embed="rId4"/>
          <a:stretch>
            <a:fillRect/>
          </a:stretch>
        </p:blipFill>
        <p:spPr>
          <a:xfrm>
            <a:off x="669341" y="5460797"/>
            <a:ext cx="261518" cy="261518"/>
          </a:xfrm>
          <a:prstGeom prst="rect">
            <a:avLst/>
          </a:prstGeom>
        </p:spPr>
      </p:pic>
      <p:sp>
        <p:nvSpPr>
          <p:cNvPr id="28" name="Text 21"/>
          <p:cNvSpPr txBox="1"/>
          <p:nvPr/>
        </p:nvSpPr>
        <p:spPr>
          <a:xfrm>
            <a:off x="1234440" y="5303520"/>
            <a:ext cx="5120640" cy="292608"/>
          </a:xfrm>
          <a:prstGeom prst="rect">
            <a:avLst/>
          </a:prstGeom>
          <a:noFill/>
          <a:ln/>
        </p:spPr>
        <p:txBody>
          <a:bodyPr wrap="square" lIns="0" tIns="0" rIns="0" bIns="0" rtlCol="0" anchor="t"/>
          <a:lstStyle/>
          <a:p>
            <a:pPr indent="0" marL="0">
              <a:buNone/>
            </a:pPr>
            <a:r>
              <a:rPr lang="en-US" sz="1500" b="1" dirty="0">
                <a:solidFill>
                  <a:schemeClr val="tx2"/>
                </a:solidFill>
              </a:rPr>
              <a:t>IntersectionObserver</a:t>
            </a:r>
            <a:endParaRPr lang="en-US" sz="1500" dirty="0"/>
          </a:p>
        </p:txBody>
      </p:sp>
      <p:sp>
        <p:nvSpPr>
          <p:cNvPr id="29" name="Text 22"/>
          <p:cNvSpPr txBox="1"/>
          <p:nvPr/>
        </p:nvSpPr>
        <p:spPr>
          <a:xfrm>
            <a:off x="1234440" y="5614416"/>
            <a:ext cx="5120640" cy="457200"/>
          </a:xfrm>
          <a:prstGeom prst="rect">
            <a:avLst/>
          </a:prstGeom>
          <a:noFill/>
          <a:ln/>
        </p:spPr>
        <p:txBody>
          <a:bodyPr wrap="square" lIns="0" tIns="0" rIns="0" bIns="0" rtlCol="0" anchor="t"/>
          <a:lstStyle/>
          <a:p>
            <a:pPr indent="0" marL="0">
              <a:buNone/>
            </a:pPr>
            <a:r>
              <a:rPr lang="en-US" sz="1300" dirty="0">
                <a:solidFill>
                  <a:schemeClr val="tx1"/>
                </a:solidFill>
              </a:rPr>
              <a:t>đo hiển thị; gom lô + debounce giảm request</a:t>
            </a:r>
            <a:endParaRPr lang="en-US" sz="1300" dirty="0"/>
          </a:p>
        </p:txBody>
      </p:sp>
      <p:sp>
        <p:nvSpPr>
          <p:cNvPr id="30" name="Code panel time-on-page.js"/>
          <p:cNvSpPr/>
          <p:nvPr/>
        </p:nvSpPr>
        <p:spPr>
          <a:xfrm>
            <a:off x="6492240" y="2514600"/>
            <a:ext cx="5148072" cy="3017520"/>
          </a:xfrm>
          <a:prstGeom prst="roundRect">
            <a:avLst>
              <a:gd name="adj" fmla="val 2424"/>
            </a:avLst>
          </a:prstGeom>
          <a:solidFill>
            <a:schemeClr val="tx2"/>
          </a:solidFill>
          <a:ln w="12700">
            <a:solidFill>
              <a:schemeClr val="tx2"/>
            </a:solidFill>
            <a:prstDash val="solid"/>
          </a:ln>
        </p:spPr>
      </p:sp>
      <p:sp>
        <p:nvSpPr>
          <p:cNvPr id="31" name="Text 24"/>
          <p:cNvSpPr txBox="1"/>
          <p:nvPr/>
        </p:nvSpPr>
        <p:spPr>
          <a:xfrm>
            <a:off x="6675120" y="2606040"/>
            <a:ext cx="4782312" cy="237744"/>
          </a:xfrm>
          <a:prstGeom prst="rect">
            <a:avLst/>
          </a:prstGeom>
          <a:noFill/>
          <a:ln/>
        </p:spPr>
        <p:txBody>
          <a:bodyPr wrap="square" lIns="0" tIns="0" rIns="0" bIns="0" rtlCol="0" anchor="ctr"/>
          <a:lstStyle/>
          <a:p>
            <a:pPr indent="0" marL="0">
              <a:buNone/>
            </a:pPr>
            <a:r>
              <a:rPr lang="en-US" sz="1100" b="1" dirty="0">
                <a:solidFill>
                  <a:schemeClr val="accent5"/>
                </a:solidFill>
              </a:rPr>
              <a:t>time-on-page.js</a:t>
            </a:r>
            <a:endParaRPr lang="en-US" sz="1100" dirty="0"/>
          </a:p>
        </p:txBody>
      </p:sp>
      <p:sp>
        <p:nvSpPr>
          <p:cNvPr id="32" name="Code time-on-page.js"/>
          <p:cNvSpPr txBox="1"/>
          <p:nvPr/>
        </p:nvSpPr>
        <p:spPr>
          <a:xfrm>
            <a:off x="6675120" y="2898648"/>
            <a:ext cx="4782312" cy="2560320"/>
          </a:xfrm>
          <a:prstGeom prst="rect">
            <a:avLst/>
          </a:prstGeom>
          <a:noFill/>
          <a:ln/>
        </p:spPr>
        <p:txBody>
          <a:bodyPr wrap="square" lIns="0" tIns="0" rIns="0" bIns="0" rtlCol="0" anchor="t"/>
          <a:lstStyle/>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let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shown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Date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now</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vis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0</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addEventListener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'visibilitychange'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&gt;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if</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document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hidden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vis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Date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now</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shown</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else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shown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Date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now</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addEventListener</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F4B393"/>
                </a:solidFill>
                <a:latin typeface="Courier New" pitchFamily="34" charset="0"/>
                <a:ea typeface="Courier New" pitchFamily="34" charset="-122"/>
                <a:cs typeface="Courier New" pitchFamily="34" charset="-120"/>
              </a:rPr>
              <a:t>'pagehide'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&gt;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if</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document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hidden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vis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Date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now</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shown</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send</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type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F4B393"/>
                </a:solidFill>
                <a:latin typeface="Courier New" pitchFamily="34" charset="0"/>
                <a:ea typeface="Courier New" pitchFamily="34" charset="-122"/>
                <a:cs typeface="Courier New" pitchFamily="34" charset="-120"/>
              </a:rPr>
              <a:t>'TIME_ON_PAGE'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durationMs</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FF7F5"/>
                </a:solidFill>
                <a:latin typeface="Courier New" pitchFamily="34" charset="0"/>
                <a:ea typeface="Courier New" pitchFamily="34" charset="-122"/>
                <a:cs typeface="Courier New" pitchFamily="34" charset="-120"/>
              </a:rPr>
              <a:t>vis</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33" name="Text 26"/>
          <p:cNvSpPr txBox="1"/>
          <p:nvPr/>
        </p:nvSpPr>
        <p:spPr>
          <a:xfrm>
            <a:off x="6492240" y="5669280"/>
            <a:ext cx="5148072" cy="320040"/>
          </a:xfrm>
          <a:prstGeom prst="rect">
            <a:avLst/>
          </a:prstGeom>
          <a:noFill/>
          <a:ln/>
        </p:spPr>
        <p:txBody>
          <a:bodyPr wrap="square" lIns="0" tIns="0" rIns="0" bIns="0" rtlCol="0" anchor="t"/>
          <a:lstStyle/>
          <a:p>
            <a:pPr indent="0" marL="0">
              <a:buNone/>
            </a:pPr>
            <a:r>
              <a:rPr lang="en-US" sz="1200" i="1" dirty="0">
                <a:solidFill>
                  <a:schemeClr val="accent6"/>
                </a:solidFill>
              </a:rPr>
              <a:t>send(): fetch POST JSON tới /api/tracking</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Công cụ, quyền riêng tư và chất lượng dữ liệu</a:t>
            </a:r>
            <a:endParaRPr lang="en-US" sz="3200" dirty="0"/>
          </a:p>
        </p:txBody>
      </p:sp>
      <p:sp>
        <p:nvSpPr>
          <p:cNvPr id="3" name="Section chip"/>
          <p:cNvSpPr txBox="1"/>
          <p:nvPr/>
        </p:nvSpPr>
        <p:spPr>
          <a:xfrm>
            <a:off x="548640" y="246888"/>
            <a:ext cx="1764792"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1C · USER TRACKING</a:t>
            </a:r>
            <a:endParaRPr lang="en-US" sz="1100" dirty="0"/>
          </a:p>
        </p:txBody>
      </p:sp>
      <p:sp>
        <p:nvSpPr>
          <p:cNvPr id="5" name="Text 2"/>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500" b="1" dirty="0">
                <a:solidFill>
                  <a:schemeClr val="tx2"/>
                </a:solidFill>
              </a:rPr>
              <a:t>Công cụ có sẵn và tự xây</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2011680"/>
                <a:gridCol w="3383280"/>
              </a:tblGrid>
              <a:tr h="713232">
                <a:tc>
                  <a:txBody>
                    <a:bodyPr/>
                    <a:lstStyle/>
                    <a:p>
                      <a:pPr indent="0" marL="0">
                        <a:buNone/>
                      </a:pPr>
                      <a:r>
                        <a:rPr lang="en-US" sz="1400" b="1" dirty="0">
                          <a:solidFill>
                            <a:srgbClr val="FFFFFF"/>
                          </a:solidFill>
                        </a:rPr>
                        <a:t>Giải pháp</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400" b="1" dirty="0">
                          <a:solidFill>
                            <a:srgbClr val="FFFFFF"/>
                          </a:solidFill>
                        </a:rPr>
                        <a:t>Điểm mạnh</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r>
              <a:tr h="713232">
                <a:tc>
                  <a:txBody>
                    <a:bodyPr/>
                    <a:lstStyle/>
                    <a:p>
                      <a:pPr indent="0" marL="0">
                        <a:buNone/>
                      </a:pPr>
                      <a:r>
                        <a:rPr lang="en-US" sz="1400" b="1" dirty="0">
                          <a:solidFill>
                            <a:srgbClr val="14201E"/>
                          </a:solidFill>
                        </a:rPr>
                        <a:t>Google Analytics 4</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400" dirty="0">
                          <a:solidFill>
                            <a:srgbClr val="14201E"/>
                          </a:solidFill>
                        </a:rPr>
                        <a:t>Miễn phí, nhanh; dữ liệu nằm ở bên ngoài</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713232">
                <a:tc>
                  <a:txBody>
                    <a:bodyPr/>
                    <a:lstStyle/>
                    <a:p>
                      <a:pPr indent="0" marL="0">
                        <a:buNone/>
                      </a:pPr>
                      <a:r>
                        <a:rPr lang="en-US" sz="1400" b="1" dirty="0">
                          <a:solidFill>
                            <a:srgbClr val="14201E"/>
                          </a:solidFill>
                        </a:rPr>
                        <a:t>Matomo</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400" dirty="0">
                          <a:solidFill>
                            <a:srgbClr val="14201E"/>
                          </a:solidFill>
                        </a:rPr>
                        <a:t>Self-host, kiểm soát hoàn toàn dữ liệu</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4201E"/>
                          </a:solidFill>
                        </a:rPr>
                        <a:t>Hotjar / MS Clarity</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400" dirty="0">
                          <a:solidFill>
                            <a:srgbClr val="14201E"/>
                          </a:solidFill>
                        </a:rPr>
                        <a:t>Heatmap, ghi lại phiên (session replay)</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713232">
                <a:tc>
                  <a:txBody>
                    <a:bodyPr/>
                    <a:lstStyle/>
                    <a:p>
                      <a:pPr indent="0" marL="0">
                        <a:buNone/>
                      </a:pPr>
                      <a:r>
                        <a:rPr lang="en-US" sz="1400" b="1" dirty="0">
                          <a:solidFill>
                            <a:srgbClr val="14201E"/>
                          </a:solidFill>
                        </a:rPr>
                        <a:t>PostHog / Mixpanel</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400" dirty="0">
                          <a:solidFill>
                            <a:srgbClr val="14201E"/>
                          </a:solidFill>
                        </a:rPr>
                        <a:t>Product analytics, funnel, cohort</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4201E"/>
                          </a:solidFill>
                        </a:rPr>
                        <a:t>Tự xây (user_events)</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400" dirty="0">
                          <a:solidFill>
                            <a:srgbClr val="14201E"/>
                          </a:solidFill>
                        </a:rPr>
                        <a:t>Khớp nghiệp vụ, join với bookings; tốn công</a:t>
                      </a:r>
                      <a:endParaRPr lang="en-US" sz="14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bl>
          </a:graphicData>
        </a:graphic>
      </p:graphicFrame>
      <p:sp>
        <p:nvSpPr>
          <p:cNvPr id="7" name="Card"/>
          <p:cNvSpPr/>
          <p:nvPr/>
        </p:nvSpPr>
        <p:spPr>
          <a:xfrm>
            <a:off x="6263640" y="1417320"/>
            <a:ext cx="5376672" cy="4846320"/>
          </a:xfrm>
          <a:prstGeom prst="roundRect">
            <a:avLst>
              <a:gd name="adj" fmla="val 1887"/>
            </a:avLst>
          </a:prstGeom>
          <a:solidFill>
            <a:schemeClr val="bg2"/>
          </a:solidFill>
          <a:ln w="12700">
            <a:solidFill>
              <a:schemeClr val="bg2"/>
            </a:solidFill>
            <a:prstDash val="solid"/>
          </a:ln>
        </p:spPr>
      </p:sp>
      <p:sp>
        <p:nvSpPr>
          <p:cNvPr id="8" name="Icon circle"/>
          <p:cNvSpPr/>
          <p:nvPr/>
        </p:nvSpPr>
        <p:spPr>
          <a:xfrm>
            <a:off x="6492240" y="1600200"/>
            <a:ext cx="502920" cy="502920"/>
          </a:xfrm>
          <a:prstGeom prst="ellipse">
            <a:avLst/>
          </a:prstGeom>
          <a:solidFill>
            <a:schemeClr val="accent1"/>
          </a:solidFill>
          <a:ln w="12700">
            <a:solidFill>
              <a:schemeClr val="accent1"/>
            </a:solidFill>
            <a:prstDash val="solid"/>
          </a:ln>
        </p:spPr>
      </p:sp>
      <p:pic>
        <p:nvPicPr>
          <p:cNvPr id="9" name="Image 0" descr="ShieldAlt icon">    </p:cNvPr>
          <p:cNvPicPr>
            <a:picLocks noChangeAspect="1"/>
          </p:cNvPicPr>
          <p:nvPr/>
        </p:nvPicPr>
        <p:blipFill>
          <a:blip r:embed="rId1"/>
          <a:stretch>
            <a:fillRect/>
          </a:stretch>
        </p:blipFill>
        <p:spPr>
          <a:xfrm>
            <a:off x="6612941" y="1720901"/>
            <a:ext cx="261518" cy="261518"/>
          </a:xfrm>
          <a:prstGeom prst="rect">
            <a:avLst/>
          </a:prstGeom>
        </p:spPr>
      </p:pic>
      <p:sp>
        <p:nvSpPr>
          <p:cNvPr id="10" name="Text 5"/>
          <p:cNvSpPr txBox="1"/>
          <p:nvPr/>
        </p:nvSpPr>
        <p:spPr>
          <a:xfrm>
            <a:off x="7132320" y="1600200"/>
            <a:ext cx="4389120" cy="502920"/>
          </a:xfrm>
          <a:prstGeom prst="rect">
            <a:avLst/>
          </a:prstGeom>
          <a:noFill/>
          <a:ln/>
        </p:spPr>
        <p:txBody>
          <a:bodyPr wrap="square" lIns="0" tIns="0" rIns="0" bIns="0" rtlCol="0" anchor="ctr"/>
          <a:lstStyle/>
          <a:p>
            <a:pPr indent="0" marL="0">
              <a:buNone/>
            </a:pPr>
            <a:r>
              <a:rPr lang="en-US" sz="1600" b="1" dirty="0">
                <a:solidFill>
                  <a:schemeClr val="tx2"/>
                </a:solidFill>
              </a:rPr>
              <a:t>Quyền riêng tư &amp; chất lượng dữ liệu</a:t>
            </a:r>
            <a:endParaRPr lang="en-US" sz="1600" dirty="0"/>
          </a:p>
        </p:txBody>
      </p:sp>
      <p:sp>
        <p:nvSpPr>
          <p:cNvPr id="11" name="Text 6"/>
          <p:cNvSpPr txBox="1"/>
          <p:nvPr/>
        </p:nvSpPr>
        <p:spPr>
          <a:xfrm>
            <a:off x="6492240" y="2331720"/>
            <a:ext cx="4937760" cy="3840480"/>
          </a:xfrm>
          <a:prstGeom prst="rect">
            <a:avLst/>
          </a:prstGeom>
          <a:noFill/>
          <a:ln/>
        </p:spPr>
        <p:txBody>
          <a:bodyPr wrap="square" lIns="0" tIns="0" rIns="0" bIns="0" rtlCol="0" anchor="t"/>
          <a:lstStyle/>
          <a:p>
            <a:pPr marL="177800" indent="-177800">
              <a:spcAft>
                <a:spcPts val="1000"/>
              </a:spcAft>
              <a:buSzPct val="100000"/>
              <a:buChar char="•"/>
            </a:pPr>
            <a:r>
              <a:rPr lang="en-US" sz="1500" b="1" dirty="0">
                <a:solidFill>
                  <a:schemeClr val="tx1"/>
                </a:solidFill>
              </a:rPr>
              <a:t>Thông báo &amp; xin đồng ý </a:t>
            </a:r>
            <a:r>
              <a:rPr lang="en-US" sz="1500" dirty="0">
                <a:solidFill>
                  <a:schemeClr val="tx1"/>
                </a:solidFill>
              </a:rPr>
              <a:t>(consent); tuân thủ Nghị định 13/2023/NĐ-CP</a:t>
            </a:r>
            <a:endParaRPr lang="en-US" sz="1500" dirty="0"/>
          </a:p>
          <a:p>
            <a:pPr marL="177800" indent="-177800">
              <a:spcAft>
                <a:spcPts val="1000"/>
              </a:spcAft>
              <a:buSzPct val="100000"/>
              <a:buChar char="•"/>
            </a:pPr>
            <a:r>
              <a:rPr lang="en-US" sz="1500" b="1" dirty="0">
                <a:solidFill>
                  <a:schemeClr val="tx1"/>
                </a:solidFill>
              </a:rPr>
              <a:t>Thu thập tối thiểu: </a:t>
            </a:r>
            <a:r>
              <a:rPr lang="en-US" sz="1500" dirty="0">
                <a:solidFill>
                  <a:schemeClr val="tx1"/>
                </a:solidFill>
              </a:rPr>
              <a:t>dùng session id thay vì thông tin cá nhân</a:t>
            </a:r>
            <a:endParaRPr lang="en-US" sz="1500" dirty="0"/>
          </a:p>
          <a:p>
            <a:pPr marL="177800" indent="-177800">
              <a:spcAft>
                <a:spcPts val="1000"/>
              </a:spcAft>
              <a:buSzPct val="100000"/>
              <a:buChar char="•"/>
            </a:pPr>
            <a:r>
              <a:rPr lang="en-US" sz="1500" b="1" dirty="0">
                <a:solidFill>
                  <a:schemeClr val="tx1"/>
                </a:solidFill>
              </a:rPr>
              <a:t>Không tin client: </a:t>
            </a:r>
            <a:r>
              <a:rPr lang="en-US" sz="1500" dirty="0">
                <a:solidFill>
                  <a:schemeClr val="tx1"/>
                </a:solidFill>
              </a:rPr>
              <a:t>server tự xác định user/session, kiểm tra loại sự kiện</a:t>
            </a:r>
            <a:endParaRPr lang="en-US" sz="1500" dirty="0"/>
          </a:p>
          <a:p>
            <a:pPr marL="177800" indent="-177800">
              <a:spcAft>
                <a:spcPts val="1000"/>
              </a:spcAft>
              <a:buSzPct val="100000"/>
              <a:buChar char="•"/>
            </a:pPr>
            <a:r>
              <a:rPr lang="en-US" sz="1500" b="1" dirty="0">
                <a:solidFill>
                  <a:schemeClr val="tx1"/>
                </a:solidFill>
              </a:rPr>
              <a:t>Lọc bot, rate limit </a:t>
            </a:r>
            <a:r>
              <a:rPr lang="en-US" sz="1500" dirty="0">
                <a:solidFill>
                  <a:schemeClr val="tx1"/>
                </a:solidFill>
              </a:rPr>
              <a:t>để số liệu không bị nhiễu</a:t>
            </a:r>
            <a:endParaRPr lang="en-US" sz="1500" dirty="0"/>
          </a:p>
          <a:p>
            <a:pPr marL="177800" indent="-177800">
              <a:spcAft>
                <a:spcPts val="1000"/>
              </a:spcAft>
              <a:buSzPct val="100000"/>
              <a:buChar char="•"/>
            </a:pPr>
            <a:r>
              <a:rPr lang="en-US" sz="1500" b="1" dirty="0">
                <a:solidFill>
                  <a:schemeClr val="tx1"/>
                </a:solidFill>
              </a:rPr>
              <a:t>Chính sách lưu trữ: </a:t>
            </a:r>
            <a:r>
              <a:rPr lang="en-US" sz="1500" dirty="0">
                <a:solidFill>
                  <a:schemeClr val="tx1"/>
                </a:solidFill>
              </a:rPr>
              <a:t>xoá hoặc tổng hợp dữ liệu cũ sau N ngày</a:t>
            </a:r>
            <a:endParaRPr lang="en-US" sz="1500" dirty="0"/>
          </a:p>
          <a:p>
            <a:pPr marL="177800" indent="-177800">
              <a:spcAft>
                <a:spcPts val="1000"/>
              </a:spcAft>
              <a:buSzPct val="100000"/>
              <a:buChar char="•"/>
            </a:pPr>
            <a:r>
              <a:rPr lang="en-US" sz="1500" b="1" dirty="0">
                <a:solidFill>
                  <a:schemeClr val="tx1"/>
                </a:solidFill>
              </a:rPr>
              <a:t>Tách khỏi luồng nghiệp vụ: </a:t>
            </a:r>
            <a:r>
              <a:rPr lang="en-US" sz="1500" dirty="0">
                <a:solidFill>
                  <a:schemeClr val="tx1"/>
                </a:solidFill>
              </a:rPr>
              <a:t>lỗi tracking không làm hỏng việc đặt tour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Hiện trạng dự án IUH Tour Booking</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ard"/>
          <p:cNvSpPr/>
          <p:nvPr/>
        </p:nvSpPr>
        <p:spPr>
          <a:xfrm>
            <a:off x="548640" y="1463040"/>
            <a:ext cx="2468880" cy="1097280"/>
          </a:xfrm>
          <a:prstGeom prst="roundRect">
            <a:avLst>
              <a:gd name="adj" fmla="val 8333"/>
            </a:avLst>
          </a:prstGeom>
          <a:solidFill>
            <a:schemeClr val="bg2"/>
          </a:solidFill>
          <a:ln w="12700">
            <a:solidFill>
              <a:schemeClr val="bg2"/>
            </a:solidFill>
            <a:prstDash val="solid"/>
          </a:ln>
        </p:spPr>
      </p:sp>
      <p:sp>
        <p:nvSpPr>
          <p:cNvPr id="6" name="Text 3"/>
          <p:cNvSpPr txBox="1"/>
          <p:nvPr/>
        </p:nvSpPr>
        <p:spPr>
          <a:xfrm>
            <a:off x="685800" y="1572768"/>
            <a:ext cx="2194560" cy="502920"/>
          </a:xfrm>
          <a:prstGeom prst="rect">
            <a:avLst/>
          </a:prstGeom>
          <a:noFill/>
          <a:ln/>
        </p:spPr>
        <p:txBody>
          <a:bodyPr wrap="square" lIns="0" tIns="0" rIns="0" bIns="0" rtlCol="0" anchor="t"/>
          <a:lstStyle/>
          <a:p>
            <a:pPr indent="0" marL="0">
              <a:buNone/>
            </a:pPr>
            <a:r>
              <a:rPr lang="en-US" sz="1400" b="1" dirty="0">
                <a:solidFill>
                  <a:schemeClr val="tx2"/>
                </a:solidFill>
              </a:rPr>
              <a:t>Spring Boot 3.5.16</a:t>
            </a:r>
            <a:endParaRPr lang="en-US" sz="1400" dirty="0"/>
          </a:p>
        </p:txBody>
      </p:sp>
      <p:sp>
        <p:nvSpPr>
          <p:cNvPr id="7" name="Text 4"/>
          <p:cNvSpPr txBox="1"/>
          <p:nvPr/>
        </p:nvSpPr>
        <p:spPr>
          <a:xfrm>
            <a:off x="685800" y="2103120"/>
            <a:ext cx="2194560" cy="411480"/>
          </a:xfrm>
          <a:prstGeom prst="rect">
            <a:avLst/>
          </a:prstGeom>
          <a:noFill/>
          <a:ln/>
        </p:spPr>
        <p:txBody>
          <a:bodyPr wrap="square" lIns="0" tIns="0" rIns="0" bIns="0" rtlCol="0" anchor="t"/>
          <a:lstStyle/>
          <a:p>
            <a:pPr indent="0" marL="0">
              <a:buNone/>
            </a:pPr>
            <a:r>
              <a:rPr lang="en-US" sz="1200" dirty="0">
                <a:solidFill>
                  <a:schemeClr val="accent6"/>
                </a:solidFill>
              </a:rPr>
              <a:t>Java 21, Maven</a:t>
            </a:r>
            <a:endParaRPr lang="en-US" sz="1200" dirty="0"/>
          </a:p>
        </p:txBody>
      </p:sp>
      <p:sp>
        <p:nvSpPr>
          <p:cNvPr id="8" name="Card"/>
          <p:cNvSpPr/>
          <p:nvPr/>
        </p:nvSpPr>
        <p:spPr>
          <a:xfrm>
            <a:off x="3154680" y="1463040"/>
            <a:ext cx="2468880" cy="1097280"/>
          </a:xfrm>
          <a:prstGeom prst="roundRect">
            <a:avLst>
              <a:gd name="adj" fmla="val 8333"/>
            </a:avLst>
          </a:prstGeom>
          <a:solidFill>
            <a:schemeClr val="bg2"/>
          </a:solidFill>
          <a:ln w="12700">
            <a:solidFill>
              <a:schemeClr val="bg2"/>
            </a:solidFill>
            <a:prstDash val="solid"/>
          </a:ln>
        </p:spPr>
      </p:sp>
      <p:sp>
        <p:nvSpPr>
          <p:cNvPr id="9" name="Text 6"/>
          <p:cNvSpPr txBox="1"/>
          <p:nvPr/>
        </p:nvSpPr>
        <p:spPr>
          <a:xfrm>
            <a:off x="3291840" y="1572768"/>
            <a:ext cx="2194560" cy="502920"/>
          </a:xfrm>
          <a:prstGeom prst="rect">
            <a:avLst/>
          </a:prstGeom>
          <a:noFill/>
          <a:ln/>
        </p:spPr>
        <p:txBody>
          <a:bodyPr wrap="square" lIns="0" tIns="0" rIns="0" bIns="0" rtlCol="0" anchor="t"/>
          <a:lstStyle/>
          <a:p>
            <a:pPr indent="0" marL="0">
              <a:buNone/>
            </a:pPr>
            <a:r>
              <a:rPr lang="en-US" sz="1400" b="1" dirty="0">
                <a:solidFill>
                  <a:schemeClr val="tx2"/>
                </a:solidFill>
              </a:rPr>
              <a:t>SQL Server · 17 bảng</a:t>
            </a:r>
            <a:endParaRPr lang="en-US" sz="1400" dirty="0"/>
          </a:p>
        </p:txBody>
      </p:sp>
      <p:sp>
        <p:nvSpPr>
          <p:cNvPr id="10" name="Text 7"/>
          <p:cNvSpPr txBox="1"/>
          <p:nvPr/>
        </p:nvSpPr>
        <p:spPr>
          <a:xfrm>
            <a:off x="3291840" y="2103120"/>
            <a:ext cx="2194560" cy="411480"/>
          </a:xfrm>
          <a:prstGeom prst="rect">
            <a:avLst/>
          </a:prstGeom>
          <a:noFill/>
          <a:ln/>
        </p:spPr>
        <p:txBody>
          <a:bodyPr wrap="square" lIns="0" tIns="0" rIns="0" bIns="0" rtlCol="0" anchor="t"/>
          <a:lstStyle/>
          <a:p>
            <a:pPr indent="0" marL="0">
              <a:buNone/>
            </a:pPr>
            <a:r>
              <a:rPr lang="en-US" sz="1200" dirty="0">
                <a:solidFill>
                  <a:schemeClr val="accent6"/>
                </a:solidFill>
              </a:rPr>
              <a:t>JPA/Hibernate, ddl-auto: validate</a:t>
            </a:r>
            <a:endParaRPr lang="en-US" sz="1200" dirty="0"/>
          </a:p>
        </p:txBody>
      </p:sp>
      <p:sp>
        <p:nvSpPr>
          <p:cNvPr id="11" name="Card"/>
          <p:cNvSpPr/>
          <p:nvPr/>
        </p:nvSpPr>
        <p:spPr>
          <a:xfrm>
            <a:off x="548640" y="2697480"/>
            <a:ext cx="2468880" cy="1097280"/>
          </a:xfrm>
          <a:prstGeom prst="roundRect">
            <a:avLst>
              <a:gd name="adj" fmla="val 8333"/>
            </a:avLst>
          </a:prstGeom>
          <a:solidFill>
            <a:schemeClr val="bg2"/>
          </a:solidFill>
          <a:ln w="12700">
            <a:solidFill>
              <a:schemeClr val="bg2"/>
            </a:solidFill>
            <a:prstDash val="solid"/>
          </a:ln>
        </p:spPr>
      </p:sp>
      <p:sp>
        <p:nvSpPr>
          <p:cNvPr id="12" name="Text 9"/>
          <p:cNvSpPr txBox="1"/>
          <p:nvPr/>
        </p:nvSpPr>
        <p:spPr>
          <a:xfrm>
            <a:off x="685800" y="2807208"/>
            <a:ext cx="2194560" cy="502920"/>
          </a:xfrm>
          <a:prstGeom prst="rect">
            <a:avLst/>
          </a:prstGeom>
          <a:noFill/>
          <a:ln/>
        </p:spPr>
        <p:txBody>
          <a:bodyPr wrap="square" lIns="0" tIns="0" rIns="0" bIns="0" rtlCol="0" anchor="t"/>
          <a:lstStyle/>
          <a:p>
            <a:pPr indent="0" marL="0">
              <a:buNone/>
            </a:pPr>
            <a:r>
              <a:rPr lang="en-US" sz="1400" b="1" dirty="0">
                <a:solidFill>
                  <a:schemeClr val="tx2"/>
                </a:solidFill>
              </a:rPr>
              <a:t>Thymeleaf + Bootstrap 5</a:t>
            </a:r>
            <a:endParaRPr lang="en-US" sz="1400" dirty="0"/>
          </a:p>
        </p:txBody>
      </p:sp>
      <p:sp>
        <p:nvSpPr>
          <p:cNvPr id="13" name="Text 10"/>
          <p:cNvSpPr txBox="1"/>
          <p:nvPr/>
        </p:nvSpPr>
        <p:spPr>
          <a:xfrm>
            <a:off x="685800" y="3337560"/>
            <a:ext cx="2194560" cy="411480"/>
          </a:xfrm>
          <a:prstGeom prst="rect">
            <a:avLst/>
          </a:prstGeom>
          <a:noFill/>
          <a:ln/>
        </p:spPr>
        <p:txBody>
          <a:bodyPr wrap="square" lIns="0" tIns="0" rIns="0" bIns="0" rtlCol="0" anchor="t"/>
          <a:lstStyle/>
          <a:p>
            <a:pPr indent="0" marL="0">
              <a:buNone/>
            </a:pPr>
            <a:r>
              <a:rPr lang="en-US" sz="1200" dirty="0">
                <a:solidFill>
                  <a:schemeClr val="accent6"/>
                </a:solidFill>
              </a:rPr>
              <a:t>jQuery, app.js</a:t>
            </a:r>
            <a:endParaRPr lang="en-US" sz="1200" dirty="0"/>
          </a:p>
        </p:txBody>
      </p:sp>
      <p:sp>
        <p:nvSpPr>
          <p:cNvPr id="14" name="Card"/>
          <p:cNvSpPr/>
          <p:nvPr/>
        </p:nvSpPr>
        <p:spPr>
          <a:xfrm>
            <a:off x="3154680" y="2697480"/>
            <a:ext cx="2468880" cy="1097280"/>
          </a:xfrm>
          <a:prstGeom prst="roundRect">
            <a:avLst>
              <a:gd name="adj" fmla="val 8333"/>
            </a:avLst>
          </a:prstGeom>
          <a:solidFill>
            <a:schemeClr val="bg2"/>
          </a:solidFill>
          <a:ln w="12700">
            <a:solidFill>
              <a:schemeClr val="bg2"/>
            </a:solidFill>
            <a:prstDash val="solid"/>
          </a:ln>
        </p:spPr>
      </p:sp>
      <p:sp>
        <p:nvSpPr>
          <p:cNvPr id="15" name="Text 12"/>
          <p:cNvSpPr txBox="1"/>
          <p:nvPr/>
        </p:nvSpPr>
        <p:spPr>
          <a:xfrm>
            <a:off x="3291840" y="2807208"/>
            <a:ext cx="2194560" cy="502920"/>
          </a:xfrm>
          <a:prstGeom prst="rect">
            <a:avLst/>
          </a:prstGeom>
          <a:noFill/>
          <a:ln/>
        </p:spPr>
        <p:txBody>
          <a:bodyPr wrap="square" lIns="0" tIns="0" rIns="0" bIns="0" rtlCol="0" anchor="t"/>
          <a:lstStyle/>
          <a:p>
            <a:pPr indent="0" marL="0">
              <a:buNone/>
            </a:pPr>
            <a:r>
              <a:rPr lang="en-US" sz="1400" b="1" dirty="0">
                <a:solidFill>
                  <a:schemeClr val="tx2"/>
                </a:solidFill>
              </a:rPr>
              <a:t>Giỏ hàng trong HttpSession</a:t>
            </a:r>
            <a:endParaRPr lang="en-US" sz="1400" dirty="0"/>
          </a:p>
        </p:txBody>
      </p:sp>
      <p:sp>
        <p:nvSpPr>
          <p:cNvPr id="16" name="Text 13"/>
          <p:cNvSpPr txBox="1"/>
          <p:nvPr/>
        </p:nvSpPr>
        <p:spPr>
          <a:xfrm>
            <a:off x="3291840" y="3337560"/>
            <a:ext cx="2194560" cy="411480"/>
          </a:xfrm>
          <a:prstGeom prst="rect">
            <a:avLst/>
          </a:prstGeom>
          <a:noFill/>
          <a:ln/>
        </p:spPr>
        <p:txBody>
          <a:bodyPr wrap="square" lIns="0" tIns="0" rIns="0" bIns="0" rtlCol="0" anchor="t"/>
          <a:lstStyle/>
          <a:p>
            <a:pPr indent="0" marL="0">
              <a:buNone/>
            </a:pPr>
            <a:r>
              <a:rPr lang="en-US" sz="1200" dirty="0">
                <a:solidFill>
                  <a:schemeClr val="accent6"/>
                </a:solidFill>
              </a:rPr>
              <a:t>Cart, CartItem, /api/cart</a:t>
            </a:r>
            <a:endParaRPr lang="en-US" sz="1200" dirty="0"/>
          </a:p>
        </p:txBody>
      </p:sp>
      <p:sp>
        <p:nvSpPr>
          <p:cNvPr id="17" name="Card"/>
          <p:cNvSpPr/>
          <p:nvPr/>
        </p:nvSpPr>
        <p:spPr>
          <a:xfrm>
            <a:off x="548640" y="4023360"/>
            <a:ext cx="5074920" cy="2240280"/>
          </a:xfrm>
          <a:prstGeom prst="roundRect">
            <a:avLst>
              <a:gd name="adj" fmla="val 4082"/>
            </a:avLst>
          </a:prstGeom>
          <a:solidFill>
            <a:schemeClr val="tx2"/>
          </a:solidFill>
          <a:ln w="12700">
            <a:solidFill>
              <a:schemeClr val="tx2"/>
            </a:solidFill>
            <a:prstDash val="solid"/>
          </a:ln>
        </p:spPr>
      </p:sp>
      <p:sp>
        <p:nvSpPr>
          <p:cNvPr id="18" name="Text 15"/>
          <p:cNvSpPr txBox="1"/>
          <p:nvPr/>
        </p:nvSpPr>
        <p:spPr>
          <a:xfrm>
            <a:off x="777240" y="4133088"/>
            <a:ext cx="4663440" cy="320040"/>
          </a:xfrm>
          <a:prstGeom prst="rect">
            <a:avLst/>
          </a:prstGeom>
          <a:noFill/>
          <a:ln/>
        </p:spPr>
        <p:txBody>
          <a:bodyPr wrap="square" lIns="0" tIns="0" rIns="0" bIns="0" rtlCol="0" anchor="t"/>
          <a:lstStyle/>
          <a:p>
            <a:pPr indent="0" marL="0">
              <a:buNone/>
            </a:pPr>
            <a:r>
              <a:rPr lang="en-US" sz="1500" b="1" dirty="0">
                <a:solidFill>
                  <a:schemeClr val="accent2"/>
                </a:solidFill>
              </a:rPr>
              <a:t>Miền nghiệp vụ: đặt tour du lịch</a:t>
            </a:r>
            <a:endParaRPr lang="en-US" sz="1500" dirty="0"/>
          </a:p>
        </p:txBody>
      </p:sp>
      <p:sp>
        <p:nvSpPr>
          <p:cNvPr id="19" name="Text 16"/>
          <p:cNvSpPr txBox="1"/>
          <p:nvPr/>
        </p:nvSpPr>
        <p:spPr>
          <a:xfrm>
            <a:off x="777240" y="4526280"/>
            <a:ext cx="4663440" cy="1691640"/>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bg1"/>
                </a:solidFill>
              </a:rPr>
              <a:t>Sản phẩm </a:t>
            </a:r>
            <a:r>
              <a:rPr lang="en-US" sz="1300" dirty="0">
                <a:solidFill>
                  <a:schemeClr val="bg1"/>
                </a:solidFill>
              </a:rPr>
              <a:t>= Tour (20 tour mẫu, 6 danh mục)</a:t>
            </a:r>
            <a:endParaRPr lang="en-US" sz="1300" dirty="0"/>
          </a:p>
          <a:p>
            <a:pPr marL="177800" indent="-177800">
              <a:spcAft>
                <a:spcPts val="400"/>
              </a:spcAft>
              <a:buSzPct val="100000"/>
              <a:buChar char="•"/>
            </a:pPr>
            <a:r>
              <a:rPr lang="en-US" sz="1300" b="1" dirty="0">
                <a:solidFill>
                  <a:schemeClr val="bg1"/>
                </a:solidFill>
              </a:rPr>
              <a:t>Đơn vị đặt/giỏ </a:t>
            </a:r>
            <a:r>
              <a:rPr lang="en-US" sz="1300" dirty="0">
                <a:solidFill>
                  <a:schemeClr val="bg1"/>
                </a:solidFill>
              </a:rPr>
              <a:t>= TourDeparture (lịch khởi hành)</a:t>
            </a:r>
            <a:endParaRPr lang="en-US" sz="1300" dirty="0"/>
          </a:p>
          <a:p>
            <a:pPr marL="177800" indent="-177800">
              <a:spcAft>
                <a:spcPts val="400"/>
              </a:spcAft>
              <a:buSzPct val="100000"/>
              <a:buChar char="•"/>
            </a:pPr>
            <a:r>
              <a:rPr lang="en-US" sz="1300" b="1" dirty="0">
                <a:solidFill>
                  <a:schemeClr val="bg1"/>
                </a:solidFill>
              </a:rPr>
              <a:t>Đơn hàng </a:t>
            </a:r>
            <a:r>
              <a:rPr lang="en-US" sz="1300" dirty="0">
                <a:solidFill>
                  <a:schemeClr val="bg1"/>
                </a:solidFill>
              </a:rPr>
              <a:t>= Booking + BookingDetail</a:t>
            </a:r>
            <a:endParaRPr lang="en-US" sz="1300" dirty="0"/>
          </a:p>
          <a:p>
            <a:pPr marL="177800" indent="-177800">
              <a:spcAft>
                <a:spcPts val="400"/>
              </a:spcAft>
              <a:buSzPct val="100000"/>
              <a:buChar char="•"/>
            </a:pPr>
            <a:r>
              <a:rPr lang="en-US" sz="1300" b="1" dirty="0">
                <a:solidFill>
                  <a:schemeClr val="bg1"/>
                </a:solidFill>
              </a:rPr>
              <a:t>Khác: </a:t>
            </a:r>
            <a:r>
              <a:rPr lang="en-US" sz="1300" dirty="0">
                <a:solidFill>
                  <a:schemeClr val="bg1"/>
                </a:solidFill>
              </a:rPr>
              <a:t>Review, User, Promotion, Payment</a:t>
            </a:r>
            <a:endParaRPr lang="en-US" sz="1300" dirty="0"/>
          </a:p>
        </p:txBody>
      </p:sp>
      <p:sp>
        <p:nvSpPr>
          <p:cNvPr id="20" name="Text 17"/>
          <p:cNvSpPr txBox="1"/>
          <p:nvPr/>
        </p:nvSpPr>
        <p:spPr>
          <a:xfrm>
            <a:off x="5943600" y="1417320"/>
            <a:ext cx="5486400" cy="274320"/>
          </a:xfrm>
          <a:prstGeom prst="rect">
            <a:avLst/>
          </a:prstGeom>
          <a:noFill/>
          <a:ln/>
        </p:spPr>
        <p:txBody>
          <a:bodyPr wrap="square" lIns="0" tIns="0" rIns="0" bIns="0" rtlCol="0" anchor="t"/>
          <a:lstStyle/>
          <a:p>
            <a:pPr indent="0" marL="0">
              <a:buNone/>
            </a:pPr>
            <a:r>
              <a:rPr lang="en-US" sz="1500" b="1" dirty="0">
                <a:solidFill>
                  <a:schemeClr val="tx2"/>
                </a:solidFill>
              </a:rPr>
              <a:t>Hạn chế trước đây → đã bổ sung</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0" y="1783080"/>
          <a:ext cx="5696712" cy="914400"/>
        </p:xfrm>
        <a:graphic>
          <a:graphicData uri="http://schemas.openxmlformats.org/drawingml/2006/table">
            <a:tbl>
              <a:tblPr/>
              <a:tblGrid>
                <a:gridCol w="3108960"/>
                <a:gridCol w="2587752"/>
              </a:tblGrid>
              <a:tr h="731520">
                <a:tc>
                  <a:txBody>
                    <a:bodyPr/>
                    <a:lstStyle/>
                    <a:p>
                      <a:pPr indent="0" marL="0">
                        <a:buNone/>
                      </a:pPr>
                      <a:r>
                        <a:rPr lang="en-US" sz="1300" b="1" dirty="0">
                          <a:solidFill>
                            <a:srgbClr val="FFFFFF"/>
                          </a:solidFill>
                        </a:rPr>
                        <a:t>Hiện có (hạn chế)</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300" b="1" dirty="0">
                          <a:solidFill>
                            <a:srgbClr val="FFFFFF"/>
                          </a:solidFill>
                        </a:rPr>
                        <a:t>Đã bổ sung</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r>
              <a:tr h="731520">
                <a:tc>
                  <a:txBody>
                    <a:bodyPr/>
                    <a:lstStyle/>
                    <a:p>
                      <a:pPr indent="0" marL="0">
                        <a:buNone/>
                      </a:pPr>
                      <a:r>
                        <a:rPr lang="en-US" sz="1300" dirty="0">
                          <a:solidFill>
                            <a:srgbClr val="14201E"/>
                          </a:solidFill>
                        </a:rPr>
                        <a:t>Tour.searchText + LIKE (bỏ dấu): chỉ khớp từ khoá</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Tìm ngữ nghĩa + lọc giá (SimpleVectorStore)</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731520">
                <a:tc>
                  <a:txBody>
                    <a:bodyPr/>
                    <a:lstStyle/>
                    <a:p>
                      <a:pPr indent="0" marL="0">
                        <a:buNone/>
                      </a:pPr>
                      <a:r>
                        <a:rPr lang="en-US" sz="1300" dirty="0">
                          <a:solidFill>
                            <a:srgbClr val="14201E"/>
                          </a:solidFill>
                        </a:rPr>
                        <a:t>Tour.viewCount: chỉ là bộ đếm tổng</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Bảng user_events: ai, khi nào, bao lâu</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731520">
                <a:tc>
                  <a:txBody>
                    <a:bodyPr/>
                    <a:lstStyle/>
                    <a:p>
                      <a:pPr indent="0" marL="0">
                        <a:buNone/>
                      </a:pPr>
                      <a:r>
                        <a:rPr lang="en-US" sz="1300" dirty="0">
                          <a:solidFill>
                            <a:srgbClr val="14201E"/>
                          </a:solidFill>
                        </a:rPr>
                        <a:t>StatisticsService: doanh thu, top bán chạy</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Funnel, top xem/click, tour đặt nhiều</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731520">
                <a:tc>
                  <a:txBody>
                    <a:bodyPr/>
                    <a:lstStyle/>
                    <a:p>
                      <a:pPr indent="0" marL="0">
                        <a:buNone/>
                      </a:pPr>
                      <a:r>
                        <a:rPr lang="en-US" sz="1300" dirty="0">
                          <a:solidFill>
                            <a:srgbClr val="14201E"/>
                          </a:solidFill>
                        </a:rPr>
                        <a:t>Giỏ trong session: mất khi hết phiên</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ADD_TO_CART ghi ở server để phân tích</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731520">
                <a:tc>
                  <a:txBody>
                    <a:bodyPr/>
                    <a:lstStyle/>
                    <a:p>
                      <a:pPr indent="0" marL="0">
                        <a:buNone/>
                      </a:pPr>
                      <a:r>
                        <a:rPr lang="en-US" sz="1300" dirty="0">
                          <a:solidFill>
                            <a:srgbClr val="14201E"/>
                          </a:solidFill>
                        </a:rPr>
                        <a:t>ContactMessage: tư vấn thủ công</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Chatbot RAG + Tool Calling</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Kiến trúc đã hiện thực</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Text 2"/>
          <p:cNvSpPr txBox="1"/>
          <p:nvPr/>
        </p:nvSpPr>
        <p:spPr>
          <a:xfrm>
            <a:off x="548640" y="1417320"/>
            <a:ext cx="2377440" cy="256032"/>
          </a:xfrm>
          <a:prstGeom prst="rect">
            <a:avLst/>
          </a:prstGeom>
          <a:noFill/>
          <a:ln/>
        </p:spPr>
        <p:txBody>
          <a:bodyPr wrap="square" lIns="0" tIns="0" rIns="0" bIns="0" rtlCol="0" anchor="t"/>
          <a:lstStyle/>
          <a:p>
            <a:pPr algn="ctr" indent="0" marL="0">
              <a:buNone/>
            </a:pPr>
            <a:r>
              <a:rPr lang="en-US" sz="1100" b="1" dirty="0">
                <a:solidFill>
                  <a:schemeClr val="accent6"/>
                </a:solidFill>
              </a:rPr>
              <a:t>TRÌNH DUYỆT</a:t>
            </a:r>
            <a:endParaRPr lang="en-US" sz="1100" dirty="0"/>
          </a:p>
        </p:txBody>
      </p:sp>
      <p:sp>
        <p:nvSpPr>
          <p:cNvPr id="6" name="Text 3"/>
          <p:cNvSpPr txBox="1"/>
          <p:nvPr/>
        </p:nvSpPr>
        <p:spPr>
          <a:xfrm>
            <a:off x="3429000" y="1417320"/>
            <a:ext cx="2606040" cy="256032"/>
          </a:xfrm>
          <a:prstGeom prst="rect">
            <a:avLst/>
          </a:prstGeom>
          <a:noFill/>
          <a:ln/>
        </p:spPr>
        <p:txBody>
          <a:bodyPr wrap="square" lIns="0" tIns="0" rIns="0" bIns="0" rtlCol="0" anchor="t"/>
          <a:lstStyle/>
          <a:p>
            <a:pPr algn="ctr" indent="0" marL="0">
              <a:buNone/>
            </a:pPr>
            <a:r>
              <a:rPr lang="en-US" sz="1100" b="1" dirty="0">
                <a:solidFill>
                  <a:schemeClr val="accent6"/>
                </a:solidFill>
              </a:rPr>
              <a:t>CONTROLLER</a:t>
            </a:r>
            <a:endParaRPr lang="en-US" sz="1100" dirty="0"/>
          </a:p>
        </p:txBody>
      </p:sp>
      <p:sp>
        <p:nvSpPr>
          <p:cNvPr id="7" name="Text 4"/>
          <p:cNvSpPr txBox="1"/>
          <p:nvPr/>
        </p:nvSpPr>
        <p:spPr>
          <a:xfrm>
            <a:off x="6537960" y="1417320"/>
            <a:ext cx="2743200" cy="256032"/>
          </a:xfrm>
          <a:prstGeom prst="rect">
            <a:avLst/>
          </a:prstGeom>
          <a:noFill/>
          <a:ln/>
        </p:spPr>
        <p:txBody>
          <a:bodyPr wrap="square" lIns="0" tIns="0" rIns="0" bIns="0" rtlCol="0" anchor="t"/>
          <a:lstStyle/>
          <a:p>
            <a:pPr algn="ctr" indent="0" marL="0">
              <a:buNone/>
            </a:pPr>
            <a:r>
              <a:rPr lang="en-US" sz="1100" b="1" dirty="0">
                <a:solidFill>
                  <a:schemeClr val="accent6"/>
                </a:solidFill>
              </a:rPr>
              <a:t>SERVICE</a:t>
            </a:r>
            <a:endParaRPr lang="en-US" sz="1100" dirty="0"/>
          </a:p>
        </p:txBody>
      </p:sp>
      <p:sp>
        <p:nvSpPr>
          <p:cNvPr id="8" name="Text 5"/>
          <p:cNvSpPr txBox="1"/>
          <p:nvPr/>
        </p:nvSpPr>
        <p:spPr>
          <a:xfrm>
            <a:off x="9784080" y="1417320"/>
            <a:ext cx="1856232" cy="256032"/>
          </a:xfrm>
          <a:prstGeom prst="rect">
            <a:avLst/>
          </a:prstGeom>
          <a:noFill/>
          <a:ln/>
        </p:spPr>
        <p:txBody>
          <a:bodyPr wrap="square" lIns="0" tIns="0" rIns="0" bIns="0" rtlCol="0" anchor="t"/>
          <a:lstStyle/>
          <a:p>
            <a:pPr algn="ctr" indent="0" marL="0">
              <a:buNone/>
            </a:pPr>
            <a:r>
              <a:rPr lang="en-US" sz="1100" b="1" dirty="0">
                <a:solidFill>
                  <a:schemeClr val="accent6"/>
                </a:solidFill>
              </a:rPr>
              <a:t>LƯU TRỮ / NGOÀI</a:t>
            </a:r>
            <a:endParaRPr lang="en-US" sz="1100" dirty="0"/>
          </a:p>
        </p:txBody>
      </p:sp>
      <p:sp>
        <p:nvSpPr>
          <p:cNvPr id="9" name="Box"/>
          <p:cNvSpPr txBox="1"/>
          <p:nvPr/>
        </p:nvSpPr>
        <p:spPr>
          <a:xfrm>
            <a:off x="548640" y="1783080"/>
            <a:ext cx="2377440" cy="1188720"/>
          </a:xfrm>
          <a:prstGeom prst="roundRect">
            <a:avLst>
              <a:gd name="adj" fmla="val 7692"/>
            </a:avLst>
          </a:prstGeom>
          <a:solidFill>
            <a:srgbClr val="FFFFFF"/>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Khung chat nổi (chat.js)</a:t>
            </a:r>
            <a:endParaRPr lang="en-US" sz="1300" dirty="0"/>
          </a:p>
        </p:txBody>
      </p:sp>
      <p:sp>
        <p:nvSpPr>
          <p:cNvPr id="10" name="Arrow"/>
          <p:cNvSpPr/>
          <p:nvPr/>
        </p:nvSpPr>
        <p:spPr>
          <a:xfrm>
            <a:off x="2944368" y="2377440"/>
            <a:ext cx="466344" cy="0"/>
          </a:xfrm>
          <a:prstGeom prst="line">
            <a:avLst/>
          </a:prstGeom>
          <a:noFill/>
          <a:ln w="22225">
            <a:solidFill>
              <a:schemeClr val="accent6"/>
            </a:solidFill>
            <a:prstDash val="solid"/>
            <a:tailEnd type="triangle"/>
          </a:ln>
        </p:spPr>
      </p:sp>
      <p:sp>
        <p:nvSpPr>
          <p:cNvPr id="11" name="Box"/>
          <p:cNvSpPr txBox="1"/>
          <p:nvPr/>
        </p:nvSpPr>
        <p:spPr>
          <a:xfrm>
            <a:off x="3429000" y="1783080"/>
            <a:ext cx="260604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POST /api/chat · ChatApiController</a:t>
            </a:r>
            <a:endParaRPr lang="en-US" sz="1300" dirty="0"/>
          </a:p>
        </p:txBody>
      </p:sp>
      <p:sp>
        <p:nvSpPr>
          <p:cNvPr id="12" name="Arrow"/>
          <p:cNvSpPr/>
          <p:nvPr/>
        </p:nvSpPr>
        <p:spPr>
          <a:xfrm>
            <a:off x="6053328" y="2377440"/>
            <a:ext cx="466344" cy="0"/>
          </a:xfrm>
          <a:prstGeom prst="line">
            <a:avLst/>
          </a:prstGeom>
          <a:noFill/>
          <a:ln w="22225">
            <a:solidFill>
              <a:schemeClr val="accent6"/>
            </a:solidFill>
            <a:prstDash val="solid"/>
            <a:tailEnd type="triangle"/>
          </a:ln>
        </p:spPr>
      </p:sp>
      <p:sp>
        <p:nvSpPr>
          <p:cNvPr id="13" name="Box"/>
          <p:cNvSpPr txBox="1"/>
          <p:nvPr/>
        </p:nvSpPr>
        <p:spPr>
          <a:xfrm>
            <a:off x="6537960" y="1783080"/>
            <a:ext cx="274320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b="1" dirty="0">
                <a:solidFill>
                  <a:schemeClr val="tx1"/>
                </a:solidFill>
              </a:rPr>
              <a:t>AiChatService · ChatClient + Memory + RAG + TourTools</a:t>
            </a:r>
            <a:endParaRPr lang="en-US" sz="1300" dirty="0"/>
          </a:p>
        </p:txBody>
      </p:sp>
      <p:sp>
        <p:nvSpPr>
          <p:cNvPr id="14" name="Arrow"/>
          <p:cNvSpPr/>
          <p:nvPr/>
        </p:nvSpPr>
        <p:spPr>
          <a:xfrm>
            <a:off x="9299448" y="2377440"/>
            <a:ext cx="466344" cy="0"/>
          </a:xfrm>
          <a:prstGeom prst="line">
            <a:avLst/>
          </a:prstGeom>
          <a:noFill/>
          <a:ln w="22225">
            <a:solidFill>
              <a:schemeClr val="accent6"/>
            </a:solidFill>
            <a:prstDash val="solid"/>
            <a:headEnd type="triangle"/>
            <a:tailEnd type="triangle"/>
          </a:ln>
        </p:spPr>
      </p:sp>
      <p:sp>
        <p:nvSpPr>
          <p:cNvPr id="15" name="Box"/>
          <p:cNvSpPr txBox="1"/>
          <p:nvPr/>
        </p:nvSpPr>
        <p:spPr>
          <a:xfrm>
            <a:off x="9784080" y="1783080"/>
            <a:ext cx="1856232" cy="1188720"/>
          </a:xfrm>
          <a:prstGeom prst="roundRect">
            <a:avLst>
              <a:gd name="adj" fmla="val 7692"/>
            </a:avLst>
          </a:prstGeom>
          <a:solidFill>
            <a:schemeClr val="accent1"/>
          </a:solidFill>
          <a:ln>
            <a:solidFill>
              <a:schemeClr val="accent1"/>
            </a:solidFill>
          </a:ln>
        </p:spPr>
        <p:txBody>
          <a:bodyPr wrap="square" lIns="101600" tIns="101600" rIns="101600" bIns="101600" rtlCol="0" anchor="ctr"/>
          <a:lstStyle/>
          <a:p>
            <a:pPr algn="ctr" indent="0" marL="0">
              <a:buNone/>
            </a:pPr>
            <a:r>
              <a:rPr lang="en-US" sz="1300" b="1" dirty="0">
                <a:solidFill>
                  <a:schemeClr val="bg1"/>
                </a:solidFill>
              </a:rPr>
              <a:t>Gemini</a:t>
            </a:r>
            <a:endParaRPr lang="en-US" sz="1300" dirty="0"/>
          </a:p>
          <a:p>
            <a:pPr algn="ctr" indent="0" marL="0">
              <a:buNone/>
            </a:pPr>
            <a:r>
              <a:rPr lang="en-US" sz="1300" b="1" dirty="0">
                <a:solidFill>
                  <a:schemeClr val="bg1"/>
                </a:solidFill>
              </a:rPr>
              <a:t>chat + embedding</a:t>
            </a:r>
            <a:endParaRPr lang="en-US" sz="1300" dirty="0"/>
          </a:p>
        </p:txBody>
      </p:sp>
      <p:sp>
        <p:nvSpPr>
          <p:cNvPr id="16" name="Box"/>
          <p:cNvSpPr txBox="1"/>
          <p:nvPr/>
        </p:nvSpPr>
        <p:spPr>
          <a:xfrm>
            <a:off x="548640" y="3291840"/>
            <a:ext cx="2377440" cy="1188720"/>
          </a:xfrm>
          <a:prstGeom prst="roundRect">
            <a:avLst>
              <a:gd name="adj" fmla="val 7692"/>
            </a:avLst>
          </a:prstGeom>
          <a:solidFill>
            <a:srgbClr val="FFFFFF"/>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Ô tìm + công tắc "Tìm bằng AI"</a:t>
            </a:r>
            <a:endParaRPr lang="en-US" sz="1300" dirty="0"/>
          </a:p>
        </p:txBody>
      </p:sp>
      <p:sp>
        <p:nvSpPr>
          <p:cNvPr id="17" name="Arrow"/>
          <p:cNvSpPr/>
          <p:nvPr/>
        </p:nvSpPr>
        <p:spPr>
          <a:xfrm>
            <a:off x="2944368" y="3886200"/>
            <a:ext cx="466344" cy="0"/>
          </a:xfrm>
          <a:prstGeom prst="line">
            <a:avLst/>
          </a:prstGeom>
          <a:noFill/>
          <a:ln w="22225">
            <a:solidFill>
              <a:schemeClr val="accent6"/>
            </a:solidFill>
            <a:prstDash val="solid"/>
            <a:tailEnd type="triangle"/>
          </a:ln>
        </p:spPr>
      </p:sp>
      <p:sp>
        <p:nvSpPr>
          <p:cNvPr id="18" name="Box"/>
          <p:cNvSpPr txBox="1"/>
          <p:nvPr/>
        </p:nvSpPr>
        <p:spPr>
          <a:xfrm>
            <a:off x="3429000" y="3291840"/>
            <a:ext cx="260604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GET /tours · /api/tours/semantic</a:t>
            </a:r>
            <a:endParaRPr lang="en-US" sz="1300" dirty="0"/>
          </a:p>
        </p:txBody>
      </p:sp>
      <p:sp>
        <p:nvSpPr>
          <p:cNvPr id="19" name="Arrow"/>
          <p:cNvSpPr/>
          <p:nvPr/>
        </p:nvSpPr>
        <p:spPr>
          <a:xfrm>
            <a:off x="6053328" y="3886200"/>
            <a:ext cx="466344" cy="0"/>
          </a:xfrm>
          <a:prstGeom prst="line">
            <a:avLst/>
          </a:prstGeom>
          <a:noFill/>
          <a:ln w="22225">
            <a:solidFill>
              <a:schemeClr val="accent6"/>
            </a:solidFill>
            <a:prstDash val="solid"/>
            <a:tailEnd type="triangle"/>
          </a:ln>
        </p:spPr>
      </p:sp>
      <p:sp>
        <p:nvSpPr>
          <p:cNvPr id="20" name="Box"/>
          <p:cNvSpPr txBox="1"/>
          <p:nvPr/>
        </p:nvSpPr>
        <p:spPr>
          <a:xfrm>
            <a:off x="6537960" y="3291840"/>
            <a:ext cx="274320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b="1" dirty="0">
                <a:solidFill>
                  <a:schemeClr val="tx1"/>
                </a:solidFill>
              </a:rPr>
              <a:t>SemanticSearchService · TourVectorService</a:t>
            </a:r>
            <a:endParaRPr lang="en-US" sz="1300" dirty="0"/>
          </a:p>
        </p:txBody>
      </p:sp>
      <p:sp>
        <p:nvSpPr>
          <p:cNvPr id="21" name="Arrow"/>
          <p:cNvSpPr/>
          <p:nvPr/>
        </p:nvSpPr>
        <p:spPr>
          <a:xfrm>
            <a:off x="9299448" y="3886200"/>
            <a:ext cx="466344" cy="0"/>
          </a:xfrm>
          <a:prstGeom prst="line">
            <a:avLst/>
          </a:prstGeom>
          <a:noFill/>
          <a:ln w="22225">
            <a:solidFill>
              <a:schemeClr val="accent6"/>
            </a:solidFill>
            <a:prstDash val="solid"/>
            <a:headEnd type="triangle"/>
            <a:tailEnd type="triangle"/>
          </a:ln>
        </p:spPr>
      </p:sp>
      <p:sp>
        <p:nvSpPr>
          <p:cNvPr id="22" name="Box"/>
          <p:cNvSpPr txBox="1"/>
          <p:nvPr/>
        </p:nvSpPr>
        <p:spPr>
          <a:xfrm>
            <a:off x="9784080" y="3291840"/>
            <a:ext cx="1856232" cy="1188720"/>
          </a:xfrm>
          <a:prstGeom prst="roundRect">
            <a:avLst>
              <a:gd name="adj" fmla="val 7692"/>
            </a:avLst>
          </a:prstGeom>
          <a:solidFill>
            <a:schemeClr val="accent2"/>
          </a:solidFill>
          <a:ln>
            <a:solidFill>
              <a:schemeClr val="accent2"/>
            </a:solidFill>
          </a:ln>
        </p:spPr>
        <p:txBody>
          <a:bodyPr wrap="square" lIns="101600" tIns="101600" rIns="101600" bIns="101600" rtlCol="0" anchor="ctr"/>
          <a:lstStyle/>
          <a:p>
            <a:pPr algn="ctr" indent="0" marL="0">
              <a:buNone/>
            </a:pPr>
            <a:r>
              <a:rPr lang="en-US" sz="1300" b="1" dirty="0">
                <a:solidFill>
                  <a:schemeClr val="tx2"/>
                </a:solidFill>
              </a:rPr>
              <a:t>VectorStore</a:t>
            </a:r>
            <a:endParaRPr lang="en-US" sz="1300" dirty="0"/>
          </a:p>
          <a:p>
            <a:pPr algn="ctr" indent="0" marL="0">
              <a:buNone/>
            </a:pPr>
            <a:r>
              <a:rPr lang="en-US" sz="1300" b="1" dirty="0">
                <a:solidFill>
                  <a:schemeClr val="tx2"/>
                </a:solidFill>
              </a:rPr>
              <a:t>SimpleVectorStore (tệp)</a:t>
            </a:r>
            <a:endParaRPr lang="en-US" sz="1300" dirty="0"/>
          </a:p>
        </p:txBody>
      </p:sp>
      <p:sp>
        <p:nvSpPr>
          <p:cNvPr id="23" name="Box"/>
          <p:cNvSpPr txBox="1"/>
          <p:nvPr/>
        </p:nvSpPr>
        <p:spPr>
          <a:xfrm>
            <a:off x="548640" y="4800600"/>
            <a:ext cx="2377440" cy="1188720"/>
          </a:xfrm>
          <a:prstGeom prst="roundRect">
            <a:avLst>
              <a:gd name="adj" fmla="val 7692"/>
            </a:avLst>
          </a:prstGeom>
          <a:solidFill>
            <a:srgbClr val="FFFFFF"/>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tracker.js</a:t>
            </a:r>
            <a:endParaRPr lang="en-US" sz="1300" dirty="0"/>
          </a:p>
        </p:txBody>
      </p:sp>
      <p:sp>
        <p:nvSpPr>
          <p:cNvPr id="24" name="Arrow"/>
          <p:cNvSpPr/>
          <p:nvPr/>
        </p:nvSpPr>
        <p:spPr>
          <a:xfrm>
            <a:off x="2944368" y="5394960"/>
            <a:ext cx="466344" cy="0"/>
          </a:xfrm>
          <a:prstGeom prst="line">
            <a:avLst/>
          </a:prstGeom>
          <a:noFill/>
          <a:ln w="22225">
            <a:solidFill>
              <a:schemeClr val="accent6"/>
            </a:solidFill>
            <a:prstDash val="solid"/>
            <a:tailEnd type="triangle"/>
          </a:ln>
        </p:spPr>
      </p:sp>
      <p:sp>
        <p:nvSpPr>
          <p:cNvPr id="25" name="Box"/>
          <p:cNvSpPr txBox="1"/>
          <p:nvPr/>
        </p:nvSpPr>
        <p:spPr>
          <a:xfrm>
            <a:off x="3429000" y="4800600"/>
            <a:ext cx="260604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dirty="0">
                <a:solidFill>
                  <a:schemeClr val="tx1"/>
                </a:solidFill>
              </a:rPr>
              <a:t>POST /api/tracking · TrackingApiController</a:t>
            </a:r>
            <a:endParaRPr lang="en-US" sz="1300" dirty="0"/>
          </a:p>
        </p:txBody>
      </p:sp>
      <p:sp>
        <p:nvSpPr>
          <p:cNvPr id="26" name="Arrow"/>
          <p:cNvSpPr/>
          <p:nvPr/>
        </p:nvSpPr>
        <p:spPr>
          <a:xfrm>
            <a:off x="6053328" y="5394960"/>
            <a:ext cx="466344" cy="0"/>
          </a:xfrm>
          <a:prstGeom prst="line">
            <a:avLst/>
          </a:prstGeom>
          <a:noFill/>
          <a:ln w="22225">
            <a:solidFill>
              <a:schemeClr val="accent6"/>
            </a:solidFill>
            <a:prstDash val="solid"/>
            <a:tailEnd type="triangle"/>
          </a:ln>
        </p:spPr>
      </p:sp>
      <p:sp>
        <p:nvSpPr>
          <p:cNvPr id="27" name="Box"/>
          <p:cNvSpPr txBox="1"/>
          <p:nvPr/>
        </p:nvSpPr>
        <p:spPr>
          <a:xfrm>
            <a:off x="6537960" y="4800600"/>
            <a:ext cx="2743200" cy="1188720"/>
          </a:xfrm>
          <a:prstGeom prst="roundRect">
            <a:avLst>
              <a:gd name="adj" fmla="val 7692"/>
            </a:avLst>
          </a:prstGeom>
          <a:solidFill>
            <a:schemeClr val="bg2"/>
          </a:solidFill>
          <a:ln w="15875">
            <a:solidFill>
              <a:schemeClr val="accent5"/>
            </a:solidFill>
            <a:prstDash val="solid"/>
          </a:ln>
        </p:spPr>
        <p:txBody>
          <a:bodyPr wrap="square" lIns="101600" tIns="101600" rIns="101600" bIns="101600" rtlCol="0" anchor="ctr"/>
          <a:lstStyle/>
          <a:p>
            <a:pPr algn="ctr" indent="0" marL="0">
              <a:buNone/>
            </a:pPr>
            <a:r>
              <a:rPr lang="en-US" sz="1300" b="1" dirty="0">
                <a:solidFill>
                  <a:schemeClr val="tx1"/>
                </a:solidFill>
              </a:rPr>
              <a:t>TrackingService · BehaviorStatsService · RecommendationService</a:t>
            </a:r>
            <a:endParaRPr lang="en-US" sz="1300" dirty="0"/>
          </a:p>
        </p:txBody>
      </p:sp>
      <p:sp>
        <p:nvSpPr>
          <p:cNvPr id="28" name="Arrow"/>
          <p:cNvSpPr/>
          <p:nvPr/>
        </p:nvSpPr>
        <p:spPr>
          <a:xfrm>
            <a:off x="9299448" y="5394960"/>
            <a:ext cx="466344" cy="0"/>
          </a:xfrm>
          <a:prstGeom prst="line">
            <a:avLst/>
          </a:prstGeom>
          <a:noFill/>
          <a:ln w="22225">
            <a:solidFill>
              <a:schemeClr val="accent6"/>
            </a:solidFill>
            <a:prstDash val="solid"/>
            <a:headEnd type="triangle"/>
            <a:tailEnd type="triangle"/>
          </a:ln>
        </p:spPr>
      </p:sp>
      <p:sp>
        <p:nvSpPr>
          <p:cNvPr id="29" name="Box"/>
          <p:cNvSpPr txBox="1"/>
          <p:nvPr/>
        </p:nvSpPr>
        <p:spPr>
          <a:xfrm>
            <a:off x="9784080" y="4800600"/>
            <a:ext cx="1856232" cy="1188720"/>
          </a:xfrm>
          <a:prstGeom prst="roundRect">
            <a:avLst>
              <a:gd name="adj" fmla="val 7692"/>
            </a:avLst>
          </a:prstGeom>
          <a:solidFill>
            <a:schemeClr val="tx2"/>
          </a:solidFill>
          <a:ln>
            <a:solidFill>
              <a:schemeClr val="tx2"/>
            </a:solidFill>
          </a:ln>
        </p:spPr>
        <p:txBody>
          <a:bodyPr wrap="square" lIns="101600" tIns="101600" rIns="101600" bIns="101600" rtlCol="0" anchor="ctr"/>
          <a:lstStyle/>
          <a:p>
            <a:pPr algn="ctr" indent="0" marL="0">
              <a:buNone/>
            </a:pPr>
            <a:r>
              <a:rPr lang="en-US" sz="1300" b="1" dirty="0">
                <a:solidFill>
                  <a:schemeClr val="bg1"/>
                </a:solidFill>
              </a:rPr>
              <a:t>SQL Server</a:t>
            </a:r>
            <a:endParaRPr lang="en-US" sz="1300" dirty="0"/>
          </a:p>
          <a:p>
            <a:pPr algn="ctr" indent="0" marL="0">
              <a:buNone/>
            </a:pPr>
            <a:r>
              <a:rPr lang="en-US" sz="1300" b="1" dirty="0">
                <a:solidFill>
                  <a:schemeClr val="bg1"/>
                </a:solidFill>
              </a:rPr>
              <a:t>tours, bookings, user_events</a:t>
            </a:r>
            <a:endParaRPr lang="en-US" sz="1300" dirty="0"/>
          </a:p>
        </p:txBody>
      </p:sp>
      <p:sp>
        <p:nvSpPr>
          <p:cNvPr id="30" name="Arrow"/>
          <p:cNvSpPr/>
          <p:nvPr/>
        </p:nvSpPr>
        <p:spPr>
          <a:xfrm flipV="1">
            <a:off x="10716768" y="4498848"/>
            <a:ext cx="0" cy="283464"/>
          </a:xfrm>
          <a:prstGeom prst="line">
            <a:avLst/>
          </a:prstGeom>
          <a:noFill/>
          <a:ln w="25400">
            <a:solidFill>
              <a:srgbClr val="C2622D"/>
            </a:solidFill>
            <a:prstDash val="dash"/>
            <a:tailEnd type="triangle"/>
          </a:ln>
        </p:spPr>
      </p:sp>
      <p:sp>
        <p:nvSpPr>
          <p:cNvPr id="31" name="Text 28"/>
          <p:cNvSpPr txBox="1"/>
          <p:nvPr/>
        </p:nvSpPr>
        <p:spPr>
          <a:xfrm>
            <a:off x="10835640" y="4526280"/>
            <a:ext cx="731520" cy="228600"/>
          </a:xfrm>
          <a:prstGeom prst="rect">
            <a:avLst/>
          </a:prstGeom>
          <a:noFill/>
          <a:ln/>
        </p:spPr>
        <p:txBody>
          <a:bodyPr wrap="square" lIns="0" tIns="0" rIns="0" bIns="0" rtlCol="0" anchor="t"/>
          <a:lstStyle/>
          <a:p>
            <a:pPr indent="0" marL="0">
              <a:buNone/>
            </a:pPr>
            <a:r>
              <a:rPr lang="en-US" sz="1100" b="1" dirty="0">
                <a:solidFill>
                  <a:schemeClr val="accent3"/>
                </a:solidFill>
              </a:rPr>
              <a:t>lập chỉ mục</a:t>
            </a:r>
            <a:endParaRPr lang="en-US" sz="1100" dirty="0"/>
          </a:p>
        </p:txBody>
      </p:sp>
      <p:sp>
        <p:nvSpPr>
          <p:cNvPr id="32" name="Arrow"/>
          <p:cNvSpPr/>
          <p:nvPr/>
        </p:nvSpPr>
        <p:spPr>
          <a:xfrm>
            <a:off x="7909560" y="4480560"/>
            <a:ext cx="0" cy="301752"/>
          </a:xfrm>
          <a:prstGeom prst="line">
            <a:avLst/>
          </a:prstGeom>
          <a:noFill/>
          <a:ln w="22225">
            <a:solidFill>
              <a:srgbClr val="C2622D"/>
            </a:solidFill>
            <a:prstDash val="dash"/>
            <a:tailEnd type="triangle"/>
          </a:ln>
        </p:spPr>
      </p:sp>
      <p:sp>
        <p:nvSpPr>
          <p:cNvPr id="33" name="Text 30"/>
          <p:cNvSpPr txBox="1"/>
          <p:nvPr/>
        </p:nvSpPr>
        <p:spPr>
          <a:xfrm>
            <a:off x="8028432" y="4507992"/>
            <a:ext cx="2011680" cy="228600"/>
          </a:xfrm>
          <a:prstGeom prst="rect">
            <a:avLst/>
          </a:prstGeom>
          <a:noFill/>
          <a:ln/>
        </p:spPr>
        <p:txBody>
          <a:bodyPr wrap="square" lIns="0" tIns="0" rIns="0" bIns="0" rtlCol="0" anchor="t"/>
          <a:lstStyle/>
          <a:p>
            <a:pPr indent="0" marL="0">
              <a:buNone/>
            </a:pPr>
            <a:r>
              <a:rPr lang="en-US" sz="1100" b="1" dirty="0">
                <a:solidFill>
                  <a:schemeClr val="accent3"/>
                </a:solidFill>
              </a:rPr>
              <a:t>gợi ý = hành vi + vector</a:t>
            </a:r>
            <a:endParaRPr lang="en-US" sz="1100" dirty="0"/>
          </a:p>
        </p:txBody>
      </p:sp>
      <p:sp>
        <p:nvSpPr>
          <p:cNvPr id="34" name="Text 31"/>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Nét đứt: lập chỉ mục từ SQL Server và kết hợp tín hiệu. SQL Server là nguồn gốc; công cụ AI đi qua Service sẵn có, kho vector chỉ là chỉ mục phụ.</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Chọn vector store và model</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ard"/>
          <p:cNvSpPr/>
          <p:nvPr/>
        </p:nvSpPr>
        <p:spPr>
          <a:xfrm>
            <a:off x="548640" y="1463040"/>
            <a:ext cx="3611880" cy="3520440"/>
          </a:xfrm>
          <a:prstGeom prst="roundRect">
            <a:avLst>
              <a:gd name="adj" fmla="val 2597"/>
            </a:avLst>
          </a:prstGeom>
          <a:solidFill>
            <a:schemeClr val="bg2"/>
          </a:solidFill>
          <a:ln w="12700">
            <a:solidFill>
              <a:schemeClr val="bg2"/>
            </a:solidFill>
            <a:prstDash val="solid"/>
          </a:ln>
        </p:spPr>
      </p:sp>
      <p:sp>
        <p:nvSpPr>
          <p:cNvPr id="6" name="Text 3"/>
          <p:cNvSpPr txBox="1"/>
          <p:nvPr/>
        </p:nvSpPr>
        <p:spPr>
          <a:xfrm>
            <a:off x="777240" y="1600200"/>
            <a:ext cx="3200400" cy="457200"/>
          </a:xfrm>
          <a:prstGeom prst="rect">
            <a:avLst/>
          </a:prstGeom>
          <a:noFill/>
          <a:ln/>
        </p:spPr>
        <p:txBody>
          <a:bodyPr wrap="square" lIns="0" tIns="0" rIns="0" bIns="0" rtlCol="0" anchor="t"/>
          <a:lstStyle/>
          <a:p>
            <a:pPr indent="0" marL="0">
              <a:buNone/>
            </a:pPr>
            <a:r>
              <a:rPr lang="en-US" sz="1600" b="1" dirty="0">
                <a:solidFill>
                  <a:schemeClr val="tx2"/>
                </a:solidFill>
              </a:rPr>
              <a:t>Nhà cung cấp mặc định: Gemini</a:t>
            </a:r>
            <a:endParaRPr lang="en-US" sz="1600" dirty="0"/>
          </a:p>
        </p:txBody>
      </p:sp>
      <p:sp>
        <p:nvSpPr>
          <p:cNvPr id="7" name="Text 4"/>
          <p:cNvSpPr txBox="1"/>
          <p:nvPr/>
        </p:nvSpPr>
        <p:spPr>
          <a:xfrm>
            <a:off x="777240" y="2148840"/>
            <a:ext cx="3200400" cy="2743200"/>
          </a:xfrm>
          <a:prstGeom prst="rect">
            <a:avLst/>
          </a:prstGeom>
          <a:noFill/>
          <a:ln/>
        </p:spPr>
        <p:txBody>
          <a:bodyPr wrap="square" lIns="0" tIns="0" rIns="0" bIns="0" rtlCol="0" anchor="t"/>
          <a:lstStyle/>
          <a:p>
            <a:pPr marL="177800" indent="-177800">
              <a:spcAft>
                <a:spcPts val="1200"/>
              </a:spcAft>
              <a:buSzPct val="100000"/>
              <a:buChar char="•"/>
            </a:pPr>
            <a:r>
              <a:rPr lang="en-US" sz="1550" b="1" dirty="0">
                <a:solidFill>
                  <a:schemeClr val="tx1"/>
                </a:solidFill>
              </a:rPr>
              <a:t>Provider: </a:t>
            </a:r>
            <a:r>
              <a:rPr lang="en-US" sz="1550" dirty="0">
                <a:solidFill>
                  <a:schemeClr val="tx1"/>
                </a:solidFill>
              </a:rPr>
              <a:t>Google Gemini, gói miễn phí (khoá ở AI Studio)</a:t>
            </a:r>
            <a:endParaRPr lang="en-US" sz="1550" dirty="0"/>
          </a:p>
          <a:p>
            <a:pPr marL="177800" indent="-177800">
              <a:spcAft>
                <a:spcPts val="1200"/>
              </a:spcAft>
              <a:buSzPct val="100000"/>
              <a:buChar char="•"/>
            </a:pPr>
            <a:r>
              <a:rPr lang="en-US" sz="1550" b="1" dirty="0">
                <a:solidFill>
                  <a:schemeClr val="tx1"/>
                </a:solidFill>
              </a:rPr>
              <a:t>Chat: </a:t>
            </a:r>
            <a:r>
              <a:rPr lang="en-US" sz="1550" dirty="0">
                <a:solidFill>
                  <a:schemeClr val="tx1"/>
                </a:solidFill>
              </a:rPr>
              <a:t>gemini-2.5-flash; dự phòng gemini-2.5-flash-lite</a:t>
            </a:r>
            <a:endParaRPr lang="en-US" sz="1550" dirty="0"/>
          </a:p>
          <a:p>
            <a:pPr marL="177800" indent="-177800">
              <a:spcAft>
                <a:spcPts val="1200"/>
              </a:spcAft>
              <a:buSzPct val="100000"/>
              <a:buChar char="•"/>
            </a:pPr>
            <a:r>
              <a:rPr lang="en-US" sz="1550" b="1" dirty="0">
                <a:solidFill>
                  <a:schemeClr val="tx1"/>
                </a:solidFill>
              </a:rPr>
              <a:t>Embedding: </a:t>
            </a:r>
            <a:r>
              <a:rPr lang="en-US" sz="1550" dirty="0">
                <a:solidFill>
                  <a:schemeClr val="tx1"/>
                </a:solidFill>
              </a:rPr>
              <a:t>gemini-embedding-001 (3072 chiều)</a:t>
            </a:r>
            <a:endParaRPr lang="en-US" sz="1550" dirty="0"/>
          </a:p>
        </p:txBody>
      </p:sp>
      <p:sp>
        <p:nvSpPr>
          <p:cNvPr id="8" name="Card"/>
          <p:cNvSpPr/>
          <p:nvPr/>
        </p:nvSpPr>
        <p:spPr>
          <a:xfrm>
            <a:off x="4297680" y="1463040"/>
            <a:ext cx="3611880" cy="3520440"/>
          </a:xfrm>
          <a:prstGeom prst="roundRect">
            <a:avLst>
              <a:gd name="adj" fmla="val 2597"/>
            </a:avLst>
          </a:prstGeom>
          <a:solidFill>
            <a:schemeClr val="bg2"/>
          </a:solidFill>
          <a:ln w="12700">
            <a:solidFill>
              <a:schemeClr val="bg2"/>
            </a:solidFill>
            <a:prstDash val="solid"/>
          </a:ln>
        </p:spPr>
      </p:sp>
      <p:sp>
        <p:nvSpPr>
          <p:cNvPr id="9" name="Text 6"/>
          <p:cNvSpPr txBox="1"/>
          <p:nvPr/>
        </p:nvSpPr>
        <p:spPr>
          <a:xfrm>
            <a:off x="4526280" y="1600200"/>
            <a:ext cx="3200400" cy="457200"/>
          </a:xfrm>
          <a:prstGeom prst="rect">
            <a:avLst/>
          </a:prstGeom>
          <a:noFill/>
          <a:ln/>
        </p:spPr>
        <p:txBody>
          <a:bodyPr wrap="square" lIns="0" tIns="0" rIns="0" bIns="0" rtlCol="0" anchor="t"/>
          <a:lstStyle/>
          <a:p>
            <a:pPr indent="0" marL="0">
              <a:buNone/>
            </a:pPr>
            <a:r>
              <a:rPr lang="en-US" sz="1600" b="1" dirty="0">
                <a:solidFill>
                  <a:schemeClr val="tx2"/>
                </a:solidFill>
              </a:rPr>
              <a:t>Kho vector</a:t>
            </a:r>
            <a:endParaRPr lang="en-US" sz="1600" dirty="0"/>
          </a:p>
        </p:txBody>
      </p:sp>
      <p:sp>
        <p:nvSpPr>
          <p:cNvPr id="10" name="Text 7"/>
          <p:cNvSpPr txBox="1"/>
          <p:nvPr/>
        </p:nvSpPr>
        <p:spPr>
          <a:xfrm>
            <a:off x="4526280" y="2148840"/>
            <a:ext cx="3200400" cy="2743200"/>
          </a:xfrm>
          <a:prstGeom prst="rect">
            <a:avLst/>
          </a:prstGeom>
          <a:noFill/>
          <a:ln/>
        </p:spPr>
        <p:txBody>
          <a:bodyPr wrap="square" lIns="0" tIns="0" rIns="0" bIns="0" rtlCol="0" anchor="t"/>
          <a:lstStyle/>
          <a:p>
            <a:pPr marL="177800" indent="-177800">
              <a:spcAft>
                <a:spcPts val="1200"/>
              </a:spcAft>
              <a:buSzPct val="100000"/>
              <a:buChar char="•"/>
            </a:pPr>
            <a:r>
              <a:rPr lang="en-US" sz="1550" b="1" dirty="0">
                <a:solidFill>
                  <a:schemeClr val="tx1"/>
                </a:solidFill>
              </a:rPr>
              <a:t>Store: </a:t>
            </a:r>
            <a:r>
              <a:rPr lang="en-US" sz="1550" dirty="0">
                <a:solidFill>
                  <a:schemeClr val="tx1"/>
                </a:solidFill>
              </a:rPr>
              <a:t>SimpleVectorStore lưu tệp data/vector-store.json</a:t>
            </a:r>
            <a:endParaRPr lang="en-US" sz="1550" dirty="0"/>
          </a:p>
          <a:p>
            <a:pPr marL="177800" indent="-177800">
              <a:spcAft>
                <a:spcPts val="1200"/>
              </a:spcAft>
              <a:buSzPct val="100000"/>
              <a:buChar char="•"/>
            </a:pPr>
            <a:r>
              <a:rPr lang="en-US" sz="1550" b="1" dirty="0">
                <a:solidFill>
                  <a:schemeClr val="tx1"/>
                </a:solidFill>
              </a:rPr>
              <a:t>Không nhúng lại: </a:t>
            </a:r>
            <a:r>
              <a:rPr lang="en-US" sz="1550" dirty="0">
                <a:solidFill>
                  <a:schemeClr val="tx1"/>
                </a:solidFill>
              </a:rPr>
              <a:t>khởi động nạp từ tệp; đổi mô hình thì lập lại</a:t>
            </a:r>
            <a:endParaRPr lang="en-US" sz="1550" dirty="0"/>
          </a:p>
          <a:p>
            <a:pPr marL="177800" indent="-177800">
              <a:spcAft>
                <a:spcPts val="1200"/>
              </a:spcAft>
              <a:buSzPct val="100000"/>
              <a:buChar char="•"/>
            </a:pPr>
            <a:r>
              <a:rPr lang="en-US" sz="1550" b="1" dirty="0">
                <a:solidFill>
                  <a:schemeClr val="tx1"/>
                </a:solidFill>
              </a:rPr>
              <a:t>Hạn mức: </a:t>
            </a:r>
            <a:r>
              <a:rPr lang="en-US" sz="1550" dirty="0">
                <a:solidFill>
                  <a:schemeClr val="tx1"/>
                </a:solidFill>
              </a:rPr>
              <a:t>giãn cách 700 ms mỗi lần gọi, thử lại khi 429</a:t>
            </a:r>
            <a:endParaRPr lang="en-US" sz="1550" dirty="0"/>
          </a:p>
        </p:txBody>
      </p:sp>
      <p:sp>
        <p:nvSpPr>
          <p:cNvPr id="11" name="Card"/>
          <p:cNvSpPr/>
          <p:nvPr/>
        </p:nvSpPr>
        <p:spPr>
          <a:xfrm>
            <a:off x="8046720" y="1463040"/>
            <a:ext cx="3611880" cy="3520440"/>
          </a:xfrm>
          <a:prstGeom prst="roundRect">
            <a:avLst>
              <a:gd name="adj" fmla="val 2597"/>
            </a:avLst>
          </a:prstGeom>
          <a:solidFill>
            <a:schemeClr val="tx2"/>
          </a:solidFill>
          <a:ln w="12700">
            <a:solidFill>
              <a:schemeClr val="tx2"/>
            </a:solidFill>
            <a:prstDash val="solid"/>
          </a:ln>
        </p:spPr>
      </p:sp>
      <p:sp>
        <p:nvSpPr>
          <p:cNvPr id="12" name="Text 9"/>
          <p:cNvSpPr txBox="1"/>
          <p:nvPr/>
        </p:nvSpPr>
        <p:spPr>
          <a:xfrm>
            <a:off x="8275320" y="1600200"/>
            <a:ext cx="3200400" cy="457200"/>
          </a:xfrm>
          <a:prstGeom prst="rect">
            <a:avLst/>
          </a:prstGeom>
          <a:noFill/>
          <a:ln/>
        </p:spPr>
        <p:txBody>
          <a:bodyPr wrap="square" lIns="0" tIns="0" rIns="0" bIns="0" rtlCol="0" anchor="t"/>
          <a:lstStyle/>
          <a:p>
            <a:pPr indent="0" marL="0">
              <a:buNone/>
            </a:pPr>
            <a:r>
              <a:rPr lang="en-US" sz="1600" b="1" dirty="0">
                <a:solidFill>
                  <a:schemeClr val="accent2"/>
                </a:solidFill>
              </a:rPr>
              <a:t>Vì sao chọn như vậy?</a:t>
            </a:r>
            <a:endParaRPr lang="en-US" sz="1600" dirty="0"/>
          </a:p>
        </p:txBody>
      </p:sp>
      <p:sp>
        <p:nvSpPr>
          <p:cNvPr id="13" name="Text 10"/>
          <p:cNvSpPr txBox="1"/>
          <p:nvPr/>
        </p:nvSpPr>
        <p:spPr>
          <a:xfrm>
            <a:off x="8275320" y="2148840"/>
            <a:ext cx="3200400" cy="2743200"/>
          </a:xfrm>
          <a:prstGeom prst="rect">
            <a:avLst/>
          </a:prstGeom>
          <a:noFill/>
          <a:ln/>
        </p:spPr>
        <p:txBody>
          <a:bodyPr wrap="square" lIns="0" tIns="0" rIns="0" bIns="0" rtlCol="0" anchor="t"/>
          <a:lstStyle/>
          <a:p>
            <a:pPr marL="177800" indent="-177800">
              <a:spcAft>
                <a:spcPts val="1200"/>
              </a:spcAft>
              <a:buSzPct val="100000"/>
              <a:buChar char="•"/>
            </a:pPr>
            <a:r>
              <a:rPr lang="en-US" sz="1550" b="1" dirty="0">
                <a:solidFill>
                  <a:schemeClr val="bg1"/>
                </a:solidFill>
              </a:rPr>
              <a:t>SQL Server </a:t>
            </a:r>
            <a:r>
              <a:rPr lang="en-US" sz="1550" dirty="0">
                <a:solidFill>
                  <a:schemeClr val="bg1"/>
                </a:solidFill>
              </a:rPr>
              <a:t>không có trong danh sách store → giữ làm nguồn gốc</a:t>
            </a:r>
            <a:endParaRPr lang="en-US" sz="1550" dirty="0"/>
          </a:p>
          <a:p>
            <a:pPr marL="177800" indent="-177800">
              <a:spcAft>
                <a:spcPts val="1200"/>
              </a:spcAft>
              <a:buSzPct val="100000"/>
              <a:buChar char="•"/>
            </a:pPr>
            <a:r>
              <a:rPr lang="en-US" sz="1550" b="1" dirty="0">
                <a:solidFill>
                  <a:schemeClr val="bg1"/>
                </a:solidFill>
              </a:rPr>
              <a:t>Một starter: </a:t>
            </a:r>
            <a:r>
              <a:rPr lang="en-US" sz="1550" dirty="0">
                <a:solidFill>
                  <a:schemeClr val="bg1"/>
                </a:solidFill>
              </a:rPr>
              <a:t>OpenAI + base-url, đổi sang OpenAI/Ollama bằng biến môi trường</a:t>
            </a:r>
            <a:endParaRPr lang="en-US" sz="1550" dirty="0"/>
          </a:p>
          <a:p>
            <a:pPr marL="177800" indent="-177800">
              <a:spcAft>
                <a:spcPts val="1200"/>
              </a:spcAft>
              <a:buSzPct val="100000"/>
              <a:buChar char="•"/>
            </a:pPr>
            <a:r>
              <a:rPr lang="en-US" sz="1550" b="1" dirty="0">
                <a:solidFill>
                  <a:schemeClr val="bg1"/>
                </a:solidFill>
              </a:rPr>
              <a:t>Không PgVector: </a:t>
            </a:r>
            <a:r>
              <a:rPr lang="en-US" sz="1550" dirty="0">
                <a:solidFill>
                  <a:schemeClr val="bg1"/>
                </a:solidFill>
              </a:rPr>
              <a:t>môi trường không có PostgreSQL</a:t>
            </a:r>
            <a:endParaRPr lang="en-US" sz="1550" dirty="0"/>
          </a:p>
        </p:txBody>
      </p:sp>
      <p:sp>
        <p:nvSpPr>
          <p:cNvPr id="14" name="Card"/>
          <p:cNvSpPr/>
          <p:nvPr/>
        </p:nvSpPr>
        <p:spPr>
          <a:xfrm>
            <a:off x="548640" y="5212080"/>
            <a:ext cx="11091672" cy="1051560"/>
          </a:xfrm>
          <a:prstGeom prst="roundRect">
            <a:avLst>
              <a:gd name="adj" fmla="val 8696"/>
            </a:avLst>
          </a:prstGeom>
          <a:solidFill>
            <a:srgbClr val="F7E2D3"/>
          </a:solidFill>
          <a:ln w="12700">
            <a:solidFill>
              <a:srgbClr val="F7E2D3"/>
            </a:solidFill>
            <a:prstDash val="solid"/>
          </a:ln>
        </p:spPr>
      </p:sp>
      <p:sp>
        <p:nvSpPr>
          <p:cNvPr id="15" name="Icon circle"/>
          <p:cNvSpPr/>
          <p:nvPr/>
        </p:nvSpPr>
        <p:spPr>
          <a:xfrm>
            <a:off x="777240" y="5458968"/>
            <a:ext cx="548640" cy="548640"/>
          </a:xfrm>
          <a:prstGeom prst="ellipse">
            <a:avLst/>
          </a:prstGeom>
          <a:solidFill>
            <a:schemeClr val="accent3"/>
          </a:solidFill>
          <a:ln w="12700">
            <a:solidFill>
              <a:schemeClr val="accent3"/>
            </a:solidFill>
            <a:prstDash val="solid"/>
          </a:ln>
        </p:spPr>
      </p:sp>
      <p:pic>
        <p:nvPicPr>
          <p:cNvPr id="16" name="Image 0" descr="ExclamationTriangle icon">    </p:cNvPr>
          <p:cNvPicPr>
            <a:picLocks noChangeAspect="1"/>
          </p:cNvPicPr>
          <p:nvPr/>
        </p:nvPicPr>
        <p:blipFill>
          <a:blip r:embed="rId1"/>
          <a:stretch>
            <a:fillRect/>
          </a:stretch>
        </p:blipFill>
        <p:spPr>
          <a:xfrm>
            <a:off x="908914" y="5590642"/>
            <a:ext cx="285293" cy="285293"/>
          </a:xfrm>
          <a:prstGeom prst="rect">
            <a:avLst/>
          </a:prstGeom>
        </p:spPr>
      </p:pic>
      <p:sp>
        <p:nvSpPr>
          <p:cNvPr id="17" name="Text 13"/>
          <p:cNvSpPr txBox="1"/>
          <p:nvPr/>
        </p:nvSpPr>
        <p:spPr>
          <a:xfrm>
            <a:off x="1554480" y="5285232"/>
            <a:ext cx="9875520" cy="914400"/>
          </a:xfrm>
          <a:prstGeom prst="rect">
            <a:avLst/>
          </a:prstGeom>
          <a:noFill/>
          <a:ln/>
        </p:spPr>
        <p:txBody>
          <a:bodyPr wrap="square" lIns="0" tIns="0" rIns="0" bIns="0" rtlCol="0" anchor="ctr"/>
          <a:lstStyle/>
          <a:p>
            <a:pPr indent="0" marL="0">
              <a:buNone/>
            </a:pPr>
            <a:r>
              <a:rPr lang="en-US" sz="1350" b="1" dirty="0">
                <a:solidFill>
                  <a:schemeClr val="tx1"/>
                </a:solidFill>
              </a:rPr>
              <a:t>Phiên bản: </a:t>
            </a:r>
            <a:r>
              <a:rPr lang="en-US" sz="1350" dirty="0">
                <a:solidFill>
                  <a:schemeClr val="tx1"/>
                </a:solidFill>
              </a:rPr>
              <a:t>Chương 7 dùng Spring AI 2.0.2 (nhắm tới Spring Boot 4, Jackson 3). Dự án chạy Boot 3.5.16 nên dùng Spring AI 1.1.8, bản 1.x mới nhất, đã biên dịch và chạy thật. Khoá đặt bằng biến GEMINI_API_KEY; để trống thì AI tắt, app vẫn chạy đủ chức năng.</a:t>
            </a:r>
            <a:endParaRPr lang="en-US" sz="13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1: thêm dependencies và cấu hình</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Text 2"/>
          <p:cNvSpPr txBox="1"/>
          <p:nvPr/>
        </p:nvSpPr>
        <p:spPr>
          <a:xfrm>
            <a:off x="548640" y="1417320"/>
            <a:ext cx="5212080" cy="274320"/>
          </a:xfrm>
          <a:prstGeom prst="rect">
            <a:avLst/>
          </a:prstGeom>
          <a:noFill/>
          <a:ln/>
        </p:spPr>
        <p:txBody>
          <a:bodyPr wrap="square" lIns="0" tIns="0" rIns="0" bIns="0" rtlCol="0" anchor="t"/>
          <a:lstStyle/>
          <a:p>
            <a:pPr indent="0" marL="0">
              <a:buNone/>
            </a:pPr>
            <a:r>
              <a:rPr lang="en-US" sz="1500" b="1" dirty="0">
                <a:solidFill>
                  <a:schemeClr val="tx2"/>
                </a:solidFill>
              </a:rPr>
              <a:t>pom.xml (groupId org.springframework.ai)</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212080" cy="914400"/>
        </p:xfrm>
        <a:graphic>
          <a:graphicData uri="http://schemas.openxmlformats.org/drawingml/2006/table">
            <a:tbl>
              <a:tblPr/>
              <a:tblGrid>
                <a:gridCol w="2926080"/>
                <a:gridCol w="2286000"/>
              </a:tblGrid>
              <a:tr h="548640">
                <a:tc>
                  <a:txBody>
                    <a:bodyPr/>
                    <a:lstStyle/>
                    <a:p>
                      <a:pPr indent="0" marL="0">
                        <a:buNone/>
                      </a:pPr>
                      <a:r>
                        <a:rPr lang="en-US" sz="1200" b="1" dirty="0">
                          <a:solidFill>
                            <a:srgbClr val="FFFFFF"/>
                          </a:solidFill>
                        </a:rPr>
                        <a:t>artifactId</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200" b="1" dirty="0">
                          <a:solidFill>
                            <a:srgbClr val="FFFFFF"/>
                          </a:solidFill>
                        </a:rPr>
                        <a:t>Vai trò</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r>
              <a:tr h="548640">
                <a:tc>
                  <a:txBody>
                    <a:bodyPr/>
                    <a:lstStyle/>
                    <a:p>
                      <a:pPr indent="0" marL="0">
                        <a:buNone/>
                      </a:pPr>
                      <a:r>
                        <a:rPr lang="en-US" sz="1100" dirty="0">
                          <a:solidFill>
                            <a:srgbClr val="14201E"/>
                          </a:solidFill>
                          <a:latin typeface="Courier New" pitchFamily="34" charset="0"/>
                          <a:ea typeface="Courier New" pitchFamily="34" charset="-122"/>
                          <a:cs typeface="Courier New" pitchFamily="34" charset="-120"/>
                        </a:rPr>
                        <a:t>spring-ai-bom</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200" dirty="0">
                          <a:solidFill>
                            <a:srgbClr val="14201E"/>
                          </a:solidFill>
                        </a:rPr>
                        <a:t>BOM, scope import, version 1.1.8</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548640">
                <a:tc>
                  <a:txBody>
                    <a:bodyPr/>
                    <a:lstStyle/>
                    <a:p>
                      <a:pPr indent="0" marL="0">
                        <a:buNone/>
                      </a:pPr>
                      <a:r>
                        <a:rPr lang="en-US" sz="1100" dirty="0">
                          <a:solidFill>
                            <a:srgbClr val="14201E"/>
                          </a:solidFill>
                          <a:latin typeface="Courier New" pitchFamily="34" charset="0"/>
                          <a:ea typeface="Courier New" pitchFamily="34" charset="-122"/>
                          <a:cs typeface="Courier New" pitchFamily="34" charset="-120"/>
                        </a:rPr>
                        <a:t>spring-ai-starter-model-openai</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200" dirty="0">
                          <a:solidFill>
                            <a:srgbClr val="14201E"/>
                          </a:solidFill>
                        </a:rPr>
                        <a:t>Chat + embedding (trỏ tới Gemini)</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4201E"/>
                          </a:solidFill>
                          <a:latin typeface="Courier New" pitchFamily="34" charset="0"/>
                          <a:ea typeface="Courier New" pitchFamily="34" charset="-122"/>
                          <a:cs typeface="Courier New" pitchFamily="34" charset="-120"/>
                        </a:rPr>
                        <a:t>spring-ai-vector-store</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200" dirty="0">
                          <a:solidFill>
                            <a:srgbClr val="14201E"/>
                          </a:solidFill>
                        </a:rPr>
                        <a:t>SimpleVectorStore</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548640">
                <a:tc>
                  <a:txBody>
                    <a:bodyPr/>
                    <a:lstStyle/>
                    <a:p>
                      <a:pPr indent="0" marL="0">
                        <a:buNone/>
                      </a:pPr>
                      <a:r>
                        <a:rPr lang="en-US" sz="1100" dirty="0">
                          <a:solidFill>
                            <a:srgbClr val="14201E"/>
                          </a:solidFill>
                          <a:latin typeface="Courier New" pitchFamily="34" charset="0"/>
                          <a:ea typeface="Courier New" pitchFamily="34" charset="-122"/>
                          <a:cs typeface="Courier New" pitchFamily="34" charset="-120"/>
                        </a:rPr>
                        <a:t>spring-ai-advisors-vector-store</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200" dirty="0">
                          <a:solidFill>
                            <a:srgbClr val="14201E"/>
                          </a:solidFill>
                        </a:rPr>
                        <a:t>QuestionAnswerAdvisor (RAG)</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4201E"/>
                          </a:solidFill>
                          <a:latin typeface="Courier New" pitchFamily="34" charset="0"/>
                          <a:ea typeface="Courier New" pitchFamily="34" charset="-122"/>
                          <a:cs typeface="Courier New" pitchFamily="34" charset="-120"/>
                        </a:rPr>
                        <a:t>com.h2database : h2 (test)</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200" dirty="0">
                          <a:solidFill>
                            <a:srgbClr val="14201E"/>
                          </a:solidFill>
                        </a:rPr>
                        <a:t>Kiểm thử không cần SQL Server</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bl>
          </a:graphicData>
        </a:graphic>
      </p:graphicFrame>
      <p:sp>
        <p:nvSpPr>
          <p:cNvPr id="7" name="Card"/>
          <p:cNvSpPr/>
          <p:nvPr/>
        </p:nvSpPr>
        <p:spPr>
          <a:xfrm>
            <a:off x="548640" y="5257800"/>
            <a:ext cx="5212080" cy="1005840"/>
          </a:xfrm>
          <a:prstGeom prst="roundRect">
            <a:avLst>
              <a:gd name="adj" fmla="val 9091"/>
            </a:avLst>
          </a:prstGeom>
          <a:solidFill>
            <a:schemeClr val="bg2"/>
          </a:solidFill>
          <a:ln w="12700">
            <a:solidFill>
              <a:schemeClr val="bg2"/>
            </a:solidFill>
            <a:prstDash val="solid"/>
          </a:ln>
        </p:spPr>
      </p:sp>
      <p:sp>
        <p:nvSpPr>
          <p:cNvPr id="8" name="Text 4"/>
          <p:cNvSpPr txBox="1"/>
          <p:nvPr/>
        </p:nvSpPr>
        <p:spPr>
          <a:xfrm>
            <a:off x="731520" y="5330952"/>
            <a:ext cx="4846320" cy="868680"/>
          </a:xfrm>
          <a:prstGeom prst="rect">
            <a:avLst/>
          </a:prstGeom>
          <a:noFill/>
          <a:ln/>
        </p:spPr>
        <p:txBody>
          <a:bodyPr wrap="square" lIns="0" tIns="0" rIns="0" bIns="0" rtlCol="0" anchor="ctr"/>
          <a:lstStyle/>
          <a:p>
            <a:pPr indent="0" marL="0">
              <a:buNone/>
            </a:pPr>
            <a:r>
              <a:rPr lang="en-US" sz="1300" b="1" dirty="0">
                <a:solidFill>
                  <a:schemeClr val="tx1"/>
                </a:solidFill>
              </a:rPr>
              <a:t>Property: </a:t>
            </a:r>
            <a:r>
              <a:rPr lang="en-US" sz="1200" dirty="0">
                <a:solidFill>
                  <a:schemeClr val="tx1"/>
                </a:solidFill>
                <a:latin typeface="Courier New" pitchFamily="34" charset="0"/>
                <a:ea typeface="Courier New" pitchFamily="34" charset="-122"/>
                <a:cs typeface="Courier New" pitchFamily="34" charset="-120"/>
              </a:rPr>
              <a:t>&lt;spring-ai.version&gt;1.1.8&lt;/spring-ai.version&gt;</a:t>
            </a:r>
            <a:r>
              <a:rPr lang="en-US" sz="1300" dirty="0">
                <a:solidFill>
                  <a:schemeClr val="tx1"/>
                </a:solidFill>
              </a:rPr>
              <a:t>  Khoá API qua biến môi trường GEMINI_API_KEY, không commit.</a:t>
            </a:r>
            <a:endParaRPr lang="en-US" sz="1300" dirty="0"/>
          </a:p>
        </p:txBody>
      </p:sp>
      <p:sp>
        <p:nvSpPr>
          <p:cNvPr id="9" name="Code panel application.properties"/>
          <p:cNvSpPr/>
          <p:nvPr/>
        </p:nvSpPr>
        <p:spPr>
          <a:xfrm>
            <a:off x="5943600" y="1463040"/>
            <a:ext cx="5696712" cy="3337560"/>
          </a:xfrm>
          <a:prstGeom prst="roundRect">
            <a:avLst>
              <a:gd name="adj" fmla="val 2192"/>
            </a:avLst>
          </a:prstGeom>
          <a:solidFill>
            <a:schemeClr val="tx2"/>
          </a:solidFill>
          <a:ln w="12700">
            <a:solidFill>
              <a:schemeClr val="tx2"/>
            </a:solidFill>
            <a:prstDash val="solid"/>
          </a:ln>
        </p:spPr>
      </p:sp>
      <p:sp>
        <p:nvSpPr>
          <p:cNvPr id="10" name="Text 6"/>
          <p:cNvSpPr txBox="1"/>
          <p:nvPr/>
        </p:nvSpPr>
        <p:spPr>
          <a:xfrm>
            <a:off x="6126480" y="1554480"/>
            <a:ext cx="5330952" cy="237744"/>
          </a:xfrm>
          <a:prstGeom prst="rect">
            <a:avLst/>
          </a:prstGeom>
          <a:noFill/>
          <a:ln/>
        </p:spPr>
        <p:txBody>
          <a:bodyPr wrap="square" lIns="0" tIns="0" rIns="0" bIns="0" rtlCol="0" anchor="ctr"/>
          <a:lstStyle/>
          <a:p>
            <a:pPr indent="0" marL="0">
              <a:buNone/>
            </a:pPr>
            <a:r>
              <a:rPr lang="en-US" sz="1100" b="1" dirty="0">
                <a:solidFill>
                  <a:schemeClr val="accent5"/>
                </a:solidFill>
              </a:rPr>
              <a:t>application.properties</a:t>
            </a:r>
            <a:endParaRPr lang="en-US" sz="1100" dirty="0"/>
          </a:p>
        </p:txBody>
      </p:sp>
      <p:sp>
        <p:nvSpPr>
          <p:cNvPr id="11" name="Code application.properties"/>
          <p:cNvSpPr txBox="1"/>
          <p:nvPr/>
        </p:nvSpPr>
        <p:spPr>
          <a:xfrm>
            <a:off x="6126480" y="1847088"/>
            <a:ext cx="5330952" cy="2880360"/>
          </a:xfrm>
          <a:prstGeom prst="rect">
            <a:avLst/>
          </a:prstGeom>
          <a:noFill/>
          <a:ln/>
        </p:spPr>
        <p:txBody>
          <a:bodyPr wrap="square" lIns="0" tIns="0" rIns="0" bIns="0" rtlCol="0" anchor="t"/>
          <a:lstStyle/>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spring.ai.openai.api-key=${GEMINI_API_KEY:}</a:t>
            </a:r>
            <a:endParaRPr lang="en-US" sz="950" dirty="0"/>
          </a:p>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spring.ai.openai.base-url=https://generativelanguage.googleapis.com</a:t>
            </a:r>
            <a:endParaRPr lang="en-US" sz="950" dirty="0"/>
          </a:p>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spring.ai.openai.chat.completions-path=/v1beta/openai/chat/completions</a:t>
            </a:r>
            <a:endParaRPr lang="en-US" sz="950" dirty="0"/>
          </a:p>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spring.ai.openai.chat.options.model=gemini-2.5-flash</a:t>
            </a:r>
            <a:endParaRPr lang="en-US" sz="950" dirty="0"/>
          </a:p>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spring.ai.openai.embedding.embeddings-path=/v1beta/openai/embeddings</a:t>
            </a:r>
            <a:endParaRPr lang="en-US" sz="950" dirty="0"/>
          </a:p>
          <a:p>
            <a:pPr indent="0" marL="0">
              <a:lnSpc>
                <a:spcPts val="1900"/>
              </a:lnSpc>
              <a:buNone/>
            </a:pPr>
            <a:r>
              <a:rPr lang="en-US" sz="950" dirty="0">
                <a:solidFill>
                  <a:srgbClr val="EFF7F5"/>
                </a:solidFill>
                <a:latin typeface="Courier New" pitchFamily="34" charset="0"/>
                <a:ea typeface="Courier New" pitchFamily="34" charset="-122"/>
                <a:cs typeface="Courier New" pitchFamily="34" charset="-120"/>
              </a:rPr>
              <a:t>spring.ai.openai.embedding.options.model=gemini-embedding-001</a:t>
            </a:r>
            <a:endParaRPr lang="en-US" sz="950" dirty="0"/>
          </a:p>
        </p:txBody>
      </p:sp>
      <p:sp>
        <p:nvSpPr>
          <p:cNvPr id="12" name="Card"/>
          <p:cNvSpPr/>
          <p:nvPr/>
        </p:nvSpPr>
        <p:spPr>
          <a:xfrm>
            <a:off x="5943600" y="4983480"/>
            <a:ext cx="5696712" cy="1280160"/>
          </a:xfrm>
          <a:prstGeom prst="roundRect">
            <a:avLst>
              <a:gd name="adj" fmla="val 7143"/>
            </a:avLst>
          </a:prstGeom>
          <a:solidFill>
            <a:schemeClr val="bg2"/>
          </a:solidFill>
          <a:ln w="12700">
            <a:solidFill>
              <a:schemeClr val="bg2"/>
            </a:solidFill>
            <a:prstDash val="solid"/>
          </a:ln>
        </p:spPr>
      </p:sp>
      <p:sp>
        <p:nvSpPr>
          <p:cNvPr id="13" name="Text 9"/>
          <p:cNvSpPr txBox="1"/>
          <p:nvPr/>
        </p:nvSpPr>
        <p:spPr>
          <a:xfrm>
            <a:off x="6126480" y="5074920"/>
            <a:ext cx="5349240" cy="1097280"/>
          </a:xfrm>
          <a:prstGeom prst="rect">
            <a:avLst/>
          </a:prstGeom>
          <a:noFill/>
          <a:ln/>
        </p:spPr>
        <p:txBody>
          <a:bodyPr wrap="square" lIns="0" tIns="0" rIns="0" bIns="0" rtlCol="0" anchor="ctr"/>
          <a:lstStyle/>
          <a:p>
            <a:pPr indent="0" marL="0">
              <a:buNone/>
            </a:pPr>
            <a:r>
              <a:rPr lang="en-US" sz="1400" dirty="0">
                <a:solidFill>
                  <a:schemeClr val="tx1"/>
                </a:solidFill>
              </a:rPr>
              <a:t>Bản rút gọn: file thật đọc từ biến môi trường (AI_BASE_URL, AI_CHAT_MODEL...). Đổi sang OpenAI hoặc Ollama chỉ cần đổi địa chỉ, hai đường dẫn và tên mô hình. Khoá rỗng → AI tắt.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2: khai báo VectorStore</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config/VectorStoreConfig.java"/>
          <p:cNvSpPr/>
          <p:nvPr/>
        </p:nvSpPr>
        <p:spPr>
          <a:xfrm>
            <a:off x="548640" y="1463040"/>
            <a:ext cx="6949440" cy="3703320"/>
          </a:xfrm>
          <a:prstGeom prst="roundRect">
            <a:avLst>
              <a:gd name="adj" fmla="val 1975"/>
            </a:avLst>
          </a:prstGeom>
          <a:solidFill>
            <a:schemeClr val="tx2"/>
          </a:solidFill>
          <a:ln w="12700">
            <a:solidFill>
              <a:schemeClr val="tx2"/>
            </a:solidFill>
            <a:prstDash val="solid"/>
          </a:ln>
        </p:spPr>
      </p:sp>
      <p:sp>
        <p:nvSpPr>
          <p:cNvPr id="6" name="Text 3"/>
          <p:cNvSpPr txBox="1"/>
          <p:nvPr/>
        </p:nvSpPr>
        <p:spPr>
          <a:xfrm>
            <a:off x="731520" y="1554480"/>
            <a:ext cx="6583680" cy="237744"/>
          </a:xfrm>
          <a:prstGeom prst="rect">
            <a:avLst/>
          </a:prstGeom>
          <a:noFill/>
          <a:ln/>
        </p:spPr>
        <p:txBody>
          <a:bodyPr wrap="square" lIns="0" tIns="0" rIns="0" bIns="0" rtlCol="0" anchor="ctr"/>
          <a:lstStyle/>
          <a:p>
            <a:pPr indent="0" marL="0">
              <a:buNone/>
            </a:pPr>
            <a:r>
              <a:rPr lang="en-US" sz="1100" b="1" dirty="0">
                <a:solidFill>
                  <a:schemeClr val="accent5"/>
                </a:solidFill>
              </a:rPr>
              <a:t>config/AiConfig.java</a:t>
            </a:r>
            <a:endParaRPr lang="en-US" sz="1100" dirty="0"/>
          </a:p>
        </p:txBody>
      </p:sp>
      <p:sp>
        <p:nvSpPr>
          <p:cNvPr id="7" name="Code config/VectorStoreConfig.java"/>
          <p:cNvSpPr txBox="1"/>
          <p:nvPr/>
        </p:nvSpPr>
        <p:spPr>
          <a:xfrm>
            <a:off x="731520" y="1847088"/>
            <a:ext cx="6583680" cy="3246120"/>
          </a:xfrm>
          <a:prstGeom prst="rect">
            <a:avLst/>
          </a:prstGeom>
          <a:noFill/>
          <a:ln/>
        </p:spPr>
        <p:txBody>
          <a:bodyPr wrap="square" lIns="0" tIns="0" rIns="0" bIns="0" rtlCol="0" anchor="t"/>
          <a:lstStyle/>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@Configuration</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@Conditional</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AiEnabledCondition</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class</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class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AiConfig</a:t>
            </a: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@Bean</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TourVectorStore</a:t>
            </a:r>
            <a:r>
              <a:rPr lang="en-US" sz="1200" dirty="0">
                <a:solidFill>
                  <a:srgbClr val="EFF7F5"/>
                </a:solidFill>
                <a:latin typeface="Courier New" pitchFamily="34" charset="0"/>
                <a:ea typeface="Courier New" pitchFamily="34" charset="-122"/>
                <a:cs typeface="Courier New" pitchFamily="34" charset="-120"/>
              </a:rPr>
              <a:t> tourVectorStore(</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EmbeddingModel</a:t>
            </a:r>
            <a:r>
              <a:rPr lang="en-US" sz="1200" dirty="0">
                <a:solidFill>
                  <a:srgbClr val="EFF7F5"/>
                </a:solidFill>
                <a:latin typeface="Courier New" pitchFamily="34" charset="0"/>
                <a:ea typeface="Courier New" pitchFamily="34" charset="-122"/>
                <a:cs typeface="Courier New" pitchFamily="34" charset="-120"/>
              </a:rPr>
              <a:t> em, </a:t>
            </a:r>
            <a:r>
              <a:rPr lang="en-US" sz="1200" dirty="0">
                <a:solidFill>
                  <a:srgbClr val="86C7BA"/>
                </a:solidFill>
                <a:latin typeface="Courier New" pitchFamily="34" charset="0"/>
                <a:ea typeface="Courier New" pitchFamily="34" charset="-122"/>
                <a:cs typeface="Courier New" pitchFamily="34" charset="-120"/>
              </a:rPr>
              <a:t>AiProperties</a:t>
            </a:r>
            <a:r>
              <a:rPr lang="en-US" sz="1200" dirty="0">
                <a:solidFill>
                  <a:srgbClr val="EFF7F5"/>
                </a:solidFill>
                <a:latin typeface="Courier New" pitchFamily="34" charset="0"/>
                <a:ea typeface="Courier New" pitchFamily="34" charset="-122"/>
                <a:cs typeface="Courier New" pitchFamily="34" charset="-120"/>
              </a:rPr>
              <a:t> p)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new</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TourVectorStore</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E0A458"/>
                </a:solidFill>
                <a:latin typeface="Courier New" pitchFamily="34" charset="0"/>
                <a:ea typeface="Courier New" pitchFamily="34" charset="-122"/>
                <a:cs typeface="Courier New" pitchFamily="34" charset="-120"/>
              </a:rPr>
              <a:t>new</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ThrottledEmbeddingModel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em, p.embeddingMinIntervalMs()));</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@Bean</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ChatMemory</a:t>
            </a:r>
            <a:r>
              <a:rPr lang="en-US" sz="1200" dirty="0">
                <a:solidFill>
                  <a:srgbClr val="EFF7F5"/>
                </a:solidFill>
                <a:latin typeface="Courier New" pitchFamily="34" charset="0"/>
                <a:ea typeface="Courier New" pitchFamily="34" charset="-122"/>
                <a:cs typeface="Courier New" pitchFamily="34" charset="-120"/>
              </a:rPr>
              <a:t> chatMemory(</a:t>
            </a:r>
            <a:r>
              <a:rPr lang="en-US" sz="1200" dirty="0">
                <a:solidFill>
                  <a:srgbClr val="86C7BA"/>
                </a:solidFill>
                <a:latin typeface="Courier New" pitchFamily="34" charset="0"/>
                <a:ea typeface="Courier New" pitchFamily="34" charset="-122"/>
                <a:cs typeface="Courier New" pitchFamily="34" charset="-120"/>
              </a:rPr>
              <a:t>AiProperties</a:t>
            </a:r>
            <a:r>
              <a:rPr lang="en-US" sz="1200" dirty="0">
                <a:solidFill>
                  <a:srgbClr val="EFF7F5"/>
                </a:solidFill>
                <a:latin typeface="Courier New" pitchFamily="34" charset="0"/>
                <a:ea typeface="Courier New" pitchFamily="34" charset="-122"/>
                <a:cs typeface="Courier New" pitchFamily="34" charset="-120"/>
              </a:rPr>
              <a:t> p)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MessageWindowChatMemory</a:t>
            </a:r>
            <a:r>
              <a:rPr lang="en-US" sz="1200" dirty="0">
                <a:solidFill>
                  <a:srgbClr val="EFF7F5"/>
                </a:solidFill>
                <a:latin typeface="Courier New" pitchFamily="34" charset="0"/>
                <a:ea typeface="Courier New" pitchFamily="34" charset="-122"/>
                <a:cs typeface="Courier New" pitchFamily="34" charset="-120"/>
              </a:rPr>
              <a:t>.builder()</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.chatMemoryRepository(</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new</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InMemoryChatMemoryRepository</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.maxMessages(p.memoryMessages()).build();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8" name="Card"/>
          <p:cNvSpPr/>
          <p:nvPr/>
        </p:nvSpPr>
        <p:spPr>
          <a:xfrm>
            <a:off x="548640" y="5349240"/>
            <a:ext cx="6949440" cy="914400"/>
          </a:xfrm>
          <a:prstGeom prst="roundRect">
            <a:avLst>
              <a:gd name="adj" fmla="val 10000"/>
            </a:avLst>
          </a:prstGeom>
          <a:solidFill>
            <a:schemeClr val="bg2"/>
          </a:solidFill>
          <a:ln w="12700">
            <a:solidFill>
              <a:schemeClr val="bg2"/>
            </a:solidFill>
            <a:prstDash val="solid"/>
          </a:ln>
        </p:spPr>
      </p:sp>
      <p:sp>
        <p:nvSpPr>
          <p:cNvPr id="9" name="Text 6"/>
          <p:cNvSpPr txBox="1"/>
          <p:nvPr/>
        </p:nvSpPr>
        <p:spPr>
          <a:xfrm>
            <a:off x="731520" y="5394960"/>
            <a:ext cx="6583680" cy="822960"/>
          </a:xfrm>
          <a:prstGeom prst="rect">
            <a:avLst/>
          </a:prstGeom>
          <a:noFill/>
          <a:ln/>
        </p:spPr>
        <p:txBody>
          <a:bodyPr wrap="square" lIns="0" tIns="0" rIns="0" bIns="0" rtlCol="0" anchor="ctr"/>
          <a:lstStyle/>
          <a:p>
            <a:pPr indent="0" marL="0">
              <a:buNone/>
            </a:pPr>
            <a:r>
              <a:rPr lang="en-US" sz="1300" b="1" dirty="0">
                <a:solidFill>
                  <a:schemeClr val="tx1"/>
                </a:solidFill>
              </a:rPr>
              <a:t>AiProperties </a:t>
            </a:r>
            <a:r>
              <a:rPr lang="en-US" sz="1300" dirty="0">
                <a:solidFill>
                  <a:schemeClr val="tx1"/>
                </a:solidFill>
              </a:rPr>
              <a:t>(app.ai.*) gom cấu hình; AiEnabledCondition bật hoặc tắt cả cụm bean AI.</a:t>
            </a:r>
            <a:endParaRPr lang="en-US" sz="1300" dirty="0"/>
          </a:p>
        </p:txBody>
      </p:sp>
      <p:sp>
        <p:nvSpPr>
          <p:cNvPr id="10" name="Card"/>
          <p:cNvSpPr/>
          <p:nvPr/>
        </p:nvSpPr>
        <p:spPr>
          <a:xfrm>
            <a:off x="7726680" y="1463040"/>
            <a:ext cx="3913632" cy="1508760"/>
          </a:xfrm>
          <a:prstGeom prst="roundRect">
            <a:avLst>
              <a:gd name="adj" fmla="val 6061"/>
            </a:avLst>
          </a:prstGeom>
          <a:solidFill>
            <a:schemeClr val="bg2"/>
          </a:solidFill>
          <a:ln w="12700">
            <a:solidFill>
              <a:schemeClr val="bg2"/>
            </a:solidFill>
            <a:prstDash val="solid"/>
          </a:ln>
        </p:spPr>
      </p:sp>
      <p:sp>
        <p:nvSpPr>
          <p:cNvPr id="11" name="Text 8"/>
          <p:cNvSpPr txBox="1"/>
          <p:nvPr/>
        </p:nvSpPr>
        <p:spPr>
          <a:xfrm>
            <a:off x="7909560" y="155448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Vì sao SimpleVectorStore?</a:t>
            </a:r>
            <a:endParaRPr lang="en-US" sz="1400" dirty="0"/>
          </a:p>
        </p:txBody>
      </p:sp>
      <p:sp>
        <p:nvSpPr>
          <p:cNvPr id="12" name="Text 9"/>
          <p:cNvSpPr txBox="1"/>
          <p:nvPr/>
        </p:nvSpPr>
        <p:spPr>
          <a:xfrm>
            <a:off x="7909560" y="1920240"/>
            <a:ext cx="3566160" cy="1005840"/>
          </a:xfrm>
          <a:prstGeom prst="rect">
            <a:avLst/>
          </a:prstGeom>
          <a:noFill/>
          <a:ln/>
        </p:spPr>
        <p:txBody>
          <a:bodyPr wrap="square" lIns="0" tIns="0" rIns="0" bIns="0" rtlCol="0" anchor="t"/>
          <a:lstStyle/>
          <a:p>
            <a:pPr indent="0" marL="0">
              <a:buNone/>
            </a:pPr>
            <a:r>
              <a:rPr lang="en-US" sz="1400" dirty="0">
                <a:solidFill>
                  <a:schemeClr val="tx1"/>
                </a:solidFill>
              </a:rPr>
              <a:t>Không có PostgreSQL. SQL Server vẫn là nguồn gốc, kho vector chỉ là chỉ mục phụ lưu ra tệp.</a:t>
            </a:r>
            <a:endParaRPr lang="en-US" sz="1400" dirty="0"/>
          </a:p>
        </p:txBody>
      </p:sp>
      <p:sp>
        <p:nvSpPr>
          <p:cNvPr id="13" name="Card"/>
          <p:cNvSpPr/>
          <p:nvPr/>
        </p:nvSpPr>
        <p:spPr>
          <a:xfrm>
            <a:off x="7726680" y="3090672"/>
            <a:ext cx="3913632" cy="1508760"/>
          </a:xfrm>
          <a:prstGeom prst="roundRect">
            <a:avLst>
              <a:gd name="adj" fmla="val 6061"/>
            </a:avLst>
          </a:prstGeom>
          <a:solidFill>
            <a:schemeClr val="bg2"/>
          </a:solidFill>
          <a:ln w="12700">
            <a:solidFill>
              <a:schemeClr val="bg2"/>
            </a:solidFill>
            <a:prstDash val="solid"/>
          </a:ln>
        </p:spPr>
      </p:sp>
      <p:sp>
        <p:nvSpPr>
          <p:cNvPr id="14" name="Text 11"/>
          <p:cNvSpPr txBox="1"/>
          <p:nvPr/>
        </p:nvSpPr>
        <p:spPr>
          <a:xfrm>
            <a:off x="7909560" y="3182112"/>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Vì sao bọc Throttled?</a:t>
            </a:r>
            <a:endParaRPr lang="en-US" sz="1400" dirty="0"/>
          </a:p>
        </p:txBody>
      </p:sp>
      <p:sp>
        <p:nvSpPr>
          <p:cNvPr id="15" name="Text 12"/>
          <p:cNvSpPr txBox="1"/>
          <p:nvPr/>
        </p:nvSpPr>
        <p:spPr>
          <a:xfrm>
            <a:off x="7909560" y="3547872"/>
            <a:ext cx="3566160" cy="1005840"/>
          </a:xfrm>
          <a:prstGeom prst="rect">
            <a:avLst/>
          </a:prstGeom>
          <a:noFill/>
          <a:ln/>
        </p:spPr>
        <p:txBody>
          <a:bodyPr wrap="square" lIns="0" tIns="0" rIns="0" bIns="0" rtlCol="0" anchor="t"/>
          <a:lstStyle/>
          <a:p>
            <a:pPr indent="0" marL="0">
              <a:buNone/>
            </a:pPr>
            <a:r>
              <a:rPr lang="en-US" sz="1400" dirty="0">
                <a:solidFill>
                  <a:schemeClr val="tx1"/>
                </a:solidFill>
              </a:rPr>
              <a:t>SimpleVectorStore gọi API nhúng từng tài liệu một; giãn cách 700 ms để không dính hạn mức (429).</a:t>
            </a:r>
            <a:endParaRPr lang="en-US" sz="1400" dirty="0"/>
          </a:p>
        </p:txBody>
      </p:sp>
      <p:sp>
        <p:nvSpPr>
          <p:cNvPr id="16" name="Card"/>
          <p:cNvSpPr/>
          <p:nvPr/>
        </p:nvSpPr>
        <p:spPr>
          <a:xfrm>
            <a:off x="7726680" y="4718304"/>
            <a:ext cx="3913632" cy="1508760"/>
          </a:xfrm>
          <a:prstGeom prst="roundRect">
            <a:avLst>
              <a:gd name="adj" fmla="val 6061"/>
            </a:avLst>
          </a:prstGeom>
          <a:solidFill>
            <a:schemeClr val="bg2"/>
          </a:solidFill>
          <a:ln w="12700">
            <a:solidFill>
              <a:schemeClr val="bg2"/>
            </a:solidFill>
            <a:prstDash val="solid"/>
          </a:ln>
        </p:spPr>
      </p:sp>
      <p:sp>
        <p:nvSpPr>
          <p:cNvPr id="17" name="Text 14"/>
          <p:cNvSpPr txBox="1"/>
          <p:nvPr/>
        </p:nvSpPr>
        <p:spPr>
          <a:xfrm>
            <a:off x="7909560" y="4809744"/>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AI tắt thì sao?</a:t>
            </a:r>
            <a:endParaRPr lang="en-US" sz="1400" dirty="0"/>
          </a:p>
        </p:txBody>
      </p:sp>
      <p:sp>
        <p:nvSpPr>
          <p:cNvPr id="18" name="Text 15"/>
          <p:cNvSpPr txBox="1"/>
          <p:nvPr/>
        </p:nvSpPr>
        <p:spPr>
          <a:xfrm>
            <a:off x="7909560" y="5175504"/>
            <a:ext cx="3566160" cy="1005840"/>
          </a:xfrm>
          <a:prstGeom prst="rect">
            <a:avLst/>
          </a:prstGeom>
          <a:noFill/>
          <a:ln/>
        </p:spPr>
        <p:txBody>
          <a:bodyPr wrap="square" lIns="0" tIns="0" rIns="0" bIns="0" rtlCol="0" anchor="t"/>
          <a:lstStyle/>
          <a:p>
            <a:pPr indent="0" marL="0">
              <a:buNone/>
            </a:pPr>
            <a:r>
              <a:rPr lang="en-US" sz="1400" dirty="0">
                <a:solidFill>
                  <a:schemeClr val="tx1"/>
                </a:solidFill>
              </a:rPr>
              <a:t>AiConfig không nạp; khoá rỗng cũng không làm app sập lúc khởi động.</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3: nạp Tour vào VectorStore</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service/TourVectorService.java"/>
          <p:cNvSpPr/>
          <p:nvPr/>
        </p:nvSpPr>
        <p:spPr>
          <a:xfrm>
            <a:off x="548640" y="1463040"/>
            <a:ext cx="6949440" cy="3337560"/>
          </a:xfrm>
          <a:prstGeom prst="roundRect">
            <a:avLst>
              <a:gd name="adj" fmla="val 2192"/>
            </a:avLst>
          </a:prstGeom>
          <a:solidFill>
            <a:schemeClr val="tx2"/>
          </a:solidFill>
          <a:ln w="12700">
            <a:solidFill>
              <a:schemeClr val="tx2"/>
            </a:solidFill>
            <a:prstDash val="solid"/>
          </a:ln>
        </p:spPr>
      </p:sp>
      <p:sp>
        <p:nvSpPr>
          <p:cNvPr id="6" name="Text 3"/>
          <p:cNvSpPr txBox="1"/>
          <p:nvPr/>
        </p:nvSpPr>
        <p:spPr>
          <a:xfrm>
            <a:off x="731520" y="1554480"/>
            <a:ext cx="6583680" cy="237744"/>
          </a:xfrm>
          <a:prstGeom prst="rect">
            <a:avLst/>
          </a:prstGeom>
          <a:noFill/>
          <a:ln/>
        </p:spPr>
        <p:txBody>
          <a:bodyPr wrap="square" lIns="0" tIns="0" rIns="0" bIns="0" rtlCol="0" anchor="ctr"/>
          <a:lstStyle/>
          <a:p>
            <a:pPr indent="0" marL="0">
              <a:buNone/>
            </a:pPr>
            <a:r>
              <a:rPr lang="en-US" sz="1100" b="1" dirty="0">
                <a:solidFill>
                  <a:schemeClr val="accent5"/>
                </a:solidFill>
              </a:rPr>
              <a:t>ai/TourDocumentFactory.java</a:t>
            </a:r>
            <a:endParaRPr lang="en-US" sz="1100" dirty="0"/>
          </a:p>
        </p:txBody>
      </p:sp>
      <p:sp>
        <p:nvSpPr>
          <p:cNvPr id="7" name="Code service/TourVectorService.java"/>
          <p:cNvSpPr txBox="1"/>
          <p:nvPr/>
        </p:nvSpPr>
        <p:spPr>
          <a:xfrm>
            <a:off x="731520" y="1847088"/>
            <a:ext cx="6583680" cy="2880360"/>
          </a:xfrm>
          <a:prstGeom prst="rect">
            <a:avLst/>
          </a:prstGeom>
          <a:noFill/>
          <a:ln/>
        </p:spPr>
        <p:txBody>
          <a:bodyPr wrap="square" lIns="0" tIns="0" rIns="0" bIns="0" rtlCol="0" anchor="t"/>
          <a:lstStyle/>
          <a:p>
            <a:pPr indent="0" marL="0">
              <a:lnSpc>
                <a:spcPts val="1600"/>
              </a:lnSpc>
              <a:buNone/>
            </a:pPr>
            <a:r>
              <a:rPr lang="en-US" sz="1300" dirty="0">
                <a:solidFill>
                  <a:srgbClr val="E0A458"/>
                </a:solidFill>
                <a:latin typeface="Courier New" pitchFamily="34" charset="0"/>
                <a:ea typeface="Courier New" pitchFamily="34" charset="-122"/>
                <a:cs typeface="Courier New" pitchFamily="34" charset="-120"/>
              </a:rPr>
              <a:t>public</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static</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Document</a:t>
            </a:r>
            <a:r>
              <a:rPr lang="en-US" sz="1300" dirty="0">
                <a:solidFill>
                  <a:srgbClr val="EFF7F5"/>
                </a:solidFill>
                <a:latin typeface="Courier New" pitchFamily="34" charset="0"/>
                <a:ea typeface="Courier New" pitchFamily="34" charset="-122"/>
                <a:cs typeface="Courier New" pitchFamily="34" charset="-120"/>
              </a:rPr>
              <a:t> toDocument(</a:t>
            </a:r>
            <a:r>
              <a:rPr lang="en-US" sz="1300" dirty="0">
                <a:solidFill>
                  <a:srgbClr val="86C7BA"/>
                </a:solidFill>
                <a:latin typeface="Courier New" pitchFamily="34" charset="0"/>
                <a:ea typeface="Courier New" pitchFamily="34" charset="-122"/>
                <a:cs typeface="Courier New" pitchFamily="34" charset="-120"/>
              </a:rPr>
              <a:t>Tour</a:t>
            </a:r>
            <a:r>
              <a:rPr lang="en-US" sz="1300" dirty="0">
                <a:solidFill>
                  <a:srgbClr val="EFF7F5"/>
                </a:solidFill>
                <a:latin typeface="Courier New" pitchFamily="34" charset="0"/>
                <a:ea typeface="Courier New" pitchFamily="34" charset="-122"/>
                <a:cs typeface="Courier New" pitchFamily="34" charset="-120"/>
              </a:rPr>
              <a:t> t) {</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Map</a:t>
            </a:r>
            <a:r>
              <a:rPr lang="en-US" sz="1300" dirty="0">
                <a:solidFill>
                  <a:srgbClr val="EFF7F5"/>
                </a:solidFill>
                <a:latin typeface="Courier New" pitchFamily="34" charset="0"/>
                <a:ea typeface="Courier New" pitchFamily="34" charset="-122"/>
                <a:cs typeface="Courier New" pitchFamily="34" charset="-120"/>
              </a:rPr>
              <a:t>&lt;</a:t>
            </a:r>
            <a:r>
              <a:rPr lang="en-US" sz="1300" dirty="0">
                <a:solidFill>
                  <a:srgbClr val="E0A458"/>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Object</a:t>
            </a:r>
            <a:r>
              <a:rPr lang="en-US" sz="1300" dirty="0">
                <a:solidFill>
                  <a:srgbClr val="EFF7F5"/>
                </a:solidFill>
                <a:latin typeface="Courier New" pitchFamily="34" charset="0"/>
                <a:ea typeface="Courier New" pitchFamily="34" charset="-122"/>
                <a:cs typeface="Courier New" pitchFamily="34" charset="-120"/>
              </a:rPr>
              <a:t>&gt; m = </a:t>
            </a:r>
            <a:r>
              <a:rPr lang="en-US" sz="1300" dirty="0">
                <a:solidFill>
                  <a:srgbClr val="E0A458"/>
                </a:solidFill>
                <a:latin typeface="Courier New" pitchFamily="34" charset="0"/>
                <a:ea typeface="Courier New" pitchFamily="34" charset="-122"/>
                <a:cs typeface="Courier New" pitchFamily="34" charset="-120"/>
              </a:rPr>
              <a:t>new</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LinkedHashMap</a:t>
            </a:r>
            <a:r>
              <a:rPr lang="en-US" sz="1300" dirty="0">
                <a:solidFill>
                  <a:srgbClr val="EFF7F5"/>
                </a:solidFill>
                <a:latin typeface="Courier New" pitchFamily="34" charset="0"/>
                <a:ea typeface="Courier New" pitchFamily="34" charset="-122"/>
                <a:cs typeface="Courier New" pitchFamily="34" charset="-120"/>
              </a:rPr>
              <a:t>&lt;&gt;();</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"tourId"</a:t>
            </a:r>
            <a:r>
              <a:rPr lang="en-US" sz="1300" dirty="0">
                <a:solidFill>
                  <a:srgbClr val="EFF7F5"/>
                </a:solidFill>
                <a:latin typeface="Courier New" pitchFamily="34" charset="0"/>
                <a:ea typeface="Courier New" pitchFamily="34" charset="-122"/>
                <a:cs typeface="Courier New" pitchFamily="34" charset="-120"/>
              </a:rPr>
              <a:t>, t.getId());</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"categoryId"</a:t>
            </a:r>
            <a:r>
              <a:rPr lang="en-US" sz="1300" dirty="0">
                <a:solidFill>
                  <a:srgbClr val="EFF7F5"/>
                </a:solidFill>
                <a:latin typeface="Courier New" pitchFamily="34" charset="0"/>
                <a:ea typeface="Courier New" pitchFamily="34" charset="-122"/>
                <a:cs typeface="Courier New" pitchFamily="34" charset="-120"/>
              </a:rPr>
              <a:t>, t.getCategory().getId());</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"category"</a:t>
            </a:r>
            <a:r>
              <a:rPr lang="en-US" sz="1300" dirty="0">
                <a:solidFill>
                  <a:srgbClr val="EFF7F5"/>
                </a:solidFill>
                <a:latin typeface="Courier New" pitchFamily="34" charset="0"/>
                <a:ea typeface="Courier New" pitchFamily="34" charset="-122"/>
                <a:cs typeface="Courier New" pitchFamily="34" charset="-120"/>
              </a:rPr>
              <a:t>, t.getCategory().getName());</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"destination"</a:t>
            </a:r>
            <a:r>
              <a:rPr lang="en-US" sz="1300" dirty="0">
                <a:solidFill>
                  <a:srgbClr val="EFF7F5"/>
                </a:solidFill>
                <a:latin typeface="Courier New" pitchFamily="34" charset="0"/>
                <a:ea typeface="Courier New" pitchFamily="34" charset="-122"/>
                <a:cs typeface="Courier New" pitchFamily="34" charset="-120"/>
              </a:rPr>
              <a:t>, t.getDestination());</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"price"</a:t>
            </a:r>
            <a:r>
              <a:rPr lang="en-US" sz="1300" dirty="0">
                <a:solidFill>
                  <a:srgbClr val="EFF7F5"/>
                </a:solidFill>
                <a:latin typeface="Courier New" pitchFamily="34" charset="0"/>
                <a:ea typeface="Courier New" pitchFamily="34" charset="-122"/>
                <a:cs typeface="Courier New" pitchFamily="34" charset="-120"/>
              </a:rPr>
              <a:t>, t.getBasePrice().longValue());</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m.put(</a:t>
            </a:r>
            <a:r>
              <a:rPr lang="en-US" sz="1300" dirty="0">
                <a:solidFill>
                  <a:srgbClr val="F4B393"/>
                </a:solidFill>
                <a:latin typeface="Courier New" pitchFamily="34" charset="0"/>
                <a:ea typeface="Courier New" pitchFamily="34" charset="-122"/>
                <a:cs typeface="Courier New" pitchFamily="34" charset="-120"/>
              </a:rPr>
              <a:t>"days"</a:t>
            </a:r>
            <a:r>
              <a:rPr lang="en-US" sz="1300" dirty="0">
                <a:solidFill>
                  <a:srgbClr val="EFF7F5"/>
                </a:solidFill>
                <a:latin typeface="Courier New" pitchFamily="34" charset="0"/>
                <a:ea typeface="Courier New" pitchFamily="34" charset="-122"/>
                <a:cs typeface="Courier New" pitchFamily="34" charset="-120"/>
              </a:rPr>
              <a:t>, t.getDurationDays());</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return</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new</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Document</a:t>
            </a:r>
            <a:r>
              <a:rPr lang="en-US" sz="1300" dirty="0">
                <a:solidFill>
                  <a:srgbClr val="EFF7F5"/>
                </a:solidFill>
                <a:latin typeface="Courier New" pitchFamily="34" charset="0"/>
                <a:ea typeface="Courier New" pitchFamily="34" charset="-122"/>
                <a:cs typeface="Courier New" pitchFamily="34" charset="-120"/>
              </a:rPr>
              <a:t>(</a:t>
            </a:r>
            <a:r>
              <a:rPr lang="en-US" sz="1300" dirty="0">
                <a:solidFill>
                  <a:srgbClr val="F4B393"/>
                </a:solidFill>
                <a:latin typeface="Courier New" pitchFamily="34" charset="0"/>
                <a:ea typeface="Courier New" pitchFamily="34" charset="-122"/>
                <a:cs typeface="Courier New" pitchFamily="34" charset="-120"/>
              </a:rPr>
              <a:t>"tour-"</a:t>
            </a:r>
            <a:r>
              <a:rPr lang="en-US" sz="1300" dirty="0">
                <a:solidFill>
                  <a:srgbClr val="EFF7F5"/>
                </a:solidFill>
                <a:latin typeface="Courier New" pitchFamily="34" charset="0"/>
                <a:ea typeface="Courier New" pitchFamily="34" charset="-122"/>
                <a:cs typeface="Courier New" pitchFamily="34" charset="-120"/>
              </a:rPr>
              <a:t> + t.getId(), text(t), m);</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 text(t): tên, danh mục, điểm đến, khởi hành,</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 thời lượng, phương tiện, điểm nhấn, mô tả</a:t>
            </a:r>
            <a:endParaRPr lang="en-US" sz="1300" dirty="0"/>
          </a:p>
        </p:txBody>
      </p:sp>
      <p:sp>
        <p:nvSpPr>
          <p:cNvPr id="8" name="Card"/>
          <p:cNvSpPr/>
          <p:nvPr/>
        </p:nvSpPr>
        <p:spPr>
          <a:xfrm>
            <a:off x="548640" y="4983480"/>
            <a:ext cx="6949440" cy="1280160"/>
          </a:xfrm>
          <a:prstGeom prst="roundRect">
            <a:avLst>
              <a:gd name="adj" fmla="val 7143"/>
            </a:avLst>
          </a:prstGeom>
          <a:solidFill>
            <a:schemeClr val="bg2"/>
          </a:solidFill>
          <a:ln w="12700">
            <a:solidFill>
              <a:schemeClr val="bg2"/>
            </a:solidFill>
            <a:prstDash val="solid"/>
          </a:ln>
        </p:spPr>
      </p:sp>
      <p:sp>
        <p:nvSpPr>
          <p:cNvPr id="9" name="Text 6"/>
          <p:cNvSpPr txBox="1"/>
          <p:nvPr/>
        </p:nvSpPr>
        <p:spPr>
          <a:xfrm>
            <a:off x="731520" y="5029200"/>
            <a:ext cx="6583680" cy="118872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reindexAll(): findByActiveTrue() → toDocument → store.add(docs), gỡ id không còn bán, lưu tệp. Id "tour-{id}" xác định nên lập lại là upsert.</a:t>
            </a:r>
            <a:endParaRPr lang="en-US" sz="1300" dirty="0"/>
          </a:p>
        </p:txBody>
      </p:sp>
      <p:sp>
        <p:nvSpPr>
          <p:cNvPr id="10" name="Text 7"/>
          <p:cNvSpPr txBox="1"/>
          <p:nvPr/>
        </p:nvSpPr>
        <p:spPr>
          <a:xfrm>
            <a:off x="7726680" y="1417320"/>
            <a:ext cx="3840480" cy="274320"/>
          </a:xfrm>
          <a:prstGeom prst="rect">
            <a:avLst/>
          </a:prstGeom>
          <a:noFill/>
          <a:ln/>
        </p:spPr>
        <p:txBody>
          <a:bodyPr wrap="square" lIns="0" tIns="0" rIns="0" bIns="0" rtlCol="0" anchor="t"/>
          <a:lstStyle/>
          <a:p>
            <a:pPr indent="0" marL="0">
              <a:buNone/>
            </a:pPr>
            <a:r>
              <a:rPr lang="en-US" sz="1500" b="1" dirty="0">
                <a:solidFill>
                  <a:schemeClr val="tx2"/>
                </a:solidFill>
              </a:rPr>
              <a:t>Khi nào đồng bộ?</a:t>
            </a:r>
            <a:endParaRPr lang="en-US" sz="1500" dirty="0"/>
          </a:p>
        </p:txBody>
      </p:sp>
      <p:sp>
        <p:nvSpPr>
          <p:cNvPr id="11" name="Card"/>
          <p:cNvSpPr/>
          <p:nvPr/>
        </p:nvSpPr>
        <p:spPr>
          <a:xfrm>
            <a:off x="7726680" y="1783080"/>
            <a:ext cx="3913632" cy="1371600"/>
          </a:xfrm>
          <a:prstGeom prst="roundRect">
            <a:avLst>
              <a:gd name="adj" fmla="val 6667"/>
            </a:avLst>
          </a:prstGeom>
          <a:solidFill>
            <a:schemeClr val="bg2"/>
          </a:solidFill>
          <a:ln w="12700">
            <a:solidFill>
              <a:schemeClr val="bg2"/>
            </a:solidFill>
            <a:prstDash val="solid"/>
          </a:ln>
        </p:spPr>
      </p:sp>
      <p:sp>
        <p:nvSpPr>
          <p:cNvPr id="12" name="Icon circle"/>
          <p:cNvSpPr/>
          <p:nvPr/>
        </p:nvSpPr>
        <p:spPr>
          <a:xfrm>
            <a:off x="7882128" y="1920240"/>
            <a:ext cx="411480" cy="411480"/>
          </a:xfrm>
          <a:prstGeom prst="ellipse">
            <a:avLst/>
          </a:prstGeom>
          <a:solidFill>
            <a:schemeClr val="accent1"/>
          </a:solidFill>
          <a:ln w="12700">
            <a:solidFill>
              <a:schemeClr val="accent1"/>
            </a:solidFill>
            <a:prstDash val="solid"/>
          </a:ln>
        </p:spPr>
      </p:sp>
      <p:pic>
        <p:nvPicPr>
          <p:cNvPr id="13" name="Image 0" descr="PlayCircle icon">    </p:cNvPr>
          <p:cNvPicPr>
            <a:picLocks noChangeAspect="1"/>
          </p:cNvPicPr>
          <p:nvPr/>
        </p:nvPicPr>
        <p:blipFill>
          <a:blip r:embed="rId1"/>
          <a:stretch>
            <a:fillRect/>
          </a:stretch>
        </p:blipFill>
        <p:spPr>
          <a:xfrm>
            <a:off x="7980883" y="2018995"/>
            <a:ext cx="213970" cy="213970"/>
          </a:xfrm>
          <a:prstGeom prst="rect">
            <a:avLst/>
          </a:prstGeom>
        </p:spPr>
      </p:pic>
      <p:sp>
        <p:nvSpPr>
          <p:cNvPr id="14" name="Text 10"/>
          <p:cNvSpPr txBox="1"/>
          <p:nvPr/>
        </p:nvSpPr>
        <p:spPr>
          <a:xfrm>
            <a:off x="8412480" y="1920240"/>
            <a:ext cx="3108960" cy="411480"/>
          </a:xfrm>
          <a:prstGeom prst="rect">
            <a:avLst/>
          </a:prstGeom>
          <a:noFill/>
          <a:ln/>
        </p:spPr>
        <p:txBody>
          <a:bodyPr wrap="square" lIns="0" tIns="0" rIns="0" bIns="0" rtlCol="0" anchor="ctr"/>
          <a:lstStyle/>
          <a:p>
            <a:pPr indent="0" marL="0">
              <a:buNone/>
            </a:pPr>
            <a:r>
              <a:rPr lang="en-US" sz="1400" b="1" dirty="0">
                <a:solidFill>
                  <a:schemeClr val="tx2"/>
                </a:solidFill>
              </a:rPr>
              <a:t>Khi ứng dụng sẵn sàng</a:t>
            </a:r>
            <a:endParaRPr lang="en-US" sz="1400" dirty="0"/>
          </a:p>
        </p:txBody>
      </p:sp>
      <p:sp>
        <p:nvSpPr>
          <p:cNvPr id="15" name="Text 11"/>
          <p:cNvSpPr txBox="1"/>
          <p:nvPr/>
        </p:nvSpPr>
        <p:spPr>
          <a:xfrm>
            <a:off x="7882128" y="2404872"/>
            <a:ext cx="3611880" cy="731520"/>
          </a:xfrm>
          <a:prstGeom prst="rect">
            <a:avLst/>
          </a:prstGeom>
          <a:noFill/>
          <a:ln/>
        </p:spPr>
        <p:txBody>
          <a:bodyPr wrap="square" lIns="0" tIns="0" rIns="0" bIns="0" rtlCol="0" anchor="t"/>
          <a:lstStyle/>
          <a:p>
            <a:pPr indent="0" marL="0">
              <a:buNone/>
            </a:pPr>
            <a:r>
              <a:rPr lang="en-US" sz="1200" dirty="0">
                <a:solidFill>
                  <a:schemeClr val="tx1"/>
                </a:solidFill>
              </a:rPr>
              <a:t>ApplicationReadyEvent: nạp tệp đã lưu, hoặc lập mới nếu chưa có</a:t>
            </a:r>
            <a:endParaRPr lang="en-US" sz="1200" dirty="0"/>
          </a:p>
        </p:txBody>
      </p:sp>
      <p:sp>
        <p:nvSpPr>
          <p:cNvPr id="16" name="Card"/>
          <p:cNvSpPr/>
          <p:nvPr/>
        </p:nvSpPr>
        <p:spPr>
          <a:xfrm>
            <a:off x="7726680" y="3264408"/>
            <a:ext cx="3913632" cy="1371600"/>
          </a:xfrm>
          <a:prstGeom prst="roundRect">
            <a:avLst>
              <a:gd name="adj" fmla="val 6667"/>
            </a:avLst>
          </a:prstGeom>
          <a:solidFill>
            <a:schemeClr val="bg2"/>
          </a:solidFill>
          <a:ln w="12700">
            <a:solidFill>
              <a:schemeClr val="bg2"/>
            </a:solidFill>
            <a:prstDash val="solid"/>
          </a:ln>
        </p:spPr>
      </p:sp>
      <p:sp>
        <p:nvSpPr>
          <p:cNvPr id="17" name="Icon circle"/>
          <p:cNvSpPr/>
          <p:nvPr/>
        </p:nvSpPr>
        <p:spPr>
          <a:xfrm>
            <a:off x="7882128" y="3401568"/>
            <a:ext cx="411480" cy="411480"/>
          </a:xfrm>
          <a:prstGeom prst="ellipse">
            <a:avLst/>
          </a:prstGeom>
          <a:solidFill>
            <a:schemeClr val="accent1"/>
          </a:solidFill>
          <a:ln w="12700">
            <a:solidFill>
              <a:schemeClr val="accent1"/>
            </a:solidFill>
            <a:prstDash val="solid"/>
          </a:ln>
        </p:spPr>
      </p:sp>
      <p:pic>
        <p:nvPicPr>
          <p:cNvPr id="18" name="Image 1" descr="Wrench icon">    </p:cNvPr>
          <p:cNvPicPr>
            <a:picLocks noChangeAspect="1"/>
          </p:cNvPicPr>
          <p:nvPr/>
        </p:nvPicPr>
        <p:blipFill>
          <a:blip r:embed="rId2"/>
          <a:stretch>
            <a:fillRect/>
          </a:stretch>
        </p:blipFill>
        <p:spPr>
          <a:xfrm>
            <a:off x="7980883" y="3500323"/>
            <a:ext cx="213970" cy="213970"/>
          </a:xfrm>
          <a:prstGeom prst="rect">
            <a:avLst/>
          </a:prstGeom>
        </p:spPr>
      </p:pic>
      <p:sp>
        <p:nvSpPr>
          <p:cNvPr id="19" name="Text 14"/>
          <p:cNvSpPr txBox="1"/>
          <p:nvPr/>
        </p:nvSpPr>
        <p:spPr>
          <a:xfrm>
            <a:off x="8412480" y="3401568"/>
            <a:ext cx="3108960" cy="411480"/>
          </a:xfrm>
          <a:prstGeom prst="rect">
            <a:avLst/>
          </a:prstGeom>
          <a:noFill/>
          <a:ln/>
        </p:spPr>
        <p:txBody>
          <a:bodyPr wrap="square" lIns="0" tIns="0" rIns="0" bIns="0" rtlCol="0" anchor="ctr"/>
          <a:lstStyle/>
          <a:p>
            <a:pPr indent="0" marL="0">
              <a:buNone/>
            </a:pPr>
            <a:r>
              <a:rPr lang="en-US" sz="1400" b="1" dirty="0">
                <a:solidFill>
                  <a:schemeClr val="tx2"/>
                </a:solidFill>
              </a:rPr>
              <a:t>Khi admin sửa tour</a:t>
            </a:r>
            <a:endParaRPr lang="en-US" sz="1400" dirty="0"/>
          </a:p>
        </p:txBody>
      </p:sp>
      <p:sp>
        <p:nvSpPr>
          <p:cNvPr id="20" name="Text 15"/>
          <p:cNvSpPr txBox="1"/>
          <p:nvPr/>
        </p:nvSpPr>
        <p:spPr>
          <a:xfrm>
            <a:off x="7882128" y="3886200"/>
            <a:ext cx="3611880" cy="731520"/>
          </a:xfrm>
          <a:prstGeom prst="rect">
            <a:avLst/>
          </a:prstGeom>
          <a:noFill/>
          <a:ln/>
        </p:spPr>
        <p:txBody>
          <a:bodyPr wrap="square" lIns="0" tIns="0" rIns="0" bIns="0" rtlCol="0" anchor="t"/>
          <a:lstStyle/>
          <a:p>
            <a:pPr indent="0" marL="0">
              <a:buNone/>
            </a:pPr>
            <a:r>
              <a:rPr lang="en-US" sz="1200" dirty="0">
                <a:solidFill>
                  <a:schemeClr val="tx1"/>
                </a:solidFill>
              </a:rPr>
              <a:t>save/toggleActive/delete → TourChangedEvent → @TransactionalEventListener(AFTER_COMMIT)</a:t>
            </a:r>
            <a:endParaRPr lang="en-US" sz="1200" dirty="0"/>
          </a:p>
        </p:txBody>
      </p:sp>
      <p:sp>
        <p:nvSpPr>
          <p:cNvPr id="21" name="Card"/>
          <p:cNvSpPr/>
          <p:nvPr/>
        </p:nvSpPr>
        <p:spPr>
          <a:xfrm>
            <a:off x="7726680" y="4745736"/>
            <a:ext cx="3913632" cy="1371600"/>
          </a:xfrm>
          <a:prstGeom prst="roundRect">
            <a:avLst>
              <a:gd name="adj" fmla="val 6667"/>
            </a:avLst>
          </a:prstGeom>
          <a:solidFill>
            <a:schemeClr val="bg2"/>
          </a:solidFill>
          <a:ln w="12700">
            <a:solidFill>
              <a:schemeClr val="bg2"/>
            </a:solidFill>
            <a:prstDash val="solid"/>
          </a:ln>
        </p:spPr>
      </p:sp>
      <p:sp>
        <p:nvSpPr>
          <p:cNvPr id="22" name="Icon circle"/>
          <p:cNvSpPr/>
          <p:nvPr/>
        </p:nvSpPr>
        <p:spPr>
          <a:xfrm>
            <a:off x="7882128" y="4882896"/>
            <a:ext cx="411480" cy="411480"/>
          </a:xfrm>
          <a:prstGeom prst="ellipse">
            <a:avLst/>
          </a:prstGeom>
          <a:solidFill>
            <a:schemeClr val="accent1"/>
          </a:solidFill>
          <a:ln w="12700">
            <a:solidFill>
              <a:schemeClr val="accent1"/>
            </a:solidFill>
            <a:prstDash val="solid"/>
          </a:ln>
        </p:spPr>
      </p:sp>
      <p:pic>
        <p:nvPicPr>
          <p:cNvPr id="23" name="Image 2" descr="History icon">    </p:cNvPr>
          <p:cNvPicPr>
            <a:picLocks noChangeAspect="1"/>
          </p:cNvPicPr>
          <p:nvPr/>
        </p:nvPicPr>
        <p:blipFill>
          <a:blip r:embed="rId3"/>
          <a:stretch>
            <a:fillRect/>
          </a:stretch>
        </p:blipFill>
        <p:spPr>
          <a:xfrm>
            <a:off x="7980883" y="4981651"/>
            <a:ext cx="213970" cy="213970"/>
          </a:xfrm>
          <a:prstGeom prst="rect">
            <a:avLst/>
          </a:prstGeom>
        </p:spPr>
      </p:pic>
      <p:sp>
        <p:nvSpPr>
          <p:cNvPr id="24" name="Text 18"/>
          <p:cNvSpPr txBox="1"/>
          <p:nvPr/>
        </p:nvSpPr>
        <p:spPr>
          <a:xfrm>
            <a:off x="8412480" y="4882896"/>
            <a:ext cx="3108960" cy="411480"/>
          </a:xfrm>
          <a:prstGeom prst="rect">
            <a:avLst/>
          </a:prstGeom>
          <a:noFill/>
          <a:ln/>
        </p:spPr>
        <p:txBody>
          <a:bodyPr wrap="square" lIns="0" tIns="0" rIns="0" bIns="0" rtlCol="0" anchor="ctr"/>
          <a:lstStyle/>
          <a:p>
            <a:pPr indent="0" marL="0">
              <a:buNone/>
            </a:pPr>
            <a:r>
              <a:rPr lang="en-US" sz="1400" b="1" dirty="0">
                <a:solidFill>
                  <a:schemeClr val="tx2"/>
                </a:solidFill>
              </a:rPr>
              <a:t>Thủ công</a:t>
            </a:r>
            <a:endParaRPr lang="en-US" sz="1400" dirty="0"/>
          </a:p>
        </p:txBody>
      </p:sp>
      <p:sp>
        <p:nvSpPr>
          <p:cNvPr id="25" name="Text 19"/>
          <p:cNvSpPr txBox="1"/>
          <p:nvPr/>
        </p:nvSpPr>
        <p:spPr>
          <a:xfrm>
            <a:off x="7882128" y="5367528"/>
            <a:ext cx="3611880" cy="731520"/>
          </a:xfrm>
          <a:prstGeom prst="rect">
            <a:avLst/>
          </a:prstGeom>
          <a:noFill/>
          <a:ln/>
        </p:spPr>
        <p:txBody>
          <a:bodyPr wrap="square" lIns="0" tIns="0" rIns="0" bIns="0" rtlCol="0" anchor="t"/>
          <a:lstStyle/>
          <a:p>
            <a:pPr indent="0" marL="0">
              <a:buNone/>
            </a:pPr>
            <a:r>
              <a:rPr lang="en-US" sz="1200" dirty="0">
                <a:solidFill>
                  <a:schemeClr val="tx1"/>
                </a:solidFill>
              </a:rPr>
              <a:t>Nút "Lập chỉ mục lại" ở /admin/ai (POST → redirect + flash), chỉ gọi API khi cần</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4: tìm kiếm ngữ nghĩa có lọc</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TourVectorService.semanticIds()"/>
          <p:cNvSpPr/>
          <p:nvPr/>
        </p:nvSpPr>
        <p:spPr>
          <a:xfrm>
            <a:off x="548640" y="1463040"/>
            <a:ext cx="7223760" cy="3566160"/>
          </a:xfrm>
          <a:prstGeom prst="roundRect">
            <a:avLst>
              <a:gd name="adj" fmla="val 2051"/>
            </a:avLst>
          </a:prstGeom>
          <a:solidFill>
            <a:schemeClr val="tx2"/>
          </a:solidFill>
          <a:ln w="12700">
            <a:solidFill>
              <a:schemeClr val="tx2"/>
            </a:solidFill>
            <a:prstDash val="solid"/>
          </a:ln>
        </p:spPr>
      </p:sp>
      <p:sp>
        <p:nvSpPr>
          <p:cNvPr id="6" name="Text 3"/>
          <p:cNvSpPr txBox="1"/>
          <p:nvPr/>
        </p:nvSpPr>
        <p:spPr>
          <a:xfrm>
            <a:off x="731520" y="1554480"/>
            <a:ext cx="6858000" cy="237744"/>
          </a:xfrm>
          <a:prstGeom prst="rect">
            <a:avLst/>
          </a:prstGeom>
          <a:noFill/>
          <a:ln/>
        </p:spPr>
        <p:txBody>
          <a:bodyPr wrap="square" lIns="0" tIns="0" rIns="0" bIns="0" rtlCol="0" anchor="ctr"/>
          <a:lstStyle/>
          <a:p>
            <a:pPr indent="0" marL="0">
              <a:buNone/>
            </a:pPr>
            <a:r>
              <a:rPr lang="en-US" sz="1100" b="1" dirty="0">
                <a:solidFill>
                  <a:schemeClr val="accent5"/>
                </a:solidFill>
              </a:rPr>
              <a:t>TourVectorService.search()</a:t>
            </a:r>
            <a:endParaRPr lang="en-US" sz="1100" dirty="0"/>
          </a:p>
        </p:txBody>
      </p:sp>
      <p:sp>
        <p:nvSpPr>
          <p:cNvPr id="7" name="Code TourVectorService.semanticIds()"/>
          <p:cNvSpPr txBox="1"/>
          <p:nvPr/>
        </p:nvSpPr>
        <p:spPr>
          <a:xfrm>
            <a:off x="731520" y="1847088"/>
            <a:ext cx="6858000" cy="3108960"/>
          </a:xfrm>
          <a:prstGeom prst="rect">
            <a:avLst/>
          </a:prstGeom>
          <a:noFill/>
          <a:ln/>
        </p:spPr>
        <p:txBody>
          <a:bodyPr wrap="square" lIns="0" tIns="0" rIns="0" bIns="0" rtlCol="0" anchor="t"/>
          <a:lstStyle/>
          <a:p>
            <a:pPr indent="0" marL="0">
              <a:lnSpc>
                <a:spcPts val="1600"/>
              </a:lnSpc>
              <a:buNone/>
            </a:pPr>
            <a:r>
              <a:rPr lang="en-US" sz="1300" dirty="0">
                <a:solidFill>
                  <a:srgbClr val="E0A458"/>
                </a:solidFill>
                <a:latin typeface="Courier New" pitchFamily="34" charset="0"/>
                <a:ea typeface="Courier New" pitchFamily="34" charset="-122"/>
                <a:cs typeface="Courier New" pitchFamily="34" charset="-120"/>
              </a:rPr>
              <a:t>public</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List</a:t>
            </a:r>
            <a:r>
              <a:rPr lang="en-US" sz="1300" dirty="0">
                <a:solidFill>
                  <a:srgbClr val="EFF7F5"/>
                </a:solidFill>
                <a:latin typeface="Courier New" pitchFamily="34" charset="0"/>
                <a:ea typeface="Courier New" pitchFamily="34" charset="-122"/>
                <a:cs typeface="Courier New" pitchFamily="34" charset="-120"/>
              </a:rPr>
              <a:t>&lt;</a:t>
            </a:r>
            <a:r>
              <a:rPr lang="en-US" sz="1300" dirty="0">
                <a:solidFill>
                  <a:srgbClr val="86C7BA"/>
                </a:solidFill>
                <a:latin typeface="Courier New" pitchFamily="34" charset="0"/>
                <a:ea typeface="Courier New" pitchFamily="34" charset="-122"/>
                <a:cs typeface="Courier New" pitchFamily="34" charset="-120"/>
              </a:rPr>
              <a:t>ScoredTour</a:t>
            </a:r>
            <a:r>
              <a:rPr lang="en-US" sz="1300" dirty="0">
                <a:solidFill>
                  <a:srgbClr val="EFF7F5"/>
                </a:solidFill>
                <a:latin typeface="Courier New" pitchFamily="34" charset="0"/>
                <a:ea typeface="Courier New" pitchFamily="34" charset="-122"/>
                <a:cs typeface="Courier New" pitchFamily="34" charset="-120"/>
              </a:rPr>
              <a:t>&gt; search(</a:t>
            </a:r>
            <a:r>
              <a:rPr lang="en-US" sz="1300" dirty="0">
                <a:solidFill>
                  <a:srgbClr val="E0A458"/>
                </a:solidFill>
                <a:latin typeface="Courier New" pitchFamily="34" charset="0"/>
                <a:ea typeface="Courier New" pitchFamily="34" charset="-122"/>
                <a:cs typeface="Courier New" pitchFamily="34" charset="-120"/>
              </a:rPr>
              <a:t>String</a:t>
            </a:r>
            <a:r>
              <a:rPr lang="en-US" sz="1300" dirty="0">
                <a:solidFill>
                  <a:srgbClr val="EFF7F5"/>
                </a:solidFill>
                <a:latin typeface="Courier New" pitchFamily="34" charset="0"/>
                <a:ea typeface="Courier New" pitchFamily="34" charset="-122"/>
                <a:cs typeface="Courier New" pitchFamily="34" charset="-120"/>
              </a:rPr>
              <a:t> q,</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SearchFilter</a:t>
            </a:r>
            <a:r>
              <a:rPr lang="en-US" sz="1300" dirty="0">
                <a:solidFill>
                  <a:srgbClr val="EFF7F5"/>
                </a:solidFill>
                <a:latin typeface="Courier New" pitchFamily="34" charset="0"/>
                <a:ea typeface="Courier New" pitchFamily="34" charset="-122"/>
                <a:cs typeface="Courier New" pitchFamily="34" charset="-120"/>
              </a:rPr>
              <a:t> f, </a:t>
            </a:r>
            <a:r>
              <a:rPr lang="en-US" sz="1300" dirty="0">
                <a:solidFill>
                  <a:srgbClr val="E0A458"/>
                </a:solidFill>
                <a:latin typeface="Courier New" pitchFamily="34" charset="0"/>
                <a:ea typeface="Courier New" pitchFamily="34" charset="-122"/>
                <a:cs typeface="Courier New" pitchFamily="34" charset="-120"/>
              </a:rPr>
              <a:t>int</a:t>
            </a:r>
            <a:r>
              <a:rPr lang="en-US" sz="1300" dirty="0">
                <a:solidFill>
                  <a:srgbClr val="EFF7F5"/>
                </a:solidFill>
                <a:latin typeface="Courier New" pitchFamily="34" charset="0"/>
                <a:ea typeface="Courier New" pitchFamily="34" charset="-122"/>
                <a:cs typeface="Courier New" pitchFamily="34" charset="-120"/>
              </a:rPr>
              <a:t> topK) {</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var</a:t>
            </a:r>
            <a:r>
              <a:rPr lang="en-US" sz="1300" dirty="0">
                <a:solidFill>
                  <a:srgbClr val="EFF7F5"/>
                </a:solidFill>
                <a:latin typeface="Courier New" pitchFamily="34" charset="0"/>
                <a:ea typeface="Courier New" pitchFamily="34" charset="-122"/>
                <a:cs typeface="Courier New" pitchFamily="34" charset="-120"/>
              </a:rPr>
              <a:t> b = </a:t>
            </a:r>
            <a:r>
              <a:rPr lang="en-US" sz="1300" dirty="0">
                <a:solidFill>
                  <a:srgbClr val="86C7BA"/>
                </a:solidFill>
                <a:latin typeface="Courier New" pitchFamily="34" charset="0"/>
                <a:ea typeface="Courier New" pitchFamily="34" charset="-122"/>
                <a:cs typeface="Courier New" pitchFamily="34" charset="-120"/>
              </a:rPr>
              <a:t>SearchRequest</a:t>
            </a:r>
            <a:r>
              <a:rPr lang="en-US" sz="1300" dirty="0">
                <a:solidFill>
                  <a:srgbClr val="EFF7F5"/>
                </a:solidFill>
                <a:latin typeface="Courier New" pitchFamily="34" charset="0"/>
                <a:ea typeface="Courier New" pitchFamily="34" charset="-122"/>
                <a:cs typeface="Courier New" pitchFamily="34" charset="-120"/>
              </a:rPr>
              <a:t>.builder().query(q).topK(topK)</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.similarityThreshold(props.similarityThreshold());</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var</a:t>
            </a:r>
            <a:r>
              <a:rPr lang="en-US" sz="1300" dirty="0">
                <a:solidFill>
                  <a:srgbClr val="EFF7F5"/>
                </a:solidFill>
                <a:latin typeface="Courier New" pitchFamily="34" charset="0"/>
                <a:ea typeface="Courier New" pitchFamily="34" charset="-122"/>
                <a:cs typeface="Courier New" pitchFamily="34" charset="-120"/>
              </a:rPr>
              <a:t> op = buildFilter(f, </a:t>
            </a:r>
            <a:r>
              <a:rPr lang="en-US" sz="1300" dirty="0">
                <a:solidFill>
                  <a:srgbClr val="E0A458"/>
                </a:solidFill>
                <a:latin typeface="Courier New" pitchFamily="34" charset="0"/>
                <a:ea typeface="Courier New" pitchFamily="34" charset="-122"/>
                <a:cs typeface="Courier New" pitchFamily="34" charset="-120"/>
              </a:rPr>
              <a:t>null</a:t>
            </a: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86C7BA"/>
                </a:solidFill>
                <a:latin typeface="Courier New" pitchFamily="34" charset="0"/>
                <a:ea typeface="Courier New" pitchFamily="34" charset="-122"/>
                <a:cs typeface="Courier New" pitchFamily="34" charset="-120"/>
              </a:rPr>
              <a:t>// giá, danh mục</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if</a:t>
            </a:r>
            <a:r>
              <a:rPr lang="en-US" sz="1300" dirty="0">
                <a:solidFill>
                  <a:srgbClr val="EFF7F5"/>
                </a:solidFill>
                <a:latin typeface="Courier New" pitchFamily="34" charset="0"/>
                <a:ea typeface="Courier New" pitchFamily="34" charset="-122"/>
                <a:cs typeface="Courier New" pitchFamily="34" charset="-120"/>
              </a:rPr>
              <a:t> (op != </a:t>
            </a:r>
            <a:r>
              <a:rPr lang="en-US" sz="1300" dirty="0">
                <a:solidFill>
                  <a:srgbClr val="E0A458"/>
                </a:solidFill>
                <a:latin typeface="Courier New" pitchFamily="34" charset="0"/>
                <a:ea typeface="Courier New" pitchFamily="34" charset="-122"/>
                <a:cs typeface="Courier New" pitchFamily="34" charset="-120"/>
              </a:rPr>
              <a:t>null</a:t>
            </a:r>
            <a:r>
              <a:rPr lang="en-US" sz="1300" dirty="0">
                <a:solidFill>
                  <a:srgbClr val="EFF7F5"/>
                </a:solidFill>
                <a:latin typeface="Courier New" pitchFamily="34" charset="0"/>
                <a:ea typeface="Courier New" pitchFamily="34" charset="-122"/>
                <a:cs typeface="Courier New" pitchFamily="34" charset="-120"/>
              </a:rPr>
              <a:t>) b.filterExpression(op.build());</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  </a:t>
            </a:r>
            <a:r>
              <a:rPr lang="en-US" sz="1300" dirty="0">
                <a:solidFill>
                  <a:srgbClr val="E0A458"/>
                </a:solidFill>
                <a:latin typeface="Courier New" pitchFamily="34" charset="0"/>
                <a:ea typeface="Courier New" pitchFamily="34" charset="-122"/>
                <a:cs typeface="Courier New" pitchFamily="34" charset="-120"/>
              </a:rPr>
              <a:t>return</a:t>
            </a:r>
            <a:r>
              <a:rPr lang="en-US" sz="1300" dirty="0">
                <a:solidFill>
                  <a:srgbClr val="EFF7F5"/>
                </a:solidFill>
                <a:latin typeface="Courier New" pitchFamily="34" charset="0"/>
                <a:ea typeface="Courier New" pitchFamily="34" charset="-122"/>
                <a:cs typeface="Courier New" pitchFamily="34" charset="-120"/>
              </a:rPr>
              <a:t> toScored(store.similaritySearch(b.build()));</a:t>
            </a:r>
            <a:endParaRPr lang="en-US" sz="1300" dirty="0"/>
          </a:p>
          <a:p>
            <a:pPr indent="0" marL="0">
              <a:lnSpc>
                <a:spcPts val="1600"/>
              </a:lnSpc>
              <a:buNone/>
            </a:pPr>
            <a:r>
              <a:rPr lang="en-US" sz="1300" dirty="0">
                <a:solidFill>
                  <a:srgbClr val="EFF7F5"/>
                </a:solidFill>
                <a:latin typeface="Courier New" pitchFamily="34" charset="0"/>
                <a:ea typeface="Courier New" pitchFamily="34" charset="-122"/>
                <a:cs typeface="Courier New" pitchFamily="34" charset="-120"/>
              </a:rPr>
              <a:t>}</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 buildFilter dùng FilterExpressionBuilder:</a:t>
            </a:r>
            <a:endParaRPr lang="en-US" sz="1300" dirty="0"/>
          </a:p>
          <a:p>
            <a:pPr indent="0" marL="0">
              <a:lnSpc>
                <a:spcPts val="1600"/>
              </a:lnSpc>
              <a:buNone/>
            </a:pPr>
            <a:r>
              <a:rPr lang="en-US" sz="1300" dirty="0">
                <a:solidFill>
                  <a:srgbClr val="86C7BA"/>
                </a:solidFill>
                <a:latin typeface="Courier New" pitchFamily="34" charset="0"/>
                <a:ea typeface="Courier New" pitchFamily="34" charset="-122"/>
                <a:cs typeface="Courier New" pitchFamily="34" charset="-120"/>
              </a:rPr>
              <a:t>//   gte/lte("price", ...), eq("categoryId", ...)</a:t>
            </a:r>
            <a:endParaRPr lang="en-US" sz="1300" dirty="0"/>
          </a:p>
        </p:txBody>
      </p:sp>
      <p:sp>
        <p:nvSpPr>
          <p:cNvPr id="8" name="Card"/>
          <p:cNvSpPr/>
          <p:nvPr/>
        </p:nvSpPr>
        <p:spPr>
          <a:xfrm>
            <a:off x="548640" y="5212080"/>
            <a:ext cx="7223760" cy="1051560"/>
          </a:xfrm>
          <a:prstGeom prst="roundRect">
            <a:avLst>
              <a:gd name="adj" fmla="val 8696"/>
            </a:avLst>
          </a:prstGeom>
          <a:solidFill>
            <a:schemeClr val="bg2"/>
          </a:solidFill>
          <a:ln w="12700">
            <a:solidFill>
              <a:schemeClr val="bg2"/>
            </a:solidFill>
            <a:prstDash val="solid"/>
          </a:ln>
        </p:spPr>
      </p:sp>
      <p:sp>
        <p:nvSpPr>
          <p:cNvPr id="9" name="Text 6"/>
          <p:cNvSpPr txBox="1"/>
          <p:nvPr/>
        </p:nvSpPr>
        <p:spPr>
          <a:xfrm>
            <a:off x="731520" y="5257800"/>
            <a:ext cx="6858000" cy="960120"/>
          </a:xfrm>
          <a:prstGeom prst="rect">
            <a:avLst/>
          </a:prstGeom>
          <a:noFill/>
          <a:ln/>
        </p:spPr>
        <p:txBody>
          <a:bodyPr wrap="square" lIns="0" tIns="0" rIns="0" bIns="0" rtlCol="0" anchor="ctr"/>
          <a:lstStyle/>
          <a:p>
            <a:pPr indent="0" marL="0">
              <a:buNone/>
            </a:pPr>
            <a:r>
              <a:rPr lang="en-US" sz="1300" b="1" dirty="0">
                <a:solidFill>
                  <a:schemeClr val="tx1"/>
                </a:solidFill>
              </a:rPr>
              <a:t>SemanticSearchService: PriceHintParser tách "dưới 5 triệu" thành bộ lọc giá → search() → findByIdInAndActiveTrue (giữ thứ tự) → phân trang. AI tắt, lỗi hoặc không có kết quả → tìm LIKE (FALLBACK).</a:t>
            </a:r>
            <a:endParaRPr lang="en-US" sz="1300" dirty="0"/>
          </a:p>
        </p:txBody>
      </p:sp>
      <p:sp>
        <p:nvSpPr>
          <p:cNvPr id="10" name="Card"/>
          <p:cNvSpPr/>
          <p:nvPr/>
        </p:nvSpPr>
        <p:spPr>
          <a:xfrm>
            <a:off x="8001000" y="1463040"/>
            <a:ext cx="3639312" cy="1737360"/>
          </a:xfrm>
          <a:prstGeom prst="roundRect">
            <a:avLst>
              <a:gd name="adj" fmla="val 5263"/>
            </a:avLst>
          </a:prstGeom>
          <a:solidFill>
            <a:schemeClr val="tx2"/>
          </a:solidFill>
          <a:ln w="12700">
            <a:solidFill>
              <a:schemeClr val="tx2"/>
            </a:solidFill>
            <a:prstDash val="solid"/>
          </a:ln>
        </p:spPr>
      </p:sp>
      <p:sp>
        <p:nvSpPr>
          <p:cNvPr id="11" name="Text 8"/>
          <p:cNvSpPr txBox="1"/>
          <p:nvPr/>
        </p:nvSpPr>
        <p:spPr>
          <a:xfrm>
            <a:off x="8183880" y="1554480"/>
            <a:ext cx="3291840" cy="274320"/>
          </a:xfrm>
          <a:prstGeom prst="rect">
            <a:avLst/>
          </a:prstGeom>
          <a:noFill/>
          <a:ln/>
        </p:spPr>
        <p:txBody>
          <a:bodyPr wrap="square" lIns="0" tIns="0" rIns="0" bIns="0" rtlCol="0" anchor="t"/>
          <a:lstStyle/>
          <a:p>
            <a:pPr indent="0" marL="0">
              <a:buNone/>
            </a:pPr>
            <a:r>
              <a:rPr lang="en-US" sz="1300" b="1" dirty="0">
                <a:solidFill>
                  <a:schemeClr val="accent2"/>
                </a:solidFill>
              </a:rPr>
              <a:t>Ví dụ gọi API</a:t>
            </a:r>
            <a:endParaRPr lang="en-US" sz="1300" dirty="0"/>
          </a:p>
        </p:txBody>
      </p:sp>
      <p:sp>
        <p:nvSpPr>
          <p:cNvPr id="12" name="Text 9"/>
          <p:cNvSpPr txBox="1"/>
          <p:nvPr/>
        </p:nvSpPr>
        <p:spPr>
          <a:xfrm>
            <a:off x="8183880" y="1874520"/>
            <a:ext cx="3337560" cy="123444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GET /api/tours/semantic</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?q=biển yên tĩnh cho gia đình</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&amp;maxPrice=6000000&amp;categoryId=1</a:t>
            </a:r>
            <a:endParaRPr lang="en-US" sz="1200" dirty="0"/>
          </a:p>
        </p:txBody>
      </p:sp>
      <p:sp>
        <p:nvSpPr>
          <p:cNvPr id="13" name="Text 10"/>
          <p:cNvSpPr txBox="1"/>
          <p:nvPr/>
        </p:nvSpPr>
        <p:spPr>
          <a:xfrm>
            <a:off x="8001000" y="3429000"/>
            <a:ext cx="3639312" cy="28346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Bộ lọc dựng bằng FilterExpressionBuilder, giá trị kiểu Long → không bị injection</a:t>
            </a:r>
            <a:endParaRPr lang="en-US" sz="1400" dirty="0"/>
          </a:p>
          <a:p>
            <a:pPr marL="177800" indent="-177800">
              <a:spcAft>
                <a:spcPts val="900"/>
              </a:spcAft>
              <a:buSzPct val="100000"/>
              <a:buChar char="•"/>
            </a:pPr>
            <a:r>
              <a:rPr lang="en-US" sz="1400" dirty="0">
                <a:solidFill>
                  <a:schemeClr val="tx1"/>
                </a:solidFill>
              </a:rPr>
              <a:t>GET /api/tours/** đã permitAll sẵn</a:t>
            </a:r>
            <a:endParaRPr lang="en-US" sz="1400" dirty="0"/>
          </a:p>
          <a:p>
            <a:pPr marL="177800" indent="-177800">
              <a:spcAft>
                <a:spcPts val="900"/>
              </a:spcAft>
              <a:buSzPct val="100000"/>
              <a:buChar char="•"/>
            </a:pPr>
            <a:r>
              <a:rPr lang="en-US" sz="1400" dirty="0">
                <a:solidFill>
                  <a:schemeClr val="tx1"/>
                </a:solidFill>
              </a:rPr>
              <a:t>UI: công tắc "Tìm bằng AI" ở danh sách tour; thiếu AI thì lùi về LIKE kèm thông báo</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5: TourTools cho trợ lý (Tool Calling)</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ai/TourTools.java"/>
          <p:cNvSpPr/>
          <p:nvPr/>
        </p:nvSpPr>
        <p:spPr>
          <a:xfrm>
            <a:off x="548640" y="1463040"/>
            <a:ext cx="6858000" cy="4800600"/>
          </a:xfrm>
          <a:prstGeom prst="roundRect">
            <a:avLst>
              <a:gd name="adj" fmla="val 1524"/>
            </a:avLst>
          </a:prstGeom>
          <a:solidFill>
            <a:schemeClr val="tx2"/>
          </a:solidFill>
          <a:ln w="12700">
            <a:solidFill>
              <a:schemeClr val="tx2"/>
            </a:solidFill>
            <a:prstDash val="solid"/>
          </a:ln>
        </p:spPr>
      </p:sp>
      <p:sp>
        <p:nvSpPr>
          <p:cNvPr id="6" name="Text 3"/>
          <p:cNvSpPr txBox="1"/>
          <p:nvPr/>
        </p:nvSpPr>
        <p:spPr>
          <a:xfrm>
            <a:off x="731520" y="1554480"/>
            <a:ext cx="6492240" cy="237744"/>
          </a:xfrm>
          <a:prstGeom prst="rect">
            <a:avLst/>
          </a:prstGeom>
          <a:noFill/>
          <a:ln/>
        </p:spPr>
        <p:txBody>
          <a:bodyPr wrap="square" lIns="0" tIns="0" rIns="0" bIns="0" rtlCol="0" anchor="ctr"/>
          <a:lstStyle/>
          <a:p>
            <a:pPr indent="0" marL="0">
              <a:buNone/>
            </a:pPr>
            <a:r>
              <a:rPr lang="en-US" sz="1100" b="1" dirty="0">
                <a:solidFill>
                  <a:schemeClr val="accent5"/>
                </a:solidFill>
              </a:rPr>
              <a:t>ai/TourTools.java</a:t>
            </a:r>
            <a:endParaRPr lang="en-US" sz="1100" dirty="0"/>
          </a:p>
        </p:txBody>
      </p:sp>
      <p:sp>
        <p:nvSpPr>
          <p:cNvPr id="7" name="Code ai/TourTools.java"/>
          <p:cNvSpPr txBox="1"/>
          <p:nvPr/>
        </p:nvSpPr>
        <p:spPr>
          <a:xfrm>
            <a:off x="731520" y="1847088"/>
            <a:ext cx="6492240" cy="4343400"/>
          </a:xfrm>
          <a:prstGeom prst="rect">
            <a:avLst/>
          </a:prstGeom>
          <a:noFill/>
          <a:ln/>
        </p:spPr>
        <p:txBody>
          <a:bodyPr wrap="square" lIns="0" tIns="0" rIns="0" bIns="0" rtlCol="0" anchor="t"/>
          <a:lstStyle/>
          <a:p>
            <a:pPr indent="0" marL="0">
              <a:lnSpc>
                <a:spcPts val="1600"/>
              </a:lnSpc>
              <a:buNone/>
            </a:pPr>
            <a:r>
              <a:rPr lang="en-US" sz="1200" dirty="0">
                <a:solidFill>
                  <a:srgbClr val="86C7BA"/>
                </a:solidFill>
                <a:latin typeface="Courier New" pitchFamily="34" charset="0"/>
                <a:ea typeface="Courier New" pitchFamily="34" charset="-122"/>
                <a:cs typeface="Courier New" pitchFamily="34" charset="-120"/>
              </a:rPr>
              <a:t>@Component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@RequiredArgsConstructor</a:t>
            </a:r>
            <a:endParaRPr lang="en-US" sz="1200" dirty="0"/>
          </a:p>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class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TourTools</a:t>
            </a: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@Tool</a:t>
            </a:r>
            <a:r>
              <a:rPr lang="en-US" sz="1200" dirty="0">
                <a:solidFill>
                  <a:srgbClr val="EFF7F5"/>
                </a:solidFill>
                <a:latin typeface="Courier New" pitchFamily="34" charset="0"/>
                <a:ea typeface="Courier New" pitchFamily="34" charset="-122"/>
                <a:cs typeface="Courier New" pitchFamily="34" charset="-120"/>
              </a:rPr>
              <a:t>(description = </a:t>
            </a:r>
            <a:r>
              <a:rPr lang="en-US" sz="1200" dirty="0">
                <a:solidFill>
                  <a:srgbClr val="F4B393"/>
                </a:solidFill>
                <a:latin typeface="Courier New" pitchFamily="34" charset="0"/>
                <a:ea typeface="Courier New" pitchFamily="34" charset="-122"/>
                <a:cs typeface="Courier New" pitchFamily="34" charset="-120"/>
              </a:rPr>
              <a:t>"Tìm tour theo nhu cầu, giá tối đa"</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List</a:t>
            </a:r>
            <a:r>
              <a:rPr lang="en-US" sz="1200" dirty="0">
                <a:solidFill>
                  <a:srgbClr val="EFF7F5"/>
                </a:solidFill>
                <a:latin typeface="Courier New" pitchFamily="34" charset="0"/>
                <a:ea typeface="Courier New" pitchFamily="34" charset="-122"/>
                <a:cs typeface="Courier New" pitchFamily="34" charset="-120"/>
              </a:rPr>
              <a:t>&lt;</a:t>
            </a:r>
            <a:r>
              <a:rPr lang="en-US" sz="1200" dirty="0">
                <a:solidFill>
                  <a:srgbClr val="86C7BA"/>
                </a:solidFill>
                <a:latin typeface="Courier New" pitchFamily="34" charset="0"/>
                <a:ea typeface="Courier New" pitchFamily="34" charset="-122"/>
                <a:cs typeface="Courier New" pitchFamily="34" charset="-120"/>
              </a:rPr>
              <a:t>TourBrief</a:t>
            </a:r>
            <a:r>
              <a:rPr lang="en-US" sz="1200" dirty="0">
                <a:solidFill>
                  <a:srgbClr val="EFF7F5"/>
                </a:solidFill>
                <a:latin typeface="Courier New" pitchFamily="34" charset="0"/>
                <a:ea typeface="Courier New" pitchFamily="34" charset="-122"/>
                <a:cs typeface="Courier New" pitchFamily="34" charset="-120"/>
              </a:rPr>
              <a:t>&gt; searchTours(</a:t>
            </a:r>
            <a:r>
              <a:rPr lang="en-US" sz="1200" dirty="0">
                <a:solidFill>
                  <a:srgbClr val="E0A458"/>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query,</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@ToolParam</a:t>
            </a:r>
            <a:r>
              <a:rPr lang="en-US" sz="1200" dirty="0">
                <a:solidFill>
                  <a:srgbClr val="EFF7F5"/>
                </a:solidFill>
                <a:latin typeface="Courier New" pitchFamily="34" charset="0"/>
                <a:ea typeface="Courier New" pitchFamily="34" charset="-122"/>
                <a:cs typeface="Courier New" pitchFamily="34" charset="-120"/>
              </a:rPr>
              <a:t>(required = </a:t>
            </a:r>
            <a:r>
              <a:rPr lang="en-US" sz="1200" dirty="0">
                <a:solidFill>
                  <a:srgbClr val="E0A458"/>
                </a:solidFill>
                <a:latin typeface="Courier New" pitchFamily="34" charset="0"/>
                <a:ea typeface="Courier New" pitchFamily="34" charset="-122"/>
                <a:cs typeface="Courier New" pitchFamily="34" charset="-120"/>
              </a:rPr>
              <a:t>false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Long</a:t>
            </a:r>
            <a:r>
              <a:rPr lang="en-US" sz="1200" dirty="0">
                <a:solidFill>
                  <a:srgbClr val="EFF7F5"/>
                </a:solidFill>
                <a:latin typeface="Courier New" pitchFamily="34" charset="0"/>
                <a:ea typeface="Courier New" pitchFamily="34" charset="-122"/>
                <a:cs typeface="Courier New" pitchFamily="34" charset="-120"/>
              </a:rPr>
              <a:t> maxPriceVnd)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searchService.searchList(query, maxPriceVnd, 5)</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.stream().map(</a:t>
            </a:r>
            <a:r>
              <a:rPr lang="en-US" sz="1200" dirty="0">
                <a:solidFill>
                  <a:srgbClr val="86C7BA"/>
                </a:solidFill>
                <a:latin typeface="Courier New" pitchFamily="34" charset="0"/>
                <a:ea typeface="Courier New" pitchFamily="34" charset="-122"/>
                <a:cs typeface="Courier New" pitchFamily="34" charset="-120"/>
              </a:rPr>
              <a:t>TourTools</a:t>
            </a:r>
            <a:r>
              <a:rPr lang="en-US" sz="1200" dirty="0">
                <a:solidFill>
                  <a:srgbClr val="EFF7F5"/>
                </a:solidFill>
                <a:latin typeface="Courier New" pitchFamily="34" charset="0"/>
                <a:ea typeface="Courier New" pitchFamily="34" charset="-122"/>
                <a:cs typeface="Courier New" pitchFamily="34" charset="-120"/>
              </a:rPr>
              <a:t>::toBrief).toList();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@Tool</a:t>
            </a:r>
            <a:r>
              <a:rPr lang="en-US" sz="1200" dirty="0">
                <a:solidFill>
                  <a:srgbClr val="EFF7F5"/>
                </a:solidFill>
                <a:latin typeface="Courier New" pitchFamily="34" charset="0"/>
                <a:ea typeface="Courier New" pitchFamily="34" charset="-122"/>
                <a:cs typeface="Courier New" pitchFamily="34" charset="-120"/>
              </a:rPr>
              <a:t>(description = </a:t>
            </a:r>
            <a:r>
              <a:rPr lang="en-US" sz="1200" dirty="0">
                <a:solidFill>
                  <a:srgbClr val="F4B393"/>
                </a:solidFill>
                <a:latin typeface="Courier New" pitchFamily="34" charset="0"/>
                <a:ea typeface="Courier New" pitchFamily="34" charset="-122"/>
                <a:cs typeface="Courier New" pitchFamily="34" charset="-120"/>
              </a:rPr>
              <a:t>"Lịch khởi hành còn chỗ của tour"</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List</a:t>
            </a:r>
            <a:r>
              <a:rPr lang="en-US" sz="1200" dirty="0">
                <a:solidFill>
                  <a:srgbClr val="EFF7F5"/>
                </a:solidFill>
                <a:latin typeface="Courier New" pitchFamily="34" charset="0"/>
                <a:ea typeface="Courier New" pitchFamily="34" charset="-122"/>
                <a:cs typeface="Courier New" pitchFamily="34" charset="-120"/>
              </a:rPr>
              <a:t>&lt;</a:t>
            </a:r>
            <a:r>
              <a:rPr lang="en-US" sz="1200" dirty="0">
                <a:solidFill>
                  <a:srgbClr val="86C7BA"/>
                </a:solidFill>
                <a:latin typeface="Courier New" pitchFamily="34" charset="0"/>
                <a:ea typeface="Courier New" pitchFamily="34" charset="-122"/>
                <a:cs typeface="Courier New" pitchFamily="34" charset="-120"/>
              </a:rPr>
              <a:t>DepartureBrief</a:t>
            </a:r>
            <a:r>
              <a:rPr lang="en-US" sz="1200" dirty="0">
                <a:solidFill>
                  <a:srgbClr val="EFF7F5"/>
                </a:solidFill>
                <a:latin typeface="Courier New" pitchFamily="34" charset="0"/>
                <a:ea typeface="Courier New" pitchFamily="34" charset="-122"/>
                <a:cs typeface="Courier New" pitchFamily="34" charset="-120"/>
              </a:rPr>
              <a:t>&gt; getDepartures(</a:t>
            </a:r>
            <a:r>
              <a:rPr lang="en-US" sz="1200" dirty="0">
                <a:solidFill>
                  <a:srgbClr val="86C7BA"/>
                </a:solidFill>
                <a:latin typeface="Courier New" pitchFamily="34" charset="0"/>
                <a:ea typeface="Courier New" pitchFamily="34" charset="-122"/>
                <a:cs typeface="Courier New" pitchFamily="34" charset="-120"/>
              </a:rPr>
              <a:t>Long</a:t>
            </a:r>
            <a:r>
              <a:rPr lang="en-US" sz="1200" dirty="0">
                <a:solidFill>
                  <a:srgbClr val="EFF7F5"/>
                </a:solidFill>
                <a:latin typeface="Courier New" pitchFamily="34" charset="0"/>
                <a:ea typeface="Courier New" pitchFamily="34" charset="-122"/>
                <a:cs typeface="Courier New" pitchFamily="34" charset="-120"/>
              </a:rPr>
              <a:t> tourId)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@Tool</a:t>
            </a:r>
            <a:r>
              <a:rPr lang="en-US" sz="1200" dirty="0">
                <a:solidFill>
                  <a:srgbClr val="EFF7F5"/>
                </a:solidFill>
                <a:latin typeface="Courier New" pitchFamily="34" charset="0"/>
                <a:ea typeface="Courier New" pitchFamily="34" charset="-122"/>
                <a:cs typeface="Courier New" pitchFamily="34" charset="-120"/>
              </a:rPr>
              <a:t>(description = </a:t>
            </a:r>
            <a:r>
              <a:rPr lang="en-US" sz="1200" dirty="0">
                <a:solidFill>
                  <a:srgbClr val="F4B393"/>
                </a:solidFill>
                <a:latin typeface="Courier New" pitchFamily="34" charset="0"/>
                <a:ea typeface="Courier New" pitchFamily="34" charset="-122"/>
                <a:cs typeface="Courier New" pitchFamily="34" charset="-120"/>
              </a:rPr>
              <a:t>"Thêm lịch khởi hành vào giỏ"</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addToCart(</a:t>
            </a:r>
            <a:r>
              <a:rPr lang="en-US" sz="1200" dirty="0">
                <a:solidFill>
                  <a:srgbClr val="86C7BA"/>
                </a:solidFill>
                <a:latin typeface="Courier New" pitchFamily="34" charset="0"/>
                <a:ea typeface="Courier New" pitchFamily="34" charset="-122"/>
                <a:cs typeface="Courier New" pitchFamily="34" charset="-120"/>
              </a:rPr>
              <a:t>Long</a:t>
            </a:r>
            <a:r>
              <a:rPr lang="en-US" sz="1200" dirty="0">
                <a:solidFill>
                  <a:srgbClr val="EFF7F5"/>
                </a:solidFill>
                <a:latin typeface="Courier New" pitchFamily="34" charset="0"/>
                <a:ea typeface="Courier New" pitchFamily="34" charset="-122"/>
                <a:cs typeface="Courier New" pitchFamily="34" charset="-120"/>
              </a:rPr>
              <a:t> departureId, </a:t>
            </a:r>
            <a:r>
              <a:rPr lang="en-US" sz="1200" dirty="0">
                <a:solidFill>
                  <a:srgbClr val="E0A458"/>
                </a:solidFill>
                <a:latin typeface="Courier New" pitchFamily="34" charset="0"/>
                <a:ea typeface="Courier New" pitchFamily="34" charset="-122"/>
                <a:cs typeface="Courier New" pitchFamily="34" charset="-120"/>
              </a:rPr>
              <a:t>int</a:t>
            </a:r>
            <a:r>
              <a:rPr lang="en-US" sz="1200" dirty="0">
                <a:solidFill>
                  <a:srgbClr val="EFF7F5"/>
                </a:solidFill>
                <a:latin typeface="Courier New" pitchFamily="34" charset="0"/>
                <a:ea typeface="Courier New" pitchFamily="34" charset="-122"/>
                <a:cs typeface="Courier New" pitchFamily="34" charset="-120"/>
              </a:rPr>
              <a:t> adults,</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int</a:t>
            </a:r>
            <a:r>
              <a:rPr lang="en-US" sz="1200" dirty="0">
                <a:solidFill>
                  <a:srgbClr val="EFF7F5"/>
                </a:solidFill>
                <a:latin typeface="Courier New" pitchFamily="34" charset="0"/>
                <a:ea typeface="Courier New" pitchFamily="34" charset="-122"/>
                <a:cs typeface="Courier New" pitchFamily="34" charset="-120"/>
              </a:rPr>
              <a:t> children, </a:t>
            </a:r>
            <a:r>
              <a:rPr lang="en-US" sz="1200" dirty="0">
                <a:solidFill>
                  <a:srgbClr val="86C7BA"/>
                </a:solidFill>
                <a:latin typeface="Courier New" pitchFamily="34" charset="0"/>
                <a:ea typeface="Courier New" pitchFamily="34" charset="-122"/>
                <a:cs typeface="Courier New" pitchFamily="34" charset="-120"/>
              </a:rPr>
              <a:t>ToolContext</a:t>
            </a:r>
            <a:r>
              <a:rPr lang="en-US" sz="1200" dirty="0">
                <a:solidFill>
                  <a:srgbClr val="EFF7F5"/>
                </a:solidFill>
                <a:latin typeface="Courier New" pitchFamily="34" charset="0"/>
                <a:ea typeface="Courier New" pitchFamily="34" charset="-122"/>
                <a:cs typeface="Courier New" pitchFamily="34" charset="-120"/>
              </a:rPr>
              <a:t> ctx)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var</a:t>
            </a:r>
            <a:r>
              <a:rPr lang="en-US" sz="1200" dirty="0">
                <a:solidFill>
                  <a:srgbClr val="EFF7F5"/>
                </a:solidFill>
                <a:latin typeface="Courier New" pitchFamily="34" charset="0"/>
                <a:ea typeface="Courier New" pitchFamily="34" charset="-122"/>
                <a:cs typeface="Courier New" pitchFamily="34" charset="-120"/>
              </a:rPr>
              <a:t> s = (</a:t>
            </a:r>
            <a:r>
              <a:rPr lang="en-US" sz="1200" dirty="0">
                <a:solidFill>
                  <a:srgbClr val="86C7BA"/>
                </a:solidFill>
                <a:latin typeface="Courier New" pitchFamily="34" charset="0"/>
                <a:ea typeface="Courier New" pitchFamily="34" charset="-122"/>
                <a:cs typeface="Courier New" pitchFamily="34" charset="-120"/>
              </a:rPr>
              <a:t>HttpSession</a:t>
            </a:r>
            <a:r>
              <a:rPr lang="en-US" sz="1200" dirty="0">
                <a:solidFill>
                  <a:srgbClr val="EFF7F5"/>
                </a:solidFill>
                <a:latin typeface="Courier New" pitchFamily="34" charset="0"/>
                <a:ea typeface="Courier New" pitchFamily="34" charset="-122"/>
                <a:cs typeface="Courier New" pitchFamily="34" charset="-120"/>
              </a:rPr>
              <a:t>) ctx.getContext().get(</a:t>
            </a:r>
            <a:r>
              <a:rPr lang="en-US" sz="1200" dirty="0">
                <a:solidFill>
                  <a:srgbClr val="F4B393"/>
                </a:solidFill>
                <a:latin typeface="Courier New" pitchFamily="34" charset="0"/>
                <a:ea typeface="Courier New" pitchFamily="34" charset="-122"/>
                <a:cs typeface="Courier New" pitchFamily="34" charset="-120"/>
              </a:rPr>
              <a:t>"session"</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var</a:t>
            </a:r>
            <a:r>
              <a:rPr lang="en-US" sz="1200" dirty="0">
                <a:solidFill>
                  <a:srgbClr val="EFF7F5"/>
                </a:solidFill>
                <a:latin typeface="Courier New" pitchFamily="34" charset="0"/>
                <a:ea typeface="Courier New" pitchFamily="34" charset="-122"/>
                <a:cs typeface="Courier New" pitchFamily="34" charset="-120"/>
              </a:rPr>
              <a:t> item = cartService.addByDeparture(</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s, departureId, adults, children);</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F4B393"/>
                </a:solidFill>
                <a:latin typeface="Courier New" pitchFamily="34" charset="0"/>
                <a:ea typeface="Courier New" pitchFamily="34" charset="-122"/>
                <a:cs typeface="Courier New" pitchFamily="34" charset="-120"/>
              </a:rPr>
              <a:t>"Đã thêm vào giỏ: "</a:t>
            </a:r>
            <a:r>
              <a:rPr lang="en-US" sz="1200" dirty="0">
                <a:solidFill>
                  <a:srgbClr val="EFF7F5"/>
                </a:solidFill>
                <a:latin typeface="Courier New" pitchFamily="34" charset="0"/>
                <a:ea typeface="Courier New" pitchFamily="34" charset="-122"/>
                <a:cs typeface="Courier New" pitchFamily="34" charset="-120"/>
              </a:rPr>
              <a:t> + item.getTourName();</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8" name="Text 5"/>
          <p:cNvSpPr txBox="1"/>
          <p:nvPr/>
        </p:nvSpPr>
        <p:spPr>
          <a:xfrm>
            <a:off x="7589520" y="1417320"/>
            <a:ext cx="4023360" cy="274320"/>
          </a:xfrm>
          <a:prstGeom prst="rect">
            <a:avLst/>
          </a:prstGeom>
          <a:noFill/>
          <a:ln/>
        </p:spPr>
        <p:txBody>
          <a:bodyPr wrap="square" lIns="0" tIns="0" rIns="0" bIns="0" rtlCol="0" anchor="t"/>
          <a:lstStyle/>
          <a:p>
            <a:pPr indent="0" marL="0">
              <a:buNone/>
            </a:pPr>
            <a:r>
              <a:rPr lang="en-US" sz="1500" b="1" dirty="0">
                <a:solidFill>
                  <a:schemeClr val="tx2"/>
                </a:solidFill>
              </a:rPr>
              <a:t>Lan can an toàn (Chương 7)</a:t>
            </a:r>
            <a:endParaRPr lang="en-US" sz="1500" dirty="0"/>
          </a:p>
        </p:txBody>
      </p:sp>
      <p:sp>
        <p:nvSpPr>
          <p:cNvPr id="9" name="Icon circle"/>
          <p:cNvSpPr/>
          <p:nvPr/>
        </p:nvSpPr>
        <p:spPr>
          <a:xfrm>
            <a:off x="7589520" y="1828800"/>
            <a:ext cx="457200" cy="457200"/>
          </a:xfrm>
          <a:prstGeom prst="ellipse">
            <a:avLst/>
          </a:prstGeom>
          <a:solidFill>
            <a:schemeClr val="accent1"/>
          </a:solidFill>
          <a:ln w="12700">
            <a:solidFill>
              <a:schemeClr val="accent1"/>
            </a:solidFill>
            <a:prstDash val="solid"/>
          </a:ln>
        </p:spPr>
      </p:sp>
      <p:pic>
        <p:nvPicPr>
          <p:cNvPr id="10" name="Image 0" descr="UserCheck icon">    </p:cNvPr>
          <p:cNvPicPr>
            <a:picLocks noChangeAspect="1"/>
          </p:cNvPicPr>
          <p:nvPr/>
        </p:nvPicPr>
        <p:blipFill>
          <a:blip r:embed="rId1"/>
          <a:stretch>
            <a:fillRect/>
          </a:stretch>
        </p:blipFill>
        <p:spPr>
          <a:xfrm>
            <a:off x="7699248" y="1938528"/>
            <a:ext cx="237744" cy="237744"/>
          </a:xfrm>
          <a:prstGeom prst="rect">
            <a:avLst/>
          </a:prstGeom>
        </p:spPr>
      </p:pic>
      <p:sp>
        <p:nvSpPr>
          <p:cNvPr id="11" name="Text 7"/>
          <p:cNvSpPr txBox="1"/>
          <p:nvPr/>
        </p:nvSpPr>
        <p:spPr>
          <a:xfrm>
            <a:off x="8229600" y="1783080"/>
            <a:ext cx="3410712" cy="274320"/>
          </a:xfrm>
          <a:prstGeom prst="rect">
            <a:avLst/>
          </a:prstGeom>
          <a:noFill/>
          <a:ln/>
        </p:spPr>
        <p:txBody>
          <a:bodyPr wrap="square" lIns="0" tIns="0" rIns="0" bIns="0" rtlCol="0" anchor="t"/>
          <a:lstStyle/>
          <a:p>
            <a:pPr indent="0" marL="0">
              <a:buNone/>
            </a:pPr>
            <a:r>
              <a:rPr lang="en-US" sz="1400" b="1" dirty="0">
                <a:solidFill>
                  <a:schemeClr val="tx2"/>
                </a:solidFill>
              </a:rPr>
              <a:t>Danh tính từ server</a:t>
            </a:r>
            <a:endParaRPr lang="en-US" sz="1400" dirty="0"/>
          </a:p>
        </p:txBody>
      </p:sp>
      <p:sp>
        <p:nvSpPr>
          <p:cNvPr id="12" name="Text 8"/>
          <p:cNvSpPr txBox="1"/>
          <p:nvPr/>
        </p:nvSpPr>
        <p:spPr>
          <a:xfrm>
            <a:off x="8229600" y="2075688"/>
            <a:ext cx="3410712" cy="548640"/>
          </a:xfrm>
          <a:prstGeom prst="rect">
            <a:avLst/>
          </a:prstGeom>
          <a:noFill/>
          <a:ln/>
        </p:spPr>
        <p:txBody>
          <a:bodyPr wrap="square" lIns="0" tIns="0" rIns="0" bIns="0" rtlCol="0" anchor="t"/>
          <a:lstStyle/>
          <a:p>
            <a:pPr indent="0" marL="0">
              <a:buNone/>
            </a:pPr>
            <a:r>
              <a:rPr lang="en-US" sz="1200" dirty="0">
                <a:solidFill>
                  <a:schemeClr val="tx1"/>
                </a:solidFill>
              </a:rPr>
              <a:t>session và userId qua ToolContext ở server, không gửi cho model</a:t>
            </a:r>
            <a:endParaRPr lang="en-US" sz="1200" dirty="0"/>
          </a:p>
        </p:txBody>
      </p:sp>
      <p:sp>
        <p:nvSpPr>
          <p:cNvPr id="13" name="Icon circle"/>
          <p:cNvSpPr/>
          <p:nvPr/>
        </p:nvSpPr>
        <p:spPr>
          <a:xfrm>
            <a:off x="7589520" y="2715768"/>
            <a:ext cx="457200" cy="457200"/>
          </a:xfrm>
          <a:prstGeom prst="ellipse">
            <a:avLst/>
          </a:prstGeom>
          <a:solidFill>
            <a:schemeClr val="accent1"/>
          </a:solidFill>
          <a:ln w="12700">
            <a:solidFill>
              <a:schemeClr val="accent1"/>
            </a:solidFill>
            <a:prstDash val="solid"/>
          </a:ln>
        </p:spPr>
      </p:sp>
      <p:pic>
        <p:nvPicPr>
          <p:cNvPr id="14" name="Image 1" descr="Database icon">    </p:cNvPr>
          <p:cNvPicPr>
            <a:picLocks noChangeAspect="1"/>
          </p:cNvPicPr>
          <p:nvPr/>
        </p:nvPicPr>
        <p:blipFill>
          <a:blip r:embed="rId2"/>
          <a:stretch>
            <a:fillRect/>
          </a:stretch>
        </p:blipFill>
        <p:spPr>
          <a:xfrm>
            <a:off x="7699248" y="2825496"/>
            <a:ext cx="237744" cy="237744"/>
          </a:xfrm>
          <a:prstGeom prst="rect">
            <a:avLst/>
          </a:prstGeom>
        </p:spPr>
      </p:pic>
      <p:sp>
        <p:nvSpPr>
          <p:cNvPr id="15" name="Text 10"/>
          <p:cNvSpPr txBox="1"/>
          <p:nvPr/>
        </p:nvSpPr>
        <p:spPr>
          <a:xfrm>
            <a:off x="8229600" y="2670048"/>
            <a:ext cx="3410712" cy="274320"/>
          </a:xfrm>
          <a:prstGeom prst="rect">
            <a:avLst/>
          </a:prstGeom>
          <a:noFill/>
          <a:ln/>
        </p:spPr>
        <p:txBody>
          <a:bodyPr wrap="square" lIns="0" tIns="0" rIns="0" bIns="0" rtlCol="0" anchor="t"/>
          <a:lstStyle/>
          <a:p>
            <a:pPr indent="0" marL="0">
              <a:buNone/>
            </a:pPr>
            <a:r>
              <a:rPr lang="en-US" sz="1400" b="1" dirty="0">
                <a:solidFill>
                  <a:schemeClr val="tx2"/>
                </a:solidFill>
              </a:rPr>
              <a:t>Giá và chỗ đọc từ DB</a:t>
            </a:r>
            <a:endParaRPr lang="en-US" sz="1400" dirty="0"/>
          </a:p>
        </p:txBody>
      </p:sp>
      <p:sp>
        <p:nvSpPr>
          <p:cNvPr id="16" name="Text 11"/>
          <p:cNvSpPr txBox="1"/>
          <p:nvPr/>
        </p:nvSpPr>
        <p:spPr>
          <a:xfrm>
            <a:off x="8229600" y="2962656"/>
            <a:ext cx="3410712" cy="548640"/>
          </a:xfrm>
          <a:prstGeom prst="rect">
            <a:avLst/>
          </a:prstGeom>
          <a:noFill/>
          <a:ln/>
        </p:spPr>
        <p:txBody>
          <a:bodyPr wrap="square" lIns="0" tIns="0" rIns="0" bIns="0" rtlCol="0" anchor="t"/>
          <a:lstStyle/>
          <a:p>
            <a:pPr indent="0" marL="0">
              <a:buNone/>
            </a:pPr>
            <a:r>
              <a:rPr lang="en-US" sz="1200" dirty="0">
                <a:solidFill>
                  <a:schemeClr val="tx1"/>
                </a:solidFill>
              </a:rPr>
              <a:t>CartService kiểm tra còn bán, số chỗ, tối đa 30 khách</a:t>
            </a:r>
            <a:endParaRPr lang="en-US" sz="1200" dirty="0"/>
          </a:p>
        </p:txBody>
      </p:sp>
      <p:sp>
        <p:nvSpPr>
          <p:cNvPr id="17" name="Icon circle"/>
          <p:cNvSpPr/>
          <p:nvPr/>
        </p:nvSpPr>
        <p:spPr>
          <a:xfrm>
            <a:off x="7589520" y="3602736"/>
            <a:ext cx="457200" cy="457200"/>
          </a:xfrm>
          <a:prstGeom prst="ellipse">
            <a:avLst/>
          </a:prstGeom>
          <a:solidFill>
            <a:schemeClr val="accent1"/>
          </a:solidFill>
          <a:ln w="12700">
            <a:solidFill>
              <a:schemeClr val="accent1"/>
            </a:solidFill>
            <a:prstDash val="solid"/>
          </a:ln>
        </p:spPr>
      </p:sp>
      <p:pic>
        <p:nvPicPr>
          <p:cNvPr id="18" name="Image 2" descr="BalanceScale icon">    </p:cNvPr>
          <p:cNvPicPr>
            <a:picLocks noChangeAspect="1"/>
          </p:cNvPicPr>
          <p:nvPr/>
        </p:nvPicPr>
        <p:blipFill>
          <a:blip r:embed="rId3"/>
          <a:stretch>
            <a:fillRect/>
          </a:stretch>
        </p:blipFill>
        <p:spPr>
          <a:xfrm>
            <a:off x="7699248" y="3712464"/>
            <a:ext cx="237744" cy="237744"/>
          </a:xfrm>
          <a:prstGeom prst="rect">
            <a:avLst/>
          </a:prstGeom>
        </p:spPr>
      </p:pic>
      <p:sp>
        <p:nvSpPr>
          <p:cNvPr id="19" name="Text 13"/>
          <p:cNvSpPr txBox="1"/>
          <p:nvPr/>
        </p:nvSpPr>
        <p:spPr>
          <a:xfrm>
            <a:off x="8229600" y="3557016"/>
            <a:ext cx="3410712" cy="274320"/>
          </a:xfrm>
          <a:prstGeom prst="rect">
            <a:avLst/>
          </a:prstGeom>
          <a:noFill/>
          <a:ln/>
        </p:spPr>
        <p:txBody>
          <a:bodyPr wrap="square" lIns="0" tIns="0" rIns="0" bIns="0" rtlCol="0" anchor="t"/>
          <a:lstStyle/>
          <a:p>
            <a:pPr indent="0" marL="0">
              <a:buNone/>
            </a:pPr>
            <a:r>
              <a:rPr lang="en-US" sz="1400" b="1" dirty="0">
                <a:solidFill>
                  <a:schemeClr val="tx2"/>
                </a:solidFill>
              </a:rPr>
              <a:t>Validate trong service</a:t>
            </a:r>
            <a:endParaRPr lang="en-US" sz="1400" dirty="0"/>
          </a:p>
        </p:txBody>
      </p:sp>
      <p:sp>
        <p:nvSpPr>
          <p:cNvPr id="20" name="Text 14"/>
          <p:cNvSpPr txBox="1"/>
          <p:nvPr/>
        </p:nvSpPr>
        <p:spPr>
          <a:xfrm>
            <a:off x="8229600" y="3849624"/>
            <a:ext cx="3410712" cy="548640"/>
          </a:xfrm>
          <a:prstGeom prst="rect">
            <a:avLst/>
          </a:prstGeom>
          <a:noFill/>
          <a:ln/>
        </p:spPr>
        <p:txBody>
          <a:bodyPr wrap="square" lIns="0" tIns="0" rIns="0" bIns="0" rtlCol="0" anchor="t"/>
          <a:lstStyle/>
          <a:p>
            <a:pPr indent="0" marL="0">
              <a:buNone/>
            </a:pPr>
            <a:r>
              <a:rPr lang="en-US" sz="1200" dirty="0">
                <a:solidFill>
                  <a:schemeClr val="tx1"/>
                </a:solidFill>
              </a:rPr>
              <a:t>BusinessRuleException → trả câu lỗi dễ hiểu cho khách</a:t>
            </a:r>
            <a:endParaRPr lang="en-US" sz="1200" dirty="0"/>
          </a:p>
        </p:txBody>
      </p:sp>
      <p:sp>
        <p:nvSpPr>
          <p:cNvPr id="21" name="Icon circle"/>
          <p:cNvSpPr/>
          <p:nvPr/>
        </p:nvSpPr>
        <p:spPr>
          <a:xfrm>
            <a:off x="7589520" y="4489704"/>
            <a:ext cx="457200" cy="457200"/>
          </a:xfrm>
          <a:prstGeom prst="ellipse">
            <a:avLst/>
          </a:prstGeom>
          <a:solidFill>
            <a:schemeClr val="accent1"/>
          </a:solidFill>
          <a:ln w="12700">
            <a:solidFill>
              <a:schemeClr val="accent1"/>
            </a:solidFill>
            <a:prstDash val="solid"/>
          </a:ln>
        </p:spPr>
      </p:sp>
      <p:pic>
        <p:nvPicPr>
          <p:cNvPr id="22" name="Image 3" descr="Check icon">    </p:cNvPr>
          <p:cNvPicPr>
            <a:picLocks noChangeAspect="1"/>
          </p:cNvPicPr>
          <p:nvPr/>
        </p:nvPicPr>
        <p:blipFill>
          <a:blip r:embed="rId4"/>
          <a:stretch>
            <a:fillRect/>
          </a:stretch>
        </p:blipFill>
        <p:spPr>
          <a:xfrm>
            <a:off x="7699248" y="4599432"/>
            <a:ext cx="237744" cy="237744"/>
          </a:xfrm>
          <a:prstGeom prst="rect">
            <a:avLst/>
          </a:prstGeom>
        </p:spPr>
      </p:pic>
      <p:sp>
        <p:nvSpPr>
          <p:cNvPr id="23" name="Text 16"/>
          <p:cNvSpPr txBox="1"/>
          <p:nvPr/>
        </p:nvSpPr>
        <p:spPr>
          <a:xfrm>
            <a:off x="8229600" y="4443984"/>
            <a:ext cx="3410712" cy="274320"/>
          </a:xfrm>
          <a:prstGeom prst="rect">
            <a:avLst/>
          </a:prstGeom>
          <a:noFill/>
          <a:ln/>
        </p:spPr>
        <p:txBody>
          <a:bodyPr wrap="square" lIns="0" tIns="0" rIns="0" bIns="0" rtlCol="0" anchor="t"/>
          <a:lstStyle/>
          <a:p>
            <a:pPr indent="0" marL="0">
              <a:buNone/>
            </a:pPr>
            <a:r>
              <a:rPr lang="en-US" sz="1400" b="1" dirty="0">
                <a:solidFill>
                  <a:schemeClr val="tx2"/>
                </a:solidFill>
              </a:rPr>
              <a:t>Xác nhận trước khi chốt</a:t>
            </a:r>
            <a:endParaRPr lang="en-US" sz="1400" dirty="0"/>
          </a:p>
        </p:txBody>
      </p:sp>
      <p:sp>
        <p:nvSpPr>
          <p:cNvPr id="24" name="Text 17"/>
          <p:cNvSpPr txBox="1"/>
          <p:nvPr/>
        </p:nvSpPr>
        <p:spPr>
          <a:xfrm>
            <a:off x="8229600" y="4736592"/>
            <a:ext cx="3410712" cy="548640"/>
          </a:xfrm>
          <a:prstGeom prst="rect">
            <a:avLst/>
          </a:prstGeom>
          <a:noFill/>
          <a:ln/>
        </p:spPr>
        <p:txBody>
          <a:bodyPr wrap="square" lIns="0" tIns="0" rIns="0" bIns="0" rtlCol="0" anchor="t"/>
          <a:lstStyle/>
          <a:p>
            <a:pPr indent="0" marL="0">
              <a:buNone/>
            </a:pPr>
            <a:r>
              <a:rPr lang="en-US" sz="1200" dirty="0">
                <a:solidFill>
                  <a:schemeClr val="tx1"/>
                </a:solidFill>
              </a:rPr>
              <a:t>Không có công cụ thanh toán; khách tự vào Giỏ hàng và Thanh toán</a:t>
            </a:r>
            <a:endParaRPr lang="en-US" sz="1200" dirty="0"/>
          </a:p>
        </p:txBody>
      </p:sp>
      <p:sp>
        <p:nvSpPr>
          <p:cNvPr id="25" name="Icon circle"/>
          <p:cNvSpPr/>
          <p:nvPr/>
        </p:nvSpPr>
        <p:spPr>
          <a:xfrm>
            <a:off x="7589520" y="5376672"/>
            <a:ext cx="457200" cy="457200"/>
          </a:xfrm>
          <a:prstGeom prst="ellipse">
            <a:avLst/>
          </a:prstGeom>
          <a:solidFill>
            <a:schemeClr val="accent1"/>
          </a:solidFill>
          <a:ln w="12700">
            <a:solidFill>
              <a:schemeClr val="accent1"/>
            </a:solidFill>
            <a:prstDash val="solid"/>
          </a:ln>
        </p:spPr>
      </p:sp>
      <p:pic>
        <p:nvPicPr>
          <p:cNvPr id="26" name="Image 4" descr="Bolt icon">    </p:cNvPr>
          <p:cNvPicPr>
            <a:picLocks noChangeAspect="1"/>
          </p:cNvPicPr>
          <p:nvPr/>
        </p:nvPicPr>
        <p:blipFill>
          <a:blip r:embed="rId5"/>
          <a:stretch>
            <a:fillRect/>
          </a:stretch>
        </p:blipFill>
        <p:spPr>
          <a:xfrm>
            <a:off x="7699248" y="5486400"/>
            <a:ext cx="237744" cy="237744"/>
          </a:xfrm>
          <a:prstGeom prst="rect">
            <a:avLst/>
          </a:prstGeom>
        </p:spPr>
      </p:pic>
      <p:sp>
        <p:nvSpPr>
          <p:cNvPr id="27" name="Text 19"/>
          <p:cNvSpPr txBox="1"/>
          <p:nvPr/>
        </p:nvSpPr>
        <p:spPr>
          <a:xfrm>
            <a:off x="8229600" y="5330952"/>
            <a:ext cx="3410712" cy="274320"/>
          </a:xfrm>
          <a:prstGeom prst="rect">
            <a:avLst/>
          </a:prstGeom>
          <a:noFill/>
          <a:ln/>
        </p:spPr>
        <p:txBody>
          <a:bodyPr wrap="square" lIns="0" tIns="0" rIns="0" bIns="0" rtlCol="0" anchor="t"/>
          <a:lstStyle/>
          <a:p>
            <a:pPr indent="0" marL="0">
              <a:buNone/>
            </a:pPr>
            <a:r>
              <a:rPr lang="en-US" sz="1400" b="1" dirty="0">
                <a:solidFill>
                  <a:schemeClr val="tx2"/>
                </a:solidFill>
              </a:rPr>
              <a:t>Giới hạn</a:t>
            </a:r>
            <a:endParaRPr lang="en-US" sz="1400" dirty="0"/>
          </a:p>
        </p:txBody>
      </p:sp>
      <p:sp>
        <p:nvSpPr>
          <p:cNvPr id="28" name="Text 20"/>
          <p:cNvSpPr txBox="1"/>
          <p:nvPr/>
        </p:nvSpPr>
        <p:spPr>
          <a:xfrm>
            <a:off x="8229600" y="5623560"/>
            <a:ext cx="3410712" cy="548640"/>
          </a:xfrm>
          <a:prstGeom prst="rect">
            <a:avLst/>
          </a:prstGeom>
          <a:noFill/>
          <a:ln/>
        </p:spPr>
        <p:txBody>
          <a:bodyPr wrap="square" lIns="0" tIns="0" rIns="0" bIns="0" rtlCol="0" anchor="t"/>
          <a:lstStyle/>
          <a:p>
            <a:pPr indent="0" marL="0">
              <a:buNone/>
            </a:pPr>
            <a:r>
              <a:rPr lang="en-US" sz="1200" dirty="0">
                <a:solidFill>
                  <a:schemeClr val="tx1"/>
                </a:solidFill>
              </a:rPr>
              <a:t>8 tin mỗi phút mỗi phiên, tối đa 500 ký tự mỗi tin</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Bước 6: chatbot tư vấn tour (RAG)</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config/ChatConfig.java"/>
          <p:cNvSpPr/>
          <p:nvPr/>
        </p:nvSpPr>
        <p:spPr>
          <a:xfrm>
            <a:off x="548640" y="1463040"/>
            <a:ext cx="7040880" cy="2331720"/>
          </a:xfrm>
          <a:prstGeom prst="roundRect">
            <a:avLst>
              <a:gd name="adj" fmla="val 3137"/>
            </a:avLst>
          </a:prstGeom>
          <a:solidFill>
            <a:schemeClr val="tx2"/>
          </a:solidFill>
          <a:ln w="12700">
            <a:solidFill>
              <a:schemeClr val="tx2"/>
            </a:solidFill>
            <a:prstDash val="solid"/>
          </a:ln>
        </p:spPr>
      </p:sp>
      <p:sp>
        <p:nvSpPr>
          <p:cNvPr id="6" name="Text 3"/>
          <p:cNvSpPr txBox="1"/>
          <p:nvPr/>
        </p:nvSpPr>
        <p:spPr>
          <a:xfrm>
            <a:off x="731520" y="1554480"/>
            <a:ext cx="6675120" cy="237744"/>
          </a:xfrm>
          <a:prstGeom prst="rect">
            <a:avLst/>
          </a:prstGeom>
          <a:noFill/>
          <a:ln/>
        </p:spPr>
        <p:txBody>
          <a:bodyPr wrap="square" lIns="0" tIns="0" rIns="0" bIns="0" rtlCol="0" anchor="ctr"/>
          <a:lstStyle/>
          <a:p>
            <a:pPr indent="0" marL="0">
              <a:buNone/>
            </a:pPr>
            <a:r>
              <a:rPr lang="en-US" sz="1100" b="1" dirty="0">
                <a:solidFill>
                  <a:schemeClr val="accent5"/>
                </a:solidFill>
              </a:rPr>
              <a:t>config/AiConfig.java (rút gọn)</a:t>
            </a:r>
            <a:endParaRPr lang="en-US" sz="1100" dirty="0"/>
          </a:p>
        </p:txBody>
      </p:sp>
      <p:sp>
        <p:nvSpPr>
          <p:cNvPr id="7" name="Code config/ChatConfig.java"/>
          <p:cNvSpPr txBox="1"/>
          <p:nvPr/>
        </p:nvSpPr>
        <p:spPr>
          <a:xfrm>
            <a:off x="731520" y="1847088"/>
            <a:ext cx="6675120" cy="1874520"/>
          </a:xfrm>
          <a:prstGeom prst="rect">
            <a:avLst/>
          </a:prstGeom>
          <a:noFill/>
          <a:ln/>
        </p:spPr>
        <p:txBody>
          <a:bodyPr wrap="square" lIns="0" tIns="0" rIns="0" bIns="0" rtlCol="0" anchor="t"/>
          <a:lstStyle/>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@Bean</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 tourAssistant(</a:t>
            </a:r>
            <a:r>
              <a:rPr lang="en-US" sz="1200" dirty="0">
                <a:solidFill>
                  <a:srgbClr val="86C7BA"/>
                </a:solidFill>
                <a:latin typeface="Courier New" pitchFamily="34" charset="0"/>
                <a:ea typeface="Courier New" pitchFamily="34" charset="-122"/>
                <a:cs typeface="Courier New" pitchFamily="34" charset="-120"/>
              </a:rPr>
              <a:t>ChatClient</a:t>
            </a:r>
            <a:r>
              <a:rPr lang="en-US" sz="1200" dirty="0">
                <a:solidFill>
                  <a:srgbClr val="EFF7F5"/>
                </a:solidFill>
                <a:latin typeface="Courier New" pitchFamily="34" charset="0"/>
                <a:ea typeface="Courier New" pitchFamily="34" charset="-122"/>
                <a:cs typeface="Courier New" pitchFamily="34" charset="-120"/>
              </a:rPr>
              <a:t>.</a:t>
            </a:r>
            <a:r>
              <a:rPr lang="en-US" sz="1200" dirty="0">
                <a:solidFill>
                  <a:srgbClr val="86C7BA"/>
                </a:solidFill>
                <a:latin typeface="Courier New" pitchFamily="34" charset="0"/>
                <a:ea typeface="Courier New" pitchFamily="34" charset="-122"/>
                <a:cs typeface="Courier New" pitchFamily="34" charset="-120"/>
              </a:rPr>
              <a:t>Builder</a:t>
            </a:r>
            <a:r>
              <a:rPr lang="en-US" sz="1200" dirty="0">
                <a:solidFill>
                  <a:srgbClr val="EFF7F5"/>
                </a:solidFill>
                <a:latin typeface="Courier New" pitchFamily="34" charset="0"/>
                <a:ea typeface="Courier New" pitchFamily="34" charset="-122"/>
                <a:cs typeface="Courier New" pitchFamily="34" charset="-120"/>
              </a:rPr>
              <a:t> b,</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TourVectorStore</a:t>
            </a:r>
            <a:r>
              <a:rPr lang="en-US" sz="1200" dirty="0">
                <a:solidFill>
                  <a:srgbClr val="EFF7F5"/>
                </a:solidFill>
                <a:latin typeface="Courier New" pitchFamily="34" charset="0"/>
                <a:ea typeface="Courier New" pitchFamily="34" charset="-122"/>
                <a:cs typeface="Courier New" pitchFamily="34" charset="-120"/>
              </a:rPr>
              <a:t> vs, </a:t>
            </a:r>
            <a:r>
              <a:rPr lang="en-US" sz="1200" dirty="0">
                <a:solidFill>
                  <a:srgbClr val="86C7BA"/>
                </a:solidFill>
                <a:latin typeface="Courier New" pitchFamily="34" charset="0"/>
                <a:ea typeface="Courier New" pitchFamily="34" charset="-122"/>
                <a:cs typeface="Courier New" pitchFamily="34" charset="-120"/>
              </a:rPr>
              <a:t>ChatMemory</a:t>
            </a:r>
            <a:r>
              <a:rPr lang="en-US" sz="1200" dirty="0">
                <a:solidFill>
                  <a:srgbClr val="EFF7F5"/>
                </a:solidFill>
                <a:latin typeface="Courier New" pitchFamily="34" charset="0"/>
                <a:ea typeface="Courier New" pitchFamily="34" charset="-122"/>
                <a:cs typeface="Courier New" pitchFamily="34" charset="-120"/>
              </a:rPr>
              <a:t> memory, </a:t>
            </a:r>
            <a:r>
              <a:rPr lang="en-US" sz="1200" dirty="0">
                <a:solidFill>
                  <a:srgbClr val="86C7BA"/>
                </a:solidFill>
                <a:latin typeface="Courier New" pitchFamily="34" charset="0"/>
                <a:ea typeface="Courier New" pitchFamily="34" charset="-122"/>
                <a:cs typeface="Courier New" pitchFamily="34" charset="-120"/>
              </a:rPr>
              <a:t>TourTools</a:t>
            </a:r>
            <a:r>
              <a:rPr lang="en-US" sz="1200" dirty="0">
                <a:solidFill>
                  <a:srgbClr val="EFF7F5"/>
                </a:solidFill>
                <a:latin typeface="Courier New" pitchFamily="34" charset="0"/>
                <a:ea typeface="Courier New" pitchFamily="34" charset="-122"/>
                <a:cs typeface="Courier New" pitchFamily="34" charset="-120"/>
              </a:rPr>
              <a:t> tools) {</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return</a:t>
            </a:r>
            <a:r>
              <a:rPr lang="en-US" sz="1200" dirty="0">
                <a:solidFill>
                  <a:srgbClr val="EFF7F5"/>
                </a:solidFill>
                <a:latin typeface="Courier New" pitchFamily="34" charset="0"/>
                <a:ea typeface="Courier New" pitchFamily="34" charset="-122"/>
                <a:cs typeface="Courier New" pitchFamily="34" charset="-120"/>
              </a:rPr>
              <a:t> b.defaultSystem(SYSTEM_PROMPT)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.defaultAdvisors(</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MessageChatMemoryAdvisor</a:t>
            </a:r>
            <a:r>
              <a:rPr lang="en-US" sz="1200" dirty="0">
                <a:solidFill>
                  <a:srgbClr val="EFF7F5"/>
                </a:solidFill>
                <a:latin typeface="Courier New" pitchFamily="34" charset="0"/>
                <a:ea typeface="Courier New" pitchFamily="34" charset="-122"/>
                <a:cs typeface="Courier New" pitchFamily="34" charset="-120"/>
              </a:rPr>
              <a:t>.builder(memory).build(),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QuestionAnswerAdvisor</a:t>
            </a:r>
            <a:r>
              <a:rPr lang="en-US" sz="1200" dirty="0">
                <a:solidFill>
                  <a:srgbClr val="EFF7F5"/>
                </a:solidFill>
                <a:latin typeface="Courier New" pitchFamily="34" charset="0"/>
                <a:ea typeface="Courier New" pitchFamily="34" charset="-122"/>
                <a:cs typeface="Courier New" pitchFamily="34" charset="-120"/>
              </a:rPr>
              <a:t>.builder(vs).build())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.defaultTools(tools).build();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8" name="Code panel controller/api/ChatApiController.java"/>
          <p:cNvSpPr/>
          <p:nvPr/>
        </p:nvSpPr>
        <p:spPr>
          <a:xfrm>
            <a:off x="548640" y="3931920"/>
            <a:ext cx="7040880" cy="2331720"/>
          </a:xfrm>
          <a:prstGeom prst="roundRect">
            <a:avLst>
              <a:gd name="adj" fmla="val 3137"/>
            </a:avLst>
          </a:prstGeom>
          <a:solidFill>
            <a:schemeClr val="tx2"/>
          </a:solidFill>
          <a:ln w="12700">
            <a:solidFill>
              <a:schemeClr val="tx2"/>
            </a:solidFill>
            <a:prstDash val="solid"/>
          </a:ln>
        </p:spPr>
      </p:sp>
      <p:sp>
        <p:nvSpPr>
          <p:cNvPr id="9" name="Text 6"/>
          <p:cNvSpPr txBox="1"/>
          <p:nvPr/>
        </p:nvSpPr>
        <p:spPr>
          <a:xfrm>
            <a:off x="731520" y="4023360"/>
            <a:ext cx="6675120" cy="237744"/>
          </a:xfrm>
          <a:prstGeom prst="rect">
            <a:avLst/>
          </a:prstGeom>
          <a:noFill/>
          <a:ln/>
        </p:spPr>
        <p:txBody>
          <a:bodyPr wrap="square" lIns="0" tIns="0" rIns="0" bIns="0" rtlCol="0" anchor="ctr"/>
          <a:lstStyle/>
          <a:p>
            <a:pPr indent="0" marL="0">
              <a:buNone/>
            </a:pPr>
            <a:r>
              <a:rPr lang="en-US" sz="1100" b="1" dirty="0">
                <a:solidFill>
                  <a:schemeClr val="accent5"/>
                </a:solidFill>
              </a:rPr>
              <a:t>ai/AiChatService.java</a:t>
            </a:r>
            <a:endParaRPr lang="en-US" sz="1100" dirty="0"/>
          </a:p>
        </p:txBody>
      </p:sp>
      <p:sp>
        <p:nvSpPr>
          <p:cNvPr id="10" name="Code controller/api/ChatApiController.java"/>
          <p:cNvSpPr txBox="1"/>
          <p:nvPr/>
        </p:nvSpPr>
        <p:spPr>
          <a:xfrm>
            <a:off x="731520" y="4315968"/>
            <a:ext cx="6675120" cy="1874520"/>
          </a:xfrm>
          <a:prstGeom prst="rect">
            <a:avLst/>
          </a:prstGeom>
          <a:noFill/>
          <a:ln/>
        </p:spPr>
        <p:txBody>
          <a:bodyPr wrap="square" lIns="0" tIns="0" rIns="0" bIns="0" rtlCol="0" anchor="t"/>
          <a:lstStyle/>
          <a:p>
            <a:pPr indent="0" marL="0">
              <a:lnSpc>
                <a:spcPts val="1400"/>
              </a:lnSpc>
              <a:buNone/>
            </a:pPr>
            <a:r>
              <a:rPr lang="en-US" sz="1200" dirty="0">
                <a:solidFill>
                  <a:srgbClr val="E0A458"/>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answer = chatClient.prompt().user(text)</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.advisors(a -&gt; a.param(</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ChatMemory</a:t>
            </a:r>
            <a:r>
              <a:rPr lang="en-US" sz="1200" dirty="0">
                <a:solidFill>
                  <a:srgbClr val="EFF7F5"/>
                </a:solidFill>
                <a:latin typeface="Courier New" pitchFamily="34" charset="0"/>
                <a:ea typeface="Courier New" pitchFamily="34" charset="-122"/>
                <a:cs typeface="Courier New" pitchFamily="34" charset="-120"/>
              </a:rPr>
              <a:t>.CONVERSATION_ID, conversationId))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.toolContext(toolContext)  </a:t>
            </a:r>
            <a:r>
              <a:rPr lang="en-US" sz="1200" dirty="0">
                <a:solidFill>
                  <a:srgbClr val="86C7BA"/>
                </a:solidFill>
                <a:latin typeface="Courier New" pitchFamily="34" charset="0"/>
                <a:ea typeface="Courier New" pitchFamily="34" charset="-122"/>
                <a:cs typeface="Courier New" pitchFamily="34" charset="-120"/>
              </a:rPr>
              <a:t>// session, userId</a:t>
            </a:r>
            <a:endParaRPr lang="en-US" sz="1200" dirty="0"/>
          </a:p>
          <a:p>
            <a:pPr indent="0" marL="0">
              <a:lnSpc>
                <a:spcPts val="1400"/>
              </a:lnSpc>
              <a:buNone/>
            </a:pPr>
            <a:r>
              <a:rPr lang="en-US" sz="1200" dirty="0">
                <a:solidFill>
                  <a:srgbClr val="EFF7F5"/>
                </a:solidFill>
                <a:latin typeface="Courier New" pitchFamily="34" charset="0"/>
                <a:ea typeface="Courier New" pitchFamily="34" charset="-122"/>
                <a:cs typeface="Courier New" pitchFamily="34" charset="-120"/>
              </a:rPr>
              <a:t>    .call().content();</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 conversationId = SHA-256 của mã phiên</a:t>
            </a:r>
            <a:endParaRPr lang="en-US" sz="1200" dirty="0"/>
          </a:p>
          <a:p>
            <a:pPr indent="0" marL="0">
              <a:lnSpc>
                <a:spcPts val="1400"/>
              </a:lnSpc>
              <a:buNone/>
            </a:pPr>
            <a:r>
              <a:rPr lang="en-US" sz="1200" dirty="0">
                <a:solidFill>
                  <a:srgbClr val="86C7BA"/>
                </a:solidFill>
                <a:latin typeface="Courier New" pitchFamily="34" charset="0"/>
                <a:ea typeface="Courier New" pitchFamily="34" charset="-122"/>
                <a:cs typeface="Courier New" pitchFamily="34" charset="-120"/>
              </a:rPr>
              <a:t>// lỗi nhà cung cấp -&gt; AiUnavailableException (503)</a:t>
            </a:r>
            <a:endParaRPr lang="en-US" sz="1200" dirty="0"/>
          </a:p>
        </p:txBody>
      </p:sp>
      <p:sp>
        <p:nvSpPr>
          <p:cNvPr id="11" name="Card"/>
          <p:cNvSpPr/>
          <p:nvPr/>
        </p:nvSpPr>
        <p:spPr>
          <a:xfrm>
            <a:off x="7818120" y="1463040"/>
            <a:ext cx="3822192" cy="3017520"/>
          </a:xfrm>
          <a:prstGeom prst="roundRect">
            <a:avLst>
              <a:gd name="adj" fmla="val 3030"/>
            </a:avLst>
          </a:prstGeom>
          <a:solidFill>
            <a:schemeClr val="tx2"/>
          </a:solidFill>
          <a:ln w="12700">
            <a:solidFill>
              <a:schemeClr val="tx2"/>
            </a:solidFill>
            <a:prstDash val="solid"/>
          </a:ln>
        </p:spPr>
      </p:sp>
      <p:sp>
        <p:nvSpPr>
          <p:cNvPr id="12" name="Text 9"/>
          <p:cNvSpPr txBox="1"/>
          <p:nvPr/>
        </p:nvSpPr>
        <p:spPr>
          <a:xfrm>
            <a:off x="8001000" y="1572768"/>
            <a:ext cx="3474720" cy="274320"/>
          </a:xfrm>
          <a:prstGeom prst="rect">
            <a:avLst/>
          </a:prstGeom>
          <a:noFill/>
          <a:ln/>
        </p:spPr>
        <p:txBody>
          <a:bodyPr wrap="square" lIns="0" tIns="0" rIns="0" bIns="0" rtlCol="0" anchor="t"/>
          <a:lstStyle/>
          <a:p>
            <a:pPr indent="0" marL="0">
              <a:buNone/>
            </a:pPr>
            <a:r>
              <a:rPr lang="en-US" sz="1300" b="1" dirty="0">
                <a:solidFill>
                  <a:schemeClr val="accent2"/>
                </a:solidFill>
              </a:rPr>
              <a:t>SYSTEM_PROMPT (tóm tắt)</a:t>
            </a:r>
            <a:endParaRPr lang="en-US" sz="1300" dirty="0"/>
          </a:p>
        </p:txBody>
      </p:sp>
      <p:sp>
        <p:nvSpPr>
          <p:cNvPr id="13" name="Text 10"/>
          <p:cNvSpPr txBox="1"/>
          <p:nvPr/>
        </p:nvSpPr>
        <p:spPr>
          <a:xfrm>
            <a:off x="8001000" y="1920240"/>
            <a:ext cx="3474720" cy="256032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bg1"/>
                </a:solidFill>
              </a:rPr>
              <a:t>Bạn là "Trợ lý tour" của IUH Tour Booking</a:t>
            </a:r>
            <a:endParaRPr lang="en-US" sz="1250" dirty="0"/>
          </a:p>
          <a:p>
            <a:pPr marL="177800" indent="-177800">
              <a:spcAft>
                <a:spcPts val="400"/>
              </a:spcAft>
              <a:buSzPct val="100000"/>
              <a:buChar char="•"/>
            </a:pPr>
            <a:r>
              <a:rPr lang="en-US" sz="1250" dirty="0">
                <a:solidFill>
                  <a:schemeClr val="bg1"/>
                </a:solidFill>
              </a:rPr>
              <a:t>Trả lời tiếng Việt, ngắn gọn, thân thiện</a:t>
            </a:r>
            <a:endParaRPr lang="en-US" sz="1250" dirty="0"/>
          </a:p>
          <a:p>
            <a:pPr marL="177800" indent="-177800">
              <a:spcAft>
                <a:spcPts val="400"/>
              </a:spcAft>
              <a:buSzPct val="100000"/>
              <a:buChar char="•"/>
            </a:pPr>
            <a:r>
              <a:rPr lang="en-US" sz="1250" dirty="0">
                <a:solidFill>
                  <a:schemeClr val="bg1"/>
                </a:solidFill>
              </a:rPr>
              <a:t>Chỉ dùng ngữ cảnh và công cụ; không biết thì nói không biết</a:t>
            </a:r>
            <a:endParaRPr lang="en-US" sz="1250" dirty="0"/>
          </a:p>
          <a:p>
            <a:pPr marL="177800" indent="-177800">
              <a:spcAft>
                <a:spcPts val="400"/>
              </a:spcAft>
              <a:buSzPct val="100000"/>
              <a:buChar char="•"/>
            </a:pPr>
            <a:r>
              <a:rPr lang="en-US" sz="1250" dirty="0">
                <a:solidFill>
                  <a:schemeClr val="bg1"/>
                </a:solidFill>
              </a:rPr>
              <a:t>Không tự bịa giá, ngày đi, số chỗ</a:t>
            </a:r>
            <a:endParaRPr lang="en-US" sz="1250" dirty="0"/>
          </a:p>
          <a:p>
            <a:pPr marL="177800" indent="-177800">
              <a:spcAft>
                <a:spcPts val="400"/>
              </a:spcAft>
              <a:buSzPct val="100000"/>
              <a:buChar char="•"/>
            </a:pPr>
            <a:r>
              <a:rPr lang="en-US" sz="1250" dirty="0">
                <a:solidFill>
                  <a:schemeClr val="bg1"/>
                </a:solidFill>
              </a:rPr>
              <a:t>Chỉ addToCart khi khách đồng ý; không thanh toán</a:t>
            </a:r>
            <a:endParaRPr lang="en-US" sz="1250" dirty="0"/>
          </a:p>
        </p:txBody>
      </p:sp>
      <p:sp>
        <p:nvSpPr>
          <p:cNvPr id="14" name="Card"/>
          <p:cNvSpPr/>
          <p:nvPr/>
        </p:nvSpPr>
        <p:spPr>
          <a:xfrm>
            <a:off x="7818120" y="4663440"/>
            <a:ext cx="3822192" cy="1600200"/>
          </a:xfrm>
          <a:prstGeom prst="roundRect">
            <a:avLst>
              <a:gd name="adj" fmla="val 5714"/>
            </a:avLst>
          </a:prstGeom>
          <a:solidFill>
            <a:schemeClr val="bg2"/>
          </a:solidFill>
          <a:ln w="12700">
            <a:solidFill>
              <a:schemeClr val="bg2"/>
            </a:solidFill>
            <a:prstDash val="solid"/>
          </a:ln>
        </p:spPr>
      </p:sp>
      <p:sp>
        <p:nvSpPr>
          <p:cNvPr id="15" name="Text 12"/>
          <p:cNvSpPr txBox="1"/>
          <p:nvPr/>
        </p:nvSpPr>
        <p:spPr>
          <a:xfrm>
            <a:off x="8001000" y="4754880"/>
            <a:ext cx="3474720" cy="1417320"/>
          </a:xfrm>
          <a:prstGeom prst="rect">
            <a:avLst/>
          </a:prstGeom>
          <a:noFill/>
          <a:ln/>
        </p:spPr>
        <p:txBody>
          <a:bodyPr wrap="square" lIns="0" tIns="0" rIns="0" bIns="0" rtlCol="0" anchor="ctr"/>
          <a:lstStyle/>
          <a:p>
            <a:pPr indent="0" marL="0">
              <a:buNone/>
            </a:pPr>
            <a:r>
              <a:rPr lang="en-US" sz="1250" b="1" dirty="0">
                <a:solidFill>
                  <a:schemeClr val="tx1"/>
                </a:solidFill>
              </a:rPr>
              <a:t>Giao diện: </a:t>
            </a:r>
            <a:r>
              <a:rPr lang="en-US" sz="1250" dirty="0">
                <a:solidFill>
                  <a:schemeClr val="tx1"/>
                </a:solidFill>
              </a:rPr>
              <a:t>khung chat nổi trong fragments/chat-widget.html, chat.js gọi POST /api/chat bằng $.ajax kèm CSRF của app.js. AI tắt thì khung hiện "AI chưa được cấu hình".</a:t>
            </a:r>
            <a:endParaRPr lang="en-US" sz="12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Tracking: sự kiện và bảng user_events</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Text 2"/>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500" b="1" dirty="0">
                <a:solidFill>
                  <a:schemeClr val="tx2"/>
                </a:solidFill>
              </a:rPr>
              <a:t>Các loại sự kiện</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532120" cy="914400"/>
        </p:xfrm>
        <a:graphic>
          <a:graphicData uri="http://schemas.openxmlformats.org/drawingml/2006/table">
            <a:tbl>
              <a:tblPr/>
              <a:tblGrid>
                <a:gridCol w="1600200"/>
                <a:gridCol w="2377440"/>
                <a:gridCol w="1554480"/>
              </a:tblGrid>
              <a:tr h="566928">
                <a:tc>
                  <a:txBody>
                    <a:bodyPr/>
                    <a:lstStyle/>
                    <a:p>
                      <a:pPr indent="0" marL="0">
                        <a:buNone/>
                      </a:pPr>
                      <a:r>
                        <a:rPr lang="en-US" sz="1300" b="1" dirty="0">
                          <a:solidFill>
                            <a:srgbClr val="FFFFFF"/>
                          </a:solidFill>
                        </a:rPr>
                        <a:t>Loại</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300" b="1" dirty="0">
                          <a:solidFill>
                            <a:srgbClr val="FFFFFF"/>
                          </a:solidFill>
                        </a:rPr>
                        <a:t>Kích hoạt khi</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300" b="1" dirty="0">
                          <a:solidFill>
                            <a:srgbClr val="FFFFFF"/>
                          </a:solidFill>
                        </a:rPr>
                        <a:t>Dữ liệu</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r>
              <a:tr h="566928">
                <a:tc>
                  <a:txBody>
                    <a:bodyPr/>
                    <a:lstStyle/>
                    <a:p>
                      <a:pPr indent="0" marL="0">
                        <a:buNone/>
                      </a:pPr>
                      <a:r>
                        <a:rPr lang="en-US" sz="1300" b="1" dirty="0">
                          <a:solidFill>
                            <a:srgbClr val="14201E"/>
                          </a:solidFill>
                        </a:rPr>
                        <a:t>VIEW</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Mở trang chi tiết tour</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tourId</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566928">
                <a:tc>
                  <a:txBody>
                    <a:bodyPr/>
                    <a:lstStyle/>
                    <a:p>
                      <a:pPr indent="0" marL="0">
                        <a:buNone/>
                      </a:pPr>
                      <a:r>
                        <a:rPr lang="en-US" sz="1300" b="1" dirty="0">
                          <a:solidFill>
                            <a:srgbClr val="14201E"/>
                          </a:solidFill>
                        </a:rPr>
                        <a:t>CLICK</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Bấm thẻ tour trong danh sách</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tourId</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4201E"/>
                          </a:solidFill>
                        </a:rPr>
                        <a:t>TIME_ON_PAGE</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Ẩn hoặc rời trang chi tiết</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tourId, durationMs</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566928">
                <a:tc>
                  <a:txBody>
                    <a:bodyPr/>
                    <a:lstStyle/>
                    <a:p>
                      <a:pPr indent="0" marL="0">
                        <a:buNone/>
                      </a:pPr>
                      <a:r>
                        <a:rPr lang="en-US" sz="1300" b="1" dirty="0">
                          <a:solidFill>
                            <a:srgbClr val="14201E"/>
                          </a:solidFill>
                        </a:rPr>
                        <a:t>ADD_TO_CART</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Thêm giỏ thành công (server ghi)</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300" dirty="0">
                          <a:solidFill>
                            <a:srgbClr val="14201E"/>
                          </a:solidFill>
                        </a:rPr>
                        <a:t>tourId, departureId</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4201E"/>
                          </a:solidFill>
                        </a:rPr>
                        <a:t>SEARCH</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Gửi form có ô q</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300" dirty="0">
                          <a:solidFill>
                            <a:srgbClr val="14201E"/>
                          </a:solidFill>
                        </a:rPr>
                        <a:t>keyword</a:t>
                      </a:r>
                      <a:endParaRPr lang="en-US" sz="13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bl>
          </a:graphicData>
        </a:graphic>
      </p:graphicFrame>
      <p:sp>
        <p:nvSpPr>
          <p:cNvPr id="7" name="Card"/>
          <p:cNvSpPr/>
          <p:nvPr/>
        </p:nvSpPr>
        <p:spPr>
          <a:xfrm>
            <a:off x="548640" y="5349240"/>
            <a:ext cx="5532120" cy="914400"/>
          </a:xfrm>
          <a:prstGeom prst="roundRect">
            <a:avLst>
              <a:gd name="adj" fmla="val 10000"/>
            </a:avLst>
          </a:prstGeom>
          <a:solidFill>
            <a:schemeClr val="bg2"/>
          </a:solidFill>
          <a:ln w="12700">
            <a:solidFill>
              <a:schemeClr val="bg2"/>
            </a:solidFill>
            <a:prstDash val="solid"/>
          </a:ln>
        </p:spPr>
      </p:sp>
      <p:sp>
        <p:nvSpPr>
          <p:cNvPr id="8" name="Text 4"/>
          <p:cNvSpPr txBox="1"/>
          <p:nvPr/>
        </p:nvSpPr>
        <p:spPr>
          <a:xfrm>
            <a:off x="731520" y="5394960"/>
            <a:ext cx="5166360" cy="822960"/>
          </a:xfrm>
          <a:prstGeom prst="rect">
            <a:avLst/>
          </a:prstGeom>
          <a:noFill/>
          <a:ln/>
        </p:spPr>
        <p:txBody>
          <a:bodyPr wrap="square" lIns="0" tIns="0" rIns="0" bIns="0" rtlCol="0" anchor="ctr"/>
          <a:lstStyle/>
          <a:p>
            <a:pPr indent="0" marL="0">
              <a:buNone/>
            </a:pPr>
            <a:r>
              <a:rPr lang="en-US" sz="1250" dirty="0">
                <a:solidFill>
                  <a:schemeClr val="tx1"/>
                </a:solidFill>
              </a:rPr>
              <a:t>Script database/05_user_events.sql (idempotent, cho CSDL đã có) và 02_schema.sql. ddl-auto: validate nên bảng phải tạo bằng script. Không FK: ghi nhanh, không cản xoá tour.</a:t>
            </a:r>
            <a:endParaRPr lang="en-US" sz="1250" dirty="0"/>
          </a:p>
        </p:txBody>
      </p:sp>
      <p:sp>
        <p:nvSpPr>
          <p:cNvPr id="9" name="Code panel database/05_user_events.sql"/>
          <p:cNvSpPr/>
          <p:nvPr/>
        </p:nvSpPr>
        <p:spPr>
          <a:xfrm>
            <a:off x="6309360" y="1463040"/>
            <a:ext cx="5330952" cy="4800600"/>
          </a:xfrm>
          <a:prstGeom prst="roundRect">
            <a:avLst>
              <a:gd name="adj" fmla="val 1524"/>
            </a:avLst>
          </a:prstGeom>
          <a:solidFill>
            <a:schemeClr val="tx2"/>
          </a:solidFill>
          <a:ln w="12700">
            <a:solidFill>
              <a:schemeClr val="tx2"/>
            </a:solidFill>
            <a:prstDash val="solid"/>
          </a:ln>
        </p:spPr>
      </p:sp>
      <p:sp>
        <p:nvSpPr>
          <p:cNvPr id="10" name="Text 6"/>
          <p:cNvSpPr txBox="1"/>
          <p:nvPr/>
        </p:nvSpPr>
        <p:spPr>
          <a:xfrm>
            <a:off x="6492240" y="1554480"/>
            <a:ext cx="4965192" cy="237744"/>
          </a:xfrm>
          <a:prstGeom prst="rect">
            <a:avLst/>
          </a:prstGeom>
          <a:noFill/>
          <a:ln/>
        </p:spPr>
        <p:txBody>
          <a:bodyPr wrap="square" lIns="0" tIns="0" rIns="0" bIns="0" rtlCol="0" anchor="ctr"/>
          <a:lstStyle/>
          <a:p>
            <a:pPr indent="0" marL="0">
              <a:buNone/>
            </a:pPr>
            <a:r>
              <a:rPr lang="en-US" sz="1100" b="1" dirty="0">
                <a:solidFill>
                  <a:schemeClr val="accent5"/>
                </a:solidFill>
              </a:rPr>
              <a:t>database/05_user_events.sql</a:t>
            </a:r>
            <a:endParaRPr lang="en-US" sz="1100" dirty="0"/>
          </a:p>
        </p:txBody>
      </p:sp>
      <p:sp>
        <p:nvSpPr>
          <p:cNvPr id="11" name="Code database/05_user_events.sql"/>
          <p:cNvSpPr txBox="1"/>
          <p:nvPr/>
        </p:nvSpPr>
        <p:spPr>
          <a:xfrm>
            <a:off x="6492240" y="1847088"/>
            <a:ext cx="4965192" cy="4343400"/>
          </a:xfrm>
          <a:prstGeom prst="rect">
            <a:avLst/>
          </a:prstGeom>
          <a:noFill/>
          <a:ln/>
        </p:spPr>
        <p:txBody>
          <a:bodyPr wrap="square" lIns="0" tIns="0" rIns="0" bIns="0" rtlCol="0" anchor="t"/>
          <a:lstStyle/>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CREATE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TABLE</a:t>
            </a:r>
            <a:r>
              <a:rPr lang="en-US" sz="1200" dirty="0">
                <a:solidFill>
                  <a:srgbClr val="EFF7F5"/>
                </a:solidFill>
                <a:latin typeface="Courier New" pitchFamily="34" charset="0"/>
                <a:ea typeface="Courier New" pitchFamily="34" charset="-122"/>
                <a:cs typeface="Courier New" pitchFamily="34" charset="-120"/>
              </a:rPr>
              <a:t> user_events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id           BIGINT IDENTITY(1,1) </a:t>
            </a:r>
            <a:r>
              <a:rPr lang="en-US" sz="1200" dirty="0">
                <a:solidFill>
                  <a:srgbClr val="E0A458"/>
                </a:solidFill>
                <a:latin typeface="Courier New" pitchFamily="34" charset="0"/>
                <a:ea typeface="Courier New" pitchFamily="34" charset="-122"/>
                <a:cs typeface="Courier New" pitchFamily="34" charset="-120"/>
              </a:rPr>
              <a:t>NOT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event_type   NVARCHAR(20)   </a:t>
            </a:r>
            <a:r>
              <a:rPr lang="en-US" sz="1200" dirty="0">
                <a:solidFill>
                  <a:srgbClr val="E0A458"/>
                </a:solidFill>
                <a:latin typeface="Courier New" pitchFamily="34" charset="0"/>
                <a:ea typeface="Courier New" pitchFamily="34" charset="-122"/>
                <a:cs typeface="Courier New" pitchFamily="34" charset="-120"/>
              </a:rPr>
              <a:t>NOT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session_id   NVARCHAR(64)   </a:t>
            </a:r>
            <a:r>
              <a:rPr lang="en-US" sz="1200" dirty="0">
                <a:solidFill>
                  <a:srgbClr val="E0A458"/>
                </a:solidFill>
                <a:latin typeface="Courier New" pitchFamily="34" charset="0"/>
                <a:ea typeface="Courier New" pitchFamily="34" charset="-122"/>
                <a:cs typeface="Courier New" pitchFamily="34" charset="-120"/>
              </a:rPr>
              <a:t>NOT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user_id      BIGINT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tour_id      BIGINT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departure_id BIGINT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keyword      NVARCHAR(200)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duration_ms  INT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page_url     NVARCHAR(255)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occurred_at  DATETIME2(6)   </a:t>
            </a:r>
            <a:r>
              <a:rPr lang="en-US" sz="1200" dirty="0">
                <a:solidFill>
                  <a:srgbClr val="E0A458"/>
                </a:solidFill>
                <a:latin typeface="Courier New" pitchFamily="34" charset="0"/>
                <a:ea typeface="Courier New" pitchFamily="34" charset="-122"/>
                <a:cs typeface="Courier New" pitchFamily="34" charset="-120"/>
              </a:rPr>
              <a:t>NOT</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NULL</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CONSTRAINT</a:t>
            </a:r>
            <a:r>
              <a:rPr lang="en-US" sz="1200" dirty="0">
                <a:solidFill>
                  <a:srgbClr val="EFF7F5"/>
                </a:solidFill>
                <a:latin typeface="Courier New" pitchFamily="34" charset="0"/>
                <a:ea typeface="Courier New" pitchFamily="34" charset="-122"/>
                <a:cs typeface="Courier New" pitchFamily="34" charset="-120"/>
              </a:rPr>
              <a:t> pk_user_events </a:t>
            </a:r>
            <a:r>
              <a:rPr lang="en-US" sz="1200" dirty="0">
                <a:solidFill>
                  <a:srgbClr val="E0A458"/>
                </a:solidFill>
                <a:latin typeface="Courier New" pitchFamily="34" charset="0"/>
                <a:ea typeface="Courier New" pitchFamily="34" charset="-122"/>
                <a:cs typeface="Courier New" pitchFamily="34" charset="-120"/>
              </a:rPr>
              <a:t>PRIMARY</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KEY</a:t>
            </a:r>
            <a:r>
              <a:rPr lang="en-US" sz="1200" dirty="0">
                <a:solidFill>
                  <a:srgbClr val="EFF7F5"/>
                </a:solidFill>
                <a:latin typeface="Courier New" pitchFamily="34" charset="0"/>
                <a:ea typeface="Courier New" pitchFamily="34" charset="-122"/>
                <a:cs typeface="Courier New" pitchFamily="34" charset="-120"/>
              </a:rPr>
              <a:t> (id)</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CREATE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INDEX</a:t>
            </a:r>
            <a:r>
              <a:rPr lang="en-US" sz="1200" dirty="0">
                <a:solidFill>
                  <a:srgbClr val="EFF7F5"/>
                </a:solidFill>
                <a:latin typeface="Courier New" pitchFamily="34" charset="0"/>
                <a:ea typeface="Courier New" pitchFamily="34" charset="-122"/>
                <a:cs typeface="Courier New" pitchFamily="34" charset="-120"/>
              </a:rPr>
              <a:t> idx_user_events_tour</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ON</a:t>
            </a:r>
            <a:r>
              <a:rPr lang="en-US" sz="1200" dirty="0">
                <a:solidFill>
                  <a:srgbClr val="EFF7F5"/>
                </a:solidFill>
                <a:latin typeface="Courier New" pitchFamily="34" charset="0"/>
                <a:ea typeface="Courier New" pitchFamily="34" charset="-122"/>
                <a:cs typeface="Courier New" pitchFamily="34" charset="-120"/>
              </a:rPr>
              <a:t> user_events (tour_id, event_type);</a:t>
            </a:r>
            <a:endParaRPr lang="en-US" sz="1200" dirty="0"/>
          </a:p>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CREATE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INDEX</a:t>
            </a:r>
            <a:r>
              <a:rPr lang="en-US" sz="1200" dirty="0">
                <a:solidFill>
                  <a:srgbClr val="EFF7F5"/>
                </a:solidFill>
                <a:latin typeface="Courier New" pitchFamily="34" charset="0"/>
                <a:ea typeface="Courier New" pitchFamily="34" charset="-122"/>
                <a:cs typeface="Courier New" pitchFamily="34" charset="-120"/>
              </a:rPr>
              <a:t> idx_user_events_time</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ON</a:t>
            </a:r>
            <a:r>
              <a:rPr lang="en-US" sz="1200" dirty="0">
                <a:solidFill>
                  <a:srgbClr val="EFF7F5"/>
                </a:solidFill>
                <a:latin typeface="Courier New" pitchFamily="34" charset="0"/>
                <a:ea typeface="Courier New" pitchFamily="34" charset="-122"/>
                <a:cs typeface="Courier New" pitchFamily="34" charset="-120"/>
              </a:rPr>
              <a:t> user_events (occurred_at);</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 chỉ mục theo session_id và user_id</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Entity UserEvent và quy tắc phía server</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entity/UserEvent.java"/>
          <p:cNvSpPr/>
          <p:nvPr/>
        </p:nvSpPr>
        <p:spPr>
          <a:xfrm>
            <a:off x="548640" y="1463040"/>
            <a:ext cx="6766560" cy="3840480"/>
          </a:xfrm>
          <a:prstGeom prst="roundRect">
            <a:avLst>
              <a:gd name="adj" fmla="val 1905"/>
            </a:avLst>
          </a:prstGeom>
          <a:solidFill>
            <a:schemeClr val="tx2"/>
          </a:solidFill>
          <a:ln w="12700">
            <a:solidFill>
              <a:schemeClr val="tx2"/>
            </a:solidFill>
            <a:prstDash val="solid"/>
          </a:ln>
        </p:spPr>
      </p:sp>
      <p:sp>
        <p:nvSpPr>
          <p:cNvPr id="6" name="Text 3"/>
          <p:cNvSpPr txBox="1"/>
          <p:nvPr/>
        </p:nvSpPr>
        <p:spPr>
          <a:xfrm>
            <a:off x="731520" y="1554480"/>
            <a:ext cx="6400800" cy="237744"/>
          </a:xfrm>
          <a:prstGeom prst="rect">
            <a:avLst/>
          </a:prstGeom>
          <a:noFill/>
          <a:ln/>
        </p:spPr>
        <p:txBody>
          <a:bodyPr wrap="square" lIns="0" tIns="0" rIns="0" bIns="0" rtlCol="0" anchor="ctr"/>
          <a:lstStyle/>
          <a:p>
            <a:pPr indent="0" marL="0">
              <a:buNone/>
            </a:pPr>
            <a:r>
              <a:rPr lang="en-US" sz="1100" b="1" dirty="0">
                <a:solidFill>
                  <a:schemeClr val="accent5"/>
                </a:solidFill>
              </a:rPr>
              <a:t>entity/UserEvent.java</a:t>
            </a:r>
            <a:endParaRPr lang="en-US" sz="1100" dirty="0"/>
          </a:p>
        </p:txBody>
      </p:sp>
      <p:sp>
        <p:nvSpPr>
          <p:cNvPr id="7" name="Code entity/UserEvent.java"/>
          <p:cNvSpPr txBox="1"/>
          <p:nvPr/>
        </p:nvSpPr>
        <p:spPr>
          <a:xfrm>
            <a:off x="731520" y="1847088"/>
            <a:ext cx="6400800" cy="3383280"/>
          </a:xfrm>
          <a:prstGeom prst="rect">
            <a:avLst/>
          </a:prstGeom>
          <a:noFill/>
          <a:ln/>
        </p:spPr>
        <p:txBody>
          <a:bodyPr wrap="square" lIns="0" tIns="0" rIns="0" bIns="0" rtlCol="0" anchor="t"/>
          <a:lstStyle/>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enum</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EventType</a:t>
            </a:r>
            <a:r>
              <a:rPr lang="en-US" sz="1200" dirty="0">
                <a:solidFill>
                  <a:srgbClr val="EFF7F5"/>
                </a:solidFill>
                <a:latin typeface="Courier New" pitchFamily="34" charset="0"/>
                <a:ea typeface="Courier New" pitchFamily="34" charset="-122"/>
                <a:cs typeface="Courier New" pitchFamily="34" charset="-120"/>
              </a:rPr>
              <a:t> {   </a:t>
            </a:r>
            <a:r>
              <a:rPr lang="en-US" sz="1200" dirty="0">
                <a:solidFill>
                  <a:srgbClr val="86C7BA"/>
                </a:solidFill>
                <a:latin typeface="Courier New" pitchFamily="34" charset="0"/>
                <a:ea typeface="Courier New" pitchFamily="34" charset="-122"/>
                <a:cs typeface="Courier New" pitchFamily="34" charset="-120"/>
              </a:rPr>
              <a:t>// + EventTypeConverter</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VIEW, CLICK, ADD_TO_CART, SEARCH, TIME_ON_PAGE</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86C7BA"/>
                </a:solidFill>
                <a:latin typeface="Courier New" pitchFamily="34" charset="0"/>
                <a:ea typeface="Courier New" pitchFamily="34" charset="-122"/>
                <a:cs typeface="Courier New" pitchFamily="34" charset="-120"/>
              </a:rPr>
              <a:t>@Entity</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@Table</a:t>
            </a:r>
            <a:r>
              <a:rPr lang="en-US" sz="1200" dirty="0">
                <a:solidFill>
                  <a:srgbClr val="EFF7F5"/>
                </a:solidFill>
                <a:latin typeface="Courier New" pitchFamily="34" charset="0"/>
                <a:ea typeface="Courier New" pitchFamily="34" charset="-122"/>
                <a:cs typeface="Courier New" pitchFamily="34" charset="-120"/>
              </a:rPr>
              <a:t>(name = </a:t>
            </a:r>
            <a:r>
              <a:rPr lang="en-US" sz="1200" dirty="0">
                <a:solidFill>
                  <a:srgbClr val="F4B393"/>
                </a:solidFill>
                <a:latin typeface="Courier New" pitchFamily="34" charset="0"/>
                <a:ea typeface="Courier New" pitchFamily="34" charset="-122"/>
                <a:cs typeface="Courier New" pitchFamily="34" charset="-120"/>
              </a:rPr>
              <a:t>"user_events"</a:t>
            </a:r>
            <a:r>
              <a:rPr lang="en-US" sz="1200" dirty="0">
                <a:solidFill>
                  <a:srgbClr val="EFF7F5"/>
                </a:solidFill>
                <a:latin typeface="Courier New" pitchFamily="34" charset="0"/>
                <a:ea typeface="Courier New" pitchFamily="34" charset="-122"/>
                <a:cs typeface="Courier New" pitchFamily="34" charset="-120"/>
              </a:rPr>
              <a:t>)</a:t>
            </a:r>
            <a:endParaRPr lang="en-US" sz="1200" dirty="0"/>
          </a:p>
          <a:p>
            <a:pPr indent="0" marL="0">
              <a:lnSpc>
                <a:spcPts val="1600"/>
              </a:lnSpc>
              <a:buNone/>
            </a:pPr>
            <a:r>
              <a:rPr lang="en-US" sz="1200" dirty="0">
                <a:solidFill>
                  <a:srgbClr val="86C7BA"/>
                </a:solidFill>
                <a:latin typeface="Courier New" pitchFamily="34" charset="0"/>
                <a:ea typeface="Courier New" pitchFamily="34" charset="-122"/>
                <a:cs typeface="Courier New" pitchFamily="34" charset="-120"/>
              </a:rPr>
              <a:t>@Getter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@Setter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@NoArgsConstructor</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@AllArgsConstructor</a:t>
            </a:r>
            <a:endParaRPr lang="en-US" sz="1200" dirty="0"/>
          </a:p>
          <a:p>
            <a:pPr indent="0" marL="0">
              <a:lnSpc>
                <a:spcPts val="1600"/>
              </a:lnSpc>
              <a:buNone/>
            </a:pPr>
            <a:r>
              <a:rPr lang="en-US" sz="1200" dirty="0">
                <a:solidFill>
                  <a:srgbClr val="E0A458"/>
                </a:solidFill>
                <a:latin typeface="Courier New" pitchFamily="34" charset="0"/>
                <a:ea typeface="Courier New" pitchFamily="34" charset="-122"/>
                <a:cs typeface="Courier New" pitchFamily="34" charset="-120"/>
              </a:rPr>
              <a:t>public</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class</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UserEvent</a:t>
            </a:r>
            <a:r>
              <a:rPr lang="en-US" sz="1200" dirty="0">
                <a:solidFill>
                  <a:srgbClr val="EFF7F5"/>
                </a:solidFill>
                <a:latin typeface="Courier New" pitchFamily="34" charset="0"/>
                <a:ea typeface="Courier New" pitchFamily="34" charset="-122"/>
                <a:cs typeface="Courier New" pitchFamily="34" charset="-120"/>
              </a:rPr>
              <a:t> {</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@Id</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@GeneratedValue</a:t>
            </a:r>
            <a:r>
              <a:rPr lang="en-US" sz="1200" dirty="0">
                <a:solidFill>
                  <a:srgbClr val="EFF7F5"/>
                </a:solidFill>
                <a:latin typeface="Courier New" pitchFamily="34" charset="0"/>
                <a:ea typeface="Courier New" pitchFamily="34" charset="-122"/>
                <a:cs typeface="Courier New" pitchFamily="34" charset="-120"/>
              </a:rPr>
              <a:t>(strategy = </a:t>
            </a:r>
            <a:r>
              <a:rPr lang="en-US" sz="1200" dirty="0">
                <a:solidFill>
                  <a:srgbClr val="86C7BA"/>
                </a:solidFill>
                <a:latin typeface="Courier New" pitchFamily="34" charset="0"/>
                <a:ea typeface="Courier New" pitchFamily="34" charset="-122"/>
                <a:cs typeface="Courier New" pitchFamily="34" charset="-120"/>
              </a:rPr>
              <a:t>GenerationType</a:t>
            </a:r>
            <a:r>
              <a:rPr lang="en-US" sz="1200" dirty="0">
                <a:solidFill>
                  <a:srgbClr val="EFF7F5"/>
                </a:solidFill>
                <a:latin typeface="Courier New" pitchFamily="34" charset="0"/>
                <a:ea typeface="Courier New" pitchFamily="34" charset="-122"/>
                <a:cs typeface="Courier New" pitchFamily="34" charset="-120"/>
              </a:rPr>
              <a:t>.IDENTITY)</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Long</a:t>
            </a:r>
            <a:r>
              <a:rPr lang="en-US" sz="1200" dirty="0">
                <a:solidFill>
                  <a:srgbClr val="EFF7F5"/>
                </a:solidFill>
                <a:latin typeface="Courier New" pitchFamily="34" charset="0"/>
                <a:ea typeface="Courier New" pitchFamily="34" charset="-122"/>
                <a:cs typeface="Courier New" pitchFamily="34" charset="-120"/>
              </a:rPr>
              <a:t> id;</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@Column</a:t>
            </a:r>
            <a:r>
              <a:rPr lang="en-US" sz="1200" dirty="0">
                <a:solidFill>
                  <a:srgbClr val="EFF7F5"/>
                </a:solidFill>
                <a:latin typeface="Courier New" pitchFamily="34" charset="0"/>
                <a:ea typeface="Courier New" pitchFamily="34" charset="-122"/>
                <a:cs typeface="Courier New" pitchFamily="34" charset="-120"/>
              </a:rPr>
              <a:t>(name = </a:t>
            </a:r>
            <a:r>
              <a:rPr lang="en-US" sz="1200" dirty="0">
                <a:solidFill>
                  <a:srgbClr val="F4B393"/>
                </a:solidFill>
                <a:latin typeface="Courier New" pitchFamily="34" charset="0"/>
                <a:ea typeface="Courier New" pitchFamily="34" charset="-122"/>
                <a:cs typeface="Courier New" pitchFamily="34" charset="-120"/>
              </a:rPr>
              <a:t>"event_type"</a:t>
            </a:r>
            <a:r>
              <a:rPr lang="en-US" sz="1200" dirty="0">
                <a:solidFill>
                  <a:srgbClr val="EFF7F5"/>
                </a:solidFill>
                <a:latin typeface="Courier New" pitchFamily="34" charset="0"/>
                <a:ea typeface="Courier New" pitchFamily="34" charset="-122"/>
                <a:cs typeface="Courier New" pitchFamily="34" charset="-120"/>
              </a:rPr>
              <a:t>, nullable = </a:t>
            </a:r>
            <a:r>
              <a:rPr lang="en-US" sz="1200" dirty="0">
                <a:solidFill>
                  <a:srgbClr val="E0A458"/>
                </a:solidFill>
                <a:latin typeface="Courier New" pitchFamily="34" charset="0"/>
                <a:ea typeface="Courier New" pitchFamily="34" charset="-122"/>
                <a:cs typeface="Courier New" pitchFamily="34" charset="-120"/>
              </a:rPr>
              <a:t>false</a:t>
            </a:r>
            <a:r>
              <a:rPr lang="en-US" sz="1200" dirty="0">
                <a:solidFill>
                  <a:srgbClr val="EFF7F5"/>
                </a:solidFill>
                <a:latin typeface="Courier New" pitchFamily="34" charset="0"/>
                <a:ea typeface="Courier New" pitchFamily="34" charset="-122"/>
                <a:cs typeface="Courier New" pitchFamily="34" charset="-120"/>
              </a:rPr>
              <a:t>, length = 20)</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EventType</a:t>
            </a:r>
            <a:r>
              <a:rPr lang="en-US" sz="1200" dirty="0">
                <a:solidFill>
                  <a:srgbClr val="EFF7F5"/>
                </a:solidFill>
                <a:latin typeface="Courier New" pitchFamily="34" charset="0"/>
                <a:ea typeface="Courier New" pitchFamily="34" charset="-122"/>
                <a:cs typeface="Courier New" pitchFamily="34" charset="-120"/>
              </a:rPr>
              <a:t> type;     </a:t>
            </a:r>
            <a:r>
              <a:rPr lang="en-US" sz="1200" dirty="0">
                <a:solidFill>
                  <a:srgbClr val="86C7BA"/>
                </a:solidFill>
                <a:latin typeface="Courier New" pitchFamily="34" charset="0"/>
                <a:ea typeface="Courier New" pitchFamily="34" charset="-122"/>
                <a:cs typeface="Courier New" pitchFamily="34" charset="-120"/>
              </a:rPr>
              <a:t>// converter autoApply</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sessionId;   </a:t>
            </a:r>
            <a:r>
              <a:rPr lang="en-US" sz="1200" dirty="0">
                <a:solidFill>
                  <a:srgbClr val="86C7BA"/>
                </a:solidFill>
                <a:latin typeface="Courier New" pitchFamily="34" charset="0"/>
                <a:ea typeface="Courier New" pitchFamily="34" charset="-122"/>
                <a:cs typeface="Courier New" pitchFamily="34" charset="-120"/>
              </a:rPr>
              <a:t>// SHA-256 của mã phiên</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Long</a:t>
            </a:r>
            <a:r>
              <a:rPr lang="en-US" sz="1200" dirty="0">
                <a:solidFill>
                  <a:srgbClr val="EFF7F5"/>
                </a:solidFill>
                <a:latin typeface="Courier New" pitchFamily="34" charset="0"/>
                <a:ea typeface="Courier New" pitchFamily="34" charset="-122"/>
                <a:cs typeface="Courier New" pitchFamily="34" charset="-120"/>
              </a:rPr>
              <a:t> userId, tourId, departureId;</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String</a:t>
            </a:r>
            <a:r>
              <a:rPr lang="en-US" sz="1200" dirty="0">
                <a:solidFill>
                  <a:srgbClr val="EFF7F5"/>
                </a:solidFill>
                <a:latin typeface="Courier New" pitchFamily="34" charset="0"/>
                <a:ea typeface="Courier New" pitchFamily="34" charset="-122"/>
                <a:cs typeface="Courier New" pitchFamily="34" charset="-120"/>
              </a:rPr>
              <a:t> keyword, pageUrl;</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Integer</a:t>
            </a:r>
            <a:r>
              <a:rPr lang="en-US" sz="1200" dirty="0">
                <a:solidFill>
                  <a:srgbClr val="EFF7F5"/>
                </a:solidFill>
                <a:latin typeface="Courier New" pitchFamily="34" charset="0"/>
                <a:ea typeface="Courier New" pitchFamily="34" charset="-122"/>
                <a:cs typeface="Courier New" pitchFamily="34" charset="-120"/>
              </a:rPr>
              <a:t> durationMs;</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E0A458"/>
                </a:solidFill>
                <a:latin typeface="Courier New" pitchFamily="34" charset="0"/>
                <a:ea typeface="Courier New" pitchFamily="34" charset="-122"/>
                <a:cs typeface="Courier New" pitchFamily="34" charset="-120"/>
              </a:rPr>
              <a:t>private</a:t>
            </a:r>
            <a:r>
              <a:rPr lang="en-US" sz="1200" dirty="0">
                <a:solidFill>
                  <a:srgbClr val="EFF7F5"/>
                </a:solidFill>
                <a:latin typeface="Courier New" pitchFamily="34" charset="0"/>
                <a:ea typeface="Courier New" pitchFamily="34" charset="-122"/>
                <a:cs typeface="Courier New" pitchFamily="34" charset="-120"/>
              </a:rPr>
              <a:t> </a:t>
            </a:r>
            <a:r>
              <a:rPr lang="en-US" sz="1200" dirty="0">
                <a:solidFill>
                  <a:srgbClr val="86C7BA"/>
                </a:solidFill>
                <a:latin typeface="Courier New" pitchFamily="34" charset="0"/>
                <a:ea typeface="Courier New" pitchFamily="34" charset="-122"/>
                <a:cs typeface="Courier New" pitchFamily="34" charset="-120"/>
              </a:rPr>
              <a:t>LocalDateTime</a:t>
            </a:r>
            <a:r>
              <a:rPr lang="en-US" sz="1200" dirty="0">
                <a:solidFill>
                  <a:srgbClr val="EFF7F5"/>
                </a:solidFill>
                <a:latin typeface="Courier New" pitchFamily="34" charset="0"/>
                <a:ea typeface="Courier New" pitchFamily="34" charset="-122"/>
                <a:cs typeface="Courier New" pitchFamily="34" charset="-120"/>
              </a:rPr>
              <a:t> occurredAt = </a:t>
            </a:r>
            <a:r>
              <a:rPr lang="en-US" sz="1200" dirty="0">
                <a:solidFill>
                  <a:srgbClr val="86C7BA"/>
                </a:solidFill>
                <a:latin typeface="Courier New" pitchFamily="34" charset="0"/>
                <a:ea typeface="Courier New" pitchFamily="34" charset="-122"/>
                <a:cs typeface="Courier New" pitchFamily="34" charset="-120"/>
              </a:rPr>
              <a:t>LocalDateTime</a:t>
            </a:r>
            <a:r>
              <a:rPr lang="en-US" sz="1200" dirty="0">
                <a:solidFill>
                  <a:srgbClr val="EFF7F5"/>
                </a:solidFill>
                <a:latin typeface="Courier New" pitchFamily="34" charset="0"/>
                <a:ea typeface="Courier New" pitchFamily="34" charset="-122"/>
                <a:cs typeface="Courier New" pitchFamily="34" charset="-120"/>
              </a:rPr>
              <a:t>.now();</a:t>
            </a:r>
            <a:endParaRPr lang="en-US" sz="1200" dirty="0"/>
          </a:p>
          <a:p>
            <a:pPr indent="0" marL="0">
              <a:lnSpc>
                <a:spcPts val="1600"/>
              </a:lnSpc>
              <a:buNone/>
            </a:pPr>
            <a:r>
              <a:rPr lang="en-US" sz="1200" dirty="0">
                <a:solidFill>
                  <a:srgbClr val="EFF7F5"/>
                </a:solidFill>
                <a:latin typeface="Courier New" pitchFamily="34" charset="0"/>
                <a:ea typeface="Courier New" pitchFamily="34" charset="-122"/>
                <a:cs typeface="Courier New" pitchFamily="34" charset="-120"/>
              </a:rPr>
              <a:t>}</a:t>
            </a:r>
            <a:endParaRPr lang="en-US" sz="1200" dirty="0"/>
          </a:p>
        </p:txBody>
      </p:sp>
      <p:sp>
        <p:nvSpPr>
          <p:cNvPr id="8" name="Card"/>
          <p:cNvSpPr/>
          <p:nvPr/>
        </p:nvSpPr>
        <p:spPr>
          <a:xfrm>
            <a:off x="548640" y="5486400"/>
            <a:ext cx="6766560" cy="777240"/>
          </a:xfrm>
          <a:prstGeom prst="roundRect">
            <a:avLst>
              <a:gd name="adj" fmla="val 11765"/>
            </a:avLst>
          </a:prstGeom>
          <a:solidFill>
            <a:schemeClr val="bg2"/>
          </a:solidFill>
          <a:ln w="12700">
            <a:solidFill>
              <a:schemeClr val="bg2"/>
            </a:solidFill>
            <a:prstDash val="solid"/>
          </a:ln>
        </p:spPr>
      </p:sp>
      <p:sp>
        <p:nvSpPr>
          <p:cNvPr id="9" name="Text 6"/>
          <p:cNvSpPr txBox="1"/>
          <p:nvPr/>
        </p:nvSpPr>
        <p:spPr>
          <a:xfrm>
            <a:off x="731520" y="5504688"/>
            <a:ext cx="6400800" cy="731520"/>
          </a:xfrm>
          <a:prstGeom prst="rect">
            <a:avLst/>
          </a:prstGeom>
          <a:noFill/>
          <a:ln/>
        </p:spPr>
        <p:txBody>
          <a:bodyPr wrap="square" lIns="0" tIns="0" rIns="0" bIns="0" rtlCol="0" anchor="ctr"/>
          <a:lstStyle/>
          <a:p>
            <a:pPr indent="0" marL="0">
              <a:buNone/>
            </a:pPr>
            <a:r>
              <a:rPr lang="en-US" sz="1250" i="1" dirty="0">
                <a:solidFill>
                  <a:schemeClr val="tx1"/>
                </a:solidFill>
              </a:rPr>
              <a:t>Rút gọn cho vừa slide: thực tế mỗi trường có @Column(name, length) và bảng có 4 chỉ mục.</a:t>
            </a:r>
            <a:endParaRPr lang="en-US" sz="1250" dirty="0"/>
          </a:p>
        </p:txBody>
      </p:sp>
      <p:sp>
        <p:nvSpPr>
          <p:cNvPr id="10" name="Card"/>
          <p:cNvSpPr/>
          <p:nvPr/>
        </p:nvSpPr>
        <p:spPr>
          <a:xfrm>
            <a:off x="7543800" y="1463040"/>
            <a:ext cx="4096512" cy="4800600"/>
          </a:xfrm>
          <a:prstGeom prst="roundRect">
            <a:avLst>
              <a:gd name="adj" fmla="val 2232"/>
            </a:avLst>
          </a:prstGeom>
          <a:solidFill>
            <a:schemeClr val="bg2"/>
          </a:solidFill>
          <a:ln w="12700">
            <a:solidFill>
              <a:schemeClr val="bg2"/>
            </a:solidFill>
            <a:prstDash val="solid"/>
          </a:ln>
        </p:spPr>
      </p:sp>
      <p:sp>
        <p:nvSpPr>
          <p:cNvPr id="11" name="Icon circle"/>
          <p:cNvSpPr/>
          <p:nvPr/>
        </p:nvSpPr>
        <p:spPr>
          <a:xfrm>
            <a:off x="7772400" y="1645920"/>
            <a:ext cx="457200" cy="457200"/>
          </a:xfrm>
          <a:prstGeom prst="ellipse">
            <a:avLst/>
          </a:prstGeom>
          <a:solidFill>
            <a:schemeClr val="accent1"/>
          </a:solidFill>
          <a:ln w="12700">
            <a:solidFill>
              <a:schemeClr val="accent1"/>
            </a:solidFill>
            <a:prstDash val="solid"/>
          </a:ln>
        </p:spPr>
      </p:sp>
      <p:pic>
        <p:nvPicPr>
          <p:cNvPr id="12" name="Image 0" descr="ShieldAlt icon">    </p:cNvPr>
          <p:cNvPicPr>
            <a:picLocks noChangeAspect="1"/>
          </p:cNvPicPr>
          <p:nvPr/>
        </p:nvPicPr>
        <p:blipFill>
          <a:blip r:embed="rId1"/>
          <a:stretch>
            <a:fillRect/>
          </a:stretch>
        </p:blipFill>
        <p:spPr>
          <a:xfrm>
            <a:off x="7882128" y="1755648"/>
            <a:ext cx="237744" cy="237744"/>
          </a:xfrm>
          <a:prstGeom prst="rect">
            <a:avLst/>
          </a:prstGeom>
        </p:spPr>
      </p:pic>
      <p:sp>
        <p:nvSpPr>
          <p:cNvPr id="13" name="Text 9"/>
          <p:cNvSpPr txBox="1"/>
          <p:nvPr/>
        </p:nvSpPr>
        <p:spPr>
          <a:xfrm>
            <a:off x="8366760" y="1645920"/>
            <a:ext cx="3108960" cy="457200"/>
          </a:xfrm>
          <a:prstGeom prst="rect">
            <a:avLst/>
          </a:prstGeom>
          <a:noFill/>
          <a:ln/>
        </p:spPr>
        <p:txBody>
          <a:bodyPr wrap="square" lIns="0" tIns="0" rIns="0" bIns="0" rtlCol="0" anchor="ctr"/>
          <a:lstStyle/>
          <a:p>
            <a:pPr indent="0" marL="0">
              <a:buNone/>
            </a:pPr>
            <a:r>
              <a:rPr lang="en-US" sz="1600" b="1" dirty="0">
                <a:solidFill>
                  <a:schemeClr val="tx2"/>
                </a:solidFill>
              </a:rPr>
              <a:t>Quy tắc phía server</a:t>
            </a:r>
            <a:endParaRPr lang="en-US" sz="1600" dirty="0"/>
          </a:p>
        </p:txBody>
      </p:sp>
      <p:sp>
        <p:nvSpPr>
          <p:cNvPr id="14" name="Text 10"/>
          <p:cNvSpPr txBox="1"/>
          <p:nvPr/>
        </p:nvSpPr>
        <p:spPr>
          <a:xfrm>
            <a:off x="7772400" y="2331720"/>
            <a:ext cx="3657600" cy="38404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Chỉ nhận EventType hợp lệ, đủ trường theo loại (thiếu → 400)</a:t>
            </a:r>
            <a:endParaRPr lang="en-US" sz="1400" dirty="0"/>
          </a:p>
          <a:p>
            <a:pPr marL="177800" indent="-177800">
              <a:spcAft>
                <a:spcPts val="900"/>
              </a:spcAft>
              <a:buSzPct val="100000"/>
              <a:buChar char="•"/>
            </a:pPr>
            <a:r>
              <a:rPr lang="en-US" sz="1400" dirty="0">
                <a:solidFill>
                  <a:schemeClr val="tx1"/>
                </a:solidFill>
              </a:rPr>
              <a:t>userId từ SecurityContext, sessionId từ HttpSession rồi băm SHA-256; không tin client</a:t>
            </a:r>
            <a:endParaRPr lang="en-US" sz="1400" dirty="0"/>
          </a:p>
          <a:p>
            <a:pPr marL="177800" indent="-177800">
              <a:spcAft>
                <a:spcPts val="900"/>
              </a:spcAft>
              <a:buSzPct val="100000"/>
              <a:buChar char="•"/>
            </a:pPr>
            <a:r>
              <a:rPr lang="en-US" sz="1400" dirty="0">
                <a:solidFill>
                  <a:schemeClr val="tx1"/>
                </a:solidFill>
              </a:rPr>
              <a:t>Bỏ bot (User-Agent); 60 sự kiện/phút/phiên (429); xem &lt; 0,5 s bị bỏ, &gt; 30 phút bị cắt</a:t>
            </a:r>
            <a:endParaRPr lang="en-US" sz="1400" dirty="0"/>
          </a:p>
          <a:p>
            <a:pPr marL="177800" indent="-177800">
              <a:spcAft>
                <a:spcPts val="900"/>
              </a:spcAft>
              <a:buSzPct val="100000"/>
              <a:buChar char="•"/>
            </a:pPr>
            <a:r>
              <a:rPr lang="en-US" sz="1400" dirty="0">
                <a:solidFill>
                  <a:schemeClr val="tx1"/>
                </a:solidFill>
              </a:rPr>
              <a:t>Lỗi ghi CSDL chỉ ghi log: tracking hỏng không làm hỏng đặt tour</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API nhận sự kiện và tích hợp template</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controller/api/TrackingApiController.java"/>
          <p:cNvSpPr/>
          <p:nvPr/>
        </p:nvSpPr>
        <p:spPr>
          <a:xfrm>
            <a:off x="548640" y="1463040"/>
            <a:ext cx="6583680" cy="3154680"/>
          </a:xfrm>
          <a:prstGeom prst="roundRect">
            <a:avLst>
              <a:gd name="adj" fmla="val 2319"/>
            </a:avLst>
          </a:prstGeom>
          <a:solidFill>
            <a:schemeClr val="tx2"/>
          </a:solidFill>
          <a:ln w="12700">
            <a:solidFill>
              <a:schemeClr val="tx2"/>
            </a:solidFill>
            <a:prstDash val="solid"/>
          </a:ln>
        </p:spPr>
      </p:sp>
      <p:sp>
        <p:nvSpPr>
          <p:cNvPr id="6" name="Text 3"/>
          <p:cNvSpPr txBox="1"/>
          <p:nvPr/>
        </p:nvSpPr>
        <p:spPr>
          <a:xfrm>
            <a:off x="731520" y="1554480"/>
            <a:ext cx="6217920" cy="237744"/>
          </a:xfrm>
          <a:prstGeom prst="rect">
            <a:avLst/>
          </a:prstGeom>
          <a:noFill/>
          <a:ln/>
        </p:spPr>
        <p:txBody>
          <a:bodyPr wrap="square" lIns="0" tIns="0" rIns="0" bIns="0" rtlCol="0" anchor="ctr"/>
          <a:lstStyle/>
          <a:p>
            <a:pPr indent="0" marL="0">
              <a:buNone/>
            </a:pPr>
            <a:r>
              <a:rPr lang="en-US" sz="1100" b="1" dirty="0">
                <a:solidFill>
                  <a:schemeClr val="accent5"/>
                </a:solidFill>
              </a:rPr>
              <a:t>controller/api/TrackingApiController.java</a:t>
            </a:r>
            <a:endParaRPr lang="en-US" sz="1100" dirty="0"/>
          </a:p>
        </p:txBody>
      </p:sp>
      <p:sp>
        <p:nvSpPr>
          <p:cNvPr id="7" name="Code controller/api/TrackingApiController.java"/>
          <p:cNvSpPr txBox="1"/>
          <p:nvPr/>
        </p:nvSpPr>
        <p:spPr>
          <a:xfrm>
            <a:off x="731520" y="1847088"/>
            <a:ext cx="6217920" cy="2697480"/>
          </a:xfrm>
          <a:prstGeom prst="rect">
            <a:avLst/>
          </a:prstGeom>
          <a:noFill/>
          <a:ln/>
        </p:spPr>
        <p:txBody>
          <a:bodyPr wrap="square" lIns="0" tIns="0" rIns="0" bIns="0" rtlCol="0" anchor="t"/>
          <a:lstStyle/>
          <a:p>
            <a:pPr indent="0" marL="0">
              <a:lnSpc>
                <a:spcPts val="1300"/>
              </a:lnSpc>
              <a:buNone/>
            </a:pPr>
            <a:r>
              <a:rPr lang="en-US" sz="1100" dirty="0">
                <a:solidFill>
                  <a:srgbClr val="86C7BA"/>
                </a:solidFill>
                <a:latin typeface="Courier New" pitchFamily="34" charset="0"/>
                <a:ea typeface="Courier New" pitchFamily="34" charset="-122"/>
                <a:cs typeface="Courier New" pitchFamily="34" charset="-120"/>
              </a:rPr>
              <a:t>@RestController</a:t>
            </a:r>
            <a:endParaRPr lang="en-US" sz="1100" dirty="0"/>
          </a:p>
          <a:p>
            <a:pPr indent="0" marL="0">
              <a:lnSpc>
                <a:spcPts val="1300"/>
              </a:lnSpc>
              <a:buNone/>
            </a:pPr>
            <a:r>
              <a:rPr lang="en-US" sz="1100" dirty="0">
                <a:solidFill>
                  <a:srgbClr val="86C7BA"/>
                </a:solidFill>
                <a:latin typeface="Courier New" pitchFamily="34" charset="0"/>
                <a:ea typeface="Courier New" pitchFamily="34" charset="-122"/>
                <a:cs typeface="Courier New" pitchFamily="34" charset="-120"/>
              </a:rPr>
              <a:t>@RequestMapping</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F4B393"/>
                </a:solidFill>
                <a:latin typeface="Courier New" pitchFamily="34" charset="0"/>
                <a:ea typeface="Courier New" pitchFamily="34" charset="-122"/>
                <a:cs typeface="Courier New" pitchFamily="34" charset="-120"/>
              </a:rPr>
              <a:t>"/api/tracking"</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86C7BA"/>
                </a:solidFill>
                <a:latin typeface="Courier New" pitchFamily="34" charset="0"/>
                <a:ea typeface="Courier New" pitchFamily="34" charset="-122"/>
                <a:cs typeface="Courier New" pitchFamily="34" charset="-120"/>
              </a:rPr>
              <a:t>@RequiredArgsConstructor</a:t>
            </a:r>
            <a:endParaRPr lang="en-US" sz="1100" dirty="0"/>
          </a:p>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public</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class</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TrackingApiController</a:t>
            </a: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private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final</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TrackingService</a:t>
            </a:r>
            <a:r>
              <a:rPr lang="en-US" sz="1100" dirty="0">
                <a:solidFill>
                  <a:srgbClr val="EFF7F5"/>
                </a:solidFill>
                <a:latin typeface="Courier New" pitchFamily="34" charset="0"/>
                <a:ea typeface="Courier New" pitchFamily="34" charset="-122"/>
                <a:cs typeface="Courier New" pitchFamily="34" charset="-120"/>
              </a:rPr>
              <a:t> trackingService;</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@PostMapping</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@ResponseStatus</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86C7BA"/>
                </a:solidFill>
                <a:latin typeface="Courier New" pitchFamily="34" charset="0"/>
                <a:ea typeface="Courier New" pitchFamily="34" charset="-122"/>
                <a:cs typeface="Courier New" pitchFamily="34" charset="-120"/>
              </a:rPr>
              <a:t>HttpStatus</a:t>
            </a:r>
            <a:r>
              <a:rPr lang="en-US" sz="1100" dirty="0">
                <a:solidFill>
                  <a:srgbClr val="EFF7F5"/>
                </a:solidFill>
                <a:latin typeface="Courier New" pitchFamily="34" charset="0"/>
                <a:ea typeface="Courier New" pitchFamily="34" charset="-122"/>
                <a:cs typeface="Courier New" pitchFamily="34" charset="-120"/>
              </a:rPr>
              <a:t>.ACCEPTED)</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public</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void</a:t>
            </a:r>
            <a:r>
              <a:rPr lang="en-US" sz="1100" dirty="0">
                <a:solidFill>
                  <a:srgbClr val="EFF7F5"/>
                </a:solidFill>
                <a:latin typeface="Courier New" pitchFamily="34" charset="0"/>
                <a:ea typeface="Courier New" pitchFamily="34" charset="-122"/>
                <a:cs typeface="Courier New" pitchFamily="34" charset="-120"/>
              </a:rPr>
              <a:t> track(</a:t>
            </a:r>
            <a:r>
              <a:rPr lang="en-US" sz="1100" dirty="0">
                <a:solidFill>
                  <a:srgbClr val="86C7BA"/>
                </a:solidFill>
                <a:latin typeface="Courier New" pitchFamily="34" charset="0"/>
                <a:ea typeface="Courier New" pitchFamily="34" charset="-122"/>
                <a:cs typeface="Courier New" pitchFamily="34" charset="-120"/>
              </a:rPr>
              <a:t>@Valid</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@RequestBody</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TrackingRequest</a:t>
            </a:r>
            <a:r>
              <a:rPr lang="en-US" sz="1100" dirty="0">
                <a:solidFill>
                  <a:srgbClr val="EFF7F5"/>
                </a:solidFill>
                <a:latin typeface="Courier New" pitchFamily="34" charset="0"/>
                <a:ea typeface="Courier New" pitchFamily="34" charset="-122"/>
                <a:cs typeface="Courier New" pitchFamily="34" charset="-120"/>
              </a:rPr>
              <a:t> r,</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HttpSession</a:t>
            </a:r>
            <a:r>
              <a:rPr lang="en-US" sz="1100" dirty="0">
                <a:solidFill>
                  <a:srgbClr val="EFF7F5"/>
                </a:solidFill>
                <a:latin typeface="Courier New" pitchFamily="34" charset="0"/>
                <a:ea typeface="Courier New" pitchFamily="34" charset="-122"/>
                <a:cs typeface="Courier New" pitchFamily="34" charset="-120"/>
              </a:rPr>
              <a:t> s, </a:t>
            </a:r>
            <a:r>
              <a:rPr lang="en-US" sz="1100" dirty="0">
                <a:solidFill>
                  <a:srgbClr val="86C7BA"/>
                </a:solidFill>
                <a:latin typeface="Courier New" pitchFamily="34" charset="0"/>
                <a:ea typeface="Courier New" pitchFamily="34" charset="-122"/>
                <a:cs typeface="Courier New" pitchFamily="34" charset="-120"/>
              </a:rPr>
              <a:t>HttpServletRequest</a:t>
            </a:r>
            <a:r>
              <a:rPr lang="en-US" sz="1100" dirty="0">
                <a:solidFill>
                  <a:srgbClr val="EFF7F5"/>
                </a:solidFill>
                <a:latin typeface="Courier New" pitchFamily="34" charset="0"/>
                <a:ea typeface="Courier New" pitchFamily="34" charset="-122"/>
                <a:cs typeface="Courier New" pitchFamily="34" charset="-120"/>
              </a:rPr>
              <a:t> http,</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@AuthenticationPrincipal</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CustomUserDetails</a:t>
            </a:r>
            <a:r>
              <a:rPr lang="en-US" sz="1100" dirty="0">
                <a:solidFill>
                  <a:srgbClr val="EFF7F5"/>
                </a:solidFill>
                <a:latin typeface="Courier New" pitchFamily="34" charset="0"/>
                <a:ea typeface="Courier New" pitchFamily="34" charset="-122"/>
                <a:cs typeface="Courier New" pitchFamily="34" charset="-120"/>
              </a:rPr>
              <a:t> p) {</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trackingService.record(r, s.getId(),</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p == </a:t>
            </a:r>
            <a:r>
              <a:rPr lang="en-US" sz="1100" dirty="0">
                <a:solidFill>
                  <a:srgbClr val="E0A458"/>
                </a:solidFill>
                <a:latin typeface="Courier New" pitchFamily="34" charset="0"/>
                <a:ea typeface="Courier New" pitchFamily="34" charset="-122"/>
                <a:cs typeface="Courier New" pitchFamily="34" charset="-120"/>
              </a:rPr>
              <a:t>null</a:t>
            </a:r>
            <a:r>
              <a:rPr lang="en-US" sz="1100" dirty="0">
                <a:solidFill>
                  <a:srgbClr val="EFF7F5"/>
                </a:solidFill>
                <a:latin typeface="Courier New" pitchFamily="34" charset="0"/>
                <a:ea typeface="Courier New" pitchFamily="34" charset="-122"/>
                <a:cs typeface="Courier New" pitchFamily="34" charset="-120"/>
              </a:rPr>
              <a:t> ? </a:t>
            </a:r>
            <a:r>
              <a:rPr lang="en-US" sz="1100" dirty="0">
                <a:solidFill>
                  <a:srgbClr val="E0A458"/>
                </a:solidFill>
                <a:latin typeface="Courier New" pitchFamily="34" charset="0"/>
                <a:ea typeface="Courier New" pitchFamily="34" charset="-122"/>
                <a:cs typeface="Courier New" pitchFamily="34" charset="-120"/>
              </a:rPr>
              <a:t>null</a:t>
            </a:r>
            <a:r>
              <a:rPr lang="en-US" sz="1100" dirty="0">
                <a:solidFill>
                  <a:srgbClr val="EFF7F5"/>
                </a:solidFill>
                <a:latin typeface="Courier New" pitchFamily="34" charset="0"/>
                <a:ea typeface="Courier New" pitchFamily="34" charset="-122"/>
                <a:cs typeface="Courier New" pitchFamily="34" charset="-120"/>
              </a:rPr>
              <a:t> : p.getId(),</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http.getHeader(</a:t>
            </a:r>
            <a:r>
              <a:rPr lang="en-US" sz="1100" dirty="0">
                <a:solidFill>
                  <a:srgbClr val="86C7BA"/>
                </a:solidFill>
                <a:latin typeface="Courier New" pitchFamily="34" charset="0"/>
                <a:ea typeface="Courier New" pitchFamily="34" charset="-122"/>
                <a:cs typeface="Courier New" pitchFamily="34" charset="-120"/>
              </a:rPr>
              <a:t>HttpHeaders</a:t>
            </a:r>
            <a:r>
              <a:rPr lang="en-US" sz="1100" dirty="0">
                <a:solidFill>
                  <a:srgbClr val="EFF7F5"/>
                </a:solidFill>
                <a:latin typeface="Courier New" pitchFamily="34" charset="0"/>
                <a:ea typeface="Courier New" pitchFamily="34" charset="-122"/>
                <a:cs typeface="Courier New" pitchFamily="34" charset="-120"/>
              </a:rPr>
              <a:t>.USER_AGENT));</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a:t>
            </a:r>
            <a:endParaRPr lang="en-US" sz="1100" dirty="0"/>
          </a:p>
        </p:txBody>
      </p:sp>
      <p:sp>
        <p:nvSpPr>
          <p:cNvPr id="8" name="Code panel SecurityConfig.java"/>
          <p:cNvSpPr/>
          <p:nvPr/>
        </p:nvSpPr>
        <p:spPr>
          <a:xfrm>
            <a:off x="7315200" y="1463040"/>
            <a:ext cx="4325112" cy="1463040"/>
          </a:xfrm>
          <a:prstGeom prst="roundRect">
            <a:avLst>
              <a:gd name="adj" fmla="val 5000"/>
            </a:avLst>
          </a:prstGeom>
          <a:solidFill>
            <a:schemeClr val="tx2"/>
          </a:solidFill>
          <a:ln w="12700">
            <a:solidFill>
              <a:schemeClr val="tx2"/>
            </a:solidFill>
            <a:prstDash val="solid"/>
          </a:ln>
        </p:spPr>
      </p:sp>
      <p:sp>
        <p:nvSpPr>
          <p:cNvPr id="9" name="Text 6"/>
          <p:cNvSpPr txBox="1"/>
          <p:nvPr/>
        </p:nvSpPr>
        <p:spPr>
          <a:xfrm>
            <a:off x="7498080" y="1554480"/>
            <a:ext cx="3959352" cy="237744"/>
          </a:xfrm>
          <a:prstGeom prst="rect">
            <a:avLst/>
          </a:prstGeom>
          <a:noFill/>
          <a:ln/>
        </p:spPr>
        <p:txBody>
          <a:bodyPr wrap="square" lIns="0" tIns="0" rIns="0" bIns="0" rtlCol="0" anchor="ctr"/>
          <a:lstStyle/>
          <a:p>
            <a:pPr indent="0" marL="0">
              <a:buNone/>
            </a:pPr>
            <a:r>
              <a:rPr lang="en-US" sz="1100" b="1" dirty="0">
                <a:solidFill>
                  <a:schemeClr val="accent5"/>
                </a:solidFill>
              </a:rPr>
              <a:t>SecurityConfig.java</a:t>
            </a:r>
            <a:endParaRPr lang="en-US" sz="1100" dirty="0"/>
          </a:p>
        </p:txBody>
      </p:sp>
      <p:sp>
        <p:nvSpPr>
          <p:cNvPr id="10" name="Code SecurityConfig.java"/>
          <p:cNvSpPr txBox="1"/>
          <p:nvPr/>
        </p:nvSpPr>
        <p:spPr>
          <a:xfrm>
            <a:off x="7498080" y="1847088"/>
            <a:ext cx="3959352" cy="1005840"/>
          </a:xfrm>
          <a:prstGeom prst="rect">
            <a:avLst/>
          </a:prstGeom>
          <a:noFill/>
          <a:ln/>
        </p:spPr>
        <p:txBody>
          <a:bodyPr wrap="square" lIns="0" tIns="0" rIns="0" bIns="0" rtlCol="0" anchor="t"/>
          <a:lstStyle/>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requestMatchers</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86C7BA"/>
                </a:solidFill>
                <a:latin typeface="Courier New" pitchFamily="34" charset="0"/>
                <a:ea typeface="Courier New" pitchFamily="34" charset="-122"/>
                <a:cs typeface="Courier New" pitchFamily="34" charset="-120"/>
              </a:rPr>
              <a:t>HttpMethod</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POST</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F4B393"/>
                </a:solidFill>
                <a:latin typeface="Courier New" pitchFamily="34" charset="0"/>
                <a:ea typeface="Courier New" pitchFamily="34" charset="-122"/>
                <a:cs typeface="Courier New" pitchFamily="34" charset="-120"/>
              </a:rPr>
              <a:t>"/api/tracking"</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F4B393"/>
                </a:solidFill>
                <a:latin typeface="Courier New" pitchFamily="34" charset="0"/>
                <a:ea typeface="Courier New" pitchFamily="34" charset="-122"/>
                <a:cs typeface="Courier New" pitchFamily="34" charset="-120"/>
              </a:rPr>
              <a:t>"/api/chat"</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permitAll</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a:t>
            </a:r>
            <a:endParaRPr lang="en-US" sz="1100" dirty="0"/>
          </a:p>
        </p:txBody>
      </p:sp>
      <p:sp>
        <p:nvSpPr>
          <p:cNvPr id="11" name="Code panel fragments/components.html"/>
          <p:cNvSpPr/>
          <p:nvPr/>
        </p:nvSpPr>
        <p:spPr>
          <a:xfrm>
            <a:off x="7315200" y="3154680"/>
            <a:ext cx="4325112" cy="1463040"/>
          </a:xfrm>
          <a:prstGeom prst="roundRect">
            <a:avLst>
              <a:gd name="adj" fmla="val 5000"/>
            </a:avLst>
          </a:prstGeom>
          <a:solidFill>
            <a:schemeClr val="tx2"/>
          </a:solidFill>
          <a:ln w="12700">
            <a:solidFill>
              <a:schemeClr val="tx2"/>
            </a:solidFill>
            <a:prstDash val="solid"/>
          </a:ln>
        </p:spPr>
      </p:sp>
      <p:sp>
        <p:nvSpPr>
          <p:cNvPr id="12" name="Text 9"/>
          <p:cNvSpPr txBox="1"/>
          <p:nvPr/>
        </p:nvSpPr>
        <p:spPr>
          <a:xfrm>
            <a:off x="7498080" y="3246120"/>
            <a:ext cx="3959352" cy="237744"/>
          </a:xfrm>
          <a:prstGeom prst="rect">
            <a:avLst/>
          </a:prstGeom>
          <a:noFill/>
          <a:ln/>
        </p:spPr>
        <p:txBody>
          <a:bodyPr wrap="square" lIns="0" tIns="0" rIns="0" bIns="0" rtlCol="0" anchor="ctr"/>
          <a:lstStyle/>
          <a:p>
            <a:pPr indent="0" marL="0">
              <a:buNone/>
            </a:pPr>
            <a:r>
              <a:rPr lang="en-US" sz="1100" b="1" dirty="0">
                <a:solidFill>
                  <a:schemeClr val="accent5"/>
                </a:solidFill>
              </a:rPr>
              <a:t>fragments/components.html</a:t>
            </a:r>
            <a:endParaRPr lang="en-US" sz="1100" dirty="0"/>
          </a:p>
        </p:txBody>
      </p:sp>
      <p:sp>
        <p:nvSpPr>
          <p:cNvPr id="13" name="Code fragments/components.html"/>
          <p:cNvSpPr txBox="1"/>
          <p:nvPr/>
        </p:nvSpPr>
        <p:spPr>
          <a:xfrm>
            <a:off x="7498080" y="3538728"/>
            <a:ext cx="3959352" cy="1005840"/>
          </a:xfrm>
          <a:prstGeom prst="rect">
            <a:avLst/>
          </a:prstGeom>
          <a:noFill/>
          <a:ln/>
        </p:spPr>
        <p:txBody>
          <a:bodyPr wrap="square" lIns="0" tIns="0" rIns="0" bIns="0" rtlCol="0" anchor="t"/>
          <a:lstStyle/>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&lt;article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FF7F5"/>
                </a:solidFill>
                <a:latin typeface="Courier New" pitchFamily="34" charset="0"/>
                <a:ea typeface="Courier New" pitchFamily="34" charset="-122"/>
                <a:cs typeface="Courier New" pitchFamily="34" charset="-120"/>
              </a:rPr>
              <a:t>class</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F4B393"/>
                </a:solidFill>
                <a:latin typeface="Courier New" pitchFamily="34" charset="0"/>
                <a:ea typeface="Courier New" pitchFamily="34" charset="-122"/>
                <a:cs typeface="Courier New" pitchFamily="34" charset="-120"/>
              </a:rPr>
              <a:t>"tour-card"</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FF7F5"/>
                </a:solidFill>
                <a:latin typeface="Courier New" pitchFamily="34" charset="0"/>
                <a:ea typeface="Courier New" pitchFamily="34" charset="-122"/>
                <a:cs typeface="Courier New" pitchFamily="34" charset="-120"/>
              </a:rPr>
              <a:t>th</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data</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track</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tour</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F4B393"/>
                </a:solidFill>
                <a:latin typeface="Courier New" pitchFamily="34" charset="0"/>
                <a:ea typeface="Courier New" pitchFamily="34" charset="-122"/>
                <a:cs typeface="Courier New" pitchFamily="34" charset="-120"/>
              </a:rPr>
              <a:t>"${tour.id}"</a:t>
            </a:r>
            <a:r>
              <a:rPr lang="en-US" sz="1100" dirty="0">
                <a:solidFill>
                  <a:srgbClr val="E0A458"/>
                </a:solidFill>
                <a:latin typeface="Courier New" pitchFamily="34" charset="0"/>
                <a:ea typeface="Courier New" pitchFamily="34" charset="-122"/>
                <a:cs typeface="Courier New" pitchFamily="34" charset="-120"/>
              </a:rPr>
              <a:t>&gt;</a:t>
            </a:r>
            <a:endParaRPr lang="en-US" sz="1100" dirty="0"/>
          </a:p>
        </p:txBody>
      </p:sp>
      <p:sp>
        <p:nvSpPr>
          <p:cNvPr id="14" name="Card"/>
          <p:cNvSpPr/>
          <p:nvPr/>
        </p:nvSpPr>
        <p:spPr>
          <a:xfrm>
            <a:off x="548640" y="4846320"/>
            <a:ext cx="11091672" cy="1417320"/>
          </a:xfrm>
          <a:prstGeom prst="roundRect">
            <a:avLst>
              <a:gd name="adj" fmla="val 6452"/>
            </a:avLst>
          </a:prstGeom>
          <a:solidFill>
            <a:schemeClr val="bg2"/>
          </a:solidFill>
          <a:ln w="12700">
            <a:solidFill>
              <a:schemeClr val="bg2"/>
            </a:solidFill>
            <a:prstDash val="solid"/>
          </a:ln>
        </p:spPr>
      </p:sp>
      <p:sp>
        <p:nvSpPr>
          <p:cNvPr id="15" name="Text 12"/>
          <p:cNvSpPr txBox="1"/>
          <p:nvPr/>
        </p:nvSpPr>
        <p:spPr>
          <a:xfrm>
            <a:off x="777240" y="4956048"/>
            <a:ext cx="10634472" cy="12344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1"/>
                </a:solidFill>
              </a:rPr>
              <a:t>layout.html: </a:t>
            </a:r>
            <a:r>
              <a:rPr lang="en-US" sz="1400" dirty="0">
                <a:solidFill>
                  <a:schemeClr val="tx1"/>
                </a:solidFill>
              </a:rPr>
              <a:t>fragment scripts nạp chat-widget, tracker.js và chat.js sau app.js</a:t>
            </a:r>
            <a:endParaRPr lang="en-US" sz="1400" dirty="0"/>
          </a:p>
          <a:p>
            <a:pPr marL="177800" indent="-177800">
              <a:spcAft>
                <a:spcPts val="600"/>
              </a:spcAft>
              <a:buSzPct val="100000"/>
              <a:buChar char="•"/>
            </a:pPr>
            <a:r>
              <a:rPr lang="en-US" sz="1400" b="1" dirty="0">
                <a:solidFill>
                  <a:schemeClr val="tx1"/>
                </a:solidFill>
              </a:rPr>
              <a:t>Trang chi tiết: </a:t>
            </a:r>
            <a:r>
              <a:rPr lang="en-US" sz="1400" dirty="0">
                <a:solidFill>
                  <a:schemeClr val="tx1"/>
                </a:solidFill>
              </a:rPr>
              <a:t>&lt;main data-track-view="id"&gt; là điểm bám cho VIEW và TIME_ON_PAGE</a:t>
            </a:r>
            <a:endParaRPr lang="en-US" sz="1400" dirty="0"/>
          </a:p>
          <a:p>
            <a:pPr marL="177800" indent="-177800">
              <a:spcAft>
                <a:spcPts val="600"/>
              </a:spcAft>
              <a:buSzPct val="100000"/>
              <a:buChar char="•"/>
            </a:pPr>
            <a:r>
              <a:rPr lang="en-US" sz="1400" b="1" dirty="0">
                <a:solidFill>
                  <a:schemeClr val="tx1"/>
                </a:solidFill>
              </a:rPr>
              <a:t>CSRF: </a:t>
            </a:r>
            <a:r>
              <a:rPr lang="en-US" sz="1400" dirty="0">
                <a:solidFill>
                  <a:schemeClr val="tx1"/>
                </a:solidFill>
              </a:rPr>
              <a:t>Spring Security đang bật; tracker.js đọc token từ meta _csrf, như app.js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tracker.js (1/2): gửi sự kiện, VIEW, CLICK</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static/js/tracker.js"/>
          <p:cNvSpPr/>
          <p:nvPr/>
        </p:nvSpPr>
        <p:spPr>
          <a:xfrm>
            <a:off x="548640" y="1463040"/>
            <a:ext cx="7498080" cy="3657600"/>
          </a:xfrm>
          <a:prstGeom prst="roundRect">
            <a:avLst>
              <a:gd name="adj" fmla="val 2000"/>
            </a:avLst>
          </a:prstGeom>
          <a:solidFill>
            <a:schemeClr val="tx2"/>
          </a:solidFill>
          <a:ln w="12700">
            <a:solidFill>
              <a:schemeClr val="tx2"/>
            </a:solidFill>
            <a:prstDash val="solid"/>
          </a:ln>
        </p:spPr>
      </p:sp>
      <p:sp>
        <p:nvSpPr>
          <p:cNvPr id="6" name="Text 3"/>
          <p:cNvSpPr txBox="1"/>
          <p:nvPr/>
        </p:nvSpPr>
        <p:spPr>
          <a:xfrm>
            <a:off x="731520" y="1554480"/>
            <a:ext cx="7132320" cy="237744"/>
          </a:xfrm>
          <a:prstGeom prst="rect">
            <a:avLst/>
          </a:prstGeom>
          <a:noFill/>
          <a:ln/>
        </p:spPr>
        <p:txBody>
          <a:bodyPr wrap="square" lIns="0" tIns="0" rIns="0" bIns="0" rtlCol="0" anchor="ctr"/>
          <a:lstStyle/>
          <a:p>
            <a:pPr indent="0" marL="0">
              <a:buNone/>
            </a:pPr>
            <a:r>
              <a:rPr lang="en-US" sz="1100" b="1" dirty="0">
                <a:solidFill>
                  <a:schemeClr val="accent5"/>
                </a:solidFill>
              </a:rPr>
              <a:t>static/js/tracker.js</a:t>
            </a:r>
            <a:endParaRPr lang="en-US" sz="1100" dirty="0"/>
          </a:p>
        </p:txBody>
      </p:sp>
      <p:sp>
        <p:nvSpPr>
          <p:cNvPr id="7" name="Code static/js/tracker.js"/>
          <p:cNvSpPr txBox="1"/>
          <p:nvPr/>
        </p:nvSpPr>
        <p:spPr>
          <a:xfrm>
            <a:off x="731520" y="1847088"/>
            <a:ext cx="7132320" cy="3200400"/>
          </a:xfrm>
          <a:prstGeom prst="rect">
            <a:avLst/>
          </a:prstGeom>
          <a:noFill/>
          <a:ln/>
        </p:spPr>
        <p:txBody>
          <a:bodyPr wrap="square" lIns="0" tIns="0" rIns="0" bIns="0" rtlCol="0" anchor="t"/>
          <a:lstStyle/>
          <a:p>
            <a:pPr indent="0" marL="0">
              <a:lnSpc>
                <a:spcPts val="1600"/>
              </a:lnSpc>
              <a:buNone/>
            </a:pPr>
            <a:r>
              <a:rPr lang="en-US" sz="1000" dirty="0">
                <a:solidFill>
                  <a:srgbClr val="E0A458"/>
                </a:solidFill>
                <a:latin typeface="Courier New" pitchFamily="34" charset="0"/>
                <a:ea typeface="Courier New" pitchFamily="34" charset="-122"/>
                <a:cs typeface="Courier New" pitchFamily="34" charset="-120"/>
              </a:rPr>
              <a:t>const</a:t>
            </a:r>
            <a:r>
              <a:rPr lang="en-US" sz="1000" dirty="0">
                <a:solidFill>
                  <a:srgbClr val="EFF7F5"/>
                </a:solidFill>
                <a:latin typeface="Courier New" pitchFamily="34" charset="0"/>
                <a:ea typeface="Courier New" pitchFamily="34" charset="-122"/>
                <a:cs typeface="Courier New" pitchFamily="34" charset="-120"/>
              </a:rPr>
              <a:t> csrfHeader = $(</a:t>
            </a:r>
            <a:r>
              <a:rPr lang="en-US" sz="1000" dirty="0">
                <a:solidFill>
                  <a:srgbClr val="F4B393"/>
                </a:solidFill>
                <a:latin typeface="Courier New" pitchFamily="34" charset="0"/>
                <a:ea typeface="Courier New" pitchFamily="34" charset="-122"/>
                <a:cs typeface="Courier New" pitchFamily="34" charset="-120"/>
              </a:rPr>
              <a:t>'meta[name="_csrf_header"]'</a:t>
            </a:r>
            <a:r>
              <a:rPr lang="en-US" sz="1000" dirty="0">
                <a:solidFill>
                  <a:srgbClr val="EFF7F5"/>
                </a:solidFill>
                <a:latin typeface="Courier New" pitchFamily="34" charset="0"/>
                <a:ea typeface="Courier New" pitchFamily="34" charset="-122"/>
                <a:cs typeface="Courier New" pitchFamily="34" charset="-120"/>
              </a:rPr>
              <a:t>).attr(</a:t>
            </a:r>
            <a:r>
              <a:rPr lang="en-US" sz="1000" dirty="0">
                <a:solidFill>
                  <a:srgbClr val="F4B393"/>
                </a:solidFill>
                <a:latin typeface="Courier New" pitchFamily="34" charset="0"/>
                <a:ea typeface="Courier New" pitchFamily="34" charset="-122"/>
                <a:cs typeface="Courier New" pitchFamily="34" charset="-120"/>
              </a:rPr>
              <a:t>'content'</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0A458"/>
                </a:solidFill>
                <a:latin typeface="Courier New" pitchFamily="34" charset="0"/>
                <a:ea typeface="Courier New" pitchFamily="34" charset="-122"/>
                <a:cs typeface="Courier New" pitchFamily="34" charset="-120"/>
              </a:rPr>
              <a:t>const</a:t>
            </a:r>
            <a:r>
              <a:rPr lang="en-US" sz="1000" dirty="0">
                <a:solidFill>
                  <a:srgbClr val="EFF7F5"/>
                </a:solidFill>
                <a:latin typeface="Courier New" pitchFamily="34" charset="0"/>
                <a:ea typeface="Courier New" pitchFamily="34" charset="-122"/>
                <a:cs typeface="Courier New" pitchFamily="34" charset="-120"/>
              </a:rPr>
              <a:t> csrfToken = $(</a:t>
            </a:r>
            <a:r>
              <a:rPr lang="en-US" sz="1000" dirty="0">
                <a:solidFill>
                  <a:srgbClr val="F4B393"/>
                </a:solidFill>
                <a:latin typeface="Courier New" pitchFamily="34" charset="0"/>
                <a:ea typeface="Courier New" pitchFamily="34" charset="-122"/>
                <a:cs typeface="Courier New" pitchFamily="34" charset="-120"/>
              </a:rPr>
              <a:t>'meta[name="_csrf"]'</a:t>
            </a:r>
            <a:r>
              <a:rPr lang="en-US" sz="1000" dirty="0">
                <a:solidFill>
                  <a:srgbClr val="EFF7F5"/>
                </a:solidFill>
                <a:latin typeface="Courier New" pitchFamily="34" charset="0"/>
                <a:ea typeface="Courier New" pitchFamily="34" charset="-122"/>
                <a:cs typeface="Courier New" pitchFamily="34" charset="-120"/>
              </a:rPr>
              <a:t>).attr(</a:t>
            </a:r>
            <a:r>
              <a:rPr lang="en-US" sz="1000" dirty="0">
                <a:solidFill>
                  <a:srgbClr val="F4B393"/>
                </a:solidFill>
                <a:latin typeface="Courier New" pitchFamily="34" charset="0"/>
                <a:ea typeface="Courier New" pitchFamily="34" charset="-122"/>
                <a:cs typeface="Courier New" pitchFamily="34" charset="-120"/>
              </a:rPr>
              <a:t>'content'</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0A458"/>
                </a:solidFill>
                <a:latin typeface="Courier New" pitchFamily="34" charset="0"/>
                <a:ea typeface="Courier New" pitchFamily="34" charset="-122"/>
                <a:cs typeface="Courier New" pitchFamily="34" charset="-120"/>
              </a:rPr>
              <a:t>const</a:t>
            </a:r>
            <a:r>
              <a:rPr lang="en-US" sz="1000" dirty="0">
                <a:solidFill>
                  <a:srgbClr val="EFF7F5"/>
                </a:solidFill>
                <a:latin typeface="Courier New" pitchFamily="34" charset="0"/>
                <a:ea typeface="Courier New" pitchFamily="34" charset="-122"/>
                <a:cs typeface="Courier New" pitchFamily="34" charset="-120"/>
              </a:rPr>
              <a:t> pageTourId =</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86C7BA"/>
                </a:solidFill>
                <a:latin typeface="Courier New" pitchFamily="34" charset="0"/>
                <a:ea typeface="Courier New" pitchFamily="34" charset="-122"/>
                <a:cs typeface="Courier New" pitchFamily="34" charset="-120"/>
              </a:rPr>
              <a:t>Number</a:t>
            </a:r>
            <a:r>
              <a:rPr lang="en-US" sz="1000" dirty="0">
                <a:solidFill>
                  <a:srgbClr val="EFF7F5"/>
                </a:solidFill>
                <a:latin typeface="Courier New" pitchFamily="34" charset="0"/>
                <a:ea typeface="Courier New" pitchFamily="34" charset="-122"/>
                <a:cs typeface="Courier New" pitchFamily="34" charset="-120"/>
              </a:rPr>
              <a:t>($(</a:t>
            </a:r>
            <a:r>
              <a:rPr lang="en-US" sz="1000" dirty="0">
                <a:solidFill>
                  <a:srgbClr val="F4B393"/>
                </a:solidFill>
                <a:latin typeface="Courier New" pitchFamily="34" charset="0"/>
                <a:ea typeface="Courier New" pitchFamily="34" charset="-122"/>
                <a:cs typeface="Courier New" pitchFamily="34" charset="-120"/>
              </a:rPr>
              <a:t>'[data-track-view]'</a:t>
            </a:r>
            <a:r>
              <a:rPr lang="en-US" sz="1000" dirty="0">
                <a:solidFill>
                  <a:srgbClr val="EFF7F5"/>
                </a:solidFill>
                <a:latin typeface="Courier New" pitchFamily="34" charset="0"/>
                <a:ea typeface="Courier New" pitchFamily="34" charset="-122"/>
                <a:cs typeface="Courier New" pitchFamily="34" charset="-120"/>
              </a:rPr>
              <a:t>).data(</a:t>
            </a:r>
            <a:r>
              <a:rPr lang="en-US" sz="1000" dirty="0">
                <a:solidFill>
                  <a:srgbClr val="F4B393"/>
                </a:solidFill>
                <a:latin typeface="Courier New" pitchFamily="34" charset="0"/>
                <a:ea typeface="Courier New" pitchFamily="34" charset="-122"/>
                <a:cs typeface="Courier New" pitchFamily="34" charset="-120"/>
              </a:rPr>
              <a:t>'track-view'</a:t>
            </a:r>
            <a:r>
              <a:rPr lang="en-US" sz="1000" dirty="0">
                <a:solidFill>
                  <a:srgbClr val="EFF7F5"/>
                </a:solidFill>
                <a:latin typeface="Courier New" pitchFamily="34" charset="0"/>
                <a:ea typeface="Courier New" pitchFamily="34" charset="-122"/>
                <a:cs typeface="Courier New" pitchFamily="34" charset="-120"/>
              </a:rPr>
              <a:t>)) || </a:t>
            </a:r>
            <a:r>
              <a:rPr lang="en-US" sz="1000" dirty="0">
                <a:solidFill>
                  <a:srgbClr val="E0A458"/>
                </a:solidFill>
                <a:latin typeface="Courier New" pitchFamily="34" charset="0"/>
                <a:ea typeface="Courier New" pitchFamily="34" charset="-122"/>
                <a:cs typeface="Courier New" pitchFamily="34" charset="-120"/>
              </a:rPr>
              <a:t>null</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0A458"/>
                </a:solidFill>
                <a:latin typeface="Courier New" pitchFamily="34" charset="0"/>
                <a:ea typeface="Courier New" pitchFamily="34" charset="-122"/>
                <a:cs typeface="Courier New" pitchFamily="34" charset="-120"/>
              </a:rPr>
              <a:t>function</a:t>
            </a:r>
            <a:r>
              <a:rPr lang="en-US" sz="1000" dirty="0">
                <a:solidFill>
                  <a:srgbClr val="EFF7F5"/>
                </a:solidFill>
                <a:latin typeface="Courier New" pitchFamily="34" charset="0"/>
                <a:ea typeface="Courier New" pitchFamily="34" charset="-122"/>
                <a:cs typeface="Courier New" pitchFamily="34" charset="-120"/>
              </a:rPr>
              <a:t> track(type, extra) {</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E0A458"/>
                </a:solidFill>
                <a:latin typeface="Courier New" pitchFamily="34" charset="0"/>
                <a:ea typeface="Courier New" pitchFamily="34" charset="-122"/>
                <a:cs typeface="Courier New" pitchFamily="34" charset="-120"/>
              </a:rPr>
              <a:t>const</a:t>
            </a:r>
            <a:r>
              <a:rPr lang="en-US" sz="1000" dirty="0">
                <a:solidFill>
                  <a:srgbClr val="EFF7F5"/>
                </a:solidFill>
                <a:latin typeface="Courier New" pitchFamily="34" charset="0"/>
                <a:ea typeface="Courier New" pitchFamily="34" charset="-122"/>
                <a:cs typeface="Courier New" pitchFamily="34" charset="-120"/>
              </a:rPr>
              <a:t> headers = {</a:t>
            </a:r>
            <a:r>
              <a:rPr lang="en-US" sz="1000" dirty="0">
                <a:solidFill>
                  <a:srgbClr val="F4B393"/>
                </a:solidFill>
                <a:latin typeface="Courier New" pitchFamily="34" charset="0"/>
                <a:ea typeface="Courier New" pitchFamily="34" charset="-122"/>
                <a:cs typeface="Courier New" pitchFamily="34" charset="-120"/>
              </a:rPr>
              <a:t>'Content-Type'</a:t>
            </a: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F4B393"/>
                </a:solidFill>
                <a:latin typeface="Courier New" pitchFamily="34" charset="0"/>
                <a:ea typeface="Courier New" pitchFamily="34" charset="-122"/>
                <a:cs typeface="Courier New" pitchFamily="34" charset="-120"/>
              </a:rPr>
              <a:t>'application/json'</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headers[csrfHeader] = csrfToken;</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fetch(</a:t>
            </a:r>
            <a:r>
              <a:rPr lang="en-US" sz="1000" dirty="0">
                <a:solidFill>
                  <a:srgbClr val="F4B393"/>
                </a:solidFill>
                <a:latin typeface="Courier New" pitchFamily="34" charset="0"/>
                <a:ea typeface="Courier New" pitchFamily="34" charset="-122"/>
                <a:cs typeface="Courier New" pitchFamily="34" charset="-120"/>
              </a:rPr>
              <a:t>'/api/tracking'</a:t>
            </a:r>
            <a:r>
              <a:rPr lang="en-US" sz="1000" dirty="0">
                <a:solidFill>
                  <a:srgbClr val="EFF7F5"/>
                </a:solidFill>
                <a:latin typeface="Courier New" pitchFamily="34" charset="0"/>
                <a:ea typeface="Courier New" pitchFamily="34" charset="-122"/>
                <a:cs typeface="Courier New" pitchFamily="34" charset="-120"/>
              </a:rPr>
              <a:t>, {method: </a:t>
            </a:r>
            <a:r>
              <a:rPr lang="en-US" sz="1000" dirty="0">
                <a:solidFill>
                  <a:srgbClr val="F4B393"/>
                </a:solidFill>
                <a:latin typeface="Courier New" pitchFamily="34" charset="0"/>
                <a:ea typeface="Courier New" pitchFamily="34" charset="-122"/>
                <a:cs typeface="Courier New" pitchFamily="34" charset="-120"/>
              </a:rPr>
              <a:t>'POST'</a:t>
            </a:r>
            <a:r>
              <a:rPr lang="en-US" sz="1000" dirty="0">
                <a:solidFill>
                  <a:srgbClr val="EFF7F5"/>
                </a:solidFill>
                <a:latin typeface="Courier New" pitchFamily="34" charset="0"/>
                <a:ea typeface="Courier New" pitchFamily="34" charset="-122"/>
                <a:cs typeface="Courier New" pitchFamily="34" charset="-120"/>
              </a:rPr>
              <a:t>, keepalive: </a:t>
            </a:r>
            <a:r>
              <a:rPr lang="en-US" sz="1000" dirty="0">
                <a:solidFill>
                  <a:srgbClr val="E0A458"/>
                </a:solidFill>
                <a:latin typeface="Courier New" pitchFamily="34" charset="0"/>
                <a:ea typeface="Courier New" pitchFamily="34" charset="-122"/>
                <a:cs typeface="Courier New" pitchFamily="34" charset="-120"/>
              </a:rPr>
              <a:t>true</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headers: headers, body: JSON.stringify(</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86C7BA"/>
                </a:solidFill>
                <a:latin typeface="Courier New" pitchFamily="34" charset="0"/>
                <a:ea typeface="Courier New" pitchFamily="34" charset="-122"/>
                <a:cs typeface="Courier New" pitchFamily="34" charset="-120"/>
              </a:rPr>
              <a:t>Object</a:t>
            </a:r>
            <a:r>
              <a:rPr lang="en-US" sz="1000" dirty="0">
                <a:solidFill>
                  <a:srgbClr val="EFF7F5"/>
                </a:solidFill>
                <a:latin typeface="Courier New" pitchFamily="34" charset="0"/>
                <a:ea typeface="Courier New" pitchFamily="34" charset="-122"/>
                <a:cs typeface="Courier New" pitchFamily="34" charset="-120"/>
              </a:rPr>
              <a:t>.assign({type: type, pageUrl: location.pathname}, extra))});</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0A458"/>
                </a:solidFill>
                <a:latin typeface="Courier New" pitchFamily="34" charset="0"/>
                <a:ea typeface="Courier New" pitchFamily="34" charset="-122"/>
                <a:cs typeface="Courier New" pitchFamily="34" charset="-120"/>
              </a:rPr>
              <a:t>if</a:t>
            </a:r>
            <a:r>
              <a:rPr lang="en-US" sz="1000" dirty="0">
                <a:solidFill>
                  <a:srgbClr val="EFF7F5"/>
                </a:solidFill>
                <a:latin typeface="Courier New" pitchFamily="34" charset="0"/>
                <a:ea typeface="Courier New" pitchFamily="34" charset="-122"/>
                <a:cs typeface="Courier New" pitchFamily="34" charset="-120"/>
              </a:rPr>
              <a:t> (pageTourId) track(</a:t>
            </a:r>
            <a:r>
              <a:rPr lang="en-US" sz="1000" dirty="0">
                <a:solidFill>
                  <a:srgbClr val="F4B393"/>
                </a:solidFill>
                <a:latin typeface="Courier New" pitchFamily="34" charset="0"/>
                <a:ea typeface="Courier New" pitchFamily="34" charset="-122"/>
                <a:cs typeface="Courier New" pitchFamily="34" charset="-120"/>
              </a:rPr>
              <a:t>'VIEW'</a:t>
            </a:r>
            <a:r>
              <a:rPr lang="en-US" sz="1000" dirty="0">
                <a:solidFill>
                  <a:srgbClr val="EFF7F5"/>
                </a:solidFill>
                <a:latin typeface="Courier New" pitchFamily="34" charset="0"/>
                <a:ea typeface="Courier New" pitchFamily="34" charset="-122"/>
                <a:cs typeface="Courier New" pitchFamily="34" charset="-120"/>
              </a:rPr>
              <a:t>, {tourId: pageTourId});</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$(document).on(</a:t>
            </a:r>
            <a:r>
              <a:rPr lang="en-US" sz="1000" dirty="0">
                <a:solidFill>
                  <a:srgbClr val="F4B393"/>
                </a:solidFill>
                <a:latin typeface="Courier New" pitchFamily="34" charset="0"/>
                <a:ea typeface="Courier New" pitchFamily="34" charset="-122"/>
                <a:cs typeface="Courier New" pitchFamily="34" charset="-120"/>
              </a:rPr>
              <a:t>'click'</a:t>
            </a: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F4B393"/>
                </a:solidFill>
                <a:latin typeface="Courier New" pitchFamily="34" charset="0"/>
                <a:ea typeface="Courier New" pitchFamily="34" charset="-122"/>
                <a:cs typeface="Courier New" pitchFamily="34" charset="-120"/>
              </a:rPr>
              <a:t>'[data-track-tour] a[href]'</a:t>
            </a: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E0A458"/>
                </a:solidFill>
                <a:latin typeface="Courier New" pitchFamily="34" charset="0"/>
                <a:ea typeface="Courier New" pitchFamily="34" charset="-122"/>
                <a:cs typeface="Courier New" pitchFamily="34" charset="-120"/>
              </a:rPr>
              <a:t>function</a:t>
            </a:r>
            <a:r>
              <a:rPr lang="en-US" sz="1000" dirty="0">
                <a:solidFill>
                  <a:srgbClr val="EFF7F5"/>
                </a:solidFill>
                <a:latin typeface="Courier New" pitchFamily="34" charset="0"/>
                <a:ea typeface="Courier New" pitchFamily="34" charset="-122"/>
                <a:cs typeface="Courier New" pitchFamily="34" charset="-120"/>
              </a:rPr>
              <a:t> () {</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track(</a:t>
            </a:r>
            <a:r>
              <a:rPr lang="en-US" sz="1000" dirty="0">
                <a:solidFill>
                  <a:srgbClr val="F4B393"/>
                </a:solidFill>
                <a:latin typeface="Courier New" pitchFamily="34" charset="0"/>
                <a:ea typeface="Courier New" pitchFamily="34" charset="-122"/>
                <a:cs typeface="Courier New" pitchFamily="34" charset="-120"/>
              </a:rPr>
              <a:t>'CLICK'</a:t>
            </a:r>
            <a:r>
              <a:rPr lang="en-US" sz="1000" dirty="0">
                <a:solidFill>
                  <a:srgbClr val="EFF7F5"/>
                </a:solidFill>
                <a:latin typeface="Courier New" pitchFamily="34" charset="0"/>
                <a:ea typeface="Courier New" pitchFamily="34" charset="-122"/>
                <a:cs typeface="Courier New" pitchFamily="34" charset="-120"/>
              </a:rPr>
              <a:t>, {tourId: </a:t>
            </a:r>
            <a:r>
              <a:rPr lang="en-US" sz="1000" dirty="0">
                <a:solidFill>
                  <a:srgbClr val="86C7BA"/>
                </a:solidFill>
                <a:latin typeface="Courier New" pitchFamily="34" charset="0"/>
                <a:ea typeface="Courier New" pitchFamily="34" charset="-122"/>
                <a:cs typeface="Courier New" pitchFamily="34" charset="-120"/>
              </a:rPr>
              <a:t>Number</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    $(</a:t>
            </a:r>
            <a:r>
              <a:rPr lang="en-US" sz="1000" dirty="0">
                <a:solidFill>
                  <a:srgbClr val="E0A458"/>
                </a:solidFill>
                <a:latin typeface="Courier New" pitchFamily="34" charset="0"/>
                <a:ea typeface="Courier New" pitchFamily="34" charset="-122"/>
                <a:cs typeface="Courier New" pitchFamily="34" charset="-120"/>
              </a:rPr>
              <a:t>this</a:t>
            </a:r>
            <a:r>
              <a:rPr lang="en-US" sz="1000" dirty="0">
                <a:solidFill>
                  <a:srgbClr val="EFF7F5"/>
                </a:solidFill>
                <a:latin typeface="Courier New" pitchFamily="34" charset="0"/>
                <a:ea typeface="Courier New" pitchFamily="34" charset="-122"/>
                <a:cs typeface="Courier New" pitchFamily="34" charset="-120"/>
              </a:rPr>
              <a:t>).closest(</a:t>
            </a:r>
            <a:r>
              <a:rPr lang="en-US" sz="1000" dirty="0">
                <a:solidFill>
                  <a:srgbClr val="F4B393"/>
                </a:solidFill>
                <a:latin typeface="Courier New" pitchFamily="34" charset="0"/>
                <a:ea typeface="Courier New" pitchFamily="34" charset="-122"/>
                <a:cs typeface="Courier New" pitchFamily="34" charset="-120"/>
              </a:rPr>
              <a:t>'[data-track-tour]'</a:t>
            </a:r>
            <a:r>
              <a:rPr lang="en-US" sz="1000" dirty="0">
                <a:solidFill>
                  <a:srgbClr val="EFF7F5"/>
                </a:solidFill>
                <a:latin typeface="Courier New" pitchFamily="34" charset="0"/>
                <a:ea typeface="Courier New" pitchFamily="34" charset="-122"/>
                <a:cs typeface="Courier New" pitchFamily="34" charset="-120"/>
              </a:rPr>
              <a:t>).data(</a:t>
            </a:r>
            <a:r>
              <a:rPr lang="en-US" sz="1000" dirty="0">
                <a:solidFill>
                  <a:srgbClr val="F4B393"/>
                </a:solidFill>
                <a:latin typeface="Courier New" pitchFamily="34" charset="0"/>
                <a:ea typeface="Courier New" pitchFamily="34" charset="-122"/>
                <a:cs typeface="Courier New" pitchFamily="34" charset="-120"/>
              </a:rPr>
              <a:t>'track-tour'</a:t>
            </a:r>
            <a:r>
              <a:rPr lang="en-US" sz="1000" dirty="0">
                <a:solidFill>
                  <a:srgbClr val="EFF7F5"/>
                </a:solidFill>
                <a:latin typeface="Courier New" pitchFamily="34" charset="0"/>
                <a:ea typeface="Courier New" pitchFamily="34" charset="-122"/>
                <a:cs typeface="Courier New" pitchFamily="34" charset="-120"/>
              </a:rPr>
              <a:t>))});</a:t>
            </a:r>
            <a:endParaRPr lang="en-US" sz="1000" dirty="0"/>
          </a:p>
          <a:p>
            <a:pPr indent="0" marL="0">
              <a:lnSpc>
                <a:spcPts val="1600"/>
              </a:lnSpc>
              <a:buNone/>
            </a:pPr>
            <a:r>
              <a:rPr lang="en-US" sz="1000" dirty="0">
                <a:solidFill>
                  <a:srgbClr val="EFF7F5"/>
                </a:solidFill>
                <a:latin typeface="Courier New" pitchFamily="34" charset="0"/>
                <a:ea typeface="Courier New" pitchFamily="34" charset="-122"/>
                <a:cs typeface="Courier New" pitchFamily="34" charset="-120"/>
              </a:rPr>
              <a:t>});</a:t>
            </a:r>
            <a:endParaRPr lang="en-US" sz="1000" dirty="0"/>
          </a:p>
        </p:txBody>
      </p:sp>
      <p:sp>
        <p:nvSpPr>
          <p:cNvPr id="8" name="Card"/>
          <p:cNvSpPr/>
          <p:nvPr/>
        </p:nvSpPr>
        <p:spPr>
          <a:xfrm>
            <a:off x="8275320" y="1463040"/>
            <a:ext cx="3364992" cy="3657600"/>
          </a:xfrm>
          <a:prstGeom prst="roundRect">
            <a:avLst>
              <a:gd name="adj" fmla="val 2717"/>
            </a:avLst>
          </a:prstGeom>
          <a:solidFill>
            <a:schemeClr val="accent2"/>
          </a:solidFill>
          <a:ln w="12700">
            <a:solidFill>
              <a:schemeClr val="accent2"/>
            </a:solidFill>
            <a:prstDash val="solid"/>
          </a:ln>
        </p:spPr>
      </p:sp>
      <p:sp>
        <p:nvSpPr>
          <p:cNvPr id="9" name="Text 6"/>
          <p:cNvSpPr txBox="1"/>
          <p:nvPr/>
        </p:nvSpPr>
        <p:spPr>
          <a:xfrm>
            <a:off x="8458200" y="1600200"/>
            <a:ext cx="3017520" cy="320040"/>
          </a:xfrm>
          <a:prstGeom prst="rect">
            <a:avLst/>
          </a:prstGeom>
          <a:noFill/>
          <a:ln/>
        </p:spPr>
        <p:txBody>
          <a:bodyPr wrap="square" lIns="0" tIns="0" rIns="0" bIns="0" rtlCol="0" anchor="t"/>
          <a:lstStyle/>
          <a:p>
            <a:pPr indent="0" marL="0">
              <a:buNone/>
            </a:pPr>
            <a:r>
              <a:rPr lang="en-US" sz="1500" b="1" dirty="0">
                <a:solidFill>
                  <a:schemeClr val="tx2"/>
                </a:solidFill>
              </a:rPr>
              <a:t>Vì sao fetch keepalive?</a:t>
            </a:r>
            <a:endParaRPr lang="en-US" sz="1500" dirty="0"/>
          </a:p>
        </p:txBody>
      </p:sp>
      <p:sp>
        <p:nvSpPr>
          <p:cNvPr id="10" name="Text 7"/>
          <p:cNvSpPr txBox="1"/>
          <p:nvPr/>
        </p:nvSpPr>
        <p:spPr>
          <a:xfrm>
            <a:off x="8458200" y="2011680"/>
            <a:ext cx="3017520" cy="301752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2"/>
                </a:solidFill>
              </a:rPr>
              <a:t>sendBeacon không đặt được header → CSRF của Spring Security sẽ chặn</a:t>
            </a:r>
            <a:endParaRPr lang="en-US" sz="1350" dirty="0"/>
          </a:p>
          <a:p>
            <a:pPr marL="177800" indent="-177800">
              <a:spcAft>
                <a:spcPts val="800"/>
              </a:spcAft>
              <a:buSzPct val="100000"/>
              <a:buChar char="•"/>
            </a:pPr>
            <a:r>
              <a:rPr lang="en-US" sz="1350" dirty="0">
                <a:solidFill>
                  <a:schemeClr val="tx2"/>
                </a:solidFill>
              </a:rPr>
              <a:t>fetch + keepalive vẫn gửi khi tab đóng và cho phép header</a:t>
            </a:r>
            <a:endParaRPr lang="en-US" sz="1350" dirty="0"/>
          </a:p>
          <a:p>
            <a:pPr marL="177800" indent="-177800">
              <a:spcAft>
                <a:spcPts val="800"/>
              </a:spcAft>
              <a:buSzPct val="100000"/>
              <a:buChar char="•"/>
            </a:pPr>
            <a:r>
              <a:rPr lang="en-US" sz="1350" dirty="0">
                <a:solidFill>
                  <a:schemeClr val="tx2"/>
                </a:solidFill>
              </a:rPr>
              <a:t>Không có session id ở client: server dùng HttpSession (băm SHA-256)</a:t>
            </a:r>
            <a:endParaRPr lang="en-US" sz="1350" dirty="0"/>
          </a:p>
        </p:txBody>
      </p:sp>
      <p:sp>
        <p:nvSpPr>
          <p:cNvPr id="11" name="Card"/>
          <p:cNvSpPr/>
          <p:nvPr/>
        </p:nvSpPr>
        <p:spPr>
          <a:xfrm>
            <a:off x="548640" y="5303520"/>
            <a:ext cx="11091672" cy="960120"/>
          </a:xfrm>
          <a:prstGeom prst="roundRect">
            <a:avLst>
              <a:gd name="adj" fmla="val 9524"/>
            </a:avLst>
          </a:prstGeom>
          <a:solidFill>
            <a:schemeClr val="bg2"/>
          </a:solidFill>
          <a:ln w="12700">
            <a:solidFill>
              <a:schemeClr val="bg2"/>
            </a:solidFill>
            <a:prstDash val="solid"/>
          </a:ln>
        </p:spPr>
      </p:sp>
      <p:sp>
        <p:nvSpPr>
          <p:cNvPr id="12" name="Text 9"/>
          <p:cNvSpPr txBox="1"/>
          <p:nvPr/>
        </p:nvSpPr>
        <p:spPr>
          <a:xfrm>
            <a:off x="777240" y="5349240"/>
            <a:ext cx="10634472" cy="868680"/>
          </a:xfrm>
          <a:prstGeom prst="rect">
            <a:avLst/>
          </a:prstGeom>
          <a:noFill/>
          <a:ln/>
        </p:spPr>
        <p:txBody>
          <a:bodyPr wrap="square" lIns="0" tIns="0" rIns="0" bIns="0" rtlCol="0" anchor="ctr"/>
          <a:lstStyle/>
          <a:p>
            <a:pPr indent="0" marL="0">
              <a:buNone/>
            </a:pPr>
            <a:r>
              <a:rPr lang="en-US" sz="1350" b="1" dirty="0">
                <a:solidFill>
                  <a:schemeClr val="tx1"/>
                </a:solidFill>
              </a:rPr>
              <a:t>Điểm bám: </a:t>
            </a:r>
            <a:r>
              <a:rPr lang="en-US" sz="1350" dirty="0">
                <a:solidFill>
                  <a:schemeClr val="tx1"/>
                </a:solidFill>
              </a:rPr>
              <a:t>data-track-view trên &lt;main&gt; (tour/detail.html) cho VIEW; data-track-tour trên thẻ tour (components.html) cho CLICK. Viết theo phong cách app.js: jQuery, hàm nhỏ, không thêm thư viện; tôn trọng Do Not Track.</a:t>
            </a:r>
            <a:endParaRPr lang="en-US" sz="13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tracker.js (2/2): SEARCH, TIME_ON_PAGE</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static/js/tracker.js (tiếp)"/>
          <p:cNvSpPr/>
          <p:nvPr/>
        </p:nvSpPr>
        <p:spPr>
          <a:xfrm>
            <a:off x="548640" y="1463040"/>
            <a:ext cx="7498080" cy="4206240"/>
          </a:xfrm>
          <a:prstGeom prst="roundRect">
            <a:avLst>
              <a:gd name="adj" fmla="val 1739"/>
            </a:avLst>
          </a:prstGeom>
          <a:solidFill>
            <a:schemeClr val="tx2"/>
          </a:solidFill>
          <a:ln w="12700">
            <a:solidFill>
              <a:schemeClr val="tx2"/>
            </a:solidFill>
            <a:prstDash val="solid"/>
          </a:ln>
        </p:spPr>
      </p:sp>
      <p:sp>
        <p:nvSpPr>
          <p:cNvPr id="6" name="Text 3"/>
          <p:cNvSpPr txBox="1"/>
          <p:nvPr/>
        </p:nvSpPr>
        <p:spPr>
          <a:xfrm>
            <a:off x="731520" y="1554480"/>
            <a:ext cx="7132320" cy="237744"/>
          </a:xfrm>
          <a:prstGeom prst="rect">
            <a:avLst/>
          </a:prstGeom>
          <a:noFill/>
          <a:ln/>
        </p:spPr>
        <p:txBody>
          <a:bodyPr wrap="square" lIns="0" tIns="0" rIns="0" bIns="0" rtlCol="0" anchor="ctr"/>
          <a:lstStyle/>
          <a:p>
            <a:pPr indent="0" marL="0">
              <a:buNone/>
            </a:pPr>
            <a:r>
              <a:rPr lang="en-US" sz="1100" b="1" dirty="0">
                <a:solidFill>
                  <a:schemeClr val="accent5"/>
                </a:solidFill>
              </a:rPr>
              <a:t>static/js/tracker.js (tiếp)</a:t>
            </a:r>
            <a:endParaRPr lang="en-US" sz="1100" dirty="0"/>
          </a:p>
        </p:txBody>
      </p:sp>
      <p:sp>
        <p:nvSpPr>
          <p:cNvPr id="7" name="Code static/js/tracker.js (tiếp)"/>
          <p:cNvSpPr txBox="1"/>
          <p:nvPr/>
        </p:nvSpPr>
        <p:spPr>
          <a:xfrm>
            <a:off x="731520" y="1847088"/>
            <a:ext cx="7132320" cy="3749040"/>
          </a:xfrm>
          <a:prstGeom prst="rect">
            <a:avLst/>
          </a:prstGeom>
          <a:noFill/>
          <a:ln/>
        </p:spPr>
        <p:txBody>
          <a:bodyPr wrap="square" lIns="0" tIns="0" rIns="0" bIns="0" rtlCol="0" anchor="t"/>
          <a:lstStyle/>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F4B393"/>
                </a:solidFill>
                <a:latin typeface="Courier New" pitchFamily="34" charset="0"/>
                <a:ea typeface="Courier New" pitchFamily="34" charset="-122"/>
                <a:cs typeface="Courier New" pitchFamily="34" charset="-120"/>
              </a:rPr>
              <a:t>'form'</a:t>
            </a:r>
            <a:r>
              <a:rPr lang="en-US" sz="1100" dirty="0">
                <a:solidFill>
                  <a:srgbClr val="EFF7F5"/>
                </a:solidFill>
                <a:latin typeface="Courier New" pitchFamily="34" charset="0"/>
                <a:ea typeface="Courier New" pitchFamily="34" charset="-122"/>
                <a:cs typeface="Courier New" pitchFamily="34" charset="-120"/>
              </a:rPr>
              <a:t>).has(</a:t>
            </a:r>
            <a:r>
              <a:rPr lang="en-US" sz="1100" dirty="0">
                <a:solidFill>
                  <a:srgbClr val="F4B393"/>
                </a:solidFill>
                <a:latin typeface="Courier New" pitchFamily="34" charset="0"/>
                <a:ea typeface="Courier New" pitchFamily="34" charset="-122"/>
                <a:cs typeface="Courier New" pitchFamily="34" charset="-120"/>
              </a:rPr>
              <a:t>'input[name="q"]'</a:t>
            </a:r>
            <a:r>
              <a:rPr lang="en-US" sz="1100" dirty="0">
                <a:solidFill>
                  <a:srgbClr val="EFF7F5"/>
                </a:solidFill>
                <a:latin typeface="Courier New" pitchFamily="34" charset="0"/>
                <a:ea typeface="Courier New" pitchFamily="34" charset="-122"/>
                <a:cs typeface="Courier New" pitchFamily="34" charset="-120"/>
              </a:rPr>
              <a:t>).on(</a:t>
            </a:r>
            <a:r>
              <a:rPr lang="en-US" sz="1100" dirty="0">
                <a:solidFill>
                  <a:srgbClr val="F4B393"/>
                </a:solidFill>
                <a:latin typeface="Courier New" pitchFamily="34" charset="0"/>
                <a:ea typeface="Courier New" pitchFamily="34" charset="-122"/>
                <a:cs typeface="Courier New" pitchFamily="34" charset="-120"/>
              </a:rPr>
              <a:t>'submit'</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function</a:t>
            </a:r>
            <a:r>
              <a:rPr lang="en-US" sz="1100" dirty="0">
                <a:solidFill>
                  <a:srgbClr val="EFF7F5"/>
                </a:solidFill>
                <a:latin typeface="Courier New" pitchFamily="34" charset="0"/>
                <a:ea typeface="Courier New" pitchFamily="34" charset="-122"/>
                <a:cs typeface="Courier New" pitchFamily="34" charset="-120"/>
              </a:rPr>
              <a:t> ()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const</a:t>
            </a:r>
            <a:r>
              <a:rPr lang="en-US" sz="1100" dirty="0">
                <a:solidFill>
                  <a:srgbClr val="EFF7F5"/>
                </a:solidFill>
                <a:latin typeface="Courier New" pitchFamily="34" charset="0"/>
                <a:ea typeface="Courier New" pitchFamily="34" charset="-122"/>
                <a:cs typeface="Courier New" pitchFamily="34" charset="-120"/>
              </a:rPr>
              <a:t> keyword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this</a:t>
            </a:r>
            <a:r>
              <a:rPr lang="en-US" sz="1100" dirty="0">
                <a:solidFill>
                  <a:srgbClr val="EFF7F5"/>
                </a:solidFill>
                <a:latin typeface="Courier New" pitchFamily="34" charset="0"/>
                <a:ea typeface="Courier New" pitchFamily="34" charset="-122"/>
                <a:cs typeface="Courier New" pitchFamily="34" charset="-120"/>
              </a:rPr>
              <a:t>).find(</a:t>
            </a:r>
            <a:r>
              <a:rPr lang="en-US" sz="1100" dirty="0">
                <a:solidFill>
                  <a:srgbClr val="F4B393"/>
                </a:solidFill>
                <a:latin typeface="Courier New" pitchFamily="34" charset="0"/>
                <a:ea typeface="Courier New" pitchFamily="34" charset="-122"/>
                <a:cs typeface="Courier New" pitchFamily="34" charset="-120"/>
              </a:rPr>
              <a:t>'input[name="q"]'</a:t>
            </a:r>
            <a:r>
              <a:rPr lang="en-US" sz="1100" dirty="0">
                <a:solidFill>
                  <a:srgbClr val="EFF7F5"/>
                </a:solidFill>
                <a:latin typeface="Courier New" pitchFamily="34" charset="0"/>
                <a:ea typeface="Courier New" pitchFamily="34" charset="-122"/>
                <a:cs typeface="Courier New" pitchFamily="34" charset="-120"/>
              </a:rPr>
              <a:t>).val() || </a:t>
            </a:r>
            <a:r>
              <a:rPr lang="en-US" sz="1100" dirty="0">
                <a:solidFill>
                  <a:srgbClr val="F4B393"/>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).trim();</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(keyword.length &gt;= 2) track(</a:t>
            </a:r>
            <a:r>
              <a:rPr lang="en-US" sz="1100" dirty="0">
                <a:solidFill>
                  <a:srgbClr val="F4B393"/>
                </a:solidFill>
                <a:latin typeface="Courier New" pitchFamily="34" charset="0"/>
                <a:ea typeface="Courier New" pitchFamily="34" charset="-122"/>
                <a:cs typeface="Courier New" pitchFamily="34" charset="-120"/>
              </a:rPr>
              <a:t>'SEARCH'</a:t>
            </a:r>
            <a:r>
              <a:rPr lang="en-US" sz="1100" dirty="0">
                <a:solidFill>
                  <a:srgbClr val="EFF7F5"/>
                </a:solidFill>
                <a:latin typeface="Courier New" pitchFamily="34" charset="0"/>
                <a:ea typeface="Courier New" pitchFamily="34" charset="-122"/>
                <a:cs typeface="Courier New" pitchFamily="34" charset="-120"/>
              </a:rPr>
              <a:t>, {keyword: keyword});</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rgbClr val="E0A458"/>
                </a:solidFill>
                <a:latin typeface="Courier New" pitchFamily="34" charset="0"/>
                <a:ea typeface="Courier New" pitchFamily="34" charset="-122"/>
                <a:cs typeface="Courier New" pitchFamily="34" charset="-120"/>
              </a:rPr>
              <a:t>let</a:t>
            </a:r>
            <a:r>
              <a:rPr lang="en-US" sz="1100" dirty="0">
                <a:solidFill>
                  <a:srgbClr val="EFF7F5"/>
                </a:solidFill>
                <a:latin typeface="Courier New" pitchFamily="34" charset="0"/>
                <a:ea typeface="Courier New" pitchFamily="34" charset="-122"/>
                <a:cs typeface="Courier New" pitchFamily="34" charset="-120"/>
              </a:rPr>
              <a:t> shownAt = document.hidden ? </a:t>
            </a:r>
            <a:r>
              <a:rPr lang="en-US" sz="1100" dirty="0">
                <a:solidFill>
                  <a:srgbClr val="E0A458"/>
                </a:solidFill>
                <a:latin typeface="Courier New" pitchFamily="34" charset="0"/>
                <a:ea typeface="Courier New" pitchFamily="34" charset="-122"/>
                <a:cs typeface="Courier New" pitchFamily="34" charset="-120"/>
              </a:rPr>
              <a:t>null</a:t>
            </a:r>
            <a:r>
              <a:rPr lang="en-US" sz="1100" dirty="0">
                <a:solidFill>
                  <a:srgbClr val="EFF7F5"/>
                </a:solidFill>
                <a:latin typeface="Courier New" pitchFamily="34" charset="0"/>
                <a:ea typeface="Courier New" pitchFamily="34" charset="-122"/>
                <a:cs typeface="Courier New" pitchFamily="34" charset="-120"/>
              </a:rPr>
              <a:t> : </a:t>
            </a:r>
            <a:r>
              <a:rPr lang="en-US" sz="1100" dirty="0">
                <a:solidFill>
                  <a:srgbClr val="86C7BA"/>
                </a:solidFill>
                <a:latin typeface="Courier New" pitchFamily="34" charset="0"/>
                <a:ea typeface="Courier New" pitchFamily="34" charset="-122"/>
                <a:cs typeface="Courier New" pitchFamily="34" charset="-120"/>
              </a:rPr>
              <a:t>Date</a:t>
            </a:r>
            <a:r>
              <a:rPr lang="en-US" sz="1100" dirty="0">
                <a:solidFill>
                  <a:srgbClr val="EFF7F5"/>
                </a:solidFill>
                <a:latin typeface="Courier New" pitchFamily="34" charset="0"/>
                <a:ea typeface="Courier New" pitchFamily="34" charset="-122"/>
                <a:cs typeface="Courier New" pitchFamily="34" charset="-120"/>
              </a:rPr>
              <a:t>.now();</a:t>
            </a:r>
            <a:endParaRPr lang="en-US" sz="1100" dirty="0"/>
          </a:p>
          <a:p>
            <a:pPr indent="0" marL="0">
              <a:lnSpc>
                <a:spcPts val="1400"/>
              </a:lnSpc>
              <a:buNone/>
            </a:pPr>
            <a:r>
              <a:rPr lang="en-US" sz="1100" dirty="0">
                <a:solidFill>
                  <a:srgbClr val="E0A458"/>
                </a:solidFill>
                <a:latin typeface="Courier New" pitchFamily="34" charset="0"/>
                <a:ea typeface="Courier New" pitchFamily="34" charset="-122"/>
                <a:cs typeface="Courier New" pitchFamily="34" charset="-120"/>
              </a:rPr>
              <a:t>let</a:t>
            </a:r>
            <a:r>
              <a:rPr lang="en-US" sz="1100" dirty="0">
                <a:solidFill>
                  <a:srgbClr val="EFF7F5"/>
                </a:solidFill>
                <a:latin typeface="Courier New" pitchFamily="34" charset="0"/>
                <a:ea typeface="Courier New" pitchFamily="34" charset="-122"/>
                <a:cs typeface="Courier New" pitchFamily="34" charset="-120"/>
              </a:rPr>
              <a:t> visibleMs = 0;</a:t>
            </a:r>
            <a:endParaRPr lang="en-US" sz="1100" dirty="0"/>
          </a:p>
          <a:p>
            <a:pPr indent="0" marL="0">
              <a:lnSpc>
                <a:spcPts val="1400"/>
              </a:lnSpc>
              <a:buNone/>
            </a:pPr>
            <a:r>
              <a:rPr lang="en-US" sz="1100" dirty="0">
                <a:solidFill>
                  <a:srgbClr val="E0A458"/>
                </a:solidFill>
                <a:latin typeface="Courier New" pitchFamily="34" charset="0"/>
                <a:ea typeface="Courier New" pitchFamily="34" charset="-122"/>
                <a:cs typeface="Courier New" pitchFamily="34" charset="-120"/>
              </a:rPr>
              <a:t>const</a:t>
            </a:r>
            <a:r>
              <a:rPr lang="en-US" sz="1100" dirty="0">
                <a:solidFill>
                  <a:srgbClr val="EFF7F5"/>
                </a:solidFill>
                <a:latin typeface="Courier New" pitchFamily="34" charset="0"/>
                <a:ea typeface="Courier New" pitchFamily="34" charset="-122"/>
                <a:cs typeface="Courier New" pitchFamily="34" charset="-120"/>
              </a:rPr>
              <a:t> flush = </a:t>
            </a:r>
            <a:r>
              <a:rPr lang="en-US" sz="1100" dirty="0">
                <a:solidFill>
                  <a:srgbClr val="E0A458"/>
                </a:solidFill>
                <a:latin typeface="Courier New" pitchFamily="34" charset="0"/>
                <a:ea typeface="Courier New" pitchFamily="34" charset="-122"/>
                <a:cs typeface="Courier New" pitchFamily="34" charset="-120"/>
              </a:rPr>
              <a:t>function</a:t>
            </a:r>
            <a:r>
              <a:rPr lang="en-US" sz="1100" dirty="0">
                <a:solidFill>
                  <a:srgbClr val="EFF7F5"/>
                </a:solidFill>
                <a:latin typeface="Courier New" pitchFamily="34" charset="0"/>
                <a:ea typeface="Courier New" pitchFamily="34" charset="-122"/>
                <a:cs typeface="Courier New" pitchFamily="34" charset="-120"/>
              </a:rPr>
              <a:t> ()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(shownAt !== </a:t>
            </a:r>
            <a:r>
              <a:rPr lang="en-US" sz="1100" dirty="0">
                <a:solidFill>
                  <a:srgbClr val="E0A458"/>
                </a:solidFill>
                <a:latin typeface="Courier New" pitchFamily="34" charset="0"/>
                <a:ea typeface="Courier New" pitchFamily="34" charset="-122"/>
                <a:cs typeface="Courier New" pitchFamily="34" charset="-120"/>
              </a:rPr>
              <a:t>null</a:t>
            </a: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visibleMs += </a:t>
            </a:r>
            <a:r>
              <a:rPr lang="en-US" sz="1100" dirty="0">
                <a:solidFill>
                  <a:srgbClr val="86C7BA"/>
                </a:solidFill>
                <a:latin typeface="Courier New" pitchFamily="34" charset="0"/>
                <a:ea typeface="Courier New" pitchFamily="34" charset="-122"/>
                <a:cs typeface="Courier New" pitchFamily="34" charset="-120"/>
              </a:rPr>
              <a:t>Date</a:t>
            </a:r>
            <a:r>
              <a:rPr lang="en-US" sz="1100" dirty="0">
                <a:solidFill>
                  <a:srgbClr val="EFF7F5"/>
                </a:solidFill>
                <a:latin typeface="Courier New" pitchFamily="34" charset="0"/>
                <a:ea typeface="Courier New" pitchFamily="34" charset="-122"/>
                <a:cs typeface="Courier New" pitchFamily="34" charset="-120"/>
              </a:rPr>
              <a:t>.now() - shownAt; shownAt = </a:t>
            </a:r>
            <a:r>
              <a:rPr lang="en-US" sz="1100" dirty="0">
                <a:solidFill>
                  <a:srgbClr val="E0A458"/>
                </a:solidFill>
                <a:latin typeface="Courier New" pitchFamily="34" charset="0"/>
                <a:ea typeface="Courier New" pitchFamily="34" charset="-122"/>
                <a:cs typeface="Courier New" pitchFamily="34" charset="-120"/>
              </a:rPr>
              <a:t>null</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(visibleMs &gt;= 1000) track(</a:t>
            </a:r>
            <a:r>
              <a:rPr lang="en-US" sz="1100" dirty="0">
                <a:solidFill>
                  <a:srgbClr val="F4B393"/>
                </a:solidFill>
                <a:latin typeface="Courier New" pitchFamily="34" charset="0"/>
                <a:ea typeface="Courier New" pitchFamily="34" charset="-122"/>
                <a:cs typeface="Courier New" pitchFamily="34" charset="-120"/>
              </a:rPr>
              <a:t>'TIME_ON_PAGE'</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{tourId: pageTourId, durationMs: </a:t>
            </a:r>
            <a:r>
              <a:rPr lang="en-US" sz="1100" dirty="0">
                <a:solidFill>
                  <a:srgbClr val="86C7BA"/>
                </a:solidFill>
                <a:latin typeface="Courier New" pitchFamily="34" charset="0"/>
                <a:ea typeface="Courier New" pitchFamily="34" charset="-122"/>
                <a:cs typeface="Courier New" pitchFamily="34" charset="-120"/>
              </a:rPr>
              <a:t>Math</a:t>
            </a:r>
            <a:r>
              <a:rPr lang="en-US" sz="1100" dirty="0">
                <a:solidFill>
                  <a:srgbClr val="EFF7F5"/>
                </a:solidFill>
                <a:latin typeface="Courier New" pitchFamily="34" charset="0"/>
                <a:ea typeface="Courier New" pitchFamily="34" charset="-122"/>
                <a:cs typeface="Courier New" pitchFamily="34" charset="-120"/>
              </a:rPr>
              <a:t>.round(visibleMs)});</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visibleMs = 0;</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document.addEventListener(</a:t>
            </a:r>
            <a:r>
              <a:rPr lang="en-US" sz="1100" dirty="0">
                <a:solidFill>
                  <a:srgbClr val="F4B393"/>
                </a:solidFill>
                <a:latin typeface="Courier New" pitchFamily="34" charset="0"/>
                <a:ea typeface="Courier New" pitchFamily="34" charset="-122"/>
                <a:cs typeface="Courier New" pitchFamily="34" charset="-120"/>
              </a:rPr>
              <a:t>'visibilitychange'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function</a:t>
            </a:r>
            <a:r>
              <a:rPr lang="en-US" sz="1100" dirty="0">
                <a:solidFill>
                  <a:srgbClr val="EFF7F5"/>
                </a:solidFill>
                <a:latin typeface="Courier New" pitchFamily="34" charset="0"/>
                <a:ea typeface="Courier New" pitchFamily="34" charset="-122"/>
                <a:cs typeface="Courier New" pitchFamily="34" charset="-120"/>
              </a:rPr>
              <a:t> ()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(document.hidden) flush(); </a:t>
            </a:r>
            <a:r>
              <a:rPr lang="en-US" sz="1100" dirty="0">
                <a:solidFill>
                  <a:srgbClr val="E0A458"/>
                </a:solidFill>
                <a:latin typeface="Courier New" pitchFamily="34" charset="0"/>
                <a:ea typeface="Courier New" pitchFamily="34" charset="-122"/>
                <a:cs typeface="Courier New" pitchFamily="34" charset="-120"/>
              </a:rPr>
              <a:t>else</a:t>
            </a:r>
            <a:r>
              <a:rPr lang="en-US" sz="1100" dirty="0">
                <a:solidFill>
                  <a:srgbClr val="EFF7F5"/>
                </a:solidFill>
                <a:latin typeface="Courier New" pitchFamily="34" charset="0"/>
                <a:ea typeface="Courier New" pitchFamily="34" charset="-122"/>
                <a:cs typeface="Courier New" pitchFamily="34" charset="-120"/>
              </a:rPr>
              <a:t> shownAt = </a:t>
            </a:r>
            <a:r>
              <a:rPr lang="en-US" sz="1100" dirty="0">
                <a:solidFill>
                  <a:srgbClr val="86C7BA"/>
                </a:solidFill>
                <a:latin typeface="Courier New" pitchFamily="34" charset="0"/>
                <a:ea typeface="Courier New" pitchFamily="34" charset="-122"/>
                <a:cs typeface="Courier New" pitchFamily="34" charset="-120"/>
              </a:rPr>
              <a:t>Date</a:t>
            </a:r>
            <a:r>
              <a:rPr lang="en-US" sz="1100" dirty="0">
                <a:solidFill>
                  <a:srgbClr val="EFF7F5"/>
                </a:solidFill>
                <a:latin typeface="Courier New" pitchFamily="34" charset="0"/>
                <a:ea typeface="Courier New" pitchFamily="34" charset="-122"/>
                <a:cs typeface="Courier New" pitchFamily="34" charset="-120"/>
              </a:rPr>
              <a:t>.now();</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window.addEventListener(</a:t>
            </a:r>
            <a:r>
              <a:rPr lang="en-US" sz="1100" dirty="0">
                <a:solidFill>
                  <a:srgbClr val="F4B393"/>
                </a:solidFill>
                <a:latin typeface="Courier New" pitchFamily="34" charset="0"/>
                <a:ea typeface="Courier New" pitchFamily="34" charset="-122"/>
                <a:cs typeface="Courier New" pitchFamily="34" charset="-120"/>
              </a:rPr>
              <a:t>'pagehide'</a:t>
            </a:r>
            <a:r>
              <a:rPr lang="en-US" sz="1100" dirty="0">
                <a:solidFill>
                  <a:srgbClr val="EFF7F5"/>
                </a:solidFill>
                <a:latin typeface="Courier New" pitchFamily="34" charset="0"/>
                <a:ea typeface="Courier New" pitchFamily="34" charset="-122"/>
                <a:cs typeface="Courier New" pitchFamily="34" charset="-120"/>
              </a:rPr>
              <a:t>, flush);</a:t>
            </a:r>
            <a:endParaRPr lang="en-US" sz="1100" dirty="0"/>
          </a:p>
        </p:txBody>
      </p:sp>
      <p:sp>
        <p:nvSpPr>
          <p:cNvPr id="8" name="Text 5"/>
          <p:cNvSpPr txBox="1"/>
          <p:nvPr/>
        </p:nvSpPr>
        <p:spPr>
          <a:xfrm>
            <a:off x="8275320" y="1417320"/>
            <a:ext cx="3364992" cy="274320"/>
          </a:xfrm>
          <a:prstGeom prst="rect">
            <a:avLst/>
          </a:prstGeom>
          <a:noFill/>
          <a:ln/>
        </p:spPr>
        <p:txBody>
          <a:bodyPr wrap="square" lIns="0" tIns="0" rIns="0" bIns="0" rtlCol="0" anchor="t"/>
          <a:lstStyle/>
          <a:p>
            <a:pPr indent="0" marL="0">
              <a:buNone/>
            </a:pPr>
            <a:r>
              <a:rPr lang="en-US" sz="1500" b="1" dirty="0">
                <a:solidFill>
                  <a:schemeClr val="tx2"/>
                </a:solidFill>
              </a:rPr>
              <a:t>Điểm bám vào giao diện hiện có</a:t>
            </a:r>
            <a:endParaRPr lang="en-US" sz="1500" dirty="0"/>
          </a:p>
        </p:txBody>
      </p:sp>
      <p:sp>
        <p:nvSpPr>
          <p:cNvPr id="9" name="Card"/>
          <p:cNvSpPr/>
          <p:nvPr/>
        </p:nvSpPr>
        <p:spPr>
          <a:xfrm>
            <a:off x="8275320" y="1783080"/>
            <a:ext cx="3364992" cy="987552"/>
          </a:xfrm>
          <a:prstGeom prst="roundRect">
            <a:avLst>
              <a:gd name="adj" fmla="val 9259"/>
            </a:avLst>
          </a:prstGeom>
          <a:solidFill>
            <a:schemeClr val="bg2"/>
          </a:solidFill>
          <a:ln w="12700">
            <a:solidFill>
              <a:schemeClr val="bg2"/>
            </a:solidFill>
            <a:prstDash val="solid"/>
          </a:ln>
        </p:spPr>
      </p:sp>
      <p:sp>
        <p:nvSpPr>
          <p:cNvPr id="10" name="Text 7"/>
          <p:cNvSpPr txBox="1"/>
          <p:nvPr/>
        </p:nvSpPr>
        <p:spPr>
          <a:xfrm>
            <a:off x="8458200" y="1892808"/>
            <a:ext cx="3017520" cy="274320"/>
          </a:xfrm>
          <a:prstGeom prst="rect">
            <a:avLst/>
          </a:prstGeom>
          <a:noFill/>
          <a:ln/>
        </p:spPr>
        <p:txBody>
          <a:bodyPr wrap="square" lIns="0" tIns="0" rIns="0" bIns="0" rtlCol="0" anchor="t"/>
          <a:lstStyle/>
          <a:p>
            <a:pPr indent="0" marL="0">
              <a:buNone/>
            </a:pPr>
            <a:r>
              <a:rPr lang="en-US" sz="1250" b="1" dirty="0">
                <a:solidFill>
                  <a:schemeClr val="accent1"/>
                </a:solidFill>
                <a:latin typeface="Courier New" pitchFamily="34" charset="0"/>
                <a:ea typeface="Courier New" pitchFamily="34" charset="-122"/>
                <a:cs typeface="Courier New" pitchFamily="34" charset="-120"/>
              </a:rPr>
              <a:t>form có input[name=q]</a:t>
            </a:r>
            <a:endParaRPr lang="en-US" sz="1250" dirty="0"/>
          </a:p>
        </p:txBody>
      </p:sp>
      <p:sp>
        <p:nvSpPr>
          <p:cNvPr id="11" name="Text 8"/>
          <p:cNvSpPr txBox="1"/>
          <p:nvPr/>
        </p:nvSpPr>
        <p:spPr>
          <a:xfrm>
            <a:off x="8458200" y="2240280"/>
            <a:ext cx="3017520" cy="457200"/>
          </a:xfrm>
          <a:prstGeom prst="rect">
            <a:avLst/>
          </a:prstGeom>
          <a:noFill/>
          <a:ln/>
        </p:spPr>
        <p:txBody>
          <a:bodyPr wrap="square" lIns="0" tIns="0" rIns="0" bIns="0" rtlCol="0" anchor="t"/>
          <a:lstStyle/>
          <a:p>
            <a:pPr indent="0" marL="0">
              <a:buNone/>
            </a:pPr>
            <a:r>
              <a:rPr lang="en-US" sz="1300" dirty="0">
                <a:solidFill>
                  <a:schemeClr val="tx1"/>
                </a:solidFill>
              </a:rPr>
              <a:t>ô tìm trên thanh điều hướng và bộ lọc</a:t>
            </a:r>
            <a:endParaRPr lang="en-US" sz="1300" dirty="0"/>
          </a:p>
        </p:txBody>
      </p:sp>
      <p:sp>
        <p:nvSpPr>
          <p:cNvPr id="12" name="Card"/>
          <p:cNvSpPr/>
          <p:nvPr/>
        </p:nvSpPr>
        <p:spPr>
          <a:xfrm>
            <a:off x="8275320" y="2880360"/>
            <a:ext cx="3364992" cy="987552"/>
          </a:xfrm>
          <a:prstGeom prst="roundRect">
            <a:avLst>
              <a:gd name="adj" fmla="val 9259"/>
            </a:avLst>
          </a:prstGeom>
          <a:solidFill>
            <a:schemeClr val="bg2"/>
          </a:solidFill>
          <a:ln w="12700">
            <a:solidFill>
              <a:schemeClr val="bg2"/>
            </a:solidFill>
            <a:prstDash val="solid"/>
          </a:ln>
        </p:spPr>
      </p:sp>
      <p:sp>
        <p:nvSpPr>
          <p:cNvPr id="13" name="Text 10"/>
          <p:cNvSpPr txBox="1"/>
          <p:nvPr/>
        </p:nvSpPr>
        <p:spPr>
          <a:xfrm>
            <a:off x="8458200" y="2990088"/>
            <a:ext cx="3017520" cy="274320"/>
          </a:xfrm>
          <a:prstGeom prst="rect">
            <a:avLst/>
          </a:prstGeom>
          <a:noFill/>
          <a:ln/>
        </p:spPr>
        <p:txBody>
          <a:bodyPr wrap="square" lIns="0" tIns="0" rIns="0" bIns="0" rtlCol="0" anchor="t"/>
          <a:lstStyle/>
          <a:p>
            <a:pPr indent="0" marL="0">
              <a:buNone/>
            </a:pPr>
            <a:r>
              <a:rPr lang="en-US" sz="1250" b="1" dirty="0">
                <a:solidFill>
                  <a:schemeClr val="accent1"/>
                </a:solidFill>
                <a:latin typeface="Courier New" pitchFamily="34" charset="0"/>
                <a:ea typeface="Courier New" pitchFamily="34" charset="-122"/>
                <a:cs typeface="Courier New" pitchFamily="34" charset="-120"/>
              </a:rPr>
              <a:t>data-track-view</a:t>
            </a:r>
            <a:endParaRPr lang="en-US" sz="1250" dirty="0"/>
          </a:p>
        </p:txBody>
      </p:sp>
      <p:sp>
        <p:nvSpPr>
          <p:cNvPr id="14" name="Text 11"/>
          <p:cNvSpPr txBox="1"/>
          <p:nvPr/>
        </p:nvSpPr>
        <p:spPr>
          <a:xfrm>
            <a:off x="8458200" y="3337560"/>
            <a:ext cx="3017520" cy="457200"/>
          </a:xfrm>
          <a:prstGeom prst="rect">
            <a:avLst/>
          </a:prstGeom>
          <a:noFill/>
          <a:ln/>
        </p:spPr>
        <p:txBody>
          <a:bodyPr wrap="square" lIns="0" tIns="0" rIns="0" bIns="0" rtlCol="0" anchor="t"/>
          <a:lstStyle/>
          <a:p>
            <a:pPr indent="0" marL="0">
              <a:buNone/>
            </a:pPr>
            <a:r>
              <a:rPr lang="en-US" sz="1300" dirty="0">
                <a:solidFill>
                  <a:schemeClr val="tx1"/>
                </a:solidFill>
              </a:rPr>
              <a:t>trang chi tiết: VIEW + TIME_ON_PAGE</a:t>
            </a:r>
            <a:endParaRPr lang="en-US" sz="1300" dirty="0"/>
          </a:p>
        </p:txBody>
      </p:sp>
      <p:sp>
        <p:nvSpPr>
          <p:cNvPr id="15" name="Card"/>
          <p:cNvSpPr/>
          <p:nvPr/>
        </p:nvSpPr>
        <p:spPr>
          <a:xfrm>
            <a:off x="8275320" y="3977640"/>
            <a:ext cx="3364992" cy="987552"/>
          </a:xfrm>
          <a:prstGeom prst="roundRect">
            <a:avLst>
              <a:gd name="adj" fmla="val 9259"/>
            </a:avLst>
          </a:prstGeom>
          <a:solidFill>
            <a:schemeClr val="bg2"/>
          </a:solidFill>
          <a:ln w="12700">
            <a:solidFill>
              <a:schemeClr val="bg2"/>
            </a:solidFill>
            <a:prstDash val="solid"/>
          </a:ln>
        </p:spPr>
      </p:sp>
      <p:sp>
        <p:nvSpPr>
          <p:cNvPr id="16" name="Text 13"/>
          <p:cNvSpPr txBox="1"/>
          <p:nvPr/>
        </p:nvSpPr>
        <p:spPr>
          <a:xfrm>
            <a:off x="8458200" y="4087368"/>
            <a:ext cx="3017520" cy="274320"/>
          </a:xfrm>
          <a:prstGeom prst="rect">
            <a:avLst/>
          </a:prstGeom>
          <a:noFill/>
          <a:ln/>
        </p:spPr>
        <p:txBody>
          <a:bodyPr wrap="square" lIns="0" tIns="0" rIns="0" bIns="0" rtlCol="0" anchor="t"/>
          <a:lstStyle/>
          <a:p>
            <a:pPr indent="0" marL="0">
              <a:buNone/>
            </a:pPr>
            <a:r>
              <a:rPr lang="en-US" sz="1250" b="1" dirty="0">
                <a:solidFill>
                  <a:schemeClr val="accent1"/>
                </a:solidFill>
                <a:latin typeface="Courier New" pitchFamily="34" charset="0"/>
                <a:ea typeface="Courier New" pitchFamily="34" charset="-122"/>
                <a:cs typeface="Courier New" pitchFamily="34" charset="-120"/>
              </a:rPr>
              <a:t>visibilitychange / pagehide</a:t>
            </a:r>
            <a:endParaRPr lang="en-US" sz="1250" dirty="0"/>
          </a:p>
        </p:txBody>
      </p:sp>
      <p:sp>
        <p:nvSpPr>
          <p:cNvPr id="17" name="Text 14"/>
          <p:cNvSpPr txBox="1"/>
          <p:nvPr/>
        </p:nvSpPr>
        <p:spPr>
          <a:xfrm>
            <a:off x="8458200" y="4434840"/>
            <a:ext cx="3017520" cy="457200"/>
          </a:xfrm>
          <a:prstGeom prst="rect">
            <a:avLst/>
          </a:prstGeom>
          <a:noFill/>
          <a:ln/>
        </p:spPr>
        <p:txBody>
          <a:bodyPr wrap="square" lIns="0" tIns="0" rIns="0" bIns="0" rtlCol="0" anchor="t"/>
          <a:lstStyle/>
          <a:p>
            <a:pPr indent="0" marL="0">
              <a:buNone/>
            </a:pPr>
            <a:r>
              <a:rPr lang="en-US" sz="1300" dirty="0">
                <a:solidFill>
                  <a:schemeClr val="tx1"/>
                </a:solidFill>
              </a:rPr>
              <a:t>đo thời gian xem thực sự</a:t>
            </a:r>
            <a:endParaRPr lang="en-US" sz="1300" dirty="0"/>
          </a:p>
        </p:txBody>
      </p:sp>
      <p:sp>
        <p:nvSpPr>
          <p:cNvPr id="18" name="Card"/>
          <p:cNvSpPr/>
          <p:nvPr/>
        </p:nvSpPr>
        <p:spPr>
          <a:xfrm>
            <a:off x="8275320" y="5120640"/>
            <a:ext cx="3364992" cy="1143000"/>
          </a:xfrm>
          <a:prstGeom prst="roundRect">
            <a:avLst>
              <a:gd name="adj" fmla="val 8000"/>
            </a:avLst>
          </a:prstGeom>
          <a:solidFill>
            <a:schemeClr val="accent2"/>
          </a:solidFill>
          <a:ln w="12700">
            <a:solidFill>
              <a:schemeClr val="accent2"/>
            </a:solidFill>
            <a:prstDash val="solid"/>
          </a:ln>
        </p:spPr>
      </p:sp>
      <p:sp>
        <p:nvSpPr>
          <p:cNvPr id="19" name="Text 16"/>
          <p:cNvSpPr txBox="1"/>
          <p:nvPr/>
        </p:nvSpPr>
        <p:spPr>
          <a:xfrm>
            <a:off x="8458200" y="5166360"/>
            <a:ext cx="3017520" cy="1051560"/>
          </a:xfrm>
          <a:prstGeom prst="rect">
            <a:avLst/>
          </a:prstGeom>
          <a:noFill/>
          <a:ln/>
        </p:spPr>
        <p:txBody>
          <a:bodyPr wrap="square" lIns="0" tIns="0" rIns="0" bIns="0" rtlCol="0" anchor="ctr"/>
          <a:lstStyle/>
          <a:p>
            <a:pPr indent="0" marL="0">
              <a:buNone/>
            </a:pPr>
            <a:r>
              <a:rPr lang="en-US" sz="1300" b="1" dirty="0">
                <a:solidFill>
                  <a:schemeClr val="tx2"/>
                </a:solidFill>
              </a:rPr>
              <a:t>ADD_TO_CART không ghi ở trình duyệt: CartApiController, CartController và công cụ addToCart ghi ở server sau khi thêm giỏ thành công.</a:t>
            </a:r>
            <a:endParaRPr lang="en-US" sz="1300" dirty="0"/>
          </a:p>
        </p:txBody>
      </p:sp>
      <p:sp>
        <p:nvSpPr>
          <p:cNvPr id="20" name="Text 17"/>
          <p:cNvSpPr txBox="1"/>
          <p:nvPr/>
        </p:nvSpPr>
        <p:spPr>
          <a:xfrm>
            <a:off x="548640" y="5806440"/>
            <a:ext cx="7498080" cy="457200"/>
          </a:xfrm>
          <a:prstGeom prst="rect">
            <a:avLst/>
          </a:prstGeom>
          <a:noFill/>
          <a:ln/>
        </p:spPr>
        <p:txBody>
          <a:bodyPr wrap="square" lIns="0" tIns="0" rIns="0" bIns="0" rtlCol="0" anchor="t"/>
          <a:lstStyle/>
          <a:p>
            <a:pPr indent="0" marL="0">
              <a:buNone/>
            </a:pPr>
            <a:r>
              <a:rPr lang="en-US" sz="1300" i="1" dirty="0">
                <a:solidFill>
                  <a:schemeClr val="accent6"/>
                </a:solidFill>
              </a:rPr>
              <a:t>Mỗi lần ẩn trang gửi một TIME_ON_PAGE rồi đặt lại bộ đếm; dưới 1 giây thì bỏ qua.</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Thống kê: top click, phễu chuyển đổi</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ode panel UserEventRepository (JPQL)"/>
          <p:cNvSpPr/>
          <p:nvPr/>
        </p:nvSpPr>
        <p:spPr>
          <a:xfrm>
            <a:off x="548640" y="1463040"/>
            <a:ext cx="5394960" cy="2468880"/>
          </a:xfrm>
          <a:prstGeom prst="roundRect">
            <a:avLst>
              <a:gd name="adj" fmla="val 2963"/>
            </a:avLst>
          </a:prstGeom>
          <a:solidFill>
            <a:schemeClr val="tx2"/>
          </a:solidFill>
          <a:ln w="12700">
            <a:solidFill>
              <a:schemeClr val="tx2"/>
            </a:solidFill>
            <a:prstDash val="solid"/>
          </a:ln>
        </p:spPr>
      </p:sp>
      <p:sp>
        <p:nvSpPr>
          <p:cNvPr id="6" name="Text 3"/>
          <p:cNvSpPr txBox="1"/>
          <p:nvPr/>
        </p:nvSpPr>
        <p:spPr>
          <a:xfrm>
            <a:off x="731520" y="1554480"/>
            <a:ext cx="5029200" cy="237744"/>
          </a:xfrm>
          <a:prstGeom prst="rect">
            <a:avLst/>
          </a:prstGeom>
          <a:noFill/>
          <a:ln/>
        </p:spPr>
        <p:txBody>
          <a:bodyPr wrap="square" lIns="0" tIns="0" rIns="0" bIns="0" rtlCol="0" anchor="ctr"/>
          <a:lstStyle/>
          <a:p>
            <a:pPr indent="0" marL="0">
              <a:buNone/>
            </a:pPr>
            <a:r>
              <a:rPr lang="en-US" sz="1100" b="1" dirty="0">
                <a:solidFill>
                  <a:schemeClr val="accent5"/>
                </a:solidFill>
              </a:rPr>
              <a:t>UserEventRepository (JPQL)</a:t>
            </a:r>
            <a:endParaRPr lang="en-US" sz="1100" dirty="0"/>
          </a:p>
        </p:txBody>
      </p:sp>
      <p:sp>
        <p:nvSpPr>
          <p:cNvPr id="7" name="Code UserEventRepository (JPQL)"/>
          <p:cNvSpPr txBox="1"/>
          <p:nvPr/>
        </p:nvSpPr>
        <p:spPr>
          <a:xfrm>
            <a:off x="731520" y="1847088"/>
            <a:ext cx="5029200" cy="2011680"/>
          </a:xfrm>
          <a:prstGeom prst="rect">
            <a:avLst/>
          </a:prstGeom>
          <a:noFill/>
          <a:ln/>
        </p:spPr>
        <p:txBody>
          <a:bodyPr wrap="square" lIns="0" tIns="0" rIns="0" bIns="0" rtlCol="0" anchor="t"/>
          <a:lstStyle/>
          <a:p>
            <a:pPr indent="0" marL="0">
              <a:lnSpc>
                <a:spcPts val="1400"/>
              </a:lnSpc>
              <a:buNone/>
            </a:pPr>
            <a:r>
              <a:rPr lang="en-US" sz="1100" dirty="0">
                <a:solidFill>
                  <a:srgbClr val="86C7BA"/>
                </a:solidFill>
                <a:latin typeface="Courier New" pitchFamily="34" charset="0"/>
                <a:ea typeface="Courier New" pitchFamily="34" charset="-122"/>
                <a:cs typeface="Courier New" pitchFamily="34" charset="-120"/>
              </a:rPr>
              <a:t>@Query</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F4B393"/>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SELECT t.id, t.name, COUNT(e) FROM </a:t>
            </a:r>
            <a:r>
              <a:rPr lang="en-US" sz="1100" dirty="0">
                <a:solidFill>
                  <a:srgbClr val="86C7BA"/>
                </a:solidFill>
                <a:latin typeface="Courier New" pitchFamily="34" charset="0"/>
                <a:ea typeface="Courier New" pitchFamily="34" charset="-122"/>
                <a:cs typeface="Courier New" pitchFamily="34" charset="-120"/>
              </a:rPr>
              <a:t>UserEvent</a:t>
            </a:r>
            <a:r>
              <a:rPr lang="en-US" sz="1100" dirty="0">
                <a:solidFill>
                  <a:srgbClr val="EFF7F5"/>
                </a:solidFill>
                <a:latin typeface="Courier New" pitchFamily="34" charset="0"/>
                <a:ea typeface="Courier New" pitchFamily="34" charset="-122"/>
                <a:cs typeface="Courier New" pitchFamily="34" charset="-120"/>
              </a:rPr>
              <a:t> e</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JOIN </a:t>
            </a:r>
            <a:r>
              <a:rPr lang="en-US" sz="1100" dirty="0">
                <a:solidFill>
                  <a:srgbClr val="86C7BA"/>
                </a:solidFill>
                <a:latin typeface="Courier New" pitchFamily="34" charset="0"/>
                <a:ea typeface="Courier New" pitchFamily="34" charset="-122"/>
                <a:cs typeface="Courier New" pitchFamily="34" charset="-120"/>
              </a:rPr>
              <a:t>Tour</a:t>
            </a:r>
            <a:r>
              <a:rPr lang="en-US" sz="1100" dirty="0">
                <a:solidFill>
                  <a:srgbClr val="EFF7F5"/>
                </a:solidFill>
                <a:latin typeface="Courier New" pitchFamily="34" charset="0"/>
                <a:ea typeface="Courier New" pitchFamily="34" charset="-122"/>
                <a:cs typeface="Courier New" pitchFamily="34" charset="-120"/>
              </a:rPr>
              <a:t> t ON t.id = e.tourId</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WHERE e.type = :type</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AND e.occurredAt &gt;= :from AND e.occurredAt &lt; :to</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GROUP BY t.id, t.name ORDER BY COUNT(e) DESC</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F4B393"/>
                </a:solidFill>
                <a:latin typeface="Courier New" pitchFamily="34" charset="0"/>
                <a:ea typeface="Courier New" pitchFamily="34" charset="-122"/>
                <a:cs typeface="Courier New" pitchFamily="34" charset="-120"/>
              </a:rPr>
              <a:t>"""</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86C7BA"/>
                </a:solidFill>
                <a:latin typeface="Courier New" pitchFamily="34" charset="0"/>
                <a:ea typeface="Courier New" pitchFamily="34" charset="-122"/>
                <a:cs typeface="Courier New" pitchFamily="34" charset="-120"/>
              </a:rPr>
              <a:t>List</a:t>
            </a:r>
            <a:r>
              <a:rPr lang="en-US" sz="1100" dirty="0">
                <a:solidFill>
                  <a:srgbClr val="EFF7F5"/>
                </a:solidFill>
                <a:latin typeface="Courier New" pitchFamily="34" charset="0"/>
                <a:ea typeface="Courier New" pitchFamily="34" charset="-122"/>
                <a:cs typeface="Courier New" pitchFamily="34" charset="-120"/>
              </a:rPr>
              <a:t>&lt;</a:t>
            </a:r>
            <a:r>
              <a:rPr lang="en-US" sz="1100" dirty="0">
                <a:solidFill>
                  <a:srgbClr val="86C7BA"/>
                </a:solidFill>
                <a:latin typeface="Courier New" pitchFamily="34" charset="0"/>
                <a:ea typeface="Courier New" pitchFamily="34" charset="-122"/>
                <a:cs typeface="Courier New" pitchFamily="34" charset="-120"/>
              </a:rPr>
              <a:t>Object</a:t>
            </a:r>
            <a:r>
              <a:rPr lang="en-US" sz="1100" dirty="0">
                <a:solidFill>
                  <a:srgbClr val="EFF7F5"/>
                </a:solidFill>
                <a:latin typeface="Courier New" pitchFamily="34" charset="0"/>
                <a:ea typeface="Courier New" pitchFamily="34" charset="-122"/>
                <a:cs typeface="Courier New" pitchFamily="34" charset="-120"/>
              </a:rPr>
              <a:t>[]&gt; topToursByType(...);</a:t>
            </a:r>
            <a:endParaRPr lang="en-US" sz="1100" dirty="0"/>
          </a:p>
        </p:txBody>
      </p:sp>
      <p:sp>
        <p:nvSpPr>
          <p:cNvPr id="8" name="Code panel Phễu theo tour (T-SQL)"/>
          <p:cNvSpPr/>
          <p:nvPr/>
        </p:nvSpPr>
        <p:spPr>
          <a:xfrm>
            <a:off x="6080760" y="1463040"/>
            <a:ext cx="5559552" cy="2697480"/>
          </a:xfrm>
          <a:prstGeom prst="roundRect">
            <a:avLst>
              <a:gd name="adj" fmla="val 2712"/>
            </a:avLst>
          </a:prstGeom>
          <a:solidFill>
            <a:schemeClr val="tx2"/>
          </a:solidFill>
          <a:ln w="12700">
            <a:solidFill>
              <a:schemeClr val="tx2"/>
            </a:solidFill>
            <a:prstDash val="solid"/>
          </a:ln>
        </p:spPr>
      </p:sp>
      <p:sp>
        <p:nvSpPr>
          <p:cNvPr id="9" name="Text 6"/>
          <p:cNvSpPr txBox="1"/>
          <p:nvPr/>
        </p:nvSpPr>
        <p:spPr>
          <a:xfrm>
            <a:off x="6263640" y="1554480"/>
            <a:ext cx="5193792" cy="237744"/>
          </a:xfrm>
          <a:prstGeom prst="rect">
            <a:avLst/>
          </a:prstGeom>
          <a:noFill/>
          <a:ln/>
        </p:spPr>
        <p:txBody>
          <a:bodyPr wrap="square" lIns="0" tIns="0" rIns="0" bIns="0" rtlCol="0" anchor="ctr"/>
          <a:lstStyle/>
          <a:p>
            <a:pPr indent="0" marL="0">
              <a:buNone/>
            </a:pPr>
            <a:r>
              <a:rPr lang="en-US" sz="1100" b="1" dirty="0">
                <a:solidFill>
                  <a:schemeClr val="accent5"/>
                </a:solidFill>
              </a:rPr>
              <a:t>funnelByTour (JPQL, không SQL riêng)</a:t>
            </a:r>
            <a:endParaRPr lang="en-US" sz="1100" dirty="0"/>
          </a:p>
        </p:txBody>
      </p:sp>
      <p:sp>
        <p:nvSpPr>
          <p:cNvPr id="10" name="Code Phễu theo tour (T-SQL)"/>
          <p:cNvSpPr txBox="1"/>
          <p:nvPr/>
        </p:nvSpPr>
        <p:spPr>
          <a:xfrm>
            <a:off x="6263640" y="1847088"/>
            <a:ext cx="5193792" cy="2240280"/>
          </a:xfrm>
          <a:prstGeom prst="rect">
            <a:avLst/>
          </a:prstGeom>
          <a:noFill/>
          <a:ln/>
        </p:spPr>
        <p:txBody>
          <a:bodyPr wrap="square" lIns="0" tIns="0" rIns="0" bIns="0" rtlCol="0" anchor="t"/>
          <a:lstStyle/>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SELECT</a:t>
            </a:r>
            <a:r>
              <a:rPr lang="en-US" sz="1100" dirty="0">
                <a:solidFill>
                  <a:srgbClr val="EFF7F5"/>
                </a:solidFill>
                <a:latin typeface="Courier New" pitchFamily="34" charset="0"/>
                <a:ea typeface="Courier New" pitchFamily="34" charset="-122"/>
                <a:cs typeface="Courier New" pitchFamily="34" charset="-120"/>
              </a:rPr>
              <a:t> t.id, t.name,</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SUM</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0A458"/>
                </a:solidFill>
                <a:latin typeface="Courier New" pitchFamily="34" charset="0"/>
                <a:ea typeface="Courier New" pitchFamily="34" charset="-122"/>
                <a:cs typeface="Courier New" pitchFamily="34" charset="-120"/>
              </a:rPr>
              <a:t>CASE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WHEN</a:t>
            </a:r>
            <a:r>
              <a:rPr lang="en-US" sz="1100" dirty="0">
                <a:solidFill>
                  <a:srgbClr val="EFF7F5"/>
                </a:solidFill>
                <a:latin typeface="Courier New" pitchFamily="34" charset="0"/>
                <a:ea typeface="Courier New" pitchFamily="34" charset="-122"/>
                <a:cs typeface="Courier New" pitchFamily="34" charset="-120"/>
              </a:rPr>
              <a:t> e.type = :view  </a:t>
            </a:r>
            <a:r>
              <a:rPr lang="en-US" sz="1100" dirty="0">
                <a:solidFill>
                  <a:srgbClr val="E0A458"/>
                </a:solidFill>
                <a:latin typeface="Courier New" pitchFamily="34" charset="0"/>
                <a:ea typeface="Courier New" pitchFamily="34" charset="-122"/>
                <a:cs typeface="Courier New" pitchFamily="34" charset="-120"/>
              </a:rPr>
              <a:t>THEN</a:t>
            </a:r>
            <a:r>
              <a:rPr lang="en-US" sz="1100" dirty="0">
                <a:solidFill>
                  <a:srgbClr val="EFF7F5"/>
                </a:solidFill>
                <a:latin typeface="Courier New" pitchFamily="34" charset="0"/>
                <a:ea typeface="Courier New" pitchFamily="34" charset="-122"/>
                <a:cs typeface="Courier New" pitchFamily="34" charset="-120"/>
              </a:rPr>
              <a:t> 1 </a:t>
            </a:r>
            <a:r>
              <a:rPr lang="en-US" sz="1100" dirty="0">
                <a:solidFill>
                  <a:srgbClr val="E0A458"/>
                </a:solidFill>
                <a:latin typeface="Courier New" pitchFamily="34" charset="0"/>
                <a:ea typeface="Courier New" pitchFamily="34" charset="-122"/>
                <a:cs typeface="Courier New" pitchFamily="34" charset="-120"/>
              </a:rPr>
              <a:t>ELSE</a:t>
            </a:r>
            <a:r>
              <a:rPr lang="en-US" sz="1100" dirty="0">
                <a:solidFill>
                  <a:srgbClr val="EFF7F5"/>
                </a:solidFill>
                <a:latin typeface="Courier New" pitchFamily="34" charset="0"/>
                <a:ea typeface="Courier New" pitchFamily="34" charset="-122"/>
                <a:cs typeface="Courier New" pitchFamily="34" charset="-120"/>
              </a:rPr>
              <a:t> 0 </a:t>
            </a:r>
            <a:r>
              <a:rPr lang="en-US" sz="1100" dirty="0">
                <a:solidFill>
                  <a:srgbClr val="E0A458"/>
                </a:solidFill>
                <a:latin typeface="Courier New" pitchFamily="34" charset="0"/>
                <a:ea typeface="Courier New" pitchFamily="34" charset="-122"/>
                <a:cs typeface="Courier New" pitchFamily="34" charset="-120"/>
              </a:rPr>
              <a:t>END</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SUM</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0A458"/>
                </a:solidFill>
                <a:latin typeface="Courier New" pitchFamily="34" charset="0"/>
                <a:ea typeface="Courier New" pitchFamily="34" charset="-122"/>
                <a:cs typeface="Courier New" pitchFamily="34" charset="-120"/>
              </a:rPr>
              <a:t>CASE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WHEN</a:t>
            </a:r>
            <a:r>
              <a:rPr lang="en-US" sz="1100" dirty="0">
                <a:solidFill>
                  <a:srgbClr val="EFF7F5"/>
                </a:solidFill>
                <a:latin typeface="Courier New" pitchFamily="34" charset="0"/>
                <a:ea typeface="Courier New" pitchFamily="34" charset="-122"/>
                <a:cs typeface="Courier New" pitchFamily="34" charset="-120"/>
              </a:rPr>
              <a:t> e.type = :click </a:t>
            </a:r>
            <a:r>
              <a:rPr lang="en-US" sz="1100" dirty="0">
                <a:solidFill>
                  <a:srgbClr val="E0A458"/>
                </a:solidFill>
                <a:latin typeface="Courier New" pitchFamily="34" charset="0"/>
                <a:ea typeface="Courier New" pitchFamily="34" charset="-122"/>
                <a:cs typeface="Courier New" pitchFamily="34" charset="-120"/>
              </a:rPr>
              <a:t>THEN</a:t>
            </a:r>
            <a:r>
              <a:rPr lang="en-US" sz="1100" dirty="0">
                <a:solidFill>
                  <a:srgbClr val="EFF7F5"/>
                </a:solidFill>
                <a:latin typeface="Courier New" pitchFamily="34" charset="0"/>
                <a:ea typeface="Courier New" pitchFamily="34" charset="-122"/>
                <a:cs typeface="Courier New" pitchFamily="34" charset="-120"/>
              </a:rPr>
              <a:t> 1 </a:t>
            </a:r>
            <a:r>
              <a:rPr lang="en-US" sz="1100" dirty="0">
                <a:solidFill>
                  <a:srgbClr val="E0A458"/>
                </a:solidFill>
                <a:latin typeface="Courier New" pitchFamily="34" charset="0"/>
                <a:ea typeface="Courier New" pitchFamily="34" charset="-122"/>
                <a:cs typeface="Courier New" pitchFamily="34" charset="-120"/>
              </a:rPr>
              <a:t>ELSE</a:t>
            </a:r>
            <a:r>
              <a:rPr lang="en-US" sz="1100" dirty="0">
                <a:solidFill>
                  <a:srgbClr val="EFF7F5"/>
                </a:solidFill>
                <a:latin typeface="Courier New" pitchFamily="34" charset="0"/>
                <a:ea typeface="Courier New" pitchFamily="34" charset="-122"/>
                <a:cs typeface="Courier New" pitchFamily="34" charset="-120"/>
              </a:rPr>
              <a:t> 0 </a:t>
            </a:r>
            <a:r>
              <a:rPr lang="en-US" sz="1100" dirty="0">
                <a:solidFill>
                  <a:srgbClr val="E0A458"/>
                </a:solidFill>
                <a:latin typeface="Courier New" pitchFamily="34" charset="0"/>
                <a:ea typeface="Courier New" pitchFamily="34" charset="-122"/>
                <a:cs typeface="Courier New" pitchFamily="34" charset="-120"/>
              </a:rPr>
              <a:t>END</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SUM</a:t>
            </a:r>
            <a:r>
              <a:rPr lang="en-US" sz="1100" dirty="0">
                <a:solidFill>
                  <a:srgbClr val="EFF7F5"/>
                </a:solidFill>
                <a:latin typeface="Courier New" pitchFamily="34" charset="0"/>
                <a:ea typeface="Courier New" pitchFamily="34" charset="-122"/>
                <a:cs typeface="Courier New" pitchFamily="34" charset="-120"/>
              </a:rPr>
              <a:t>(</a:t>
            </a:r>
            <a:r>
              <a:rPr lang="en-US" sz="1100" dirty="0">
                <a:solidFill>
                  <a:srgbClr val="E0A458"/>
                </a:solidFill>
                <a:latin typeface="Courier New" pitchFamily="34" charset="0"/>
                <a:ea typeface="Courier New" pitchFamily="34" charset="-122"/>
                <a:cs typeface="Courier New" pitchFamily="34" charset="-120"/>
              </a:rPr>
              <a:t>CASE</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WHEN</a:t>
            </a:r>
            <a:r>
              <a:rPr lang="en-US" sz="1100" dirty="0">
                <a:solidFill>
                  <a:srgbClr val="EFF7F5"/>
                </a:solidFill>
                <a:latin typeface="Courier New" pitchFamily="34" charset="0"/>
                <a:ea typeface="Courier New" pitchFamily="34" charset="-122"/>
                <a:cs typeface="Courier New" pitchFamily="34" charset="-120"/>
              </a:rPr>
              <a:t> e.type = :cart  </a:t>
            </a:r>
            <a:r>
              <a:rPr lang="en-US" sz="1100" dirty="0">
                <a:solidFill>
                  <a:srgbClr val="E0A458"/>
                </a:solidFill>
                <a:latin typeface="Courier New" pitchFamily="34" charset="0"/>
                <a:ea typeface="Courier New" pitchFamily="34" charset="-122"/>
                <a:cs typeface="Courier New" pitchFamily="34" charset="-120"/>
              </a:rPr>
              <a:t>THEN</a:t>
            </a:r>
            <a:r>
              <a:rPr lang="en-US" sz="1100" dirty="0">
                <a:solidFill>
                  <a:srgbClr val="EFF7F5"/>
                </a:solidFill>
                <a:latin typeface="Courier New" pitchFamily="34" charset="0"/>
                <a:ea typeface="Courier New" pitchFamily="34" charset="-122"/>
                <a:cs typeface="Courier New" pitchFamily="34" charset="-120"/>
              </a:rPr>
              <a:t> 1 </a:t>
            </a:r>
            <a:r>
              <a:rPr lang="en-US" sz="1100" dirty="0">
                <a:solidFill>
                  <a:srgbClr val="E0A458"/>
                </a:solidFill>
                <a:latin typeface="Courier New" pitchFamily="34" charset="0"/>
                <a:ea typeface="Courier New" pitchFamily="34" charset="-122"/>
                <a:cs typeface="Courier New" pitchFamily="34" charset="-120"/>
              </a:rPr>
              <a:t>ELSE</a:t>
            </a:r>
            <a:r>
              <a:rPr lang="en-US" sz="1100" dirty="0">
                <a:solidFill>
                  <a:srgbClr val="EFF7F5"/>
                </a:solidFill>
                <a:latin typeface="Courier New" pitchFamily="34" charset="0"/>
                <a:ea typeface="Courier New" pitchFamily="34" charset="-122"/>
                <a:cs typeface="Courier New" pitchFamily="34" charset="-120"/>
              </a:rPr>
              <a:t> 0 </a:t>
            </a:r>
            <a:r>
              <a:rPr lang="en-US" sz="1100" dirty="0">
                <a:solidFill>
                  <a:srgbClr val="E0A458"/>
                </a:solidFill>
                <a:latin typeface="Courier New" pitchFamily="34" charset="0"/>
                <a:ea typeface="Courier New" pitchFamily="34" charset="-122"/>
                <a:cs typeface="Courier New" pitchFamily="34" charset="-120"/>
              </a:rPr>
              <a:t>END</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FROM</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UserEvent</a:t>
            </a:r>
            <a:r>
              <a:rPr lang="en-US" sz="1100" dirty="0">
                <a:solidFill>
                  <a:srgbClr val="EFF7F5"/>
                </a:solidFill>
                <a:latin typeface="Courier New" pitchFamily="34" charset="0"/>
                <a:ea typeface="Courier New" pitchFamily="34" charset="-122"/>
                <a:cs typeface="Courier New" pitchFamily="34" charset="-120"/>
              </a:rPr>
              <a:t> e </a:t>
            </a:r>
            <a:r>
              <a:rPr lang="en-US" sz="1100" dirty="0">
                <a:solidFill>
                  <a:srgbClr val="E0A458"/>
                </a:solidFill>
                <a:latin typeface="Courier New" pitchFamily="34" charset="0"/>
                <a:ea typeface="Courier New" pitchFamily="34" charset="-122"/>
                <a:cs typeface="Courier New" pitchFamily="34" charset="-120"/>
              </a:rPr>
              <a:t>JOIN</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Tour</a:t>
            </a:r>
            <a:r>
              <a:rPr lang="en-US" sz="1100" dirty="0">
                <a:solidFill>
                  <a:srgbClr val="EFF7F5"/>
                </a:solidFill>
                <a:latin typeface="Courier New" pitchFamily="34" charset="0"/>
                <a:ea typeface="Courier New" pitchFamily="34" charset="-122"/>
                <a:cs typeface="Courier New" pitchFamily="34" charset="-120"/>
              </a:rPr>
              <a:t> t </a:t>
            </a:r>
            <a:r>
              <a:rPr lang="en-US" sz="1100" dirty="0">
                <a:solidFill>
                  <a:srgbClr val="E0A458"/>
                </a:solidFill>
                <a:latin typeface="Courier New" pitchFamily="34" charset="0"/>
                <a:ea typeface="Courier New" pitchFamily="34" charset="-122"/>
                <a:cs typeface="Courier New" pitchFamily="34" charset="-120"/>
              </a:rPr>
              <a:t>ON</a:t>
            </a:r>
            <a:r>
              <a:rPr lang="en-US" sz="1100" dirty="0">
                <a:solidFill>
                  <a:srgbClr val="EFF7F5"/>
                </a:solidFill>
                <a:latin typeface="Courier New" pitchFamily="34" charset="0"/>
                <a:ea typeface="Courier New" pitchFamily="34" charset="-122"/>
                <a:cs typeface="Courier New" pitchFamily="34" charset="-120"/>
              </a:rPr>
              <a:t> t.id = e.tourId</a:t>
            </a:r>
            <a:endParaRPr lang="en-US" sz="1100" dirty="0"/>
          </a:p>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WHERE</a:t>
            </a:r>
            <a:r>
              <a:rPr lang="en-US" sz="1100" dirty="0">
                <a:solidFill>
                  <a:srgbClr val="EFF7F5"/>
                </a:solidFill>
                <a:latin typeface="Courier New" pitchFamily="34" charset="0"/>
                <a:ea typeface="Courier New" pitchFamily="34" charset="-122"/>
                <a:cs typeface="Courier New" pitchFamily="34" charset="-120"/>
              </a:rPr>
              <a:t> e.occurredAt &gt;= :from </a:t>
            </a:r>
            <a:r>
              <a:rPr lang="en-US" sz="1100" dirty="0">
                <a:solidFill>
                  <a:srgbClr val="E0A458"/>
                </a:solidFill>
                <a:latin typeface="Courier New" pitchFamily="34" charset="0"/>
                <a:ea typeface="Courier New" pitchFamily="34" charset="-122"/>
                <a:cs typeface="Courier New" pitchFamily="34" charset="-120"/>
              </a:rPr>
              <a:t>AND</a:t>
            </a:r>
            <a:r>
              <a:rPr lang="en-US" sz="1100" dirty="0">
                <a:solidFill>
                  <a:srgbClr val="EFF7F5"/>
                </a:solidFill>
                <a:latin typeface="Courier New" pitchFamily="34" charset="0"/>
                <a:ea typeface="Courier New" pitchFamily="34" charset="-122"/>
                <a:cs typeface="Courier New" pitchFamily="34" charset="-120"/>
              </a:rPr>
              <a:t> e.occurredAt &lt; :to</a:t>
            </a:r>
            <a:endParaRPr lang="en-US" sz="1100" dirty="0"/>
          </a:p>
          <a:p>
            <a:pPr indent="0" marL="0">
              <a:lnSpc>
                <a:spcPts val="1300"/>
              </a:lnSpc>
              <a:buNone/>
            </a:pPr>
            <a:r>
              <a:rPr lang="en-US" sz="1100" dirty="0">
                <a:solidFill>
                  <a:srgbClr val="E0A458"/>
                </a:solidFill>
                <a:latin typeface="Courier New" pitchFamily="34" charset="0"/>
                <a:ea typeface="Courier New" pitchFamily="34" charset="-122"/>
                <a:cs typeface="Courier New" pitchFamily="34" charset="-120"/>
              </a:rPr>
              <a:t>GROUP</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BY</a:t>
            </a:r>
            <a:r>
              <a:rPr lang="en-US" sz="1100" dirty="0">
                <a:solidFill>
                  <a:srgbClr val="EFF7F5"/>
                </a:solidFill>
                <a:latin typeface="Courier New" pitchFamily="34" charset="0"/>
                <a:ea typeface="Courier New" pitchFamily="34" charset="-122"/>
                <a:cs typeface="Courier New" pitchFamily="34" charset="-120"/>
              </a:rPr>
              <a:t> t.id, t.name</a:t>
            </a:r>
            <a:endParaRPr lang="en-US" sz="1100" dirty="0"/>
          </a:p>
        </p:txBody>
      </p:sp>
      <p:sp>
        <p:nvSpPr>
          <p:cNvPr id="11" name="Card"/>
          <p:cNvSpPr/>
          <p:nvPr/>
        </p:nvSpPr>
        <p:spPr>
          <a:xfrm>
            <a:off x="548640" y="4114800"/>
            <a:ext cx="5394960" cy="603504"/>
          </a:xfrm>
          <a:prstGeom prst="roundRect">
            <a:avLst>
              <a:gd name="adj" fmla="val 15152"/>
            </a:avLst>
          </a:prstGeom>
          <a:solidFill>
            <a:schemeClr val="bg2"/>
          </a:solidFill>
          <a:ln w="12700">
            <a:solidFill>
              <a:schemeClr val="bg2"/>
            </a:solidFill>
            <a:prstDash val="solid"/>
          </a:ln>
        </p:spPr>
      </p:sp>
      <p:sp>
        <p:nvSpPr>
          <p:cNvPr id="12" name="Text 9"/>
          <p:cNvSpPr txBox="1"/>
          <p:nvPr/>
        </p:nvSpPr>
        <p:spPr>
          <a:xfrm>
            <a:off x="731520" y="4114800"/>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Top xem / click</a:t>
            </a:r>
            <a:endParaRPr lang="en-US" sz="1300" dirty="0"/>
          </a:p>
        </p:txBody>
      </p:sp>
      <p:sp>
        <p:nvSpPr>
          <p:cNvPr id="13" name="Text 10"/>
          <p:cNvSpPr txBox="1"/>
          <p:nvPr/>
        </p:nvSpPr>
        <p:spPr>
          <a:xfrm>
            <a:off x="2468880" y="4114800"/>
            <a:ext cx="3200400" cy="603504"/>
          </a:xfrm>
          <a:prstGeom prst="rect">
            <a:avLst/>
          </a:prstGeom>
          <a:noFill/>
          <a:ln/>
        </p:spPr>
        <p:txBody>
          <a:bodyPr wrap="square" lIns="0" tIns="0" rIns="0" bIns="0" rtlCol="0" anchor="ctr"/>
          <a:lstStyle/>
          <a:p>
            <a:pPr indent="0" marL="0">
              <a:buNone/>
            </a:pPr>
            <a:r>
              <a:rPr lang="en-US" sz="1300" dirty="0">
                <a:solidFill>
                  <a:schemeClr val="tx1"/>
                </a:solidFill>
              </a:rPr>
              <a:t>topToursByType(VIEW | CLICK, khoảng ngày)</a:t>
            </a:r>
            <a:endParaRPr lang="en-US" sz="1300" dirty="0"/>
          </a:p>
        </p:txBody>
      </p:sp>
      <p:sp>
        <p:nvSpPr>
          <p:cNvPr id="14" name="Card"/>
          <p:cNvSpPr/>
          <p:nvPr/>
        </p:nvSpPr>
        <p:spPr>
          <a:xfrm>
            <a:off x="548640" y="4828032"/>
            <a:ext cx="5394960" cy="603504"/>
          </a:xfrm>
          <a:prstGeom prst="roundRect">
            <a:avLst>
              <a:gd name="adj" fmla="val 15152"/>
            </a:avLst>
          </a:prstGeom>
          <a:solidFill>
            <a:schemeClr val="bg2"/>
          </a:solidFill>
          <a:ln w="12700">
            <a:solidFill>
              <a:schemeClr val="bg2"/>
            </a:solidFill>
            <a:prstDash val="solid"/>
          </a:ln>
        </p:spPr>
      </p:sp>
      <p:sp>
        <p:nvSpPr>
          <p:cNvPr id="15" name="Text 12"/>
          <p:cNvSpPr txBox="1"/>
          <p:nvPr/>
        </p:nvSpPr>
        <p:spPr>
          <a:xfrm>
            <a:off x="731520" y="4828032"/>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Đặt nhiều nhất</a:t>
            </a:r>
            <a:endParaRPr lang="en-US" sz="1300" dirty="0"/>
          </a:p>
        </p:txBody>
      </p:sp>
      <p:sp>
        <p:nvSpPr>
          <p:cNvPr id="16" name="Text 13"/>
          <p:cNvSpPr txBox="1"/>
          <p:nvPr/>
        </p:nvSpPr>
        <p:spPr>
          <a:xfrm>
            <a:off x="2468880" y="4828032"/>
            <a:ext cx="3200400" cy="603504"/>
          </a:xfrm>
          <a:prstGeom prst="rect">
            <a:avLst/>
          </a:prstGeom>
          <a:noFill/>
          <a:ln/>
        </p:spPr>
        <p:txBody>
          <a:bodyPr wrap="square" lIns="0" tIns="0" rIns="0" bIns="0" rtlCol="0" anchor="ctr"/>
          <a:lstStyle/>
          <a:p>
            <a:pPr indent="0" marL="0">
              <a:buNone/>
            </a:pPr>
            <a:r>
              <a:rPr lang="en-US" sz="1300" dirty="0">
                <a:solidFill>
                  <a:schemeClr val="tx1"/>
                </a:solidFill>
              </a:rPr>
              <a:t>bookingCountByTour(from, to), bỏ đơn đã huỷ</a:t>
            </a:r>
            <a:endParaRPr lang="en-US" sz="1300" dirty="0"/>
          </a:p>
        </p:txBody>
      </p:sp>
      <p:sp>
        <p:nvSpPr>
          <p:cNvPr id="17" name="Card"/>
          <p:cNvSpPr/>
          <p:nvPr/>
        </p:nvSpPr>
        <p:spPr>
          <a:xfrm>
            <a:off x="548640" y="5541264"/>
            <a:ext cx="5394960" cy="603504"/>
          </a:xfrm>
          <a:prstGeom prst="roundRect">
            <a:avLst>
              <a:gd name="adj" fmla="val 15152"/>
            </a:avLst>
          </a:prstGeom>
          <a:solidFill>
            <a:schemeClr val="bg2"/>
          </a:solidFill>
          <a:ln w="12700">
            <a:solidFill>
              <a:schemeClr val="bg2"/>
            </a:solidFill>
            <a:prstDash val="solid"/>
          </a:ln>
        </p:spPr>
      </p:sp>
      <p:sp>
        <p:nvSpPr>
          <p:cNvPr id="18" name="Text 15"/>
          <p:cNvSpPr txBox="1"/>
          <p:nvPr/>
        </p:nvSpPr>
        <p:spPr>
          <a:xfrm>
            <a:off x="731520" y="5541264"/>
            <a:ext cx="1737360" cy="603504"/>
          </a:xfrm>
          <a:prstGeom prst="rect">
            <a:avLst/>
          </a:prstGeom>
          <a:noFill/>
          <a:ln/>
        </p:spPr>
        <p:txBody>
          <a:bodyPr wrap="square" lIns="0" tIns="0" rIns="0" bIns="0" rtlCol="0" anchor="ctr"/>
          <a:lstStyle/>
          <a:p>
            <a:pPr indent="0" marL="0">
              <a:buNone/>
            </a:pPr>
            <a:r>
              <a:rPr lang="en-US" sz="1300" b="1" dirty="0">
                <a:solidFill>
                  <a:schemeClr val="accent1"/>
                </a:solidFill>
              </a:rPr>
              <a:t>Tỉ lệ chuyển đổi</a:t>
            </a:r>
            <a:endParaRPr lang="en-US" sz="1300" dirty="0"/>
          </a:p>
        </p:txBody>
      </p:sp>
      <p:sp>
        <p:nvSpPr>
          <p:cNvPr id="19" name="Text 16"/>
          <p:cNvSpPr txBox="1"/>
          <p:nvPr/>
        </p:nvSpPr>
        <p:spPr>
          <a:xfrm>
            <a:off x="2468880" y="5541264"/>
            <a:ext cx="3200400" cy="603504"/>
          </a:xfrm>
          <a:prstGeom prst="rect">
            <a:avLst/>
          </a:prstGeom>
          <a:noFill/>
          <a:ln/>
        </p:spPr>
        <p:txBody>
          <a:bodyPr wrap="square" lIns="0" tIns="0" rIns="0" bIns="0" rtlCol="0" anchor="ctr"/>
          <a:lstStyle/>
          <a:p>
            <a:pPr indent="0" marL="0">
              <a:buNone/>
            </a:pPr>
            <a:r>
              <a:rPr lang="en-US" sz="1300" dirty="0">
                <a:solidFill>
                  <a:schemeClr val="tx1"/>
                </a:solidFill>
              </a:rPr>
              <a:t>carts / views · bookings / carts</a:t>
            </a:r>
            <a:endParaRPr lang="en-US" sz="1300" dirty="0"/>
          </a:p>
        </p:txBody>
      </p:sp>
      <p:sp>
        <p:nvSpPr>
          <p:cNvPr id="20" name="Text 17"/>
          <p:cNvSpPr txBox="1"/>
          <p:nvPr/>
        </p:nvSpPr>
        <p:spPr>
          <a:xfrm>
            <a:off x="6080760" y="4389120"/>
            <a:ext cx="5559552" cy="640080"/>
          </a:xfrm>
          <a:prstGeom prst="rect">
            <a:avLst/>
          </a:prstGeom>
          <a:noFill/>
          <a:ln/>
        </p:spPr>
        <p:txBody>
          <a:bodyPr wrap="square" lIns="0" tIns="0" rIns="0" bIns="0" rtlCol="0" anchor="t"/>
          <a:lstStyle/>
          <a:p>
            <a:pPr indent="0" marL="0">
              <a:buNone/>
            </a:pPr>
            <a:r>
              <a:rPr lang="en-US" sz="1400" i="1" dirty="0">
                <a:solidFill>
                  <a:schemeClr val="accent6"/>
                </a:solidFill>
              </a:rPr>
              <a:t>BehaviorStatsService → AdminAnalyticsController → /admin/analytics (chỉ ADMIN). Đơn đặt lấy từ bảng bookings hiện có.</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Trang thống kê hành vi người dùng</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ard"/>
          <p:cNvSpPr/>
          <p:nvPr/>
        </p:nvSpPr>
        <p:spPr>
          <a:xfrm>
            <a:off x="548640" y="1463040"/>
            <a:ext cx="7498080" cy="4800600"/>
          </a:xfrm>
          <a:prstGeom prst="roundRect">
            <a:avLst>
              <a:gd name="adj" fmla="val 1905"/>
            </a:avLst>
          </a:prstGeom>
          <a:solidFill>
            <a:srgbClr val="FFFFFF"/>
          </a:solidFill>
          <a:ln w="15875">
            <a:solidFill>
              <a:schemeClr val="accent5"/>
            </a:solidFill>
            <a:prstDash val="solid"/>
          </a:ln>
        </p:spPr>
      </p:sp>
      <p:sp>
        <p:nvSpPr>
          <p:cNvPr id="6" name="Card"/>
          <p:cNvSpPr/>
          <p:nvPr/>
        </p:nvSpPr>
        <p:spPr>
          <a:xfrm>
            <a:off x="548640" y="1463040"/>
            <a:ext cx="7498080" cy="384048"/>
          </a:xfrm>
          <a:prstGeom prst="roundRect">
            <a:avLst>
              <a:gd name="adj" fmla="val 23810"/>
            </a:avLst>
          </a:prstGeom>
          <a:solidFill>
            <a:schemeClr val="bg2"/>
          </a:solidFill>
          <a:ln w="12700">
            <a:solidFill>
              <a:schemeClr val="bg2"/>
            </a:solidFill>
            <a:prstDash val="solid"/>
          </a:ln>
        </p:spPr>
      </p:sp>
      <p:sp>
        <p:nvSpPr>
          <p:cNvPr id="7" name="Window dot"/>
          <p:cNvSpPr/>
          <p:nvPr/>
        </p:nvSpPr>
        <p:spPr>
          <a:xfrm>
            <a:off x="713232" y="1591056"/>
            <a:ext cx="128016" cy="128016"/>
          </a:xfrm>
          <a:prstGeom prst="ellipse">
            <a:avLst/>
          </a:prstGeom>
          <a:solidFill>
            <a:schemeClr val="accent3"/>
          </a:solidFill>
          <a:ln w="12700">
            <a:solidFill>
              <a:srgbClr val="FFFFFF"/>
            </a:solidFill>
            <a:prstDash val="solid"/>
          </a:ln>
        </p:spPr>
      </p:sp>
      <p:sp>
        <p:nvSpPr>
          <p:cNvPr id="8" name="Window dot"/>
          <p:cNvSpPr/>
          <p:nvPr/>
        </p:nvSpPr>
        <p:spPr>
          <a:xfrm>
            <a:off x="914400" y="1591056"/>
            <a:ext cx="128016" cy="128016"/>
          </a:xfrm>
          <a:prstGeom prst="ellipse">
            <a:avLst/>
          </a:prstGeom>
          <a:solidFill>
            <a:schemeClr val="accent2"/>
          </a:solidFill>
          <a:ln w="12700">
            <a:solidFill>
              <a:srgbClr val="FFFFFF"/>
            </a:solidFill>
            <a:prstDash val="solid"/>
          </a:ln>
        </p:spPr>
      </p:sp>
      <p:sp>
        <p:nvSpPr>
          <p:cNvPr id="9" name="Window dot"/>
          <p:cNvSpPr/>
          <p:nvPr/>
        </p:nvSpPr>
        <p:spPr>
          <a:xfrm>
            <a:off x="1115568" y="1591056"/>
            <a:ext cx="128016" cy="128016"/>
          </a:xfrm>
          <a:prstGeom prst="ellipse">
            <a:avLst/>
          </a:prstGeom>
          <a:solidFill>
            <a:schemeClr val="accent4"/>
          </a:solidFill>
          <a:ln w="12700">
            <a:solidFill>
              <a:srgbClr val="FFFFFF"/>
            </a:solidFill>
            <a:prstDash val="solid"/>
          </a:ln>
        </p:spPr>
      </p:sp>
      <p:sp>
        <p:nvSpPr>
          <p:cNvPr id="10" name="Text 7"/>
          <p:cNvSpPr txBox="1"/>
          <p:nvPr/>
        </p:nvSpPr>
        <p:spPr>
          <a:xfrm>
            <a:off x="1463040" y="1463040"/>
            <a:ext cx="5486400" cy="384048"/>
          </a:xfrm>
          <a:prstGeom prst="rect">
            <a:avLst/>
          </a:prstGeom>
          <a:noFill/>
          <a:ln/>
        </p:spPr>
        <p:txBody>
          <a:bodyPr wrap="square" lIns="0" tIns="0" rIns="0" bIns="0" rtlCol="0" anchor="ctr"/>
          <a:lstStyle/>
          <a:p>
            <a:pPr indent="0" marL="0">
              <a:buNone/>
            </a:pPr>
            <a:r>
              <a:rPr lang="en-US" sz="1200" dirty="0">
                <a:solidFill>
                  <a:schemeClr val="accent6"/>
                </a:solidFill>
              </a:rPr>
              <a:t>Admin · /admin/analytics (số liệu minh hoạ)</a:t>
            </a:r>
            <a:endParaRPr lang="en-US" sz="1200" dirty="0"/>
          </a:p>
        </p:txBody>
      </p:sp>
      <p:sp>
        <p:nvSpPr>
          <p:cNvPr id="11" name="Card"/>
          <p:cNvSpPr/>
          <p:nvPr/>
        </p:nvSpPr>
        <p:spPr>
          <a:xfrm>
            <a:off x="731520" y="2011680"/>
            <a:ext cx="1691640" cy="914400"/>
          </a:xfrm>
          <a:prstGeom prst="roundRect">
            <a:avLst>
              <a:gd name="adj" fmla="val 10000"/>
            </a:avLst>
          </a:prstGeom>
          <a:solidFill>
            <a:schemeClr val="bg2"/>
          </a:solidFill>
          <a:ln w="12700">
            <a:solidFill>
              <a:schemeClr val="bg2"/>
            </a:solidFill>
            <a:prstDash val="solid"/>
          </a:ln>
        </p:spPr>
      </p:sp>
      <p:sp>
        <p:nvSpPr>
          <p:cNvPr id="12" name="Text 9"/>
          <p:cNvSpPr txBox="1"/>
          <p:nvPr/>
        </p:nvSpPr>
        <p:spPr>
          <a:xfrm>
            <a:off x="731520" y="2057400"/>
            <a:ext cx="1691640" cy="502920"/>
          </a:xfrm>
          <a:prstGeom prst="rect">
            <a:avLst/>
          </a:prstGeom>
          <a:noFill/>
          <a:ln/>
        </p:spPr>
        <p:txBody>
          <a:bodyPr wrap="square" lIns="0" tIns="0" rIns="0" bIns="0" rtlCol="0" anchor="ctr"/>
          <a:lstStyle/>
          <a:p>
            <a:pPr algn="ctr" indent="0" marL="0">
              <a:buNone/>
            </a:pPr>
            <a:r>
              <a:rPr lang="en-US" sz="2400" b="1" dirty="0">
                <a:solidFill>
                  <a:schemeClr val="tx2"/>
                </a:solidFill>
              </a:rPr>
              <a:t>1.000</a:t>
            </a:r>
            <a:endParaRPr lang="en-US" sz="2400" dirty="0"/>
          </a:p>
        </p:txBody>
      </p:sp>
      <p:sp>
        <p:nvSpPr>
          <p:cNvPr id="13" name="Text 10"/>
          <p:cNvSpPr txBox="1"/>
          <p:nvPr/>
        </p:nvSpPr>
        <p:spPr>
          <a:xfrm>
            <a:off x="731520" y="2560320"/>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Phiên xem tour</a:t>
            </a:r>
            <a:endParaRPr lang="en-US" sz="1200" dirty="0"/>
          </a:p>
        </p:txBody>
      </p:sp>
      <p:sp>
        <p:nvSpPr>
          <p:cNvPr id="14" name="Card"/>
          <p:cNvSpPr/>
          <p:nvPr/>
        </p:nvSpPr>
        <p:spPr>
          <a:xfrm>
            <a:off x="2542032" y="2011680"/>
            <a:ext cx="1691640" cy="914400"/>
          </a:xfrm>
          <a:prstGeom prst="roundRect">
            <a:avLst>
              <a:gd name="adj" fmla="val 10000"/>
            </a:avLst>
          </a:prstGeom>
          <a:solidFill>
            <a:schemeClr val="bg2"/>
          </a:solidFill>
          <a:ln w="12700">
            <a:solidFill>
              <a:schemeClr val="bg2"/>
            </a:solidFill>
            <a:prstDash val="solid"/>
          </a:ln>
        </p:spPr>
      </p:sp>
      <p:sp>
        <p:nvSpPr>
          <p:cNvPr id="15" name="Text 12"/>
          <p:cNvSpPr txBox="1"/>
          <p:nvPr/>
        </p:nvSpPr>
        <p:spPr>
          <a:xfrm>
            <a:off x="2542032" y="2057400"/>
            <a:ext cx="1691640" cy="502920"/>
          </a:xfrm>
          <a:prstGeom prst="rect">
            <a:avLst/>
          </a:prstGeom>
          <a:noFill/>
          <a:ln/>
        </p:spPr>
        <p:txBody>
          <a:bodyPr wrap="square" lIns="0" tIns="0" rIns="0" bIns="0" rtlCol="0" anchor="ctr"/>
          <a:lstStyle/>
          <a:p>
            <a:pPr algn="ctr" indent="0" marL="0">
              <a:buNone/>
            </a:pPr>
            <a:r>
              <a:rPr lang="en-US" sz="2400" b="1" dirty="0">
                <a:solidFill>
                  <a:schemeClr val="tx2"/>
                </a:solidFill>
              </a:rPr>
              <a:t>13%</a:t>
            </a:r>
            <a:endParaRPr lang="en-US" sz="2400" dirty="0"/>
          </a:p>
        </p:txBody>
      </p:sp>
      <p:sp>
        <p:nvSpPr>
          <p:cNvPr id="16" name="Text 13"/>
          <p:cNvSpPr txBox="1"/>
          <p:nvPr/>
        </p:nvSpPr>
        <p:spPr>
          <a:xfrm>
            <a:off x="2542032" y="2560320"/>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Xem → giỏ</a:t>
            </a:r>
            <a:endParaRPr lang="en-US" sz="1200" dirty="0"/>
          </a:p>
        </p:txBody>
      </p:sp>
      <p:sp>
        <p:nvSpPr>
          <p:cNvPr id="17" name="Card"/>
          <p:cNvSpPr/>
          <p:nvPr/>
        </p:nvSpPr>
        <p:spPr>
          <a:xfrm>
            <a:off x="4352544" y="2011680"/>
            <a:ext cx="1691640" cy="91440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4352544" y="2057400"/>
            <a:ext cx="1691640" cy="502920"/>
          </a:xfrm>
          <a:prstGeom prst="rect">
            <a:avLst/>
          </a:prstGeom>
          <a:noFill/>
          <a:ln/>
        </p:spPr>
        <p:txBody>
          <a:bodyPr wrap="square" lIns="0" tIns="0" rIns="0" bIns="0" rtlCol="0" anchor="ctr"/>
          <a:lstStyle/>
          <a:p>
            <a:pPr algn="ctr" indent="0" marL="0">
              <a:buNone/>
            </a:pPr>
            <a:r>
              <a:rPr lang="en-US" sz="2400" b="1" dirty="0">
                <a:solidFill>
                  <a:schemeClr val="tx2"/>
                </a:solidFill>
              </a:rPr>
              <a:t>29%</a:t>
            </a:r>
            <a:endParaRPr lang="en-US" sz="2400" dirty="0"/>
          </a:p>
        </p:txBody>
      </p:sp>
      <p:sp>
        <p:nvSpPr>
          <p:cNvPr id="19" name="Text 16"/>
          <p:cNvSpPr txBox="1"/>
          <p:nvPr/>
        </p:nvSpPr>
        <p:spPr>
          <a:xfrm>
            <a:off x="4352544" y="2560320"/>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Giỏ → đơn</a:t>
            </a:r>
            <a:endParaRPr lang="en-US" sz="1200" dirty="0"/>
          </a:p>
        </p:txBody>
      </p:sp>
      <p:sp>
        <p:nvSpPr>
          <p:cNvPr id="20" name="Card"/>
          <p:cNvSpPr/>
          <p:nvPr/>
        </p:nvSpPr>
        <p:spPr>
          <a:xfrm>
            <a:off x="6163056" y="2011680"/>
            <a:ext cx="1691640" cy="914400"/>
          </a:xfrm>
          <a:prstGeom prst="roundRect">
            <a:avLst>
              <a:gd name="adj" fmla="val 10000"/>
            </a:avLst>
          </a:prstGeom>
          <a:solidFill>
            <a:schemeClr val="accent2"/>
          </a:solidFill>
          <a:ln w="12700">
            <a:solidFill>
              <a:schemeClr val="accent2"/>
            </a:solidFill>
            <a:prstDash val="solid"/>
          </a:ln>
        </p:spPr>
      </p:sp>
      <p:sp>
        <p:nvSpPr>
          <p:cNvPr id="21" name="Text 18"/>
          <p:cNvSpPr txBox="1"/>
          <p:nvPr/>
        </p:nvSpPr>
        <p:spPr>
          <a:xfrm>
            <a:off x="6163056" y="2057400"/>
            <a:ext cx="1691640" cy="502920"/>
          </a:xfrm>
          <a:prstGeom prst="rect">
            <a:avLst/>
          </a:prstGeom>
          <a:noFill/>
          <a:ln/>
        </p:spPr>
        <p:txBody>
          <a:bodyPr wrap="square" lIns="0" tIns="0" rIns="0" bIns="0" rtlCol="0" anchor="ctr"/>
          <a:lstStyle/>
          <a:p>
            <a:pPr algn="ctr" indent="0" marL="0">
              <a:buNone/>
            </a:pPr>
            <a:r>
              <a:rPr lang="en-US" sz="2400" b="1" dirty="0">
                <a:solidFill>
                  <a:schemeClr val="tx2"/>
                </a:solidFill>
              </a:rPr>
              <a:t>42 s</a:t>
            </a:r>
            <a:endParaRPr lang="en-US" sz="2400" dirty="0"/>
          </a:p>
        </p:txBody>
      </p:sp>
      <p:sp>
        <p:nvSpPr>
          <p:cNvPr id="22" name="Text 19"/>
          <p:cNvSpPr txBox="1"/>
          <p:nvPr/>
        </p:nvSpPr>
        <p:spPr>
          <a:xfrm>
            <a:off x="6163056" y="2560320"/>
            <a:ext cx="1691640" cy="274320"/>
          </a:xfrm>
          <a:prstGeom prst="rect">
            <a:avLst/>
          </a:prstGeom>
          <a:noFill/>
          <a:ln/>
        </p:spPr>
        <p:txBody>
          <a:bodyPr wrap="square" lIns="0" tIns="0" rIns="0" bIns="0" rtlCol="0" anchor="t"/>
          <a:lstStyle/>
          <a:p>
            <a:pPr algn="ctr" indent="0" marL="0">
              <a:buNone/>
            </a:pPr>
            <a:r>
              <a:rPr lang="en-US" sz="1200" dirty="0">
                <a:solidFill>
                  <a:schemeClr val="tx1"/>
                </a:solidFill>
              </a:rPr>
              <a:t>Xem trung bình</a:t>
            </a:r>
            <a:endParaRPr lang="en-US" sz="1200" dirty="0"/>
          </a:p>
        </p:txBody>
      </p:sp>
      <p:graphicFrame>
        <p:nvGraphicFramePr>
          <p:cNvPr id="23" name="Chart 0" descr=""/>
          <p:cNvGraphicFramePr/>
          <p:nvPr/>
        </p:nvGraphicFramePr>
        <p:xfrm>
          <a:off x="731520" y="3108960"/>
          <a:ext cx="4206240" cy="301752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5074920" y="3154680"/>
            <a:ext cx="2834640" cy="274320"/>
          </a:xfrm>
          <a:prstGeom prst="rect">
            <a:avLst/>
          </a:prstGeom>
          <a:noFill/>
          <a:ln/>
        </p:spPr>
        <p:txBody>
          <a:bodyPr wrap="square" lIns="0" tIns="0" rIns="0" bIns="0" rtlCol="0" anchor="t"/>
          <a:lstStyle/>
          <a:p>
            <a:pPr indent="0" marL="0">
              <a:buNone/>
            </a:pPr>
            <a:r>
              <a:rPr lang="en-US" sz="1300" b="1" dirty="0">
                <a:solidFill>
                  <a:schemeClr val="tx2"/>
                </a:solidFill>
              </a:rPr>
              <a:t>Top tour được xem</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74920" y="3474720"/>
          <a:ext cx="2834640" cy="914400"/>
        </p:xfrm>
        <a:graphic>
          <a:graphicData uri="http://schemas.openxmlformats.org/drawingml/2006/table">
            <a:tbl>
              <a:tblPr/>
              <a:tblGrid>
                <a:gridCol w="2011680"/>
                <a:gridCol w="822960"/>
              </a:tblGrid>
              <a:tr h="457200">
                <a:tc>
                  <a:txBody>
                    <a:bodyPr/>
                    <a:lstStyle/>
                    <a:p>
                      <a:pPr indent="0" marL="0">
                        <a:buNone/>
                      </a:pPr>
                      <a:r>
                        <a:rPr lang="en-US" sz="1200" b="1" dirty="0">
                          <a:solidFill>
                            <a:srgbClr val="FFFFFF"/>
                          </a:solidFill>
                        </a:rPr>
                        <a:t>Tour</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c>
                  <a:txBody>
                    <a:bodyPr/>
                    <a:lstStyle/>
                    <a:p>
                      <a:pPr indent="0" marL="0">
                        <a:buNone/>
                      </a:pPr>
                      <a:r>
                        <a:rPr lang="en-US" sz="1200" b="1" dirty="0">
                          <a:solidFill>
                            <a:srgbClr val="FFFFFF"/>
                          </a:solidFill>
                        </a:rPr>
                        <a:t>Xem</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1B7A6B"/>
                    </a:solidFill>
                  </a:tcPr>
                </a:tc>
              </a:tr>
              <a:tr h="457200">
                <a:tc>
                  <a:txBody>
                    <a:bodyPr/>
                    <a:lstStyle/>
                    <a:p>
                      <a:pPr indent="0" marL="0">
                        <a:buNone/>
                      </a:pPr>
                      <a:r>
                        <a:rPr lang="en-US" sz="1200" dirty="0">
                          <a:solidFill>
                            <a:srgbClr val="14201E"/>
                          </a:solidFill>
                        </a:rPr>
                        <a:t>Tour A</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200" dirty="0">
                          <a:solidFill>
                            <a:srgbClr val="14201E"/>
                          </a:solidFill>
                        </a:rPr>
                        <a:t>128</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457200">
                <a:tc>
                  <a:txBody>
                    <a:bodyPr/>
                    <a:lstStyle/>
                    <a:p>
                      <a:pPr indent="0" marL="0">
                        <a:buNone/>
                      </a:pPr>
                      <a:r>
                        <a:rPr lang="en-US" sz="1200" dirty="0">
                          <a:solidFill>
                            <a:srgbClr val="14201E"/>
                          </a:solidFill>
                        </a:rPr>
                        <a:t>Tour B</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200" dirty="0">
                          <a:solidFill>
                            <a:srgbClr val="14201E"/>
                          </a:solidFill>
                        </a:rPr>
                        <a:t>96</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4201E"/>
                          </a:solidFill>
                        </a:rPr>
                        <a:t>Tour C</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c>
                  <a:txBody>
                    <a:bodyPr/>
                    <a:lstStyle/>
                    <a:p>
                      <a:pPr indent="0" marL="0">
                        <a:buNone/>
                      </a:pPr>
                      <a:r>
                        <a:rPr lang="en-US" sz="1200" dirty="0">
                          <a:solidFill>
                            <a:srgbClr val="14201E"/>
                          </a:solidFill>
                        </a:rPr>
                        <a:t>74</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EFF7F5"/>
                    </a:solidFill>
                  </a:tcPr>
                </a:tc>
              </a:tr>
              <a:tr h="457200">
                <a:tc>
                  <a:txBody>
                    <a:bodyPr/>
                    <a:lstStyle/>
                    <a:p>
                      <a:pPr indent="0" marL="0">
                        <a:buNone/>
                      </a:pPr>
                      <a:r>
                        <a:rPr lang="en-US" sz="1200" dirty="0">
                          <a:solidFill>
                            <a:srgbClr val="14201E"/>
                          </a:solidFill>
                        </a:rPr>
                        <a:t>Tour D</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c>
                  <a:txBody>
                    <a:bodyPr/>
                    <a:lstStyle/>
                    <a:p>
                      <a:pPr indent="0" marL="0">
                        <a:buNone/>
                      </a:pPr>
                      <a:r>
                        <a:rPr lang="en-US" sz="1200" dirty="0">
                          <a:solidFill>
                            <a:srgbClr val="14201E"/>
                          </a:solidFill>
                        </a:rPr>
                        <a:t>51</a:t>
                      </a:r>
                      <a:endParaRPr lang="en-US" sz="1200" dirty="0"/>
                    </a:p>
                  </a:txBody>
                  <a:tcPr marL="91440" marR="91440" marT="45720" marB="45720" anchor="ctr">
                    <a:lnL w="9525" cap="flat" cmpd="sng" algn="ctr">
                      <a:solidFill>
                        <a:srgbClr val="CFE3DE"/>
                      </a:solidFill>
                      <a:prstDash val="solid"/>
                      <a:round/>
                      <a:headEnd type="none" w="med" len="med"/>
                      <a:tailEnd type="none" w="med" len="med"/>
                    </a:lnL>
                    <a:lnR w="9525" cap="flat" cmpd="sng" algn="ctr">
                      <a:solidFill>
                        <a:srgbClr val="CFE3DE"/>
                      </a:solidFill>
                      <a:prstDash val="solid"/>
                      <a:round/>
                      <a:headEnd type="none" w="med" len="med"/>
                      <a:tailEnd type="none" w="med" len="med"/>
                    </a:lnR>
                    <a:lnT w="9525" cap="flat" cmpd="sng" algn="ctr">
                      <a:solidFill>
                        <a:srgbClr val="CFE3DE"/>
                      </a:solidFill>
                      <a:prstDash val="solid"/>
                      <a:round/>
                      <a:headEnd type="none" w="med" len="med"/>
                      <a:tailEnd type="none" w="med" len="med"/>
                    </a:lnT>
                    <a:lnB w="9525" cap="flat" cmpd="sng" algn="ctr">
                      <a:solidFill>
                        <a:srgbClr val="CFE3DE"/>
                      </a:solidFill>
                      <a:prstDash val="solid"/>
                      <a:round/>
                      <a:headEnd type="none" w="med" len="med"/>
                      <a:tailEnd type="none" w="med" len="med"/>
                    </a:lnB>
                    <a:solidFill>
                      <a:srgbClr val="FFFFFF"/>
                    </a:solidFill>
                  </a:tcPr>
                </a:tc>
              </a:tr>
            </a:tbl>
          </a:graphicData>
        </a:graphic>
      </p:graphicFrame>
      <p:sp>
        <p:nvSpPr>
          <p:cNvPr id="26" name="Card"/>
          <p:cNvSpPr/>
          <p:nvPr/>
        </p:nvSpPr>
        <p:spPr>
          <a:xfrm>
            <a:off x="8229600" y="1463040"/>
            <a:ext cx="3410712" cy="4800600"/>
          </a:xfrm>
          <a:prstGeom prst="roundRect">
            <a:avLst>
              <a:gd name="adj" fmla="val 2681"/>
            </a:avLst>
          </a:prstGeom>
          <a:solidFill>
            <a:schemeClr val="tx2"/>
          </a:solidFill>
          <a:ln w="12700">
            <a:solidFill>
              <a:schemeClr val="tx2"/>
            </a:solidFill>
            <a:prstDash val="solid"/>
          </a:ln>
        </p:spPr>
      </p:sp>
      <p:sp>
        <p:nvSpPr>
          <p:cNvPr id="27" name="Text 22"/>
          <p:cNvSpPr txBox="1"/>
          <p:nvPr/>
        </p:nvSpPr>
        <p:spPr>
          <a:xfrm>
            <a:off x="8458200" y="1645920"/>
            <a:ext cx="3017520" cy="320040"/>
          </a:xfrm>
          <a:prstGeom prst="rect">
            <a:avLst/>
          </a:prstGeom>
          <a:noFill/>
          <a:ln/>
        </p:spPr>
        <p:txBody>
          <a:bodyPr wrap="square" lIns="0" tIns="0" rIns="0" bIns="0" rtlCol="0" anchor="t"/>
          <a:lstStyle/>
          <a:p>
            <a:pPr indent="0" marL="0">
              <a:buNone/>
            </a:pPr>
            <a:r>
              <a:rPr lang="en-US" sz="1600" b="1" dirty="0">
                <a:solidFill>
                  <a:schemeClr val="accent2"/>
                </a:solidFill>
              </a:rPr>
              <a:t>Cách triển khai</a:t>
            </a:r>
            <a:endParaRPr lang="en-US" sz="1600" dirty="0"/>
          </a:p>
        </p:txBody>
      </p:sp>
      <p:sp>
        <p:nvSpPr>
          <p:cNvPr id="28" name="Text 23"/>
          <p:cNvSpPr txBox="1"/>
          <p:nvPr/>
        </p:nvSpPr>
        <p:spPr>
          <a:xfrm>
            <a:off x="8458200" y="2148840"/>
            <a:ext cx="3017520" cy="320040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chemeClr val="bg1"/>
                </a:solidFill>
              </a:rPr>
              <a:t>AdminAnalyticsController (/admin/analytics, ADMIN)</a:t>
            </a:r>
            <a:endParaRPr lang="en-US" sz="1500" dirty="0"/>
          </a:p>
          <a:p>
            <a:pPr marL="177800" indent="-177800">
              <a:spcAft>
                <a:spcPts val="1200"/>
              </a:spcAft>
              <a:buSzPct val="100000"/>
              <a:buChar char="•"/>
            </a:pPr>
            <a:r>
              <a:rPr lang="en-US" sz="1500" dirty="0">
                <a:solidFill>
                  <a:schemeClr val="bg1"/>
                </a:solidFill>
              </a:rPr>
              <a:t>Thẻ số liệu, phễu và bảng trong admin/analytics.html</a:t>
            </a:r>
            <a:endParaRPr lang="en-US" sz="1500" dirty="0"/>
          </a:p>
          <a:p>
            <a:pPr marL="177800" indent="-177800">
              <a:spcAft>
                <a:spcPts val="1200"/>
              </a:spcAft>
              <a:buSzPct val="100000"/>
              <a:buChar char="•"/>
            </a:pPr>
            <a:r>
              <a:rPr lang="en-US" sz="1500" dirty="0">
                <a:solidFill>
                  <a:schemeClr val="bg1"/>
                </a:solidFill>
              </a:rPr>
              <a:t>Thanh tiến trình CSS như biểu đồ doanh thu hiện có</a:t>
            </a:r>
            <a:endParaRPr lang="en-US" sz="1500" dirty="0"/>
          </a:p>
          <a:p>
            <a:pPr marL="177800" indent="-177800">
              <a:spcAft>
                <a:spcPts val="1200"/>
              </a:spcAft>
              <a:buSzPct val="100000"/>
              <a:buChar char="•"/>
            </a:pPr>
            <a:r>
              <a:rPr lang="en-US" sz="1500" dirty="0">
                <a:solidFill>
                  <a:schemeClr val="bg1"/>
                </a:solidFill>
              </a:rPr>
              <a:t>Bộ lọc khoảng ngày: from/to, hoặc nút nhanh 7/30/90 ngày</a:t>
            </a:r>
            <a:endParaRPr lang="en-US" sz="1500" dirty="0"/>
          </a:p>
        </p:txBody>
      </p:sp>
      <p:sp>
        <p:nvSpPr>
          <p:cNvPr id="29" name="Text 24"/>
          <p:cNvSpPr txBox="1"/>
          <p:nvPr/>
        </p:nvSpPr>
        <p:spPr>
          <a:xfrm>
            <a:off x="8458200" y="5715000"/>
            <a:ext cx="3017520" cy="411480"/>
          </a:xfrm>
          <a:prstGeom prst="rect">
            <a:avLst/>
          </a:prstGeom>
          <a:noFill/>
          <a:ln/>
        </p:spPr>
        <p:txBody>
          <a:bodyPr wrap="square" lIns="0" tIns="0" rIns="0" bIns="0" rtlCol="0" anchor="t"/>
          <a:lstStyle/>
          <a:p>
            <a:pPr indent="0" marL="0">
              <a:buNone/>
            </a:pPr>
            <a:r>
              <a:rPr lang="en-US" sz="1200" i="1" dirty="0">
                <a:solidFill>
                  <a:schemeClr val="accent5"/>
                </a:solidFill>
              </a:rPr>
              <a:t>Số liệu trên slide chỉ là minh hoạ; trang thật đọc từ bảng user_events.</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Gợi ý tour: hành vi kết hợp vector</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Card"/>
          <p:cNvSpPr/>
          <p:nvPr/>
        </p:nvSpPr>
        <p:spPr>
          <a:xfrm>
            <a:off x="548640" y="1463040"/>
            <a:ext cx="2468880" cy="1417320"/>
          </a:xfrm>
          <a:prstGeom prst="roundRect">
            <a:avLst>
              <a:gd name="adj" fmla="val 6452"/>
            </a:avLst>
          </a:prstGeom>
          <a:solidFill>
            <a:schemeClr val="bg2"/>
          </a:solidFill>
          <a:ln w="12700">
            <a:solidFill>
              <a:schemeClr val="bg2"/>
            </a:solidFill>
            <a:prstDash val="solid"/>
          </a:ln>
        </p:spPr>
      </p:sp>
      <p:sp>
        <p:nvSpPr>
          <p:cNvPr id="6" name="Text 3"/>
          <p:cNvSpPr txBox="1"/>
          <p:nvPr/>
        </p:nvSpPr>
        <p:spPr>
          <a:xfrm>
            <a:off x="685800" y="1554480"/>
            <a:ext cx="2194560" cy="320040"/>
          </a:xfrm>
          <a:prstGeom prst="rect">
            <a:avLst/>
          </a:prstGeom>
          <a:noFill/>
          <a:ln/>
        </p:spPr>
        <p:txBody>
          <a:bodyPr wrap="square" lIns="0" tIns="0" rIns="0" bIns="0" rtlCol="0" anchor="t"/>
          <a:lstStyle/>
          <a:p>
            <a:pPr indent="0" marL="0">
              <a:buNone/>
            </a:pPr>
            <a:r>
              <a:rPr lang="en-US" sz="1400" b="1" dirty="0">
                <a:solidFill>
                  <a:schemeClr val="tx2"/>
                </a:solidFill>
              </a:rPr>
              <a:t>1. Thu tín hiệu</a:t>
            </a:r>
            <a:endParaRPr lang="en-US" sz="1400" dirty="0"/>
          </a:p>
        </p:txBody>
      </p:sp>
      <p:sp>
        <p:nvSpPr>
          <p:cNvPr id="7" name="Text 4"/>
          <p:cNvSpPr txBox="1"/>
          <p:nvPr/>
        </p:nvSpPr>
        <p:spPr>
          <a:xfrm>
            <a:off x="685800" y="1920240"/>
            <a:ext cx="2194560" cy="914400"/>
          </a:xfrm>
          <a:prstGeom prst="rect">
            <a:avLst/>
          </a:prstGeom>
          <a:noFill/>
          <a:ln/>
        </p:spPr>
        <p:txBody>
          <a:bodyPr wrap="square" lIns="0" tIns="0" rIns="0" bIns="0" rtlCol="0" anchor="t"/>
          <a:lstStyle/>
          <a:p>
            <a:pPr indent="0" marL="0">
              <a:buNone/>
            </a:pPr>
            <a:r>
              <a:rPr lang="en-US" sz="1250" dirty="0">
                <a:solidFill>
                  <a:schemeClr val="tx1"/>
                </a:solidFill>
              </a:rPr>
              <a:t>user_events của tài khoản và phiên (30 ngày): VIEW=1, CLICK=2, CART=3</a:t>
            </a:r>
            <a:endParaRPr lang="en-US" sz="1250" dirty="0"/>
          </a:p>
        </p:txBody>
      </p:sp>
      <p:sp>
        <p:nvSpPr>
          <p:cNvPr id="8" name="Arrow"/>
          <p:cNvSpPr/>
          <p:nvPr/>
        </p:nvSpPr>
        <p:spPr>
          <a:xfrm>
            <a:off x="3035808" y="2167128"/>
            <a:ext cx="283464" cy="0"/>
          </a:xfrm>
          <a:prstGeom prst="line">
            <a:avLst/>
          </a:prstGeom>
          <a:noFill/>
          <a:ln w="22225">
            <a:solidFill>
              <a:schemeClr val="accent6"/>
            </a:solidFill>
            <a:prstDash val="solid"/>
            <a:tailEnd type="triangle"/>
          </a:ln>
        </p:spPr>
      </p:sp>
      <p:sp>
        <p:nvSpPr>
          <p:cNvPr id="9" name="Card"/>
          <p:cNvSpPr/>
          <p:nvPr/>
        </p:nvSpPr>
        <p:spPr>
          <a:xfrm>
            <a:off x="3337560" y="1463040"/>
            <a:ext cx="2468880" cy="1417320"/>
          </a:xfrm>
          <a:prstGeom prst="roundRect">
            <a:avLst>
              <a:gd name="adj" fmla="val 6452"/>
            </a:avLst>
          </a:prstGeom>
          <a:solidFill>
            <a:schemeClr val="bg2"/>
          </a:solidFill>
          <a:ln w="12700">
            <a:solidFill>
              <a:schemeClr val="bg2"/>
            </a:solidFill>
            <a:prstDash val="solid"/>
          </a:ln>
        </p:spPr>
      </p:sp>
      <p:sp>
        <p:nvSpPr>
          <p:cNvPr id="10" name="Text 7"/>
          <p:cNvSpPr txBox="1"/>
          <p:nvPr/>
        </p:nvSpPr>
        <p:spPr>
          <a:xfrm>
            <a:off x="3474720" y="1554480"/>
            <a:ext cx="2194560" cy="320040"/>
          </a:xfrm>
          <a:prstGeom prst="rect">
            <a:avLst/>
          </a:prstGeom>
          <a:noFill/>
          <a:ln/>
        </p:spPr>
        <p:txBody>
          <a:bodyPr wrap="square" lIns="0" tIns="0" rIns="0" bIns="0" rtlCol="0" anchor="t"/>
          <a:lstStyle/>
          <a:p>
            <a:pPr indent="0" marL="0">
              <a:buNone/>
            </a:pPr>
            <a:r>
              <a:rPr lang="en-US" sz="1400" b="1" dirty="0">
                <a:solidFill>
                  <a:schemeClr val="tx2"/>
                </a:solidFill>
              </a:rPr>
              <a:t>2. Hồ sơ sở thích</a:t>
            </a:r>
            <a:endParaRPr lang="en-US" sz="1400" dirty="0"/>
          </a:p>
        </p:txBody>
      </p:sp>
      <p:sp>
        <p:nvSpPr>
          <p:cNvPr id="11" name="Text 8"/>
          <p:cNvSpPr txBox="1"/>
          <p:nvPr/>
        </p:nvSpPr>
        <p:spPr>
          <a:xfrm>
            <a:off x="3474720" y="1920240"/>
            <a:ext cx="2194560" cy="914400"/>
          </a:xfrm>
          <a:prstGeom prst="rect">
            <a:avLst/>
          </a:prstGeom>
          <a:noFill/>
          <a:ln/>
        </p:spPr>
        <p:txBody>
          <a:bodyPr wrap="square" lIns="0" tIns="0" rIns="0" bIns="0" rtlCol="0" anchor="t"/>
          <a:lstStyle/>
          <a:p>
            <a:pPr indent="0" marL="0">
              <a:buNone/>
            </a:pPr>
            <a:r>
              <a:rPr lang="en-US" sz="1250" dirty="0">
                <a:solidFill>
                  <a:schemeClr val="tx1"/>
                </a:solidFill>
              </a:rPr>
              <a:t>Lấy tối đa 3 tour điểm cao nhất làm hạt giống</a:t>
            </a:r>
            <a:endParaRPr lang="en-US" sz="1250" dirty="0"/>
          </a:p>
        </p:txBody>
      </p:sp>
      <p:sp>
        <p:nvSpPr>
          <p:cNvPr id="12" name="Arrow"/>
          <p:cNvSpPr/>
          <p:nvPr/>
        </p:nvSpPr>
        <p:spPr>
          <a:xfrm>
            <a:off x="5824728" y="2167128"/>
            <a:ext cx="283464" cy="0"/>
          </a:xfrm>
          <a:prstGeom prst="line">
            <a:avLst/>
          </a:prstGeom>
          <a:noFill/>
          <a:ln w="22225">
            <a:solidFill>
              <a:schemeClr val="accent6"/>
            </a:solidFill>
            <a:prstDash val="solid"/>
            <a:tailEnd type="triangle"/>
          </a:ln>
        </p:spPr>
      </p:sp>
      <p:sp>
        <p:nvSpPr>
          <p:cNvPr id="13" name="Card"/>
          <p:cNvSpPr/>
          <p:nvPr/>
        </p:nvSpPr>
        <p:spPr>
          <a:xfrm>
            <a:off x="6126480" y="1463040"/>
            <a:ext cx="2468880" cy="1417320"/>
          </a:xfrm>
          <a:prstGeom prst="roundRect">
            <a:avLst>
              <a:gd name="adj" fmla="val 6452"/>
            </a:avLst>
          </a:prstGeom>
          <a:solidFill>
            <a:schemeClr val="accent2"/>
          </a:solidFill>
          <a:ln w="12700">
            <a:solidFill>
              <a:schemeClr val="accent2"/>
            </a:solidFill>
            <a:prstDash val="solid"/>
          </a:ln>
        </p:spPr>
      </p:sp>
      <p:sp>
        <p:nvSpPr>
          <p:cNvPr id="14" name="Text 11"/>
          <p:cNvSpPr txBox="1"/>
          <p:nvPr/>
        </p:nvSpPr>
        <p:spPr>
          <a:xfrm>
            <a:off x="6263640" y="1554480"/>
            <a:ext cx="2194560" cy="320040"/>
          </a:xfrm>
          <a:prstGeom prst="rect">
            <a:avLst/>
          </a:prstGeom>
          <a:noFill/>
          <a:ln/>
        </p:spPr>
        <p:txBody>
          <a:bodyPr wrap="square" lIns="0" tIns="0" rIns="0" bIns="0" rtlCol="0" anchor="t"/>
          <a:lstStyle/>
          <a:p>
            <a:pPr indent="0" marL="0">
              <a:buNone/>
            </a:pPr>
            <a:r>
              <a:rPr lang="en-US" sz="1400" b="1" dirty="0">
                <a:solidFill>
                  <a:schemeClr val="tx2"/>
                </a:solidFill>
              </a:rPr>
              <a:t>3. Tìm tương tự</a:t>
            </a:r>
            <a:endParaRPr lang="en-US" sz="1400" dirty="0"/>
          </a:p>
        </p:txBody>
      </p:sp>
      <p:sp>
        <p:nvSpPr>
          <p:cNvPr id="15" name="Text 12"/>
          <p:cNvSpPr txBox="1"/>
          <p:nvPr/>
        </p:nvSpPr>
        <p:spPr>
          <a:xfrm>
            <a:off x="6263640" y="1920240"/>
            <a:ext cx="2194560" cy="914400"/>
          </a:xfrm>
          <a:prstGeom prst="rect">
            <a:avLst/>
          </a:prstGeom>
          <a:noFill/>
          <a:ln/>
        </p:spPr>
        <p:txBody>
          <a:bodyPr wrap="square" lIns="0" tIns="0" rIns="0" bIns="0" rtlCol="0" anchor="t"/>
          <a:lstStyle/>
          <a:p>
            <a:pPr indent="0" marL="0">
              <a:buNone/>
            </a:pPr>
            <a:r>
              <a:rPr lang="en-US" sz="1250" dirty="0">
                <a:solidFill>
                  <a:schemeClr val="tx1"/>
                </a:solidFill>
              </a:rPr>
              <a:t>similar(): vector giống từng hạt giống, loại tour đã xem</a:t>
            </a:r>
            <a:endParaRPr lang="en-US" sz="1250" dirty="0"/>
          </a:p>
        </p:txBody>
      </p:sp>
      <p:sp>
        <p:nvSpPr>
          <p:cNvPr id="16" name="Arrow"/>
          <p:cNvSpPr/>
          <p:nvPr/>
        </p:nvSpPr>
        <p:spPr>
          <a:xfrm>
            <a:off x="8613648" y="2167128"/>
            <a:ext cx="283464" cy="0"/>
          </a:xfrm>
          <a:prstGeom prst="line">
            <a:avLst/>
          </a:prstGeom>
          <a:noFill/>
          <a:ln w="22225">
            <a:solidFill>
              <a:schemeClr val="accent6"/>
            </a:solidFill>
            <a:prstDash val="solid"/>
            <a:tailEnd type="triangle"/>
          </a:ln>
        </p:spPr>
      </p:sp>
      <p:sp>
        <p:nvSpPr>
          <p:cNvPr id="17" name="Card"/>
          <p:cNvSpPr/>
          <p:nvPr/>
        </p:nvSpPr>
        <p:spPr>
          <a:xfrm>
            <a:off x="8915400" y="1463040"/>
            <a:ext cx="2468880" cy="1417320"/>
          </a:xfrm>
          <a:prstGeom prst="roundRect">
            <a:avLst>
              <a:gd name="adj" fmla="val 6452"/>
            </a:avLst>
          </a:prstGeom>
          <a:solidFill>
            <a:schemeClr val="bg2"/>
          </a:solidFill>
          <a:ln w="12700">
            <a:solidFill>
              <a:schemeClr val="bg2"/>
            </a:solidFill>
            <a:prstDash val="solid"/>
          </a:ln>
        </p:spPr>
      </p:sp>
      <p:sp>
        <p:nvSpPr>
          <p:cNvPr id="18" name="Text 15"/>
          <p:cNvSpPr txBox="1"/>
          <p:nvPr/>
        </p:nvSpPr>
        <p:spPr>
          <a:xfrm>
            <a:off x="9052560" y="1554480"/>
            <a:ext cx="2194560" cy="320040"/>
          </a:xfrm>
          <a:prstGeom prst="rect">
            <a:avLst/>
          </a:prstGeom>
          <a:noFill/>
          <a:ln/>
        </p:spPr>
        <p:txBody>
          <a:bodyPr wrap="square" lIns="0" tIns="0" rIns="0" bIns="0" rtlCol="0" anchor="t"/>
          <a:lstStyle/>
          <a:p>
            <a:pPr indent="0" marL="0">
              <a:buNone/>
            </a:pPr>
            <a:r>
              <a:rPr lang="en-US" sz="1400" b="1" dirty="0">
                <a:solidFill>
                  <a:schemeClr val="tx2"/>
                </a:solidFill>
              </a:rPr>
              <a:t>4. Xếp hạng lại</a:t>
            </a:r>
            <a:endParaRPr lang="en-US" sz="1400" dirty="0"/>
          </a:p>
        </p:txBody>
      </p:sp>
      <p:sp>
        <p:nvSpPr>
          <p:cNvPr id="19" name="Text 16"/>
          <p:cNvSpPr txBox="1"/>
          <p:nvPr/>
        </p:nvSpPr>
        <p:spPr>
          <a:xfrm>
            <a:off x="9052560" y="1920240"/>
            <a:ext cx="2194560" cy="914400"/>
          </a:xfrm>
          <a:prstGeom prst="rect">
            <a:avLst/>
          </a:prstGeom>
          <a:noFill/>
          <a:ln/>
        </p:spPr>
        <p:txBody>
          <a:bodyPr wrap="square" lIns="0" tIns="0" rIns="0" bIns="0" rtlCol="0" anchor="t"/>
          <a:lstStyle/>
          <a:p>
            <a:pPr indent="0" marL="0">
              <a:buNone/>
            </a:pPr>
            <a:r>
              <a:rPr lang="en-US" sz="1250" dirty="0">
                <a:solidFill>
                  <a:schemeClr val="tx1"/>
                </a:solidFill>
              </a:rPr>
              <a:t>0.7 × độ giống + 0.3 × độ phổ biến</a:t>
            </a:r>
            <a:endParaRPr lang="en-US" sz="1250" dirty="0"/>
          </a:p>
        </p:txBody>
      </p:sp>
      <p:sp>
        <p:nvSpPr>
          <p:cNvPr id="20" name="Code panel RecommendationService.recommend()"/>
          <p:cNvSpPr/>
          <p:nvPr/>
        </p:nvSpPr>
        <p:spPr>
          <a:xfrm>
            <a:off x="548640" y="3108960"/>
            <a:ext cx="7223760" cy="2926080"/>
          </a:xfrm>
          <a:prstGeom prst="roundRect">
            <a:avLst>
              <a:gd name="adj" fmla="val 2500"/>
            </a:avLst>
          </a:prstGeom>
          <a:solidFill>
            <a:schemeClr val="tx2"/>
          </a:solidFill>
          <a:ln w="12700">
            <a:solidFill>
              <a:schemeClr val="tx2"/>
            </a:solidFill>
            <a:prstDash val="solid"/>
          </a:ln>
        </p:spPr>
      </p:sp>
      <p:sp>
        <p:nvSpPr>
          <p:cNvPr id="21" name="Text 18"/>
          <p:cNvSpPr txBox="1"/>
          <p:nvPr/>
        </p:nvSpPr>
        <p:spPr>
          <a:xfrm>
            <a:off x="731520" y="3200400"/>
            <a:ext cx="6858000" cy="237744"/>
          </a:xfrm>
          <a:prstGeom prst="rect">
            <a:avLst/>
          </a:prstGeom>
          <a:noFill/>
          <a:ln/>
        </p:spPr>
        <p:txBody>
          <a:bodyPr wrap="square" lIns="0" tIns="0" rIns="0" bIns="0" rtlCol="0" anchor="ctr"/>
          <a:lstStyle/>
          <a:p>
            <a:pPr indent="0" marL="0">
              <a:buNone/>
            </a:pPr>
            <a:r>
              <a:rPr lang="en-US" sz="1100" b="1" dirty="0">
                <a:solidFill>
                  <a:schemeClr val="accent5"/>
                </a:solidFill>
              </a:rPr>
              <a:t>RecommendationService.recommend()</a:t>
            </a:r>
            <a:endParaRPr lang="en-US" sz="1100" dirty="0"/>
          </a:p>
        </p:txBody>
      </p:sp>
      <p:sp>
        <p:nvSpPr>
          <p:cNvPr id="22" name="Code RecommendationService.recommend()"/>
          <p:cNvSpPr txBox="1"/>
          <p:nvPr/>
        </p:nvSpPr>
        <p:spPr>
          <a:xfrm>
            <a:off x="731520" y="3493008"/>
            <a:ext cx="6858000" cy="2468880"/>
          </a:xfrm>
          <a:prstGeom prst="rect">
            <a:avLst/>
          </a:prstGeom>
          <a:noFill/>
          <a:ln/>
        </p:spPr>
        <p:txBody>
          <a:bodyPr wrap="square" lIns="0" tIns="0" rIns="0" bIns="0" rtlCol="0" anchor="t"/>
          <a:lstStyle/>
          <a:p>
            <a:pPr indent="0" marL="0">
              <a:lnSpc>
                <a:spcPts val="1400"/>
              </a:lnSpc>
              <a:buNone/>
            </a:pPr>
            <a:r>
              <a:rPr lang="en-US" sz="1100" dirty="0">
                <a:solidFill>
                  <a:srgbClr val="E0A458"/>
                </a:solidFill>
                <a:latin typeface="Courier New" pitchFamily="34" charset="0"/>
                <a:ea typeface="Courier New" pitchFamily="34" charset="-122"/>
                <a:cs typeface="Courier New" pitchFamily="34" charset="-120"/>
              </a:rPr>
              <a:t>public</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Recommendation</a:t>
            </a:r>
            <a:r>
              <a:rPr lang="en-US" sz="1100" dirty="0">
                <a:solidFill>
                  <a:srgbClr val="EFF7F5"/>
                </a:solidFill>
                <a:latin typeface="Courier New" pitchFamily="34" charset="0"/>
                <a:ea typeface="Courier New" pitchFamily="34" charset="-122"/>
                <a:cs typeface="Courier New" pitchFamily="34" charset="-120"/>
              </a:rPr>
              <a:t> recommend(</a:t>
            </a:r>
            <a:r>
              <a:rPr lang="en-US" sz="1100" dirty="0">
                <a:solidFill>
                  <a:srgbClr val="86C7BA"/>
                </a:solidFill>
                <a:latin typeface="Courier New" pitchFamily="34" charset="0"/>
                <a:ea typeface="Courier New" pitchFamily="34" charset="-122"/>
                <a:cs typeface="Courier New" pitchFamily="34" charset="-120"/>
              </a:rPr>
              <a:t>Long</a:t>
            </a:r>
            <a:r>
              <a:rPr lang="en-US" sz="1100" dirty="0">
                <a:solidFill>
                  <a:srgbClr val="EFF7F5"/>
                </a:solidFill>
                <a:latin typeface="Courier New" pitchFamily="34" charset="0"/>
                <a:ea typeface="Courier New" pitchFamily="34" charset="-122"/>
                <a:cs typeface="Courier New" pitchFamily="34" charset="-120"/>
              </a:rPr>
              <a:t> userId,</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String</a:t>
            </a:r>
            <a:r>
              <a:rPr lang="en-US" sz="1100" dirty="0">
                <a:solidFill>
                  <a:srgbClr val="EFF7F5"/>
                </a:solidFill>
                <a:latin typeface="Courier New" pitchFamily="34" charset="0"/>
                <a:ea typeface="Courier New" pitchFamily="34" charset="-122"/>
                <a:cs typeface="Courier New" pitchFamily="34" charset="-120"/>
              </a:rPr>
              <a:t> sessionId, </a:t>
            </a:r>
            <a:r>
              <a:rPr lang="en-US" sz="1100" dirty="0">
                <a:solidFill>
                  <a:srgbClr val="E0A458"/>
                </a:solidFill>
                <a:latin typeface="Courier New" pitchFamily="34" charset="0"/>
                <a:ea typeface="Courier New" pitchFamily="34" charset="-122"/>
                <a:cs typeface="Courier New" pitchFamily="34" charset="-120"/>
              </a:rPr>
              <a:t>int</a:t>
            </a:r>
            <a:r>
              <a:rPr lang="en-US" sz="1100" dirty="0">
                <a:solidFill>
                  <a:srgbClr val="EFF7F5"/>
                </a:solidFill>
                <a:latin typeface="Courier New" pitchFamily="34" charset="0"/>
                <a:ea typeface="Courier New" pitchFamily="34" charset="-122"/>
                <a:cs typeface="Courier New" pitchFamily="34" charset="-120"/>
              </a:rPr>
              <a:t> limit)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Map</a:t>
            </a:r>
            <a:r>
              <a:rPr lang="en-US" sz="1100" dirty="0">
                <a:solidFill>
                  <a:srgbClr val="EFF7F5"/>
                </a:solidFill>
                <a:latin typeface="Courier New" pitchFamily="34" charset="0"/>
                <a:ea typeface="Courier New" pitchFamily="34" charset="-122"/>
                <a:cs typeface="Courier New" pitchFamily="34" charset="-120"/>
              </a:rPr>
              <a:t>&lt;</a:t>
            </a:r>
            <a:r>
              <a:rPr lang="en-US" sz="1100" dirty="0">
                <a:solidFill>
                  <a:srgbClr val="86C7BA"/>
                </a:solidFill>
                <a:latin typeface="Courier New" pitchFamily="34" charset="0"/>
                <a:ea typeface="Courier New" pitchFamily="34" charset="-122"/>
                <a:cs typeface="Courier New" pitchFamily="34" charset="-120"/>
              </a:rPr>
              <a:t>Long</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Integer</a:t>
            </a:r>
            <a:r>
              <a:rPr lang="en-US" sz="1100" dirty="0">
                <a:solidFill>
                  <a:srgbClr val="EFF7F5"/>
                </a:solidFill>
                <a:latin typeface="Courier New" pitchFamily="34" charset="0"/>
                <a:ea typeface="Courier New" pitchFamily="34" charset="-122"/>
                <a:cs typeface="Courier New" pitchFamily="34" charset="-120"/>
              </a:rPr>
              <a:t>&gt; interest = interest(userId, sessionId);</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(interest.isEmpty())                  </a:t>
            </a:r>
            <a:r>
              <a:rPr lang="en-US" sz="1100" dirty="0">
                <a:solidFill>
                  <a:srgbClr val="86C7BA"/>
                </a:solidFill>
                <a:latin typeface="Courier New" pitchFamily="34" charset="0"/>
                <a:ea typeface="Courier New" pitchFamily="34" charset="-122"/>
                <a:cs typeface="Courier New" pitchFamily="34" charset="-120"/>
              </a:rPr>
              <a:t>// chưa có lịch sử</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return</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new</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Recommendation</a:t>
            </a:r>
            <a:r>
              <a:rPr lang="en-US" sz="1100" dirty="0">
                <a:solidFill>
                  <a:srgbClr val="EFF7F5"/>
                </a:solidFill>
                <a:latin typeface="Courier New" pitchFamily="34" charset="0"/>
                <a:ea typeface="Courier New" pitchFamily="34" charset="-122"/>
                <a:cs typeface="Courier New" pitchFamily="34" charset="-120"/>
              </a:rPr>
              <a:t>(popular(</a:t>
            </a:r>
            <a:r>
              <a:rPr lang="en-US" sz="1100" dirty="0">
                <a:solidFill>
                  <a:srgbClr val="86C7BA"/>
                </a:solidFill>
                <a:latin typeface="Courier New" pitchFamily="34" charset="0"/>
                <a:ea typeface="Courier New" pitchFamily="34" charset="-122"/>
                <a:cs typeface="Courier New" pitchFamily="34" charset="-120"/>
              </a:rPr>
              <a:t>Set</a:t>
            </a:r>
            <a:r>
              <a:rPr lang="en-US" sz="1100" dirty="0">
                <a:solidFill>
                  <a:srgbClr val="EFF7F5"/>
                </a:solidFill>
                <a:latin typeface="Courier New" pitchFamily="34" charset="0"/>
                <a:ea typeface="Courier New" pitchFamily="34" charset="-122"/>
                <a:cs typeface="Courier New" pitchFamily="34" charset="-120"/>
              </a:rPr>
              <a:t>.of(), limit), POPULAR);</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List</a:t>
            </a:r>
            <a:r>
              <a:rPr lang="en-US" sz="1100" dirty="0">
                <a:solidFill>
                  <a:srgbClr val="EFF7F5"/>
                </a:solidFill>
                <a:latin typeface="Courier New" pitchFamily="34" charset="0"/>
                <a:ea typeface="Courier New" pitchFamily="34" charset="-122"/>
                <a:cs typeface="Courier New" pitchFamily="34" charset="-120"/>
              </a:rPr>
              <a:t>&lt;</a:t>
            </a:r>
            <a:r>
              <a:rPr lang="en-US" sz="1100" dirty="0">
                <a:solidFill>
                  <a:srgbClr val="86C7BA"/>
                </a:solidFill>
                <a:latin typeface="Courier New" pitchFamily="34" charset="0"/>
                <a:ea typeface="Courier New" pitchFamily="34" charset="-122"/>
                <a:cs typeface="Courier New" pitchFamily="34" charset="-120"/>
              </a:rPr>
              <a:t>Long</a:t>
            </a:r>
            <a:r>
              <a:rPr lang="en-US" sz="1100" dirty="0">
                <a:solidFill>
                  <a:srgbClr val="EFF7F5"/>
                </a:solidFill>
                <a:latin typeface="Courier New" pitchFamily="34" charset="0"/>
                <a:ea typeface="Courier New" pitchFamily="34" charset="-122"/>
                <a:cs typeface="Courier New" pitchFamily="34" charset="-120"/>
              </a:rPr>
              <a:t>&gt; seeds = topSeeds(interest);   </a:t>
            </a:r>
            <a:r>
              <a:rPr lang="en-US" sz="1100" dirty="0">
                <a:solidFill>
                  <a:srgbClr val="86C7BA"/>
                </a:solidFill>
                <a:latin typeface="Courier New" pitchFamily="34" charset="0"/>
                <a:ea typeface="Courier New" pitchFamily="34" charset="-122"/>
                <a:cs typeface="Courier New" pitchFamily="34" charset="-120"/>
              </a:rPr>
              <a:t>// 3 tour</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(vectorService.isAvailable())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List</a:t>
            </a:r>
            <a:r>
              <a:rPr lang="en-US" sz="1100" dirty="0">
                <a:solidFill>
                  <a:srgbClr val="EFF7F5"/>
                </a:solidFill>
                <a:latin typeface="Courier New" pitchFamily="34" charset="0"/>
                <a:ea typeface="Courier New" pitchFamily="34" charset="-122"/>
                <a:cs typeface="Courier New" pitchFamily="34" charset="-120"/>
              </a:rPr>
              <a:t>&lt;</a:t>
            </a:r>
            <a:r>
              <a:rPr lang="en-US" sz="1100" dirty="0">
                <a:solidFill>
                  <a:srgbClr val="86C7BA"/>
                </a:solidFill>
                <a:latin typeface="Courier New" pitchFamily="34" charset="0"/>
                <a:ea typeface="Courier New" pitchFamily="34" charset="-122"/>
                <a:cs typeface="Courier New" pitchFamily="34" charset="-120"/>
              </a:rPr>
              <a:t>Tour</a:t>
            </a:r>
            <a:r>
              <a:rPr lang="en-US" sz="1100" dirty="0">
                <a:solidFill>
                  <a:srgbClr val="EFF7F5"/>
                </a:solidFill>
                <a:latin typeface="Courier New" pitchFamily="34" charset="0"/>
                <a:ea typeface="Courier New" pitchFamily="34" charset="-122"/>
                <a:cs typeface="Courier New" pitchFamily="34" charset="-120"/>
              </a:rPr>
              <a:t>&gt; t = byVector(interest, seeds, limit);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if</a:t>
            </a:r>
            <a:r>
              <a:rPr lang="en-US" sz="1100" dirty="0">
                <a:solidFill>
                  <a:srgbClr val="EFF7F5"/>
                </a:solidFill>
                <a:latin typeface="Courier New" pitchFamily="34" charset="0"/>
                <a:ea typeface="Courier New" pitchFamily="34" charset="-122"/>
                <a:cs typeface="Courier New" pitchFamily="34" charset="-120"/>
              </a:rPr>
              <a:t> (!t.isEmpty()) </a:t>
            </a:r>
            <a:r>
              <a:rPr lang="en-US" sz="1100" dirty="0">
                <a:solidFill>
                  <a:srgbClr val="E0A458"/>
                </a:solidFill>
                <a:latin typeface="Courier New" pitchFamily="34" charset="0"/>
                <a:ea typeface="Courier New" pitchFamily="34" charset="-122"/>
                <a:cs typeface="Courier New" pitchFamily="34" charset="-120"/>
              </a:rPr>
              <a:t>return</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new</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Recommendation</a:t>
            </a:r>
            <a:r>
              <a:rPr lang="en-US" sz="1100" dirty="0">
                <a:solidFill>
                  <a:srgbClr val="EFF7F5"/>
                </a:solidFill>
                <a:latin typeface="Courier New" pitchFamily="34" charset="0"/>
                <a:ea typeface="Courier New" pitchFamily="34" charset="-122"/>
                <a:cs typeface="Courier New" pitchFamily="34" charset="-120"/>
              </a:rPr>
              <a:t>(t, VECTOR);</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return</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E0A458"/>
                </a:solidFill>
                <a:latin typeface="Courier New" pitchFamily="34" charset="0"/>
                <a:ea typeface="Courier New" pitchFamily="34" charset="-122"/>
                <a:cs typeface="Courier New" pitchFamily="34" charset="-120"/>
              </a:rPr>
              <a:t>new</a:t>
            </a:r>
            <a:r>
              <a:rPr lang="en-US" sz="1100" dirty="0">
                <a:solidFill>
                  <a:srgbClr val="EFF7F5"/>
                </a:solidFill>
                <a:latin typeface="Courier New" pitchFamily="34" charset="0"/>
                <a:ea typeface="Courier New" pitchFamily="34" charset="-122"/>
                <a:cs typeface="Courier New" pitchFamily="34" charset="-120"/>
              </a:rPr>
              <a:t> </a:t>
            </a:r>
            <a:r>
              <a:rPr lang="en-US" sz="1100" dirty="0">
                <a:solidFill>
                  <a:srgbClr val="86C7BA"/>
                </a:solidFill>
                <a:latin typeface="Courier New" pitchFamily="34" charset="0"/>
                <a:ea typeface="Courier New" pitchFamily="34" charset="-122"/>
                <a:cs typeface="Courier New" pitchFamily="34" charset="-120"/>
              </a:rPr>
              <a:t>Recommendation</a:t>
            </a:r>
            <a:r>
              <a:rPr lang="en-US" sz="1100" dirty="0">
                <a:solidFill>
                  <a:srgbClr val="EFF7F5"/>
                </a:solidFill>
                <a:latin typeface="Courier New" pitchFamily="34" charset="0"/>
                <a:ea typeface="Courier New" pitchFamily="34" charset="-122"/>
                <a:cs typeface="Courier New" pitchFamily="34" charset="-120"/>
              </a:rPr>
              <a:t>(</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      sameCategory(seeds.get(0), seen, limit), CATEGORY);</a:t>
            </a:r>
            <a:endParaRPr lang="en-US" sz="1100" dirty="0"/>
          </a:p>
          <a:p>
            <a:pPr indent="0" marL="0">
              <a:lnSpc>
                <a:spcPts val="1400"/>
              </a:lnSpc>
              <a:buNone/>
            </a:pPr>
            <a:r>
              <a:rPr lang="en-US" sz="1100" dirty="0">
                <a:solidFill>
                  <a:srgbClr val="EFF7F5"/>
                </a:solidFill>
                <a:latin typeface="Courier New" pitchFamily="34" charset="0"/>
                <a:ea typeface="Courier New" pitchFamily="34" charset="-122"/>
                <a:cs typeface="Courier New" pitchFamily="34" charset="-120"/>
              </a:rPr>
              <a:t>}</a:t>
            </a:r>
            <a:endParaRPr lang="en-US" sz="1100" dirty="0"/>
          </a:p>
        </p:txBody>
      </p:sp>
      <p:sp>
        <p:nvSpPr>
          <p:cNvPr id="23" name="Card"/>
          <p:cNvSpPr/>
          <p:nvPr/>
        </p:nvSpPr>
        <p:spPr>
          <a:xfrm>
            <a:off x="8001000" y="3108960"/>
            <a:ext cx="3639312" cy="2926080"/>
          </a:xfrm>
          <a:prstGeom prst="roundRect">
            <a:avLst>
              <a:gd name="adj" fmla="val 3125"/>
            </a:avLst>
          </a:prstGeom>
          <a:solidFill>
            <a:schemeClr val="bg2"/>
          </a:solidFill>
          <a:ln w="12700">
            <a:solidFill>
              <a:schemeClr val="bg2"/>
            </a:solidFill>
            <a:prstDash val="solid"/>
          </a:ln>
        </p:spPr>
      </p:sp>
      <p:sp>
        <p:nvSpPr>
          <p:cNvPr id="24" name="Text 21"/>
          <p:cNvSpPr txBox="1"/>
          <p:nvPr/>
        </p:nvSpPr>
        <p:spPr>
          <a:xfrm>
            <a:off x="8183880" y="3246120"/>
            <a:ext cx="3291840" cy="27432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Chưa có lịch sử → tour phổ biến (lượt xem cao nhất)</a:t>
            </a:r>
            <a:endParaRPr lang="en-US" sz="1400" dirty="0"/>
          </a:p>
          <a:p>
            <a:pPr marL="177800" indent="-177800">
              <a:spcAft>
                <a:spcPts val="900"/>
              </a:spcAft>
              <a:buSzPct val="100000"/>
              <a:buChar char="•"/>
            </a:pPr>
            <a:r>
              <a:rPr lang="en-US" sz="1400" b="1" dirty="0">
                <a:solidFill>
                  <a:schemeClr val="tx1"/>
                </a:solidFill>
              </a:rPr>
              <a:t>AI tắt hoặc lỗi → tour cùng danh mục với tour quan tâm nhất</a:t>
            </a:r>
            <a:endParaRPr lang="en-US" sz="1400" dirty="0"/>
          </a:p>
          <a:p>
            <a:pPr marL="177800" indent="-177800">
              <a:spcAft>
                <a:spcPts val="900"/>
              </a:spcAft>
              <a:buSzPct val="100000"/>
              <a:buChar char="•"/>
            </a:pPr>
            <a:r>
              <a:rPr lang="en-US" sz="1400" b="1" dirty="0">
                <a:solidFill>
                  <a:schemeClr val="tx1"/>
                </a:solidFill>
              </a:rPr>
              <a:t>Hiển thị: khối "Có thể bạn thích" ở trang chủ; "Tour tương tự" ở trang chi tiết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Kịch bản demo</a:t>
            </a:r>
            <a:endParaRPr lang="en-US" sz="3200" dirty="0"/>
          </a:p>
        </p:txBody>
      </p:sp>
      <p:sp>
        <p:nvSpPr>
          <p:cNvPr id="3" name="Section chip"/>
          <p:cNvSpPr txBox="1"/>
          <p:nvPr/>
        </p:nvSpPr>
        <p:spPr>
          <a:xfrm>
            <a:off x="548640" y="246888"/>
            <a:ext cx="2459736"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PHẦN 2 · ÁP DỤNG VÀO DỰ ÁN</a:t>
            </a:r>
            <a:endParaRPr lang="en-US" sz="1100" dirty="0"/>
          </a:p>
        </p:txBody>
      </p:sp>
      <p:sp>
        <p:nvSpPr>
          <p:cNvPr id="5" name="Step number"/>
          <p:cNvSpPr txBox="1"/>
          <p:nvPr/>
        </p:nvSpPr>
        <p:spPr>
          <a:xfrm>
            <a:off x="548640" y="1572768"/>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3"/>
          <p:cNvSpPr txBox="1"/>
          <p:nvPr/>
        </p:nvSpPr>
        <p:spPr>
          <a:xfrm>
            <a:off x="1188720" y="1463040"/>
            <a:ext cx="5669280" cy="274320"/>
          </a:xfrm>
          <a:prstGeom prst="rect">
            <a:avLst/>
          </a:prstGeom>
          <a:noFill/>
          <a:ln/>
        </p:spPr>
        <p:txBody>
          <a:bodyPr wrap="square" lIns="0" tIns="0" rIns="0" bIns="0" rtlCol="0" anchor="t"/>
          <a:lstStyle/>
          <a:p>
            <a:pPr indent="0" marL="0">
              <a:buNone/>
            </a:pPr>
            <a:r>
              <a:rPr lang="en-US" sz="1500" b="1" dirty="0">
                <a:solidFill>
                  <a:schemeClr val="tx2"/>
                </a:solidFill>
              </a:rPr>
              <a:t>Chuẩn bị</a:t>
            </a:r>
            <a:endParaRPr lang="en-US" sz="1500" dirty="0"/>
          </a:p>
        </p:txBody>
      </p:sp>
      <p:sp>
        <p:nvSpPr>
          <p:cNvPr id="7" name="Text 4"/>
          <p:cNvSpPr txBox="1"/>
          <p:nvPr/>
        </p:nvSpPr>
        <p:spPr>
          <a:xfrm>
            <a:off x="1188720" y="1755648"/>
            <a:ext cx="5669280" cy="457200"/>
          </a:xfrm>
          <a:prstGeom prst="rect">
            <a:avLst/>
          </a:prstGeom>
          <a:noFill/>
          <a:ln/>
        </p:spPr>
        <p:txBody>
          <a:bodyPr wrap="square" lIns="0" tIns="0" rIns="0" bIns="0" rtlCol="0" anchor="t"/>
          <a:lstStyle/>
          <a:p>
            <a:pPr indent="0" marL="0">
              <a:buNone/>
            </a:pPr>
            <a:r>
              <a:rPr lang="en-US" sz="1300" dirty="0">
                <a:solidFill>
                  <a:schemeClr val="tx1"/>
                </a:solidFill>
              </a:rPr>
              <a:t>Đặt GEMINI_API_KEY, chạy app; /admin/ai phải báo 20 tour đã lập chỉ mục</a:t>
            </a:r>
            <a:endParaRPr lang="en-US" sz="1300" dirty="0"/>
          </a:p>
        </p:txBody>
      </p:sp>
      <p:sp>
        <p:nvSpPr>
          <p:cNvPr id="8" name="Step number"/>
          <p:cNvSpPr txBox="1"/>
          <p:nvPr/>
        </p:nvSpPr>
        <p:spPr>
          <a:xfrm>
            <a:off x="548640" y="235915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6"/>
          <p:cNvSpPr txBox="1"/>
          <p:nvPr/>
        </p:nvSpPr>
        <p:spPr>
          <a:xfrm>
            <a:off x="1188720" y="2249424"/>
            <a:ext cx="5669280" cy="274320"/>
          </a:xfrm>
          <a:prstGeom prst="rect">
            <a:avLst/>
          </a:prstGeom>
          <a:noFill/>
          <a:ln/>
        </p:spPr>
        <p:txBody>
          <a:bodyPr wrap="square" lIns="0" tIns="0" rIns="0" bIns="0" rtlCol="0" anchor="t"/>
          <a:lstStyle/>
          <a:p>
            <a:pPr indent="0" marL="0">
              <a:buNone/>
            </a:pPr>
            <a:r>
              <a:rPr lang="en-US" sz="1500" b="1" dirty="0">
                <a:solidFill>
                  <a:schemeClr val="tx2"/>
                </a:solidFill>
              </a:rPr>
              <a:t>Tìm theo ý</a:t>
            </a:r>
            <a:endParaRPr lang="en-US" sz="1500" dirty="0"/>
          </a:p>
        </p:txBody>
      </p:sp>
      <p:sp>
        <p:nvSpPr>
          <p:cNvPr id="10" name="Text 7"/>
          <p:cNvSpPr txBox="1"/>
          <p:nvPr/>
        </p:nvSpPr>
        <p:spPr>
          <a:xfrm>
            <a:off x="1188720" y="2542032"/>
            <a:ext cx="5669280" cy="457200"/>
          </a:xfrm>
          <a:prstGeom prst="rect">
            <a:avLst/>
          </a:prstGeom>
          <a:noFill/>
          <a:ln/>
        </p:spPr>
        <p:txBody>
          <a:bodyPr wrap="square" lIns="0" tIns="0" rIns="0" bIns="0" rtlCol="0" anchor="t"/>
          <a:lstStyle/>
          <a:p>
            <a:pPr indent="0" marL="0">
              <a:buNone/>
            </a:pPr>
            <a:r>
              <a:rPr lang="en-US" sz="1300" dirty="0">
                <a:solidFill>
                  <a:schemeClr val="tx1"/>
                </a:solidFill>
              </a:rPr>
              <a:t>Bật "Tìm bằng AI": “biển yên tĩnh cho gia đình dưới 5 triệu”</a:t>
            </a:r>
            <a:endParaRPr lang="en-US" sz="1300" dirty="0"/>
          </a:p>
        </p:txBody>
      </p:sp>
      <p:sp>
        <p:nvSpPr>
          <p:cNvPr id="11" name="Step number"/>
          <p:cNvSpPr txBox="1"/>
          <p:nvPr/>
        </p:nvSpPr>
        <p:spPr>
          <a:xfrm>
            <a:off x="548640" y="3145536"/>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2" name="Text 9"/>
          <p:cNvSpPr txBox="1"/>
          <p:nvPr/>
        </p:nvSpPr>
        <p:spPr>
          <a:xfrm>
            <a:off x="1188720" y="3035808"/>
            <a:ext cx="5669280" cy="274320"/>
          </a:xfrm>
          <a:prstGeom prst="rect">
            <a:avLst/>
          </a:prstGeom>
          <a:noFill/>
          <a:ln/>
        </p:spPr>
        <p:txBody>
          <a:bodyPr wrap="square" lIns="0" tIns="0" rIns="0" bIns="0" rtlCol="0" anchor="t"/>
          <a:lstStyle/>
          <a:p>
            <a:pPr indent="0" marL="0">
              <a:buNone/>
            </a:pPr>
            <a:r>
              <a:rPr lang="en-US" sz="1500" b="1" dirty="0">
                <a:solidFill>
                  <a:schemeClr val="tx2"/>
                </a:solidFill>
              </a:rPr>
              <a:t>Duyệt tour</a:t>
            </a:r>
            <a:endParaRPr lang="en-US" sz="1500" dirty="0"/>
          </a:p>
        </p:txBody>
      </p:sp>
      <p:sp>
        <p:nvSpPr>
          <p:cNvPr id="13" name="Text 10"/>
          <p:cNvSpPr txBox="1"/>
          <p:nvPr/>
        </p:nvSpPr>
        <p:spPr>
          <a:xfrm>
            <a:off x="1188720" y="3328416"/>
            <a:ext cx="5669280" cy="457200"/>
          </a:xfrm>
          <a:prstGeom prst="rect">
            <a:avLst/>
          </a:prstGeom>
          <a:noFill/>
          <a:ln/>
        </p:spPr>
        <p:txBody>
          <a:bodyPr wrap="square" lIns="0" tIns="0" rIns="0" bIns="0" rtlCol="0" anchor="t"/>
          <a:lstStyle/>
          <a:p>
            <a:pPr indent="0" marL="0">
              <a:buNone/>
            </a:pPr>
            <a:r>
              <a:rPr lang="en-US" sz="1300" dirty="0">
                <a:solidFill>
                  <a:schemeClr val="tx1"/>
                </a:solidFill>
              </a:rPr>
              <a:t>tracker ghi VIEW, CLICK, SEARCH, TIME_ON_PAGE; thêm giỏ ghi ADD_TO_CART</a:t>
            </a:r>
            <a:endParaRPr lang="en-US" sz="1300" dirty="0"/>
          </a:p>
        </p:txBody>
      </p:sp>
      <p:sp>
        <p:nvSpPr>
          <p:cNvPr id="14" name="Step number"/>
          <p:cNvSpPr txBox="1"/>
          <p:nvPr/>
        </p:nvSpPr>
        <p:spPr>
          <a:xfrm>
            <a:off x="548640" y="393192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5" name="Text 12"/>
          <p:cNvSpPr txBox="1"/>
          <p:nvPr/>
        </p:nvSpPr>
        <p:spPr>
          <a:xfrm>
            <a:off x="1188720" y="3822192"/>
            <a:ext cx="5669280" cy="274320"/>
          </a:xfrm>
          <a:prstGeom prst="rect">
            <a:avLst/>
          </a:prstGeom>
          <a:noFill/>
          <a:ln/>
        </p:spPr>
        <p:txBody>
          <a:bodyPr wrap="square" lIns="0" tIns="0" rIns="0" bIns="0" rtlCol="0" anchor="t"/>
          <a:lstStyle/>
          <a:p>
            <a:pPr indent="0" marL="0">
              <a:buNone/>
            </a:pPr>
            <a:r>
              <a:rPr lang="en-US" sz="1500" b="1" dirty="0">
                <a:solidFill>
                  <a:schemeClr val="tx2"/>
                </a:solidFill>
              </a:rPr>
              <a:t>Hỏi chatbot</a:t>
            </a:r>
            <a:endParaRPr lang="en-US" sz="1500" dirty="0"/>
          </a:p>
        </p:txBody>
      </p:sp>
      <p:sp>
        <p:nvSpPr>
          <p:cNvPr id="16" name="Text 13"/>
          <p:cNvSpPr txBox="1"/>
          <p:nvPr/>
        </p:nvSpPr>
        <p:spPr>
          <a:xfrm>
            <a:off x="1188720" y="4114800"/>
            <a:ext cx="5669280" cy="457200"/>
          </a:xfrm>
          <a:prstGeom prst="rect">
            <a:avLst/>
          </a:prstGeom>
          <a:noFill/>
          <a:ln/>
        </p:spPr>
        <p:txBody>
          <a:bodyPr wrap="square" lIns="0" tIns="0" rIns="0" bIns="0" rtlCol="0" anchor="t"/>
          <a:lstStyle/>
          <a:p>
            <a:pPr indent="0" marL="0">
              <a:buNone/>
            </a:pPr>
            <a:r>
              <a:rPr lang="en-US" sz="1300" dirty="0">
                <a:solidFill>
                  <a:schemeClr val="tx1"/>
                </a:solidFill>
              </a:rPr>
              <a:t>Chatbot: tìm tour, xem lịch khởi hành, thêm vào giỏ (tool)</a:t>
            </a:r>
            <a:endParaRPr lang="en-US" sz="1300" dirty="0"/>
          </a:p>
        </p:txBody>
      </p:sp>
      <p:sp>
        <p:nvSpPr>
          <p:cNvPr id="17" name="Step number"/>
          <p:cNvSpPr txBox="1"/>
          <p:nvPr/>
        </p:nvSpPr>
        <p:spPr>
          <a:xfrm>
            <a:off x="548640" y="4718304"/>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8" name="Text 15"/>
          <p:cNvSpPr txBox="1"/>
          <p:nvPr/>
        </p:nvSpPr>
        <p:spPr>
          <a:xfrm>
            <a:off x="1188720" y="4608576"/>
            <a:ext cx="5669280" cy="274320"/>
          </a:xfrm>
          <a:prstGeom prst="rect">
            <a:avLst/>
          </a:prstGeom>
          <a:noFill/>
          <a:ln/>
        </p:spPr>
        <p:txBody>
          <a:bodyPr wrap="square" lIns="0" tIns="0" rIns="0" bIns="0" rtlCol="0" anchor="t"/>
          <a:lstStyle/>
          <a:p>
            <a:pPr indent="0" marL="0">
              <a:buNone/>
            </a:pPr>
            <a:r>
              <a:rPr lang="en-US" sz="1500" b="1" dirty="0">
                <a:solidFill>
                  <a:schemeClr val="tx2"/>
                </a:solidFill>
              </a:rPr>
              <a:t>Dashboard</a:t>
            </a:r>
            <a:endParaRPr lang="en-US" sz="1500" dirty="0"/>
          </a:p>
        </p:txBody>
      </p:sp>
      <p:sp>
        <p:nvSpPr>
          <p:cNvPr id="19" name="Text 16"/>
          <p:cNvSpPr txBox="1"/>
          <p:nvPr/>
        </p:nvSpPr>
        <p:spPr>
          <a:xfrm>
            <a:off x="1188720" y="4901184"/>
            <a:ext cx="5669280" cy="457200"/>
          </a:xfrm>
          <a:prstGeom prst="rect">
            <a:avLst/>
          </a:prstGeom>
          <a:noFill/>
          <a:ln/>
        </p:spPr>
        <p:txBody>
          <a:bodyPr wrap="square" lIns="0" tIns="0" rIns="0" bIns="0" rtlCol="0" anchor="t"/>
          <a:lstStyle/>
          <a:p>
            <a:pPr indent="0" marL="0">
              <a:buNone/>
            </a:pPr>
            <a:r>
              <a:rPr lang="en-US" sz="1300" dirty="0">
                <a:solidFill>
                  <a:schemeClr val="tx1"/>
                </a:solidFill>
              </a:rPr>
              <a:t>Admin /admin/analytics: phễu, top xem/click, từ khoá, thời gian xem</a:t>
            </a:r>
            <a:endParaRPr lang="en-US" sz="1300" dirty="0"/>
          </a:p>
        </p:txBody>
      </p:sp>
      <p:sp>
        <p:nvSpPr>
          <p:cNvPr id="20" name="Step number"/>
          <p:cNvSpPr txBox="1"/>
          <p:nvPr/>
        </p:nvSpPr>
        <p:spPr>
          <a:xfrm>
            <a:off x="548640" y="5504688"/>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21" name="Text 18"/>
          <p:cNvSpPr txBox="1"/>
          <p:nvPr/>
        </p:nvSpPr>
        <p:spPr>
          <a:xfrm>
            <a:off x="1188720" y="5394960"/>
            <a:ext cx="5669280" cy="274320"/>
          </a:xfrm>
          <a:prstGeom prst="rect">
            <a:avLst/>
          </a:prstGeom>
          <a:noFill/>
          <a:ln/>
        </p:spPr>
        <p:txBody>
          <a:bodyPr wrap="square" lIns="0" tIns="0" rIns="0" bIns="0" rtlCol="0" anchor="t"/>
          <a:lstStyle/>
          <a:p>
            <a:pPr indent="0" marL="0">
              <a:buNone/>
            </a:pPr>
            <a:r>
              <a:rPr lang="en-US" sz="1500" b="1" dirty="0">
                <a:solidFill>
                  <a:schemeClr val="tx2"/>
                </a:solidFill>
              </a:rPr>
              <a:t>Trang chủ</a:t>
            </a:r>
            <a:endParaRPr lang="en-US" sz="1500" dirty="0"/>
          </a:p>
        </p:txBody>
      </p:sp>
      <p:sp>
        <p:nvSpPr>
          <p:cNvPr id="22" name="Text 19"/>
          <p:cNvSpPr txBox="1"/>
          <p:nvPr/>
        </p:nvSpPr>
        <p:spPr>
          <a:xfrm>
            <a:off x="1188720" y="5687568"/>
            <a:ext cx="5669280" cy="457200"/>
          </a:xfrm>
          <a:prstGeom prst="rect">
            <a:avLst/>
          </a:prstGeom>
          <a:noFill/>
          <a:ln/>
        </p:spPr>
        <p:txBody>
          <a:bodyPr wrap="square" lIns="0" tIns="0" rIns="0" bIns="0" rtlCol="0" anchor="t"/>
          <a:lstStyle/>
          <a:p>
            <a:pPr indent="0" marL="0">
              <a:buNone/>
            </a:pPr>
            <a:r>
              <a:rPr lang="en-US" sz="1300" dirty="0">
                <a:solidFill>
                  <a:schemeClr val="tx1"/>
                </a:solidFill>
              </a:rPr>
              <a:t>“Có thể bạn thích” dựa trên các tour vừa xem</a:t>
            </a:r>
            <a:endParaRPr lang="en-US" sz="1300" dirty="0"/>
          </a:p>
        </p:txBody>
      </p:sp>
      <p:sp>
        <p:nvSpPr>
          <p:cNvPr id="23" name="Card"/>
          <p:cNvSpPr/>
          <p:nvPr/>
        </p:nvSpPr>
        <p:spPr>
          <a:xfrm>
            <a:off x="7132320" y="1463040"/>
            <a:ext cx="4507992" cy="4800600"/>
          </a:xfrm>
          <a:prstGeom prst="roundRect">
            <a:avLst>
              <a:gd name="adj" fmla="val 2028"/>
            </a:avLst>
          </a:prstGeom>
          <a:solidFill>
            <a:schemeClr val="bg2"/>
          </a:solidFill>
          <a:ln w="12700">
            <a:solidFill>
              <a:schemeClr val="bg2"/>
            </a:solidFill>
            <a:prstDash val="solid"/>
          </a:ln>
        </p:spPr>
      </p:sp>
      <p:sp>
        <p:nvSpPr>
          <p:cNvPr id="24" name="Text 21"/>
          <p:cNvSpPr txBox="1"/>
          <p:nvPr/>
        </p:nvSpPr>
        <p:spPr>
          <a:xfrm>
            <a:off x="7315200" y="1554480"/>
            <a:ext cx="4114800" cy="274320"/>
          </a:xfrm>
          <a:prstGeom prst="rect">
            <a:avLst/>
          </a:prstGeom>
          <a:noFill/>
          <a:ln/>
        </p:spPr>
        <p:txBody>
          <a:bodyPr wrap="square" lIns="0" tIns="0" rIns="0" bIns="0" rtlCol="0" anchor="t"/>
          <a:lstStyle/>
          <a:p>
            <a:pPr indent="0" marL="0">
              <a:buNone/>
            </a:pPr>
            <a:r>
              <a:rPr lang="en-US" sz="1300" b="1" dirty="0">
                <a:solidFill>
                  <a:schemeClr val="accent1"/>
                </a:solidFill>
              </a:rPr>
              <a:t>Trò chuyện với trợ lý (ví dụ)</a:t>
            </a:r>
            <a:endParaRPr lang="en-US" sz="1300" dirty="0"/>
          </a:p>
        </p:txBody>
      </p:sp>
      <p:sp>
        <p:nvSpPr>
          <p:cNvPr id="25" name="Box"/>
          <p:cNvSpPr txBox="1"/>
          <p:nvPr/>
        </p:nvSpPr>
        <p:spPr>
          <a:xfrm>
            <a:off x="8229600" y="1920240"/>
            <a:ext cx="3246120" cy="594360"/>
          </a:xfrm>
          <a:prstGeom prst="roundRect">
            <a:avLst>
              <a:gd name="adj" fmla="val 15385"/>
            </a:avLst>
          </a:prstGeom>
          <a:solidFill>
            <a:schemeClr val="accent1"/>
          </a:solidFill>
          <a:ln>
            <a:solidFill>
              <a:schemeClr val="accent1"/>
            </a:solidFill>
          </a:ln>
        </p:spPr>
        <p:txBody>
          <a:bodyPr wrap="square" lIns="114300" tIns="114300" rIns="114300" bIns="114300" rtlCol="0" anchor="ctr"/>
          <a:lstStyle/>
          <a:p>
            <a:pPr algn="l" indent="0" marL="0">
              <a:buNone/>
            </a:pPr>
            <a:r>
              <a:rPr lang="en-US" sz="1200" dirty="0">
                <a:solidFill>
                  <a:schemeClr val="bg1"/>
                </a:solidFill>
              </a:rPr>
              <a:t>Có tour biển nào dưới 6 triệu không?</a:t>
            </a:r>
            <a:endParaRPr lang="en-US" sz="1200" dirty="0"/>
          </a:p>
        </p:txBody>
      </p:sp>
      <p:sp>
        <p:nvSpPr>
          <p:cNvPr id="26" name="Box"/>
          <p:cNvSpPr txBox="1"/>
          <p:nvPr/>
        </p:nvSpPr>
        <p:spPr>
          <a:xfrm>
            <a:off x="7315200" y="2642616"/>
            <a:ext cx="3017520" cy="310896"/>
          </a:xfrm>
          <a:prstGeom prst="roundRect">
            <a:avLst>
              <a:gd name="adj" fmla="val 29412"/>
            </a:avLst>
          </a:prstGeom>
          <a:solidFill>
            <a:schemeClr val="accent2"/>
          </a:solidFill>
          <a:ln>
            <a:solidFill>
              <a:schemeClr val="accent2"/>
            </a:solidFill>
          </a:ln>
        </p:spPr>
        <p:txBody>
          <a:bodyPr wrap="square" lIns="101600" tIns="101600" rIns="101600" bIns="101600" rtlCol="0" anchor="ctr"/>
          <a:lstStyle/>
          <a:p>
            <a:pPr algn="l" indent="0" marL="0">
              <a:buNone/>
            </a:pPr>
            <a:r>
              <a:rPr lang="en-US" sz="1100" b="1" dirty="0">
                <a:solidFill>
                  <a:schemeClr val="tx2"/>
                </a:solidFill>
              </a:rPr>
              <a:t>tool: searchTours(maxPriceVnd = 6000000)</a:t>
            </a:r>
            <a:endParaRPr lang="en-US" sz="1100" dirty="0"/>
          </a:p>
        </p:txBody>
      </p:sp>
      <p:sp>
        <p:nvSpPr>
          <p:cNvPr id="27" name="Box"/>
          <p:cNvSpPr txBox="1"/>
          <p:nvPr/>
        </p:nvSpPr>
        <p:spPr>
          <a:xfrm>
            <a:off x="7315200" y="3081528"/>
            <a:ext cx="3611880" cy="868680"/>
          </a:xfrm>
          <a:prstGeom prst="roundRect">
            <a:avLst>
              <a:gd name="adj" fmla="val 10526"/>
            </a:avLst>
          </a:prstGeom>
          <a:solidFill>
            <a:srgbClr val="FFFFFF"/>
          </a:solidFill>
          <a:ln w="15875">
            <a:solidFill>
              <a:schemeClr val="accent5"/>
            </a:solidFill>
            <a:prstDash val="solid"/>
          </a:ln>
        </p:spPr>
        <p:txBody>
          <a:bodyPr wrap="square" lIns="114300" tIns="114300" rIns="114300" bIns="114300" rtlCol="0" anchor="ctr"/>
          <a:lstStyle/>
          <a:p>
            <a:pPr algn="l" indent="0" marL="0">
              <a:buNone/>
            </a:pPr>
            <a:r>
              <a:rPr lang="en-US" sz="1200" dirty="0">
                <a:solidFill>
                  <a:schemeClr val="tx1"/>
                </a:solidFill>
              </a:rPr>
              <a:t>Có vài lựa chọn, ví dụ Nha Trang 4N3Đ (từ 4,59 triệu) và Quy Nhơn - Phú Yên 4N3Đ (5,19 triệu).</a:t>
            </a:r>
            <a:endParaRPr lang="en-US" sz="1200" dirty="0"/>
          </a:p>
        </p:txBody>
      </p:sp>
      <p:sp>
        <p:nvSpPr>
          <p:cNvPr id="28" name="Box"/>
          <p:cNvSpPr txBox="1"/>
          <p:nvPr/>
        </p:nvSpPr>
        <p:spPr>
          <a:xfrm>
            <a:off x="8229600" y="4078224"/>
            <a:ext cx="3246120" cy="365760"/>
          </a:xfrm>
          <a:prstGeom prst="roundRect">
            <a:avLst>
              <a:gd name="adj" fmla="val 25000"/>
            </a:avLst>
          </a:prstGeom>
          <a:solidFill>
            <a:schemeClr val="accent1"/>
          </a:solidFill>
          <a:ln>
            <a:solidFill>
              <a:schemeClr val="accent1"/>
            </a:solidFill>
          </a:ln>
        </p:spPr>
        <p:txBody>
          <a:bodyPr wrap="square" lIns="114300" tIns="114300" rIns="114300" bIns="114300" rtlCol="0" anchor="ctr"/>
          <a:lstStyle/>
          <a:p>
            <a:pPr algn="l" indent="0" marL="0">
              <a:buNone/>
            </a:pPr>
            <a:r>
              <a:rPr lang="en-US" sz="1200" dirty="0">
                <a:solidFill>
                  <a:schemeClr val="bg1"/>
                </a:solidFill>
              </a:rPr>
              <a:t>Thêm Nha Trang cho 2 người lớn</a:t>
            </a:r>
            <a:endParaRPr lang="en-US" sz="1200" dirty="0"/>
          </a:p>
        </p:txBody>
      </p:sp>
      <p:sp>
        <p:nvSpPr>
          <p:cNvPr id="29" name="Box"/>
          <p:cNvSpPr txBox="1"/>
          <p:nvPr/>
        </p:nvSpPr>
        <p:spPr>
          <a:xfrm>
            <a:off x="7315200" y="4572000"/>
            <a:ext cx="3017520" cy="310896"/>
          </a:xfrm>
          <a:prstGeom prst="roundRect">
            <a:avLst>
              <a:gd name="adj" fmla="val 29412"/>
            </a:avLst>
          </a:prstGeom>
          <a:solidFill>
            <a:schemeClr val="accent2"/>
          </a:solidFill>
          <a:ln>
            <a:solidFill>
              <a:schemeClr val="accent2"/>
            </a:solidFill>
          </a:ln>
        </p:spPr>
        <p:txBody>
          <a:bodyPr wrap="square" lIns="101600" tIns="101600" rIns="101600" bIns="101600" rtlCol="0" anchor="ctr"/>
          <a:lstStyle/>
          <a:p>
            <a:pPr algn="l" indent="0" marL="0">
              <a:buNone/>
            </a:pPr>
            <a:r>
              <a:rPr lang="en-US" sz="1100" b="1" dirty="0">
                <a:solidFill>
                  <a:schemeClr val="tx2"/>
                </a:solidFill>
              </a:rPr>
              <a:t>tool: getDepartures → addToCart(...)</a:t>
            </a:r>
            <a:endParaRPr lang="en-US" sz="1100" dirty="0"/>
          </a:p>
        </p:txBody>
      </p:sp>
      <p:sp>
        <p:nvSpPr>
          <p:cNvPr id="30" name="Box"/>
          <p:cNvSpPr txBox="1"/>
          <p:nvPr/>
        </p:nvSpPr>
        <p:spPr>
          <a:xfrm>
            <a:off x="7315200" y="5010912"/>
            <a:ext cx="3611880" cy="594360"/>
          </a:xfrm>
          <a:prstGeom prst="roundRect">
            <a:avLst>
              <a:gd name="adj" fmla="val 15385"/>
            </a:avLst>
          </a:prstGeom>
          <a:solidFill>
            <a:srgbClr val="FFFFFF"/>
          </a:solidFill>
          <a:ln w="15875">
            <a:solidFill>
              <a:schemeClr val="accent5"/>
            </a:solidFill>
            <a:prstDash val="solid"/>
          </a:ln>
        </p:spPr>
        <p:txBody>
          <a:bodyPr wrap="square" lIns="114300" tIns="114300" rIns="114300" bIns="114300" rtlCol="0" anchor="ctr"/>
          <a:lstStyle/>
          <a:p>
            <a:pPr algn="l" indent="0" marL="0">
              <a:buNone/>
            </a:pPr>
            <a:r>
              <a:rPr lang="en-US" sz="1200" dirty="0">
                <a:solidFill>
                  <a:schemeClr val="tx1"/>
                </a:solidFill>
              </a:rPr>
              <a:t>Đã thêm vào giỏ. Bạn vào Giỏ hàng để thanh toán nhé.</a:t>
            </a:r>
            <a:endParaRPr lang="en-US" sz="1200" dirty="0"/>
          </a:p>
        </p:txBody>
      </p:sp>
      <p:sp>
        <p:nvSpPr>
          <p:cNvPr id="31" name="Text 28"/>
          <p:cNvSpPr txBox="1"/>
          <p:nvPr/>
        </p:nvSpPr>
        <p:spPr>
          <a:xfrm>
            <a:off x="7315200" y="5806440"/>
            <a:ext cx="4114800" cy="320040"/>
          </a:xfrm>
          <a:prstGeom prst="rect">
            <a:avLst/>
          </a:prstGeom>
          <a:noFill/>
          <a:ln/>
        </p:spPr>
        <p:txBody>
          <a:bodyPr wrap="square" lIns="0" tIns="0" rIns="0" bIns="0" rtlCol="0" anchor="t"/>
          <a:lstStyle/>
          <a:p>
            <a:pPr indent="0" marL="0">
              <a:buNone/>
            </a:pPr>
            <a:r>
              <a:rPr lang="en-US" sz="1100" i="1" dirty="0">
                <a:solidFill>
                  <a:schemeClr val="accent6"/>
                </a:solidFill>
              </a:rPr>
              <a:t>Hội thoại minh hoạ: câu trả lời thật do mô hình sinh ra. Dữ liệu mẫu: 03_seed_data.sql.</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bg1"/>
                </a:solidFill>
              </a:rPr>
              <a:t>Kết luận và lưu ý khi triển khai</a:t>
            </a:r>
            <a:endParaRPr lang="en-US" sz="3200" dirty="0"/>
          </a:p>
        </p:txBody>
      </p:sp>
      <p:sp>
        <p:nvSpPr>
          <p:cNvPr id="3" name="Section chip"/>
          <p:cNvSpPr txBox="1"/>
          <p:nvPr/>
        </p:nvSpPr>
        <p:spPr>
          <a:xfrm>
            <a:off x="548640" y="246888"/>
            <a:ext cx="896112"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tx2"/>
                </a:solidFill>
              </a:rPr>
              <a:t>KẾT LUẬN</a:t>
            </a:r>
            <a:endParaRPr lang="en-US" sz="1100" dirty="0"/>
          </a:p>
        </p:txBody>
      </p:sp>
      <p:sp>
        <p:nvSpPr>
          <p:cNvPr id="5" name="Card"/>
          <p:cNvSpPr/>
          <p:nvPr/>
        </p:nvSpPr>
        <p:spPr>
          <a:xfrm>
            <a:off x="548640" y="1463040"/>
            <a:ext cx="3611880" cy="4754880"/>
          </a:xfrm>
          <a:prstGeom prst="roundRect">
            <a:avLst>
              <a:gd name="adj" fmla="val 2532"/>
            </a:avLst>
          </a:prstGeom>
          <a:solidFill>
            <a:schemeClr val="tx2"/>
          </a:solidFill>
          <a:ln w="12700">
            <a:solidFill>
              <a:schemeClr val="tx2"/>
            </a:solidFill>
            <a:prstDash val="solid"/>
          </a:ln>
        </p:spPr>
      </p:sp>
      <p:sp>
        <p:nvSpPr>
          <p:cNvPr id="6" name="Text 3"/>
          <p:cNvSpPr txBox="1"/>
          <p:nvPr/>
        </p:nvSpPr>
        <p:spPr>
          <a:xfrm>
            <a:off x="777240" y="1645920"/>
            <a:ext cx="3154680" cy="365760"/>
          </a:xfrm>
          <a:prstGeom prst="rect">
            <a:avLst/>
          </a:prstGeom>
          <a:noFill/>
          <a:ln/>
        </p:spPr>
        <p:txBody>
          <a:bodyPr wrap="square" lIns="0" tIns="0" rIns="0" bIns="0" rtlCol="0" anchor="t"/>
          <a:lstStyle/>
          <a:p>
            <a:pPr indent="0" marL="0">
              <a:buNone/>
            </a:pPr>
            <a:r>
              <a:rPr lang="en-US" sz="1800" b="1" dirty="0">
                <a:solidFill>
                  <a:schemeClr val="accent2"/>
                </a:solidFill>
              </a:rPr>
              <a:t>Kết quả chính</a:t>
            </a:r>
            <a:endParaRPr lang="en-US" sz="1800" dirty="0"/>
          </a:p>
        </p:txBody>
      </p:sp>
      <p:sp>
        <p:nvSpPr>
          <p:cNvPr id="7" name="Text 4"/>
          <p:cNvSpPr txBox="1"/>
          <p:nvPr/>
        </p:nvSpPr>
        <p:spPr>
          <a:xfrm>
            <a:off x="777240" y="2194560"/>
            <a:ext cx="3154680" cy="3931920"/>
          </a:xfrm>
          <a:prstGeom prst="rect">
            <a:avLst/>
          </a:prstGeom>
          <a:noFill/>
          <a:ln/>
        </p:spPr>
        <p:txBody>
          <a:bodyPr wrap="square" lIns="0" tIns="0" rIns="0" bIns="0" rtlCol="0" anchor="t"/>
          <a:lstStyle/>
          <a:p>
            <a:pPr marL="177800" indent="-177800">
              <a:spcAft>
                <a:spcPts val="1300"/>
              </a:spcAft>
              <a:buSzPct val="100000"/>
              <a:buChar char="•"/>
            </a:pPr>
            <a:r>
              <a:rPr lang="en-US" sz="1600" dirty="0">
                <a:solidFill>
                  <a:schemeClr val="bg1"/>
                </a:solidFill>
              </a:rPr>
              <a:t>Spring AI: một API thống nhất cho chat, embedding, vector store, tool calling</a:t>
            </a:r>
            <a:endParaRPr lang="en-US" sz="1600" dirty="0"/>
          </a:p>
          <a:p>
            <a:pPr marL="177800" indent="-177800">
              <a:spcAft>
                <a:spcPts val="1300"/>
              </a:spcAft>
              <a:buSzPct val="100000"/>
              <a:buChar char="•"/>
            </a:pPr>
            <a:r>
              <a:rPr lang="en-US" sz="1600" dirty="0">
                <a:solidFill>
                  <a:schemeClr val="bg1"/>
                </a:solidFill>
              </a:rPr>
              <a:t>Vector DB: tìm kiếm ngữ nghĩa, tour tương tự, gợi ý (có dự phòng khi AI tắt)</a:t>
            </a:r>
            <a:endParaRPr lang="en-US" sz="1600" dirty="0"/>
          </a:p>
          <a:p>
            <a:pPr marL="177800" indent="-177800">
              <a:spcAft>
                <a:spcPts val="1300"/>
              </a:spcAft>
              <a:buSzPct val="100000"/>
              <a:buChar char="•"/>
            </a:pPr>
            <a:r>
              <a:rPr lang="en-US" sz="1600" dirty="0">
                <a:solidFill>
                  <a:schemeClr val="bg1"/>
                </a:solidFill>
              </a:rPr>
              <a:t>Tracking: funnel, top xem/click, time on page, từ khoá tìm kiếm</a:t>
            </a:r>
            <a:endParaRPr lang="en-US" sz="1600" dirty="0"/>
          </a:p>
          <a:p>
            <a:pPr marL="177800" indent="-177800">
              <a:spcAft>
                <a:spcPts val="1300"/>
              </a:spcAft>
              <a:buSzPct val="100000"/>
              <a:buChar char="•"/>
            </a:pPr>
            <a:r>
              <a:rPr lang="en-US" sz="1600" dirty="0">
                <a:solidFill>
                  <a:schemeClr val="bg1"/>
                </a:solidFill>
              </a:rPr>
              <a:t>Kiểm thử tự động: 73 test, chạy cả app trên H2 + máy chủ OpenAI giả</a:t>
            </a:r>
            <a:endParaRPr lang="en-US" sz="1600" dirty="0"/>
          </a:p>
        </p:txBody>
      </p:sp>
      <p:sp>
        <p:nvSpPr>
          <p:cNvPr id="8" name="Card"/>
          <p:cNvSpPr/>
          <p:nvPr/>
        </p:nvSpPr>
        <p:spPr>
          <a:xfrm>
            <a:off x="4297680" y="1463040"/>
            <a:ext cx="3611880" cy="4754880"/>
          </a:xfrm>
          <a:prstGeom prst="roundRect">
            <a:avLst>
              <a:gd name="adj" fmla="val 2532"/>
            </a:avLst>
          </a:prstGeom>
          <a:solidFill>
            <a:schemeClr val="tx2"/>
          </a:solidFill>
          <a:ln w="12700">
            <a:solidFill>
              <a:schemeClr val="tx2"/>
            </a:solidFill>
            <a:prstDash val="solid"/>
          </a:ln>
        </p:spPr>
      </p:sp>
      <p:sp>
        <p:nvSpPr>
          <p:cNvPr id="9" name="Text 6"/>
          <p:cNvSpPr txBox="1"/>
          <p:nvPr/>
        </p:nvSpPr>
        <p:spPr>
          <a:xfrm>
            <a:off x="4526280" y="1645920"/>
            <a:ext cx="3154680" cy="365760"/>
          </a:xfrm>
          <a:prstGeom prst="rect">
            <a:avLst/>
          </a:prstGeom>
          <a:noFill/>
          <a:ln/>
        </p:spPr>
        <p:txBody>
          <a:bodyPr wrap="square" lIns="0" tIns="0" rIns="0" bIns="0" rtlCol="0" anchor="t"/>
          <a:lstStyle/>
          <a:p>
            <a:pPr indent="0" marL="0">
              <a:buNone/>
            </a:pPr>
            <a:r>
              <a:rPr lang="en-US" sz="1800" b="1" dirty="0">
                <a:solidFill>
                  <a:schemeClr val="accent2"/>
                </a:solidFill>
              </a:rPr>
              <a:t>Lưu ý khi triển khai</a:t>
            </a:r>
            <a:endParaRPr lang="en-US" sz="1800" dirty="0"/>
          </a:p>
        </p:txBody>
      </p:sp>
      <p:sp>
        <p:nvSpPr>
          <p:cNvPr id="10" name="Text 7"/>
          <p:cNvSpPr txBox="1"/>
          <p:nvPr/>
        </p:nvSpPr>
        <p:spPr>
          <a:xfrm>
            <a:off x="4526280" y="2194560"/>
            <a:ext cx="3154680" cy="3931920"/>
          </a:xfrm>
          <a:prstGeom prst="rect">
            <a:avLst/>
          </a:prstGeom>
          <a:noFill/>
          <a:ln/>
        </p:spPr>
        <p:txBody>
          <a:bodyPr wrap="square" lIns="0" tIns="0" rIns="0" bIns="0" rtlCol="0" anchor="t"/>
          <a:lstStyle/>
          <a:p>
            <a:pPr marL="177800" indent="-177800">
              <a:spcAft>
                <a:spcPts val="1300"/>
              </a:spcAft>
              <a:buSzPct val="100000"/>
              <a:buChar char="•"/>
            </a:pPr>
            <a:r>
              <a:rPr lang="en-US" sz="1600" dirty="0">
                <a:solidFill>
                  <a:schemeClr val="bg1"/>
                </a:solidFill>
              </a:rPr>
              <a:t>Spring AI 1.1.x cho Boot 3.5; 2.0.x cần Boot 4</a:t>
            </a:r>
            <a:endParaRPr lang="en-US" sz="1600" dirty="0"/>
          </a:p>
          <a:p>
            <a:pPr marL="177800" indent="-177800">
              <a:spcAft>
                <a:spcPts val="1300"/>
              </a:spcAft>
              <a:buSzPct val="100000"/>
              <a:buChar char="•"/>
            </a:pPr>
            <a:r>
              <a:rPr lang="en-US" sz="1600" dirty="0">
                <a:solidFill>
                  <a:schemeClr val="bg1"/>
                </a:solidFill>
              </a:rPr>
              <a:t>Đổi mô hình nhúng → lập chỉ mục lại (tự phát hiện)</a:t>
            </a:r>
            <a:endParaRPr lang="en-US" sz="1600" dirty="0"/>
          </a:p>
          <a:p>
            <a:pPr marL="177800" indent="-177800">
              <a:spcAft>
                <a:spcPts val="1300"/>
              </a:spcAft>
              <a:buSzPct val="100000"/>
              <a:buChar char="•"/>
            </a:pPr>
            <a:r>
              <a:rPr lang="en-US" sz="1600" dirty="0">
                <a:solidFill>
                  <a:schemeClr val="bg1"/>
                </a:solidFill>
              </a:rPr>
              <a:t>Khoá API qua biến môi trường; gói miễn phí giới hạn tốc độ</a:t>
            </a:r>
            <a:endParaRPr lang="en-US" sz="1600" dirty="0"/>
          </a:p>
          <a:p>
            <a:pPr marL="177800" indent="-177800">
              <a:spcAft>
                <a:spcPts val="1300"/>
              </a:spcAft>
              <a:buSzPct val="100000"/>
              <a:buChar char="•"/>
            </a:pPr>
            <a:r>
              <a:rPr lang="en-US" sz="1600" dirty="0">
                <a:solidFill>
                  <a:schemeClr val="bg1"/>
                </a:solidFill>
              </a:rPr>
              <a:t>Prompt injection, dữ liệu cá nhân, consent</a:t>
            </a:r>
            <a:endParaRPr lang="en-US" sz="1600" dirty="0"/>
          </a:p>
          <a:p>
            <a:pPr marL="177800" indent="-177800">
              <a:spcAft>
                <a:spcPts val="1300"/>
              </a:spcAft>
              <a:buSzPct val="100000"/>
              <a:buChar char="•"/>
            </a:pPr>
            <a:r>
              <a:rPr lang="en-US" sz="1600" dirty="0">
                <a:solidFill>
                  <a:schemeClr val="bg1"/>
                </a:solidFill>
              </a:rPr>
              <a:t>Mock ChatModel khi kiểm thử</a:t>
            </a:r>
            <a:endParaRPr lang="en-US" sz="1600" dirty="0"/>
          </a:p>
        </p:txBody>
      </p:sp>
      <p:sp>
        <p:nvSpPr>
          <p:cNvPr id="11" name="Card"/>
          <p:cNvSpPr/>
          <p:nvPr/>
        </p:nvSpPr>
        <p:spPr>
          <a:xfrm>
            <a:off x="8046720" y="1463040"/>
            <a:ext cx="3611880" cy="4754880"/>
          </a:xfrm>
          <a:prstGeom prst="roundRect">
            <a:avLst>
              <a:gd name="adj" fmla="val 2532"/>
            </a:avLst>
          </a:prstGeom>
          <a:solidFill>
            <a:schemeClr val="tx2"/>
          </a:solidFill>
          <a:ln w="12700">
            <a:solidFill>
              <a:schemeClr val="tx2"/>
            </a:solidFill>
            <a:prstDash val="solid"/>
          </a:ln>
        </p:spPr>
      </p:sp>
      <p:sp>
        <p:nvSpPr>
          <p:cNvPr id="12" name="Text 9"/>
          <p:cNvSpPr txBox="1"/>
          <p:nvPr/>
        </p:nvSpPr>
        <p:spPr>
          <a:xfrm>
            <a:off x="8275320" y="1645920"/>
            <a:ext cx="3154680" cy="365760"/>
          </a:xfrm>
          <a:prstGeom prst="rect">
            <a:avLst/>
          </a:prstGeom>
          <a:noFill/>
          <a:ln/>
        </p:spPr>
        <p:txBody>
          <a:bodyPr wrap="square" lIns="0" tIns="0" rIns="0" bIns="0" rtlCol="0" anchor="t"/>
          <a:lstStyle/>
          <a:p>
            <a:pPr indent="0" marL="0">
              <a:buNone/>
            </a:pPr>
            <a:r>
              <a:rPr lang="en-US" sz="1800" b="1" dirty="0">
                <a:solidFill>
                  <a:schemeClr val="accent2"/>
                </a:solidFill>
              </a:rPr>
              <a:t>Hướng phát triển</a:t>
            </a:r>
            <a:endParaRPr lang="en-US" sz="1800" dirty="0"/>
          </a:p>
        </p:txBody>
      </p:sp>
      <p:sp>
        <p:nvSpPr>
          <p:cNvPr id="13" name="Text 10"/>
          <p:cNvSpPr txBox="1"/>
          <p:nvPr/>
        </p:nvSpPr>
        <p:spPr>
          <a:xfrm>
            <a:off x="8275320" y="2194560"/>
            <a:ext cx="3154680" cy="3931920"/>
          </a:xfrm>
          <a:prstGeom prst="rect">
            <a:avLst/>
          </a:prstGeom>
          <a:noFill/>
          <a:ln/>
        </p:spPr>
        <p:txBody>
          <a:bodyPr wrap="square" lIns="0" tIns="0" rIns="0" bIns="0" rtlCol="0" anchor="t"/>
          <a:lstStyle/>
          <a:p>
            <a:pPr marL="177800" indent="-177800">
              <a:spcAft>
                <a:spcPts val="1300"/>
              </a:spcAft>
              <a:buSzPct val="100000"/>
              <a:buChar char="•"/>
            </a:pPr>
            <a:r>
              <a:rPr lang="en-US" sz="1600" dirty="0">
                <a:solidFill>
                  <a:schemeClr val="bg1"/>
                </a:solidFill>
              </a:rPr>
              <a:t>Internal GenAI: huấn luyện hoặc fine-tune model riêng</a:t>
            </a:r>
            <a:endParaRPr lang="en-US" sz="1600" dirty="0"/>
          </a:p>
          <a:p>
            <a:pPr marL="177800" indent="-177800">
              <a:spcAft>
                <a:spcPts val="1300"/>
              </a:spcAft>
              <a:buSzPct val="100000"/>
              <a:buChar char="•"/>
            </a:pPr>
            <a:r>
              <a:rPr lang="en-US" sz="1600" dirty="0">
                <a:solidFill>
                  <a:schemeClr val="bg1"/>
                </a:solidFill>
              </a:rPr>
              <a:t>GenAI + Workflow: AI quyết định trong quy trình nghiệp vụ</a:t>
            </a:r>
            <a:endParaRPr lang="en-US" sz="1600" dirty="0"/>
          </a:p>
          <a:p>
            <a:pPr marL="177800" indent="-177800">
              <a:spcAft>
                <a:spcPts val="1300"/>
              </a:spcAft>
              <a:buSzPct val="100000"/>
              <a:buChar char="•"/>
            </a:pPr>
            <a:r>
              <a:rPr lang="en-US" sz="1600" dirty="0">
                <a:solidFill>
                  <a:schemeClr val="bg1"/>
                </a:solidFill>
              </a:rPr>
              <a:t>Agents: Spring AI agents hoặc LangChain4j</a:t>
            </a:r>
            <a:endParaRPr lang="en-US" sz="1600" dirty="0"/>
          </a:p>
          <a:p>
            <a:pPr marL="177800" indent="-177800">
              <a:spcAft>
                <a:spcPts val="1300"/>
              </a:spcAft>
              <a:buSzPct val="100000"/>
              <a:buChar char="•"/>
            </a:pPr>
            <a:r>
              <a:rPr lang="en-US" sz="1600" dirty="0">
                <a:solidFill>
                  <a:schemeClr val="bg1"/>
                </a:solidFill>
              </a:rPr>
              <a:t>Dữ liệu thời gian thực: Kafka + RAG</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Tài liệu tham khảo</a:t>
            </a:r>
            <a:endParaRPr lang="en-US" sz="3200" dirty="0"/>
          </a:p>
        </p:txBody>
      </p:sp>
      <p:sp>
        <p:nvSpPr>
          <p:cNvPr id="4" name="Card"/>
          <p:cNvSpPr/>
          <p:nvPr/>
        </p:nvSpPr>
        <p:spPr>
          <a:xfrm>
            <a:off x="548640" y="1463040"/>
            <a:ext cx="5468112" cy="987552"/>
          </a:xfrm>
          <a:prstGeom prst="roundRect">
            <a:avLst>
              <a:gd name="adj" fmla="val 9259"/>
            </a:avLst>
          </a:prstGeom>
          <a:solidFill>
            <a:schemeClr val="bg2"/>
          </a:solidFill>
          <a:ln w="12700">
            <a:solidFill>
              <a:schemeClr val="bg2"/>
            </a:solidFill>
            <a:prstDash val="solid"/>
          </a:ln>
        </p:spPr>
      </p:sp>
      <p:sp>
        <p:nvSpPr>
          <p:cNvPr id="5" name="Icon circle"/>
          <p:cNvSpPr/>
          <p:nvPr/>
        </p:nvSpPr>
        <p:spPr>
          <a:xfrm>
            <a:off x="731520" y="1691640"/>
            <a:ext cx="530352" cy="530352"/>
          </a:xfrm>
          <a:prstGeom prst="ellipse">
            <a:avLst/>
          </a:prstGeom>
          <a:solidFill>
            <a:schemeClr val="accent1"/>
          </a:solidFill>
          <a:ln w="12700">
            <a:solidFill>
              <a:schemeClr val="accent1"/>
            </a:solidFill>
            <a:prstDash val="solid"/>
          </a:ln>
        </p:spPr>
      </p:sp>
      <p:pic>
        <p:nvPicPr>
          <p:cNvPr id="6" name="Image 0" descr="Book icon">    </p:cNvPr>
          <p:cNvPicPr>
            <a:picLocks noChangeAspect="1"/>
          </p:cNvPicPr>
          <p:nvPr/>
        </p:nvPicPr>
        <p:blipFill>
          <a:blip r:embed="rId1"/>
          <a:stretch>
            <a:fillRect/>
          </a:stretch>
        </p:blipFill>
        <p:spPr>
          <a:xfrm>
            <a:off x="858804" y="1818924"/>
            <a:ext cx="275783" cy="275783"/>
          </a:xfrm>
          <a:prstGeom prst="rect">
            <a:avLst/>
          </a:prstGeom>
        </p:spPr>
      </p:pic>
      <p:sp>
        <p:nvSpPr>
          <p:cNvPr id="7" name="Text 3"/>
          <p:cNvSpPr txBox="1"/>
          <p:nvPr/>
        </p:nvSpPr>
        <p:spPr>
          <a:xfrm>
            <a:off x="1463040" y="1591056"/>
            <a:ext cx="4434840" cy="365760"/>
          </a:xfrm>
          <a:prstGeom prst="rect">
            <a:avLst/>
          </a:prstGeom>
          <a:noFill/>
          <a:ln/>
        </p:spPr>
        <p:txBody>
          <a:bodyPr wrap="square" lIns="0" tIns="0" rIns="0" bIns="0" rtlCol="0" anchor="t"/>
          <a:lstStyle/>
          <a:p>
            <a:pPr indent="0" marL="0">
              <a:buNone/>
            </a:pPr>
            <a:r>
              <a:rPr lang="en-US" sz="1500" b="1" dirty="0">
                <a:solidFill>
                  <a:schemeClr val="tx2"/>
                </a:solidFill>
              </a:rPr>
              <a:t>Chapter 7: Spring AI (bài giảng)</a:t>
            </a:r>
            <a:endParaRPr lang="en-US" sz="1500" dirty="0"/>
          </a:p>
        </p:txBody>
      </p:sp>
      <p:sp>
        <p:nvSpPr>
          <p:cNvPr id="8" name="Text 4"/>
          <p:cNvSpPr txBox="1"/>
          <p:nvPr/>
        </p:nvSpPr>
        <p:spPr>
          <a:xfrm>
            <a:off x="1463040" y="196596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Chapter7_Spring_AI.pdf</a:t>
            </a:r>
            <a:endParaRPr lang="en-US" sz="1250" dirty="0"/>
          </a:p>
        </p:txBody>
      </p:sp>
      <p:sp>
        <p:nvSpPr>
          <p:cNvPr id="9" name="Card"/>
          <p:cNvSpPr/>
          <p:nvPr/>
        </p:nvSpPr>
        <p:spPr>
          <a:xfrm>
            <a:off x="6172200" y="1463040"/>
            <a:ext cx="5468112" cy="987552"/>
          </a:xfrm>
          <a:prstGeom prst="roundRect">
            <a:avLst>
              <a:gd name="adj" fmla="val 9259"/>
            </a:avLst>
          </a:prstGeom>
          <a:solidFill>
            <a:schemeClr val="bg2"/>
          </a:solidFill>
          <a:ln w="12700">
            <a:solidFill>
              <a:schemeClr val="bg2"/>
            </a:solidFill>
            <a:prstDash val="solid"/>
          </a:ln>
        </p:spPr>
      </p:sp>
      <p:sp>
        <p:nvSpPr>
          <p:cNvPr id="10" name="Icon circle"/>
          <p:cNvSpPr/>
          <p:nvPr/>
        </p:nvSpPr>
        <p:spPr>
          <a:xfrm>
            <a:off x="6355080" y="1691640"/>
            <a:ext cx="530352" cy="530352"/>
          </a:xfrm>
          <a:prstGeom prst="ellipse">
            <a:avLst/>
          </a:prstGeom>
          <a:solidFill>
            <a:schemeClr val="accent1"/>
          </a:solidFill>
          <a:ln w="12700">
            <a:solidFill>
              <a:schemeClr val="accent1"/>
            </a:solidFill>
            <a:prstDash val="solid"/>
          </a:ln>
        </p:spPr>
      </p:sp>
      <p:pic>
        <p:nvPicPr>
          <p:cNvPr id="11" name="Image 1" descr="Leaf icon">    </p:cNvPr>
          <p:cNvPicPr>
            <a:picLocks noChangeAspect="1"/>
          </p:cNvPicPr>
          <p:nvPr/>
        </p:nvPicPr>
        <p:blipFill>
          <a:blip r:embed="rId2"/>
          <a:stretch>
            <a:fillRect/>
          </a:stretch>
        </p:blipFill>
        <p:spPr>
          <a:xfrm>
            <a:off x="6482364" y="1818924"/>
            <a:ext cx="275783" cy="275783"/>
          </a:xfrm>
          <a:prstGeom prst="rect">
            <a:avLst/>
          </a:prstGeom>
        </p:spPr>
      </p:pic>
      <p:sp>
        <p:nvSpPr>
          <p:cNvPr id="12" name="Text 7"/>
          <p:cNvSpPr txBox="1"/>
          <p:nvPr/>
        </p:nvSpPr>
        <p:spPr>
          <a:xfrm>
            <a:off x="7086600" y="1591056"/>
            <a:ext cx="4434840" cy="365760"/>
          </a:xfrm>
          <a:prstGeom prst="rect">
            <a:avLst/>
          </a:prstGeom>
          <a:noFill/>
          <a:ln/>
        </p:spPr>
        <p:txBody>
          <a:bodyPr wrap="square" lIns="0" tIns="0" rIns="0" bIns="0" rtlCol="0" anchor="t"/>
          <a:lstStyle/>
          <a:p>
            <a:pPr indent="0" marL="0">
              <a:buNone/>
            </a:pPr>
            <a:r>
              <a:rPr lang="en-US" sz="1500" b="1" dirty="0">
                <a:solidFill>
                  <a:schemeClr val="tx2"/>
                </a:solidFill>
              </a:rPr>
              <a:t>Spring AI reference</a:t>
            </a:r>
            <a:endParaRPr lang="en-US" sz="1500" dirty="0"/>
          </a:p>
        </p:txBody>
      </p:sp>
      <p:sp>
        <p:nvSpPr>
          <p:cNvPr id="13" name="Text 8"/>
          <p:cNvSpPr txBox="1"/>
          <p:nvPr/>
        </p:nvSpPr>
        <p:spPr>
          <a:xfrm>
            <a:off x="7086600" y="196596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docs.spring.io/spring-ai/reference</a:t>
            </a:r>
            <a:endParaRPr lang="en-US" sz="1250" dirty="0"/>
          </a:p>
        </p:txBody>
      </p:sp>
      <p:sp>
        <p:nvSpPr>
          <p:cNvPr id="14" name="Card"/>
          <p:cNvSpPr/>
          <p:nvPr/>
        </p:nvSpPr>
        <p:spPr>
          <a:xfrm>
            <a:off x="548640" y="2560320"/>
            <a:ext cx="5468112" cy="987552"/>
          </a:xfrm>
          <a:prstGeom prst="roundRect">
            <a:avLst>
              <a:gd name="adj" fmla="val 9259"/>
            </a:avLst>
          </a:prstGeom>
          <a:solidFill>
            <a:schemeClr val="bg2"/>
          </a:solidFill>
          <a:ln w="12700">
            <a:solidFill>
              <a:schemeClr val="bg2"/>
            </a:solidFill>
            <a:prstDash val="solid"/>
          </a:ln>
        </p:spPr>
      </p:sp>
      <p:sp>
        <p:nvSpPr>
          <p:cNvPr id="15" name="Icon circle"/>
          <p:cNvSpPr/>
          <p:nvPr/>
        </p:nvSpPr>
        <p:spPr>
          <a:xfrm>
            <a:off x="731520" y="2788920"/>
            <a:ext cx="530352" cy="530352"/>
          </a:xfrm>
          <a:prstGeom prst="ellipse">
            <a:avLst/>
          </a:prstGeom>
          <a:solidFill>
            <a:schemeClr val="accent1"/>
          </a:solidFill>
          <a:ln w="12700">
            <a:solidFill>
              <a:schemeClr val="accent1"/>
            </a:solidFill>
            <a:prstDash val="solid"/>
          </a:ln>
        </p:spPr>
      </p:sp>
      <p:pic>
        <p:nvPicPr>
          <p:cNvPr id="16" name="Image 2" descr="Database icon">    </p:cNvPr>
          <p:cNvPicPr>
            <a:picLocks noChangeAspect="1"/>
          </p:cNvPicPr>
          <p:nvPr/>
        </p:nvPicPr>
        <p:blipFill>
          <a:blip r:embed="rId3"/>
          <a:stretch>
            <a:fillRect/>
          </a:stretch>
        </p:blipFill>
        <p:spPr>
          <a:xfrm>
            <a:off x="858804" y="2916204"/>
            <a:ext cx="275783" cy="275783"/>
          </a:xfrm>
          <a:prstGeom prst="rect">
            <a:avLst/>
          </a:prstGeom>
        </p:spPr>
      </p:pic>
      <p:sp>
        <p:nvSpPr>
          <p:cNvPr id="17" name="Text 11"/>
          <p:cNvSpPr txBox="1"/>
          <p:nvPr/>
        </p:nvSpPr>
        <p:spPr>
          <a:xfrm>
            <a:off x="1463040" y="2688336"/>
            <a:ext cx="4434840" cy="365760"/>
          </a:xfrm>
          <a:prstGeom prst="rect">
            <a:avLst/>
          </a:prstGeom>
          <a:noFill/>
          <a:ln/>
        </p:spPr>
        <p:txBody>
          <a:bodyPr wrap="square" lIns="0" tIns="0" rIns="0" bIns="0" rtlCol="0" anchor="t"/>
          <a:lstStyle/>
          <a:p>
            <a:pPr indent="0" marL="0">
              <a:buNone/>
            </a:pPr>
            <a:r>
              <a:rPr lang="en-US" sz="1500" b="1" dirty="0">
                <a:solidFill>
                  <a:schemeClr val="tx2"/>
                </a:solidFill>
              </a:rPr>
              <a:t>pgvector</a:t>
            </a:r>
            <a:endParaRPr lang="en-US" sz="1500" dirty="0"/>
          </a:p>
        </p:txBody>
      </p:sp>
      <p:sp>
        <p:nvSpPr>
          <p:cNvPr id="18" name="Text 12"/>
          <p:cNvSpPr txBox="1"/>
          <p:nvPr/>
        </p:nvSpPr>
        <p:spPr>
          <a:xfrm>
            <a:off x="1463040" y="306324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github.com/pgvector/pgvector</a:t>
            </a:r>
            <a:endParaRPr lang="en-US" sz="1250" dirty="0"/>
          </a:p>
        </p:txBody>
      </p:sp>
      <p:sp>
        <p:nvSpPr>
          <p:cNvPr id="19" name="Card"/>
          <p:cNvSpPr/>
          <p:nvPr/>
        </p:nvSpPr>
        <p:spPr>
          <a:xfrm>
            <a:off x="6172200" y="2560320"/>
            <a:ext cx="5468112" cy="987552"/>
          </a:xfrm>
          <a:prstGeom prst="roundRect">
            <a:avLst>
              <a:gd name="adj" fmla="val 9259"/>
            </a:avLst>
          </a:prstGeom>
          <a:solidFill>
            <a:schemeClr val="bg2"/>
          </a:solidFill>
          <a:ln w="12700">
            <a:solidFill>
              <a:schemeClr val="bg2"/>
            </a:solidFill>
            <a:prstDash val="solid"/>
          </a:ln>
        </p:spPr>
      </p:sp>
      <p:sp>
        <p:nvSpPr>
          <p:cNvPr id="20" name="Icon circle"/>
          <p:cNvSpPr/>
          <p:nvPr/>
        </p:nvSpPr>
        <p:spPr>
          <a:xfrm>
            <a:off x="6355080" y="2788920"/>
            <a:ext cx="530352" cy="530352"/>
          </a:xfrm>
          <a:prstGeom prst="ellipse">
            <a:avLst/>
          </a:prstGeom>
          <a:solidFill>
            <a:schemeClr val="accent1"/>
          </a:solidFill>
          <a:ln w="12700">
            <a:solidFill>
              <a:schemeClr val="accent1"/>
            </a:solidFill>
            <a:prstDash val="solid"/>
          </a:ln>
        </p:spPr>
      </p:sp>
      <p:pic>
        <p:nvPicPr>
          <p:cNvPr id="21" name="Image 3" descr="Database icon">    </p:cNvPr>
          <p:cNvPicPr>
            <a:picLocks noChangeAspect="1"/>
          </p:cNvPicPr>
          <p:nvPr/>
        </p:nvPicPr>
        <p:blipFill>
          <a:blip r:embed="rId4"/>
          <a:stretch>
            <a:fillRect/>
          </a:stretch>
        </p:blipFill>
        <p:spPr>
          <a:xfrm>
            <a:off x="6482364" y="2916204"/>
            <a:ext cx="275783" cy="275783"/>
          </a:xfrm>
          <a:prstGeom prst="rect">
            <a:avLst/>
          </a:prstGeom>
        </p:spPr>
      </p:pic>
      <p:sp>
        <p:nvSpPr>
          <p:cNvPr id="22" name="Text 15"/>
          <p:cNvSpPr txBox="1"/>
          <p:nvPr/>
        </p:nvSpPr>
        <p:spPr>
          <a:xfrm>
            <a:off x="7086600" y="2688336"/>
            <a:ext cx="4434840" cy="365760"/>
          </a:xfrm>
          <a:prstGeom prst="rect">
            <a:avLst/>
          </a:prstGeom>
          <a:noFill/>
          <a:ln/>
        </p:spPr>
        <p:txBody>
          <a:bodyPr wrap="square" lIns="0" tIns="0" rIns="0" bIns="0" rtlCol="0" anchor="t"/>
          <a:lstStyle/>
          <a:p>
            <a:pPr indent="0" marL="0">
              <a:buNone/>
            </a:pPr>
            <a:r>
              <a:rPr lang="en-US" sz="1500" b="1" dirty="0">
                <a:solidFill>
                  <a:schemeClr val="tx2"/>
                </a:solidFill>
              </a:rPr>
              <a:t>Qdrant · Weaviate</a:t>
            </a:r>
            <a:endParaRPr lang="en-US" sz="1500" dirty="0"/>
          </a:p>
        </p:txBody>
      </p:sp>
      <p:sp>
        <p:nvSpPr>
          <p:cNvPr id="23" name="Text 16"/>
          <p:cNvSpPr txBox="1"/>
          <p:nvPr/>
        </p:nvSpPr>
        <p:spPr>
          <a:xfrm>
            <a:off x="7086600" y="306324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qdrant.tech · weaviate.io</a:t>
            </a:r>
            <a:endParaRPr lang="en-US" sz="1250" dirty="0"/>
          </a:p>
        </p:txBody>
      </p:sp>
      <p:sp>
        <p:nvSpPr>
          <p:cNvPr id="24" name="Card"/>
          <p:cNvSpPr/>
          <p:nvPr/>
        </p:nvSpPr>
        <p:spPr>
          <a:xfrm>
            <a:off x="548640" y="3657600"/>
            <a:ext cx="5468112" cy="987552"/>
          </a:xfrm>
          <a:prstGeom prst="roundRect">
            <a:avLst>
              <a:gd name="adj" fmla="val 9259"/>
            </a:avLst>
          </a:prstGeom>
          <a:solidFill>
            <a:schemeClr val="bg2"/>
          </a:solidFill>
          <a:ln w="12700">
            <a:solidFill>
              <a:schemeClr val="bg2"/>
            </a:solidFill>
            <a:prstDash val="solid"/>
          </a:ln>
        </p:spPr>
      </p:sp>
      <p:sp>
        <p:nvSpPr>
          <p:cNvPr id="25" name="Icon circle"/>
          <p:cNvSpPr/>
          <p:nvPr/>
        </p:nvSpPr>
        <p:spPr>
          <a:xfrm>
            <a:off x="731520" y="3886200"/>
            <a:ext cx="530352" cy="530352"/>
          </a:xfrm>
          <a:prstGeom prst="ellipse">
            <a:avLst/>
          </a:prstGeom>
          <a:solidFill>
            <a:schemeClr val="accent1"/>
          </a:solidFill>
          <a:ln w="12700">
            <a:solidFill>
              <a:schemeClr val="accent1"/>
            </a:solidFill>
            <a:prstDash val="solid"/>
          </a:ln>
        </p:spPr>
      </p:sp>
      <p:pic>
        <p:nvPicPr>
          <p:cNvPr id="26" name="Image 4" descr="Brain icon">    </p:cNvPr>
          <p:cNvPicPr>
            <a:picLocks noChangeAspect="1"/>
          </p:cNvPicPr>
          <p:nvPr/>
        </p:nvPicPr>
        <p:blipFill>
          <a:blip r:embed="rId5"/>
          <a:stretch>
            <a:fillRect/>
          </a:stretch>
        </p:blipFill>
        <p:spPr>
          <a:xfrm>
            <a:off x="858804" y="4013484"/>
            <a:ext cx="275783" cy="275783"/>
          </a:xfrm>
          <a:prstGeom prst="rect">
            <a:avLst/>
          </a:prstGeom>
        </p:spPr>
      </p:pic>
      <p:sp>
        <p:nvSpPr>
          <p:cNvPr id="27" name="Text 19"/>
          <p:cNvSpPr txBox="1"/>
          <p:nvPr/>
        </p:nvSpPr>
        <p:spPr>
          <a:xfrm>
            <a:off x="1463040" y="3785616"/>
            <a:ext cx="4434840" cy="365760"/>
          </a:xfrm>
          <a:prstGeom prst="rect">
            <a:avLst/>
          </a:prstGeom>
          <a:noFill/>
          <a:ln/>
        </p:spPr>
        <p:txBody>
          <a:bodyPr wrap="square" lIns="0" tIns="0" rIns="0" bIns="0" rtlCol="0" anchor="t"/>
          <a:lstStyle/>
          <a:p>
            <a:pPr indent="0" marL="0">
              <a:buNone/>
            </a:pPr>
            <a:r>
              <a:rPr lang="en-US" sz="1500" b="1" dirty="0">
                <a:solidFill>
                  <a:schemeClr val="tx2"/>
                </a:solidFill>
              </a:rPr>
              <a:t>Google AI Studio · Gemini API</a:t>
            </a:r>
            <a:endParaRPr lang="en-US" sz="1500" dirty="0"/>
          </a:p>
        </p:txBody>
      </p:sp>
      <p:sp>
        <p:nvSpPr>
          <p:cNvPr id="28" name="Text 20"/>
          <p:cNvSpPr txBox="1"/>
          <p:nvPr/>
        </p:nvSpPr>
        <p:spPr>
          <a:xfrm>
            <a:off x="1463040" y="416052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aistudio.google.com/apikey · ai.google.dev/gemini-api/docs/openai</a:t>
            </a:r>
            <a:endParaRPr lang="en-US" sz="1250" dirty="0"/>
          </a:p>
        </p:txBody>
      </p:sp>
      <p:sp>
        <p:nvSpPr>
          <p:cNvPr id="29" name="Card"/>
          <p:cNvSpPr/>
          <p:nvPr/>
        </p:nvSpPr>
        <p:spPr>
          <a:xfrm>
            <a:off x="6172200" y="3657600"/>
            <a:ext cx="5468112" cy="987552"/>
          </a:xfrm>
          <a:prstGeom prst="roundRect">
            <a:avLst>
              <a:gd name="adj" fmla="val 9259"/>
            </a:avLst>
          </a:prstGeom>
          <a:solidFill>
            <a:schemeClr val="bg2"/>
          </a:solidFill>
          <a:ln w="12700">
            <a:solidFill>
              <a:schemeClr val="bg2"/>
            </a:solidFill>
            <a:prstDash val="solid"/>
          </a:ln>
        </p:spPr>
      </p:sp>
      <p:sp>
        <p:nvSpPr>
          <p:cNvPr id="30" name="Icon circle"/>
          <p:cNvSpPr/>
          <p:nvPr/>
        </p:nvSpPr>
        <p:spPr>
          <a:xfrm>
            <a:off x="6355080" y="3886200"/>
            <a:ext cx="530352" cy="530352"/>
          </a:xfrm>
          <a:prstGeom prst="ellipse">
            <a:avLst/>
          </a:prstGeom>
          <a:solidFill>
            <a:schemeClr val="accent1"/>
          </a:solidFill>
          <a:ln w="12700">
            <a:solidFill>
              <a:schemeClr val="accent1"/>
            </a:solidFill>
            <a:prstDash val="solid"/>
          </a:ln>
        </p:spPr>
      </p:sp>
      <p:pic>
        <p:nvPicPr>
          <p:cNvPr id="31" name="Image 5" descr="Java icon">    </p:cNvPr>
          <p:cNvPicPr>
            <a:picLocks noChangeAspect="1"/>
          </p:cNvPicPr>
          <p:nvPr/>
        </p:nvPicPr>
        <p:blipFill>
          <a:blip r:embed="rId6"/>
          <a:stretch>
            <a:fillRect/>
          </a:stretch>
        </p:blipFill>
        <p:spPr>
          <a:xfrm>
            <a:off x="6482364" y="4013484"/>
            <a:ext cx="275783" cy="275783"/>
          </a:xfrm>
          <a:prstGeom prst="rect">
            <a:avLst/>
          </a:prstGeom>
        </p:spPr>
      </p:pic>
      <p:sp>
        <p:nvSpPr>
          <p:cNvPr id="32" name="Text 23"/>
          <p:cNvSpPr txBox="1"/>
          <p:nvPr/>
        </p:nvSpPr>
        <p:spPr>
          <a:xfrm>
            <a:off x="7086600" y="3785616"/>
            <a:ext cx="4434840" cy="365760"/>
          </a:xfrm>
          <a:prstGeom prst="rect">
            <a:avLst/>
          </a:prstGeom>
          <a:noFill/>
          <a:ln/>
        </p:spPr>
        <p:txBody>
          <a:bodyPr wrap="square" lIns="0" tIns="0" rIns="0" bIns="0" rtlCol="0" anchor="t"/>
          <a:lstStyle/>
          <a:p>
            <a:pPr indent="0" marL="0">
              <a:buNone/>
            </a:pPr>
            <a:r>
              <a:rPr lang="en-US" sz="1500" b="1" dirty="0">
                <a:solidFill>
                  <a:schemeClr val="tx2"/>
                </a:solidFill>
              </a:rPr>
              <a:t>LangChain4j</a:t>
            </a:r>
            <a:endParaRPr lang="en-US" sz="1500" dirty="0"/>
          </a:p>
        </p:txBody>
      </p:sp>
      <p:sp>
        <p:nvSpPr>
          <p:cNvPr id="33" name="Text 24"/>
          <p:cNvSpPr txBox="1"/>
          <p:nvPr/>
        </p:nvSpPr>
        <p:spPr>
          <a:xfrm>
            <a:off x="7086600" y="416052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github.com/langchain4j/langchain4j</a:t>
            </a:r>
            <a:endParaRPr lang="en-US" sz="1250" dirty="0"/>
          </a:p>
        </p:txBody>
      </p:sp>
      <p:sp>
        <p:nvSpPr>
          <p:cNvPr id="34" name="Card"/>
          <p:cNvSpPr/>
          <p:nvPr/>
        </p:nvSpPr>
        <p:spPr>
          <a:xfrm>
            <a:off x="548640" y="4754880"/>
            <a:ext cx="5468112" cy="987552"/>
          </a:xfrm>
          <a:prstGeom prst="roundRect">
            <a:avLst>
              <a:gd name="adj" fmla="val 9259"/>
            </a:avLst>
          </a:prstGeom>
          <a:solidFill>
            <a:schemeClr val="bg2"/>
          </a:solidFill>
          <a:ln w="12700">
            <a:solidFill>
              <a:schemeClr val="bg2"/>
            </a:solidFill>
            <a:prstDash val="solid"/>
          </a:ln>
        </p:spPr>
      </p:sp>
      <p:sp>
        <p:nvSpPr>
          <p:cNvPr id="35" name="Icon circle"/>
          <p:cNvSpPr/>
          <p:nvPr/>
        </p:nvSpPr>
        <p:spPr>
          <a:xfrm>
            <a:off x="731520" y="4983480"/>
            <a:ext cx="530352" cy="530352"/>
          </a:xfrm>
          <a:prstGeom prst="ellipse">
            <a:avLst/>
          </a:prstGeom>
          <a:solidFill>
            <a:schemeClr val="accent1"/>
          </a:solidFill>
          <a:ln w="12700">
            <a:solidFill>
              <a:schemeClr val="accent1"/>
            </a:solidFill>
            <a:prstDash val="solid"/>
          </a:ln>
        </p:spPr>
      </p:sp>
      <p:pic>
        <p:nvPicPr>
          <p:cNvPr id="36" name="Image 6" descr="Eye icon">    </p:cNvPr>
          <p:cNvPicPr>
            <a:picLocks noChangeAspect="1"/>
          </p:cNvPicPr>
          <p:nvPr/>
        </p:nvPicPr>
        <p:blipFill>
          <a:blip r:embed="rId7"/>
          <a:stretch>
            <a:fillRect/>
          </a:stretch>
        </p:blipFill>
        <p:spPr>
          <a:xfrm>
            <a:off x="858804" y="5110764"/>
            <a:ext cx="275783" cy="275783"/>
          </a:xfrm>
          <a:prstGeom prst="rect">
            <a:avLst/>
          </a:prstGeom>
        </p:spPr>
      </p:pic>
      <p:sp>
        <p:nvSpPr>
          <p:cNvPr id="37" name="Text 27"/>
          <p:cNvSpPr txBox="1"/>
          <p:nvPr/>
        </p:nvSpPr>
        <p:spPr>
          <a:xfrm>
            <a:off x="1463040" y="4882896"/>
            <a:ext cx="4434840" cy="365760"/>
          </a:xfrm>
          <a:prstGeom prst="rect">
            <a:avLst/>
          </a:prstGeom>
          <a:noFill/>
          <a:ln/>
        </p:spPr>
        <p:txBody>
          <a:bodyPr wrap="square" lIns="0" tIns="0" rIns="0" bIns="0" rtlCol="0" anchor="t"/>
          <a:lstStyle/>
          <a:p>
            <a:pPr indent="0" marL="0">
              <a:buNone/>
            </a:pPr>
            <a:r>
              <a:rPr lang="en-US" sz="1500" b="1" dirty="0">
                <a:solidFill>
                  <a:schemeClr val="tx2"/>
                </a:solidFill>
              </a:rPr>
              <a:t>MDN: Page Visibility API</a:t>
            </a:r>
            <a:endParaRPr lang="en-US" sz="1500" dirty="0"/>
          </a:p>
        </p:txBody>
      </p:sp>
      <p:sp>
        <p:nvSpPr>
          <p:cNvPr id="38" name="Text 28"/>
          <p:cNvSpPr txBox="1"/>
          <p:nvPr/>
        </p:nvSpPr>
        <p:spPr>
          <a:xfrm>
            <a:off x="1463040" y="525780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developer.mozilla.org/docs/Web/API/Page_Visibility_API</a:t>
            </a:r>
            <a:endParaRPr lang="en-US" sz="1250" dirty="0"/>
          </a:p>
        </p:txBody>
      </p:sp>
      <p:sp>
        <p:nvSpPr>
          <p:cNvPr id="39" name="Card"/>
          <p:cNvSpPr/>
          <p:nvPr/>
        </p:nvSpPr>
        <p:spPr>
          <a:xfrm>
            <a:off x="6172200" y="4754880"/>
            <a:ext cx="5468112" cy="987552"/>
          </a:xfrm>
          <a:prstGeom prst="roundRect">
            <a:avLst>
              <a:gd name="adj" fmla="val 9259"/>
            </a:avLst>
          </a:prstGeom>
          <a:solidFill>
            <a:schemeClr val="bg2"/>
          </a:solidFill>
          <a:ln w="12700">
            <a:solidFill>
              <a:schemeClr val="bg2"/>
            </a:solidFill>
            <a:prstDash val="solid"/>
          </a:ln>
        </p:spPr>
      </p:sp>
      <p:sp>
        <p:nvSpPr>
          <p:cNvPr id="40" name="Icon circle"/>
          <p:cNvSpPr/>
          <p:nvPr/>
        </p:nvSpPr>
        <p:spPr>
          <a:xfrm>
            <a:off x="6355080" y="4983480"/>
            <a:ext cx="530352" cy="530352"/>
          </a:xfrm>
          <a:prstGeom prst="ellipse">
            <a:avLst/>
          </a:prstGeom>
          <a:solidFill>
            <a:schemeClr val="accent1"/>
          </a:solidFill>
          <a:ln w="12700">
            <a:solidFill>
              <a:schemeClr val="accent1"/>
            </a:solidFill>
            <a:prstDash val="solid"/>
          </a:ln>
        </p:spPr>
      </p:sp>
      <p:pic>
        <p:nvPicPr>
          <p:cNvPr id="41" name="Image 7" descr="ShieldAlt icon">    </p:cNvPr>
          <p:cNvPicPr>
            <a:picLocks noChangeAspect="1"/>
          </p:cNvPicPr>
          <p:nvPr/>
        </p:nvPicPr>
        <p:blipFill>
          <a:blip r:embed="rId8"/>
          <a:stretch>
            <a:fillRect/>
          </a:stretch>
        </p:blipFill>
        <p:spPr>
          <a:xfrm>
            <a:off x="6482364" y="5110764"/>
            <a:ext cx="275783" cy="275783"/>
          </a:xfrm>
          <a:prstGeom prst="rect">
            <a:avLst/>
          </a:prstGeom>
        </p:spPr>
      </p:pic>
      <p:sp>
        <p:nvSpPr>
          <p:cNvPr id="42" name="Text 31"/>
          <p:cNvSpPr txBox="1"/>
          <p:nvPr/>
        </p:nvSpPr>
        <p:spPr>
          <a:xfrm>
            <a:off x="7086600" y="4882896"/>
            <a:ext cx="4434840" cy="365760"/>
          </a:xfrm>
          <a:prstGeom prst="rect">
            <a:avLst/>
          </a:prstGeom>
          <a:noFill/>
          <a:ln/>
        </p:spPr>
        <p:txBody>
          <a:bodyPr wrap="square" lIns="0" tIns="0" rIns="0" bIns="0" rtlCol="0" anchor="t"/>
          <a:lstStyle/>
          <a:p>
            <a:pPr indent="0" marL="0">
              <a:buNone/>
            </a:pPr>
            <a:r>
              <a:rPr lang="en-US" sz="1500" b="1" dirty="0">
                <a:solidFill>
                  <a:schemeClr val="tx2"/>
                </a:solidFill>
              </a:rPr>
              <a:t>Nghị định 13/2023/NĐ-CP</a:t>
            </a:r>
            <a:endParaRPr lang="en-US" sz="1500" dirty="0"/>
          </a:p>
        </p:txBody>
      </p:sp>
      <p:sp>
        <p:nvSpPr>
          <p:cNvPr id="43" name="Text 32"/>
          <p:cNvSpPr txBox="1"/>
          <p:nvPr/>
        </p:nvSpPr>
        <p:spPr>
          <a:xfrm>
            <a:off x="7086600" y="5257800"/>
            <a:ext cx="4434840" cy="365760"/>
          </a:xfrm>
          <a:prstGeom prst="rect">
            <a:avLst/>
          </a:prstGeom>
          <a:noFill/>
          <a:ln/>
        </p:spPr>
        <p:txBody>
          <a:bodyPr wrap="square" lIns="0" tIns="0" rIns="0" bIns="0" rtlCol="0" anchor="t"/>
          <a:lstStyle/>
          <a:p>
            <a:pPr indent="0" marL="0">
              <a:buNone/>
            </a:pPr>
            <a:r>
              <a:rPr lang="en-US" sz="1250" dirty="0">
                <a:solidFill>
                  <a:schemeClr val="accent6"/>
                </a:solidFill>
              </a:rPr>
              <a:t>Bảo vệ dữ liệu cá nhân</a:t>
            </a:r>
            <a:endParaRPr lang="en-US" sz="1250" dirty="0"/>
          </a:p>
        </p:txBody>
      </p:sp>
      <p:sp>
        <p:nvSpPr>
          <p:cNvPr id="44" name="Text 33"/>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500" b="1" dirty="0">
                <a:solidFill>
                  <a:schemeClr val="accent1"/>
                </a:solidFill>
              </a:rPr>
              <a:t>Mã nguồn dự án: IUH Tour Booking (repo project_www). Cảm ơn thầy/cô và các bạn đã lắng nghe!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TourAI Jade">
  <a:themeElements>
    <a:clrScheme name="TourAI Jade">
      <a:dk1>
        <a:srgbClr val="14201E"/>
      </a:dk1>
      <a:lt1>
        <a:srgbClr val="FFFFFF"/>
      </a:lt1>
      <a:dk2>
        <a:srgbClr val="0A3833"/>
      </a:dk2>
      <a:lt2>
        <a:srgbClr val="EFF7F5"/>
      </a:lt2>
      <a:accent1>
        <a:srgbClr val="1B7A6B"/>
      </a:accent1>
      <a:accent2>
        <a:srgbClr val="E0A458"/>
      </a:accent2>
      <a:accent3>
        <a:srgbClr val="C2622D"/>
      </a:accent3>
      <a:accent4>
        <a:srgbClr val="2A9484"/>
      </a:accent4>
      <a:accent5>
        <a:srgbClr val="86C7BA"/>
      </a:accent5>
      <a:accent6>
        <a:srgbClr val="55635E"/>
      </a:accent6>
      <a:hlink>
        <a:srgbClr val="1B7A6B"/>
      </a:hlink>
      <a:folHlink>
        <a:srgbClr val="55635E"/>
      </a:folHlink>
    </a:clrScheme>
    <a:fontScheme name="TourAI J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AI, Vector Database &amp; User Tracking - IUH Tour Booking</dc:title>
  <dc:subject>Báo cáo chuyên đề AI</dc:subject>
  <dc:creator>Nhóm thực hiện</dc:creator>
  <cp:lastModifiedBy>Nhóm thực hiện</cp:lastModifiedBy>
  <cp:revision>1</cp:revision>
  <dcterms:created xsi:type="dcterms:W3CDTF">2026-10-29T09:21:51Z</dcterms:created>
  <dcterms:modified xsi:type="dcterms:W3CDTF">2026-10-29T09:21:51Z</dcterms:modified>
</cp:coreProperties>
</file>
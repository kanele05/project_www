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charts/chart1.xml" ContentType="application/vnd.openxmlformats-officedocument.drawingml.chart+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6361c337-ff3c-ed0d-feb6-21982403e9cd}">
          <p14:sldIdLst>
            <p14:sldId id="256"/>
            <p14:sldId id="257"/>
          </p14:sldIdLst>
        </p14:section>
        <p14:section name="Phần 1A · Spring AI" id="{8a021aba-89eb-fd9a-b728-4cfd3975f8b3}">
          <p14:sldIdLst>
            <p14:sldId id="258"/>
            <p14:sldId id="259"/>
            <p14:sldId id="260"/>
            <p14:sldId id="261"/>
            <p14:sldId id="262"/>
            <p14:sldId id="263"/>
            <p14:sldId id="267"/>
          </p14:sldIdLst>
        </p14:section>
        <p14:section name="Phần 1B · Vector Database" id="{5e84ae9f-86c6-935f-ff34-e6e718e80c63}">
          <p14:sldIdLst>
            <p14:sldId id="264"/>
            <p14:sldId id="265"/>
            <p14:sldId id="266"/>
          </p14:sldIdLst>
        </p14:section>
        <p14:section name="Phần 1A · Spring AI" id="{47648c5b-3aa4-3009-22a4-47091010a08c}">
          <p14:sldIdLst/>
        </p14:section>
        <p14:section name="Phần 1C · User Tracking" id="{97eec9db-8a86-4de7-dbbc-26e055eef290}">
          <p14:sldIdLst>
            <p14:sldId id="268"/>
            <p14:sldId id="269"/>
            <p14:sldId id="270"/>
          </p14:sldIdLst>
        </p14:section>
        <p14:section name="Phần 2 · Áp dụng vào dự án" id="{0638c174-27c4-b935-871c-254db0e3a085}">
          <p14:sldIdLst>
            <p14:sldId id="271"/>
            <p14:sldId id="272"/>
            <p14:sldId id="273"/>
            <p14:sldId id="274"/>
            <p14:sldId id="275"/>
            <p14:sldId id="276"/>
            <p14:sldId id="277"/>
            <p14:sldId id="278"/>
            <p14:sldId id="279"/>
            <p14:sldId id="280"/>
            <p14:sldId id="281"/>
            <p14:sldId id="282"/>
            <p14:sldId id="283"/>
            <p14:sldId id="284"/>
            <p14:sldId id="285"/>
            <p14:sldId id="286"/>
            <p14:sldId id="287"/>
            <p14:sldId id="288"/>
          </p14:sldIdLst>
        </p14:section>
        <p14:section name="Kết luận" id="{dd40b53b-4821-fb4b-6e93-4368a9af0376}">
          <p14:sldIdLst>
            <p14:sldId id="289"/>
            <p14:sldId id="29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3833"/>
                </a:solidFill>
                <a:latin typeface="+mn-lt"/>
              </a:defRPr>
            </a:pPr>
            <a:r>
              <a:rPr sz="1300" b="0" i="0" u="none" strike="noStrike">
                <a:solidFill>
                  <a:srgbClr val="0A3833"/>
                </a:solidFill>
                <a:latin typeface="+mn-lt"/>
              </a:rPr>
              <a:t>Phễu chuyển đổi (số liệu minh hoạ)</a:t>
            </a:r>
          </a:p>
        </c:rich>
      </c:tx>
      <c:layout/>
      <c:overlay val="0"/>
    </c:title>
    <c:autoTitleDeleted val="0"/>
    <c:plotArea>
      <c:layout/>
      <c:barChart>
        <c:barDir val="bar"/>
        <c:grouping val="clustered"/>
        <c:varyColors val="0"/>
        <c:ser>
          <c:idx val="0"/>
          <c:order val="0"/>
          <c:tx>
            <c:strRef>
              <c:f>Sheet1!$B$1</c:f>
              <c:strCache>
                <c:ptCount val="1"/>
                <c:pt idx="0">
                  <c:v>Số lượt</c:v>
                </c:pt>
              </c:strCache>
            </c:strRef>
          </c:tx>
          <c:spPr>
            <a:solidFill>
              <a:srgbClr val="1B7A6B"/>
            </a:solidFill>
            <a:effectLst/>
          </c:spPr>
          <c:invertIfNegative val="0"/>
          <c:dLbls>
            <c:numFmt formatCode="#,##0" sourceLinked="0"/>
            <c:txPr>
              <a:bodyPr/>
              <a:lstStyle/>
              <a:p>
                <a:pPr>
                  <a:defRPr b="0" i="0" strike="noStrike" sz="1200" u="none">
                    <a:solidFill>
                      <a:srgbClr val="14201E"/>
                    </a:solidFill>
                    <a:latin typeface="+mn-lt"/>
                  </a:defRPr>
                </a:pPr>
              </a:p>
            </c:txPr>
            <c:showLegendKey val="0"/>
            <c:showVal val="1"/>
            <c:showCatName val="0"/>
            <c:showSerName val="0"/>
            <c:showPercent val="0"/>
            <c:showBubbleSize val="0"/>
            <c:showLeaderLines val="0"/>
          </c:dLbls>
          <c:cat>
            <c:multiLvlStrRef>
              <c:f>Sheet1!$A$2:$A$5</c:f>
              <c:multiLvlStrCache>
                <c:ptCount val="4"/>
                <c:lvl>
                  <c:pt idx="0">
                    <c:v>Xem trang</c:v>
                  </c:pt>
                  <c:pt idx="1">
                    <c:v>Click chi tiết</c:v>
                  </c:pt>
                  <c:pt idx="2">
                    <c:v>Thêm vào giỏ</c:v>
                  </c:pt>
                  <c:pt idx="3">
                    <c:v>Đặt hàng</c:v>
                  </c:pt>
                </c:lvl>
              </c:multiLvlStrCache>
            </c:multiLvlStrRef>
          </c:cat>
          <c:val>
            <c:numRef>
              <c:f>Sheet1!$B$2:$B$5</c:f>
              <c:numCache>
                <c:formatCode>General</c:formatCode>
                <c:ptCount val="4"/>
                <c:pt idx="0">
                  <c:v>1000</c:v>
                </c:pt>
                <c:pt idx="1">
                  <c:v>420</c:v>
                </c:pt>
                <c:pt idx="2">
                  <c:v>130</c:v>
                </c:pt>
                <c:pt idx="3">
                  <c:v>38</c:v>
                </c:pt>
              </c:numCache>
            </c:numRef>
          </c:val>
        </c:ser>
        <c:dLbls>
          <c:numFmt formatCode="#,##0" sourceLinked="0"/>
          <c:txPr>
            <a:bodyPr/>
            <a:lstStyle/>
            <a:p>
              <a:pPr>
                <a:defRPr b="0" i="0" strike="noStrike" sz="1200" u="none">
                  <a:solidFill>
                    <a:srgbClr val="14201E"/>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33433F"/>
                </a:solidFill>
                <a:latin typeface="+mn-lt"/>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Chào thầy/cô và các bạn. Nhóm em trình bày chuyên đề AI gồm hai phần: phần nghiên cứu về Spring AI, Vector Database và User Tracking; phần hai là áp dụng vào dự án IUH Tour Booking của nhóm. Bài trình bày bám theo nội dung Chương 7 – Spring AI của giảng viên và bổ sung hai chủ đề được giao.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chia làm hai phần. Phần 1 nghiên cứu ba chủ đề: Spring AI theo Chương 7, Vector Database trong dự án giỏ hàng, và User Tracking trên giao diện. Phần 2 áp dụng cả ba vào dự án IUH Tour Booking của nhóm, từ kiến trúc, mã nguồn, tracking, thống kê, gợi ý cho đến kịch bản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Generative AI sinh ra nội dung mới như văn bản, hình ảnh, âm thanh. Mô hình được huấn luyện bằng Transformer trên lượng dữ liệu lớn, sau đó tinh chỉnh bằng fine-tune và RLHF. Công nghệ lõi gồm LLM, embeddings và prompt engineering. Java và Spring phù hợp cho AI doanh nghiệp vì độ tin cậy, REST, Spring Data và Spring Security có sẵn.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Spring AI đưa việc tích hợp AI vào hệ sinh thái Spring quen thuộc. Dự án lấy cảm hứng từ LangChain và LlamaIndex nhưng không phải bản port trực tiếp. Điểm mạnh là đổi nhà cung cấp model chỉ bằng cấu hình. Sáu tính năng chính: ChatClient, PromptTemplate, Advisors và Memory, VectorStore, Tool Calling, Structured Output. Theo Chương 7, Spring AI 2.0.2 là bản ổn định hiện tại.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tích hợp: người dùng gọi REST Controller, Controller gọi AI Service dùng ChatClient, ChatClient gọi nhà cung cấp LLM và trả về văn bản, ảnh hoặc code. ChatClient dựng prompt từ PromptTemplate, chạy các advisor, gọi model rồi trả kết quả. Code mẫu cho thấy fluent API: prompt, system, user, call, content. Muốn nhận luồng token thì dùng stream thay cho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PromptTemplate cho phép viết prompt có biến dạng ngoặc nhọn và tái sử dụng, tách phần ngữ cảnh khỏi câu hỏi. Prompt gồm các vai trò system, user, assistant. Structured Output dùng entity để ánh xạ câu trả lời JSON của model sang record hoặc POJO; với danh sách thì dùng ParameterizedTypeReference. Nhờ vậy kết quả AI đi thẳng vào code nghiệp vụ.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Tool Calling cho phép model yêu cầu ứng dụng chạy một phương thức Java. Vòng lặp gồm bốn bước: gửi prompt kèm định nghĩa tool; model yêu cầu gọi tool với tham số; ứng dụng chạy phương thức có chú thích @Tool; kết quả trả lại cho model, lặp đến khi có câu trả lời cuối. Điểm an toàn then chốt là model không bao giờ chạm trực tiếp vào cơ sở dữ liệu hay API, mọi thao tác do ứng dụng thực thi.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RAG gồm hai giai đoạn. Giai đoạn nạp dữ liệu ETL: đọc tài liệu, tách nhỏ thành chunk, tính embedding rồi lưu vào VectorStore. Giai đoạn truy vấn: nhúng câu hỏi, tìm đoạn gần nhất trong VectorStore, ghép vào prompt rồi để LLM trả lời. Trong Spring AI, QuestionAnswerAdvisor làm việc này tự động, MessageChatMemoryAdvisor lưu lịch sử hội thoại. Advisor là bộ chặn quanh lời gọi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Embedding biến văn bản thành vector số thực sao cho các văn bản gần nghĩa nằm gần nhau trong không gian. Độ tương đồng cosine đo góc giữa hai vector: góc nhỏ thì cosine gần 1, góc vuông thì bằng 0, ngược hướng thì bằng âm 1. Trong hình minh hoạ, hai tour biển có góc rất nhỏ còn tour núi rừng lệch gần vuông góc. Số chiều phụ thuộc model và phải khớp với VectorStore.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Document là đơn vị lưu trữ gồm id, text, metadata và embedding; embedding do VectorStore tự tính qua EmbeddingModel khi gọi add. Truy vấn dùng SearchRequest với query, topK, similarityThreshold và filterExpression để lọc theo metadata. VectorStore là một abstraction nên có thể đổi giữa SimpleVectorStore khi demo và PGvector, Qdrant, Weaviate, Redis khi chạy thật.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một dự án giỏ hàng, vector database có ba ứng dụng chính: tìm kiếm theo ngữ nghĩa, gợi ý sản phẩm tương tự và chatbot tư vấn theo RAG. Về thống kê theo tiêu chí cần nói rõ: vector database không thay thế SQL cho các phép SUM hay GROUP BY. Ta kết hợp: lọc metadata rồi đếm, nhóm theo chủ đề, và dùng LLM với Structured Output để phân loại đánh giá rồi đếm bằng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Theo Chương 7, có bốn nhóm thực hành tốt: bảo mật và cấu hình, tối ưu prompt, logging và gỡ lỗi, thiết kế module. Về DevOps, pipeline gồm push code, CI build và test, đóng gói Docker, triển khai Kubernetes và quan sát. Môi trường dev dùng Ollama, prod dùng model trên cloud; khi kiểm thử thì mock ChatModel để không tốn chi phí.</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User tracking là ghi nhận hành vi của người dùng trên giao diện để hiểu họ. Năm chỉ số tiêu biểu: thời gian trên trang, số lần click vào sản phẩm, số lần thêm vào giỏ, sản phẩm được đặt nhiều nhất và từ khoá tìm kiếm. Các chỉ số này nối thành phễu chuyển đổi: xem, click, thêm giỏ, đặt hàng, và các tỉ lệ giữa các bước cho biết điểm khách bỏ đi.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dữ liệu: JavaScript trên trình duyệt bắt sự kiện, gửi POST tới API, server kiểm tra rồi lưu vào bảng sự kiện, sau đó báo cáo và dashboard đọc ra. Các kỹ thuật chính: event delegation để bắt click; Page Visibility API để đo thời gian xem thực sự; fetch keepalive hoặc sendBeacon để gửi được cả khi đóng tab; IntersectionObserver để đo impression. Đoạn code minh hoạ đo time-on-page.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Có hai hướng: dùng công cụ có sẵn như Google Analytics 4, Matomo, Hotjar, Microsoft Clarity, PostHog, Mixpanel; hoặc tự xây để khớp nghiệp vụ và join được với dữ liệu đơn hàng. Dù chọn hướng nào cũng phải tôn trọng quyền riêng tư: thông báo và xin đồng ý, tuân thủ Nghị định 13/2023/NĐ-CP về bảo vệ dữ liệu cá nhân, thu thập tối thiểu, và không tin dữ liệu từ client.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Dự án của nhóm là website giới thiệu và đặt tour du lịch trực tuyến. Công nghệ: Spring Boot 3.5.16, Java 21, SQL Server với 16 bảng, JPA và Hibernate với ddl-auto validate, giao diện Thymeleaf, Bootstrap 5 và jQuery. Giỏ hàng nằm trong HttpSession. Khác với shop thông thường, sản phẩm là Tour và đơn vị đặt là TourDeparture, tức lịch khởi hành. Bên phải là các hạn chế hiện tại và đề xuất AI tương ứng.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Kiến trúc mô phỏng Product Assistant ở Chương 7, áp vào Tour Booking. Có ba làn. Làn trên: chatbot, widget chat gọi ChatApiController, dùng ChatClient với Memory, QuestionAnswerAdvisor và TourTools, gọi LLM. Làn giữa: tìm kiếm ngữ nghĩa và nạp dữ liệu vào VectorStore. Làn dưới: tracker.js gửi sự kiện vào bảng user_events trong SQL Server, từ đó có thống kê và gợi ý. SQL Server vẫn là nguồn dữ liệu gốc, VectorStore chỉ là chỉ mục phụ.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Quyết định thiết kế: danh sách vector store trong Chương 7 không có SQL Server, nên nhóm giữ SQL Server làm nguồn dữ liệu gốc và thêm một vector store làm chỉ mục phụ. Môi trường dev dùng SimpleVectorStore cùng Ollama để không cần hạ tầng và không tốn tiền. Môi trường prod dùng PgVector cùng OpenAI. Cần lưu ý phiên bản: Chương 7 nêu Spring AI 2.0.2, còn dự án đang là Spring Boot 3.5.16, phải kiểm tra bảng tương thích trước khi nâng.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Trong pom.xml thêm property spring-ai.version, nhập BOM spring-ai-bom với scope import, rồi thêm các starter: model OpenAI cho prod, model Ollama cho dev, thư viện spring-ai-pgvector-store và driver PostgreSQL. Dùng thư viện pgvector-store thay vì starter để tự khai báo bean, vì dự án đã có DataSource SQL Server. Trong application.yml chọn provider bằng biến môi trường; khoá API đặt trong biến môi trường, không commit.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Vì dự án đã có DataSource SQL Server, ta không dùng auto-configuration của starter vector store mà tự tạo bean. Ở prod, tạo một JdbcTemplate riêng trỏ tới PostgreSQL rồi dựng PgVectorStore với số chiều, khoảng cách cosine và chỉ mục HNSW. Ở dev dùng SimpleVectorStore. Cấu hình kết nối đặt trong AppProperties như cách dự án đang gom cấu hình app.*.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Dịch vụ TourVectorService đọc các tour đang bán, ghép tên, mô tả ngắn, nơi khởi hành và thời lượng thành một đoạn văn để tính embedding, kèm metadata gồm tourId, danh mục, điểm đến và giá để lọc. Id của Document là UUID xác định từ id tour, vì PgVector lưu id kiểu uuid; nhờ đó gọi add lần sau là upsert. Có ba thời điểm đồng bộ: khi khởi động, khi admin sửa tour, và định kỳ.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Phương thức semanticIds nhận câu truy vấn, danh mục và giá tối đa, dựng filterExpression chỉ từ các giá trị kiểu Long nên không có nguy cơ injection, gọi similaritySearch rồi lấy tourId trong metadata. Controller đọc các Tour theo id, giữ nguyên thứ tự, lọc tour còn bán và map sang TourSummaryDto bằng TourMapper. Đường dẫn GET /api/tours đã được permitAll sẵn trong SecurityConfig.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Mô hình theo Product Assistant của Chương 7, trong đó ProductTools và OrderTools được thay bằng TourTools. Tool searchTours gọi lại TourVectorService; tool addToCart gọi CartService.addByDeparture có sẵn. Session lấy từ toolContext, không bao giờ đi tới model. Giá và số chỗ do CartService kiểm tra lại từ CSDL. Các lan can an toàn: xác nhận trước khi thêm, tối đa 30 khách mỗi dòng, rate limit endpoint. Thanh toán vẫn qua trang checkout, cần đăng nhập.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Bean ChatClient được dựng một lần với system prompt, hai advisor là bộ nhớ hội thoại và QuestionAnswerAdvisor cho RAG, cùng TourTools. Endpoint POST /api/chat dùng id của HttpSession làm conversationId nên mỗi phiên có lịch sử riêng, và truyền session vào toolContext. System prompt quy định trả lời tiếng Việt, chỉ dựa trên ngữ cảnh, không bịa giá. Giao diện là widget chat nổi dùng jQuery ajax, tái dùng CSRF header đã cấu hình trong app.js.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Năm loại sự kiện cần ghi: VIEW khi mở trang chi tiết tour, CLICK khi bấm thẻ tour, TIME_ON_PAGE khi rời trang, ADD_TO_CART khi gửi form thêm vào giỏ, và SEARCH khi gõ từ khoá. Bảng user_events thêm bằng script database/05_user_events.sql theo cùng phong cách schema hiện có. Vì ddl-auto là validate nên phải tạo bảng bằng script. Không đặt khoá ngoại để ghi nhanh và không cản việc xoá 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Entity UserEvent ánh xạ bảng user_events. Enum EventType được lưu dạng chuỗi qua một AttributeConverter autoApply, đúng như BookingStatusConverter hiện có, để tránh sinh CHECK constraint. Phía server cần kiểm tra chặt: chỉ nhận loại sự kiện hợp lệ, cắt độ dài chuỗi, tự lấy userId từ SecurityContext và sessionId từ HttpSession, lọc bot, giới hạn tần suất, và bắt lỗi để tracking không ảnh hưởng nghiệp vụ.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Controller nhận TrackingRequest, lấy sessionId và userId từ phía server rồi gọi TrackingService, trả về 202. Cần mở quyền cho POST /api/tracking và /api/chat trong SecurityConfig. Trong template, thêm thuộc tính data-track-tour vào thẻ tour ở components.html và nạp tracker.js trong fragment scripts của layout.html. Trang chi tiết tour đã có div departureList mang data-tour-id nên tái dùng luôn, không cần sửa.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Hàm track gửi sự kiện bằng fetch với keepalive và header CSRF. Dùng fetch thay cho sendBeacon vì sendBeacon không đặt được header, mà Spring Security đang bật CSRF nên sẽ chặn. keepalive vẫn cho phép gửi khi trang đóng. Sự kiện VIEW gửi khi trang có tourId, CLICK dùng event delegation trên thuộc tính data-track-tour của thẻ tour.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Phần còn lại của tracker.js. ADD_TO_CART bám vào form có thuộc tính data-ajax-cart mà initCartForms trong app.js đang xử lý; jQuery cho phép nhiều handler cùng sự kiện submit nên không xung đột. SEARCH bám vào ô tìm kiếm trên thanh điều hướng. TIME_ON_PAGE cộng dồn thời gian trang thực sự hiển thị bằng visibilitychange và gửi khi pagehide. Cách chính xác hơn cho add-to-cart là ghi thêm ở CartApiController.add sau khi thêm thành công.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truy vấn chính. Bên trái là JPQL lấy top tour theo số sự kiện của một loại, ví dụ CLICK hay VIEW, tương tự findTopSellingTours đã có trong BookingDetailRepository. Bên phải là SQL Server tính phễu cho từng tour: số lượt xem, click, thêm giỏ và số đơn, rồi chia để ra tỉ lệ. Tour được đặt nhiều nhất đã có sẵn trong StatisticsService.topSellingTours. Khi đưa vào code thật nên lọc đơn theo trạng thái CONFIRMED và COMPLETED như StatisticsService.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bản phác thảo giao diện cho trang quản trị: bốn thẻ chỉ số, biểu đồ phễu chuyển đổi và bảng top tour được click. Toàn bộ số liệu trên slide chỉ là minh hoạ, không phải dữ liệu thật vì hệ thống chưa chạy tracking. Về triển khai: thêm endpoint thống kê hành vi vào AdminStatsApiController và một khối mới trong admin/dashboard.html, vẽ bằng CSS như biểu đồ doanh thu hiện có hoặc dùng thư viện biểu đồ.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Luồng gợi ý gồm bốn bước. Một: lấy tín hiệu từ user_events với trọng số, VIEW 1 điểm, CLICK 2 điểm, ADD_TO_CART 3 điểm. Hai: dựng hồ sơ sở thích từ vài tour điểm cao. Ba: similaritySearch với bộ lọc loại các tour đã xem. Bốn: xếp hạng lại có tính độ phổ biến. Khi chưa có lịch sử thì dùng tour nổi bật sẵn có. Ngoài ra có thể thêm tín hiệu co-view: khách xem X cũng xem Y, bằng SQL tự join user_events theo session.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Kịch bản demo dự kiến gồm sáu bước, dựa trên dữ liệu mẫu trong 03_seed_data.sql. Bước một nạp 20 tour vào VectorStore. Bước hai tìm theo ý. Bước ba duyệt tour để tracker ghi sự kiện. Bước bốn hỏi chatbot, tương tự màn hình Search and order by chat ở Chương 7: tool searchTours rồi addToCart. Bước năm xem dashboard và bước sáu xem gợi ý trên trang chủ. Đây là kịch bản dự kiến, chưa phải kết quả đã chạy.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Tóm lại: Spring AI cho một API thống nhất để dùng chat, embedding, vector store và tool calling; vector database giúp tìm kiếm và gợi ý theo ngữ nghĩa; tracking biến hành vi thành số liệu. Khi kết hợp, IUH Tour Booking có tìm kiếm thông minh, chatbot tư vấn và gợi ý cá nhân hoá. Cần chú ý tương thích phiên bản, số chiều embedding, chi phí và bảo mật. Hướng phát triển theo roadmap Chương 7: model riêng, workflow, agents, dữ liệu thời gian thực.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Tài liệu chính là Chương 7 Spring AI của giảng viên và tài liệu chính thức của Spring AI. Các nguồn khác gồm pgvector, Qdrant, Weaviate, Ollama, OpenAI Platform, LangChain4j; MDN cho Page Visibility API và fetch keepalive; và Nghị định 13/2023/NĐ-CP về bảo vệ dữ liệu cá nhân. Xin cảm ơn thầy/cô và các bạn đã lắng nghe, nhóm sẵn sàng trả lời câu hỏi.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0625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600200"/>
            <a:ext cx="7223760" cy="2377440"/>
          </a:xfrm>
          <a:prstGeom prst="rect">
            <a:avLst/>
          </a:prstGeom>
          <a:noFill/>
          <a:ln/>
        </p:spPr>
        <p:txBody>
          <a:bodyPr wrap="square" rtlCol="0"/>
          <a:lstStyle>
            <a:lvl1pPr algn="l" indent="0" marL="0">
              <a:buNone/>
              <a:defRPr lang="en-US" sz="4600" b="1" dirty="0">
                <a:solidFill>
                  <a:schemeClr val="bg1"/>
                </a:solidFill>
              </a:defRPr>
            </a:lvl1pPr>
          </a:lstStyle>
          <a:p>
            <a:pPr algn="l" indent="0" marL="0">
              <a:buNone/>
            </a:pPr>
            <a:endParaRPr lang="en-US" sz="4600" dirty="0"/>
          </a:p>
        </p:txBody>
      </p:sp>
      <p:sp>
        <p:nvSpPr>
          <p:cNvPr id="3" name="Text 0"/>
          <p:cNvSpPr/>
          <p:nvPr>
            <p:ph idx="101" type="body" hasCustomPrompt="1"/>
          </p:nvPr>
        </p:nvSpPr>
        <p:spPr>
          <a:xfrm>
            <a:off x="731520" y="4206240"/>
            <a:ext cx="6766560" cy="914400"/>
          </a:xfrm>
          <a:prstGeom prst="rect">
            <a:avLst/>
          </a:prstGeom>
          <a:noFill/>
          <a:ln/>
        </p:spPr>
        <p:txBody>
          <a:bodyPr wrap="square" rtlCol="0"/>
          <a:lstStyle>
            <a:lvl1pPr algn="l" indent="0" marL="0">
              <a:buNone/>
              <a:defRPr lang="en-US" sz="1900" dirty="0">
                <a:solidFill>
                  <a:schemeClr val="accent5"/>
                </a:solidFill>
              </a:defRPr>
            </a:lvl1pPr>
          </a:lstStyle>
          <a:p>
            <a:pPr algn="l" indent="0" marL="0">
              <a:buNone/>
            </a:pPr>
            <a:endParaRPr lang="en-US" sz="19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rtlCol="0"/>
          <a:lstStyle>
            <a:lvl1pPr algn="l" indent="0" marL="0">
              <a:buNone/>
              <a:defRPr lang="en-US" sz="3200" b="1" dirty="0">
                <a:solidFill>
                  <a:schemeClr val="tx2"/>
                </a:solidFill>
              </a:defRPr>
            </a:lvl1pPr>
          </a:lstStyle>
          <a:p>
            <a:pPr algn="l" indent="0" marL="0">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6"/>
                </a:solidFill>
              </a:rPr>
              <a:t>Spring AI · Vector Database · User Tracking  |  IUH Tour Booking</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06251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rtlCol="0"/>
          <a:lstStyle>
            <a:lvl1pPr algn="l" indent="0" marL="0">
              <a:buNone/>
              <a:defRPr lang="en-US" sz="3200" b="1" dirty="0">
                <a:solidFill>
                  <a:schemeClr val="bg1"/>
                </a:solidFill>
              </a:defRPr>
            </a:lvl1pPr>
          </a:lstStyle>
          <a:p>
            <a:pPr algn="l" indent="0" marL="0">
              <a:buNone/>
            </a:pPr>
            <a:endParaRPr lang="en-US" sz="3200" dirty="0"/>
          </a:p>
        </p:txBody>
      </p:sp>
      <p:sp>
        <p:nvSpPr>
          <p:cNvPr id="3" name="Text 0"/>
          <p:cNvSpPr/>
          <p:nvPr/>
        </p:nvSpPr>
        <p:spPr>
          <a:xfrm>
            <a:off x="548640" y="6446520"/>
            <a:ext cx="8229600" cy="274320"/>
          </a:xfrm>
          <a:prstGeom prst="rect">
            <a:avLst/>
          </a:prstGeom>
          <a:noFill/>
          <a:ln/>
        </p:spPr>
        <p:txBody>
          <a:bodyPr wrap="square" lIns="0" tIns="0" rIns="0" bIns="0" rtlCol="0" anchor="ctr"/>
          <a:lstStyle/>
          <a:p>
            <a:pPr indent="0" marL="0">
              <a:buNone/>
            </a:pPr>
            <a:r>
              <a:rPr lang="en-US" sz="1000" dirty="0">
                <a:solidFill>
                  <a:schemeClr val="accent5"/>
                </a:solidFill>
              </a:rPr>
              <a:t>Spring AI · Vector Database · User Tracking  |  IUH Tour Booking</a:t>
            </a:r>
            <a:endParaRPr lang="en-US" sz="10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3.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3.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3.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3.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3.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slideLayout" Target="../slideLayouts/slideLayout3.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3.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3.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3.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3.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3.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3.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3.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image" Target="../media/image-35-6.png"/><Relationship Id="rId7" Type="http://schemas.openxmlformats.org/officeDocument/2006/relationships/image" Target="../media/image-35-7.png"/><Relationship Id="rId8" Type="http://schemas.openxmlformats.org/officeDocument/2006/relationships/image" Target="../media/image-35-8.png"/><Relationship Id="rId9" Type="http://schemas.openxmlformats.org/officeDocument/2006/relationships/slideLayout" Target="../slideLayouts/slideLayout3.xml"/><Relationship Id="rId10"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Text 0"/>
          <p:cNvSpPr txBox="1"/>
          <p:nvPr/>
        </p:nvSpPr>
        <p:spPr>
          <a:xfrm>
            <a:off x="731520" y="1051560"/>
            <a:ext cx="5486400" cy="320040"/>
          </a:xfrm>
          <a:prstGeom prst="rect">
            <a:avLst/>
          </a:prstGeom>
          <a:noFill/>
          <a:ln/>
        </p:spPr>
        <p:txBody>
          <a:bodyPr wrap="square" lIns="0" tIns="0" rIns="0" bIns="0" rtlCol="0" anchor="ctr"/>
          <a:lstStyle/>
          <a:p>
            <a:pPr indent="0" marL="0">
              <a:buNone/>
            </a:pPr>
            <a:r>
              <a:rPr lang="en-US" sz="1400" b="1" spc="300" kern="0" dirty="0">
                <a:solidFill>
                  <a:schemeClr val="accent2"/>
                </a:solidFill>
              </a:rPr>
              <a:t>BÁO CÁO CHUYÊN ĐỀ AI</a:t>
            </a:r>
            <a:endParaRPr lang="en-US" sz="1400" dirty="0"/>
          </a:p>
        </p:txBody>
      </p:sp>
      <p:sp>
        <p:nvSpPr>
          <p:cNvPr id="4" name="Text 0"/>
          <p:cNvSpPr/>
          <p:nvPr>
            <p:ph idx="100" type="title" hasCustomPrompt="1"/>
          </p:nvPr>
        </p:nvSpPr>
        <p:spPr>
          <a:xfrm>
            <a:off x="731520" y="1600200"/>
            <a:ext cx="7223760" cy="2377440"/>
          </a:xfrm>
          <a:prstGeom prst="rect">
            <a:avLst/>
          </a:prstGeom>
          <a:noFill/>
          <a:ln/>
        </p:spPr>
        <p:txBody>
          <a:bodyPr wrap="square" lIns="0" tIns="0" rIns="0" bIns="0" rtlCol="0" anchor="t"/>
          <a:lstStyle/>
          <a:p>
            <a:pPr algn="l" indent="0" marL="0">
              <a:buNone/>
            </a:pPr>
            <a:r>
              <a:rPr lang="en-US" sz="4600" b="1" dirty="0">
                <a:solidFill>
                  <a:schemeClr val="bg1"/>
                </a:solidFill>
              </a:rPr>
              <a:t>Spring AI,</a:t>
            </a:r>
            <a:endParaRPr lang="en-US" sz="4600" dirty="0"/>
          </a:p>
          <a:p>
            <a:pPr algn="l" indent="0" marL="0">
              <a:buNone/>
            </a:pPr>
            <a:r>
              <a:rPr lang="en-US" sz="4600" b="1" dirty="0">
                <a:solidFill>
                  <a:schemeClr val="bg1"/>
                </a:solidFill>
              </a:rPr>
              <a:t>Vector Database</a:t>
            </a:r>
            <a:endParaRPr lang="en-US" sz="4600" dirty="0"/>
          </a:p>
          <a:p>
            <a:pPr algn="l" indent="0" marL="0">
              <a:buNone/>
            </a:pPr>
            <a:r>
              <a:rPr lang="en-US" sz="4600" b="1" dirty="0">
                <a:solidFill>
                  <a:schemeClr val="bg1"/>
                </a:solidFill>
              </a:rPr>
              <a:t>&amp; User Tracking</a:t>
            </a:r>
            <a:endParaRPr lang="en-US" sz="4600" dirty="0"/>
          </a:p>
        </p:txBody>
      </p:sp>
      <p:sp>
        <p:nvSpPr>
          <p:cNvPr id="5" name="Text 0"/>
          <p:cNvSpPr/>
          <p:nvPr>
            <p:ph idx="101" type="body" hasCustomPrompt="1"/>
          </p:nvPr>
        </p:nvSpPr>
        <p:spPr>
          <a:xfrm>
            <a:off x="731520" y="4206240"/>
            <a:ext cx="6766560" cy="914400"/>
          </a:xfrm>
          <a:prstGeom prst="rect">
            <a:avLst/>
          </a:prstGeom>
          <a:noFill/>
          <a:ln/>
        </p:spPr>
        <p:txBody>
          <a:bodyPr wrap="square" lIns="0" tIns="0" rIns="0" bIns="0" rtlCol="0" anchor="t"/>
          <a:lstStyle/>
          <a:p>
            <a:pPr algn="l" indent="0" marL="0">
              <a:buNone/>
            </a:pPr>
            <a:r>
              <a:rPr lang="en-US" sz="1900" dirty="0">
                <a:solidFill>
                  <a:schemeClr val="accent5"/>
                </a:solidFill>
              </a:rPr>
              <a:t>Từ nghiên cứu đến ứng dụng trong dự án IUH Tour Booking (Spring Boot + SQL Server)</a:t>
            </a:r>
            <a:endParaRPr lang="en-US" sz="1900" dirty="0"/>
          </a:p>
        </p:txBody>
      </p:sp>
      <p:sp>
        <p:nvSpPr>
          <p:cNvPr id="6" name="Text 3"/>
          <p:cNvSpPr txBox="1"/>
          <p:nvPr/>
        </p:nvSpPr>
        <p:spPr>
          <a:xfrm>
            <a:off x="731520" y="5257800"/>
            <a:ext cx="6949440" cy="320040"/>
          </a:xfrm>
          <a:prstGeom prst="rect">
            <a:avLst/>
          </a:prstGeom>
          <a:noFill/>
          <a:ln/>
        </p:spPr>
        <p:txBody>
          <a:bodyPr wrap="square" lIns="0" tIns="0" rIns="0" bIns="0" rtlCol="0" anchor="t"/>
          <a:lstStyle/>
          <a:p>
            <a:pPr indent="0" marL="0">
              <a:buNone/>
            </a:pPr>
            <a:r>
              <a:rPr lang="en-US" sz="1400" dirty="0">
                <a:solidFill>
                  <a:schemeClr val="bg1"/>
                </a:solidFill>
              </a:rPr>
              <a:t>Phần 1: Nghiên cứu     Phần 2: Áp dụng vào bài tập của nhóm</a:t>
            </a:r>
            <a:endParaRPr lang="en-US" sz="1400" dirty="0"/>
          </a:p>
        </p:txBody>
      </p:sp>
      <p:sp>
        <p:nvSpPr>
          <p:cNvPr id="7" name="Text 4"/>
          <p:cNvSpPr txBox="1"/>
          <p:nvPr/>
        </p:nvSpPr>
        <p:spPr>
          <a:xfrm>
            <a:off x="731520" y="5760720"/>
            <a:ext cx="6949440" cy="320040"/>
          </a:xfrm>
          <a:prstGeom prst="rect">
            <a:avLst/>
          </a:prstGeom>
          <a:noFill/>
          <a:ln/>
        </p:spPr>
        <p:txBody>
          <a:bodyPr wrap="square" lIns="0" tIns="0" rIns="0" bIns="0" rtlCol="0" anchor="t"/>
          <a:lstStyle/>
          <a:p>
            <a:pPr indent="0" marL="0">
              <a:buNone/>
            </a:pPr>
            <a:r>
              <a:rPr lang="en-US" sz="1400" dirty="0">
                <a:solidFill>
                  <a:schemeClr val="accent5"/>
                </a:solidFill>
              </a:rPr>
              <a:t>Nhóm thực hiện: (điền tên nhóm và thành viên)</a:t>
            </a:r>
            <a:endParaRPr lang="en-US" sz="1400" dirty="0"/>
          </a:p>
        </p:txBody>
      </p:sp>
      <p:sp>
        <p:nvSpPr>
          <p:cNvPr id="8" name="Arrow"/>
          <p:cNvSpPr/>
          <p:nvPr/>
        </p:nvSpPr>
        <p:spPr>
          <a:xfrm>
            <a:off x="8750808" y="1527048"/>
            <a:ext cx="603504" cy="603504"/>
          </a:xfrm>
          <a:prstGeom prst="line">
            <a:avLst/>
          </a:prstGeom>
          <a:noFill/>
          <a:ln w="12700">
            <a:solidFill>
              <a:schemeClr val="accent4"/>
            </a:solidFill>
            <a:prstDash val="solid"/>
          </a:ln>
        </p:spPr>
      </p:sp>
      <p:sp>
        <p:nvSpPr>
          <p:cNvPr id="9" name="Arrow"/>
          <p:cNvSpPr/>
          <p:nvPr/>
        </p:nvSpPr>
        <p:spPr>
          <a:xfrm flipV="1">
            <a:off x="9354312" y="1417320"/>
            <a:ext cx="521208" cy="713232"/>
          </a:xfrm>
          <a:prstGeom prst="line">
            <a:avLst/>
          </a:prstGeom>
          <a:noFill/>
          <a:ln w="12700">
            <a:solidFill>
              <a:schemeClr val="accent4"/>
            </a:solidFill>
            <a:prstDash val="solid"/>
          </a:ln>
        </p:spPr>
      </p:sp>
      <p:sp>
        <p:nvSpPr>
          <p:cNvPr id="10" name="Arrow"/>
          <p:cNvSpPr/>
          <p:nvPr/>
        </p:nvSpPr>
        <p:spPr>
          <a:xfrm flipH="1">
            <a:off x="8330184" y="1527048"/>
            <a:ext cx="420624" cy="905256"/>
          </a:xfrm>
          <a:prstGeom prst="line">
            <a:avLst/>
          </a:prstGeom>
          <a:noFill/>
          <a:ln w="12700">
            <a:solidFill>
              <a:schemeClr val="accent4"/>
            </a:solidFill>
            <a:prstDash val="solid"/>
          </a:ln>
        </p:spPr>
      </p:sp>
      <p:sp>
        <p:nvSpPr>
          <p:cNvPr id="11" name="Arrow"/>
          <p:cNvSpPr/>
          <p:nvPr/>
        </p:nvSpPr>
        <p:spPr>
          <a:xfrm flipH="1">
            <a:off x="9006840" y="2130552"/>
            <a:ext cx="347472" cy="749808"/>
          </a:xfrm>
          <a:prstGeom prst="line">
            <a:avLst/>
          </a:prstGeom>
          <a:noFill/>
          <a:ln w="12700">
            <a:solidFill>
              <a:schemeClr val="accent4"/>
            </a:solidFill>
            <a:prstDash val="solid"/>
          </a:ln>
        </p:spPr>
      </p:sp>
      <p:sp>
        <p:nvSpPr>
          <p:cNvPr id="12" name="Arrow"/>
          <p:cNvSpPr/>
          <p:nvPr/>
        </p:nvSpPr>
        <p:spPr>
          <a:xfrm>
            <a:off x="10488168" y="4178808"/>
            <a:ext cx="594360" cy="502920"/>
          </a:xfrm>
          <a:prstGeom prst="line">
            <a:avLst/>
          </a:prstGeom>
          <a:noFill/>
          <a:ln w="12700">
            <a:solidFill>
              <a:schemeClr val="accent2"/>
            </a:solidFill>
            <a:prstDash val="solid"/>
          </a:ln>
        </p:spPr>
      </p:sp>
      <p:sp>
        <p:nvSpPr>
          <p:cNvPr id="13" name="Arrow"/>
          <p:cNvSpPr/>
          <p:nvPr/>
        </p:nvSpPr>
        <p:spPr>
          <a:xfrm flipH="1">
            <a:off x="10003536" y="4178808"/>
            <a:ext cx="484632" cy="704088"/>
          </a:xfrm>
          <a:prstGeom prst="line">
            <a:avLst/>
          </a:prstGeom>
          <a:noFill/>
          <a:ln w="12700">
            <a:solidFill>
              <a:schemeClr val="accent2"/>
            </a:solidFill>
            <a:prstDash val="solid"/>
          </a:ln>
        </p:spPr>
      </p:sp>
      <p:sp>
        <p:nvSpPr>
          <p:cNvPr id="14" name="Arrow"/>
          <p:cNvSpPr/>
          <p:nvPr/>
        </p:nvSpPr>
        <p:spPr>
          <a:xfrm flipV="1">
            <a:off x="11082528" y="4261104"/>
            <a:ext cx="265176" cy="420624"/>
          </a:xfrm>
          <a:prstGeom prst="line">
            <a:avLst/>
          </a:prstGeom>
          <a:noFill/>
          <a:ln w="12700">
            <a:solidFill>
              <a:schemeClr val="accent2"/>
            </a:solidFill>
            <a:prstDash val="solid"/>
          </a:ln>
        </p:spPr>
      </p:sp>
      <p:sp>
        <p:nvSpPr>
          <p:cNvPr id="15" name="Arrow"/>
          <p:cNvSpPr/>
          <p:nvPr/>
        </p:nvSpPr>
        <p:spPr>
          <a:xfrm flipH="1">
            <a:off x="10488168" y="3703320"/>
            <a:ext cx="393192" cy="475488"/>
          </a:xfrm>
          <a:prstGeom prst="line">
            <a:avLst/>
          </a:prstGeom>
          <a:noFill/>
          <a:ln w="12700">
            <a:solidFill>
              <a:schemeClr val="accent2"/>
            </a:solidFill>
            <a:prstDash val="solid"/>
          </a:ln>
        </p:spPr>
      </p:sp>
      <p:sp>
        <p:nvSpPr>
          <p:cNvPr id="16" name="Arrow"/>
          <p:cNvSpPr/>
          <p:nvPr/>
        </p:nvSpPr>
        <p:spPr>
          <a:xfrm flipH="1" flipV="1">
            <a:off x="8147304" y="4398264"/>
            <a:ext cx="402336" cy="950976"/>
          </a:xfrm>
          <a:prstGeom prst="line">
            <a:avLst/>
          </a:prstGeom>
          <a:noFill/>
          <a:ln w="12700">
            <a:solidFill>
              <a:schemeClr val="accent5"/>
            </a:solidFill>
            <a:prstDash val="solid"/>
          </a:ln>
        </p:spPr>
      </p:sp>
      <p:sp>
        <p:nvSpPr>
          <p:cNvPr id="17" name="Arrow"/>
          <p:cNvSpPr/>
          <p:nvPr/>
        </p:nvSpPr>
        <p:spPr>
          <a:xfrm>
            <a:off x="8549640" y="5349240"/>
            <a:ext cx="338328" cy="429768"/>
          </a:xfrm>
          <a:prstGeom prst="line">
            <a:avLst/>
          </a:prstGeom>
          <a:noFill/>
          <a:ln w="12700">
            <a:solidFill>
              <a:schemeClr val="accent5"/>
            </a:solidFill>
            <a:prstDash val="solid"/>
          </a:ln>
        </p:spPr>
      </p:sp>
      <p:sp>
        <p:nvSpPr>
          <p:cNvPr id="18" name="Arrow"/>
          <p:cNvSpPr/>
          <p:nvPr/>
        </p:nvSpPr>
        <p:spPr>
          <a:xfrm flipV="1">
            <a:off x="8887968" y="5522976"/>
            <a:ext cx="704088" cy="256032"/>
          </a:xfrm>
          <a:prstGeom prst="line">
            <a:avLst/>
          </a:prstGeom>
          <a:noFill/>
          <a:ln w="12700">
            <a:solidFill>
              <a:schemeClr val="accent5"/>
            </a:solidFill>
            <a:prstDash val="solid"/>
          </a:ln>
        </p:spPr>
      </p:sp>
      <p:sp>
        <p:nvSpPr>
          <p:cNvPr id="19" name="Arrow"/>
          <p:cNvSpPr/>
          <p:nvPr/>
        </p:nvSpPr>
        <p:spPr>
          <a:xfrm flipV="1">
            <a:off x="8147304" y="4206240"/>
            <a:ext cx="996696" cy="192024"/>
          </a:xfrm>
          <a:prstGeom prst="line">
            <a:avLst/>
          </a:prstGeom>
          <a:noFill/>
          <a:ln w="12700">
            <a:solidFill>
              <a:schemeClr val="accent5"/>
            </a:solidFill>
            <a:prstDash val="solid"/>
          </a:ln>
        </p:spPr>
      </p:sp>
      <p:sp>
        <p:nvSpPr>
          <p:cNvPr id="20" name="Arrow"/>
          <p:cNvSpPr/>
          <p:nvPr/>
        </p:nvSpPr>
        <p:spPr>
          <a:xfrm>
            <a:off x="11055096" y="1819656"/>
            <a:ext cx="475488" cy="749808"/>
          </a:xfrm>
          <a:prstGeom prst="line">
            <a:avLst/>
          </a:prstGeom>
          <a:noFill/>
          <a:ln w="12700">
            <a:solidFill>
              <a:schemeClr val="accent6"/>
            </a:solidFill>
            <a:prstDash val="solid"/>
          </a:ln>
        </p:spPr>
      </p:sp>
      <p:sp>
        <p:nvSpPr>
          <p:cNvPr id="21" name="Arrow"/>
          <p:cNvSpPr/>
          <p:nvPr/>
        </p:nvSpPr>
        <p:spPr>
          <a:xfrm flipH="1">
            <a:off x="10588752" y="2569464"/>
            <a:ext cx="941832" cy="155448"/>
          </a:xfrm>
          <a:prstGeom prst="line">
            <a:avLst/>
          </a:prstGeom>
          <a:noFill/>
          <a:ln w="12700">
            <a:solidFill>
              <a:schemeClr val="accent6"/>
            </a:solidFill>
            <a:prstDash val="solid"/>
          </a:ln>
        </p:spPr>
      </p:sp>
      <p:sp>
        <p:nvSpPr>
          <p:cNvPr id="22" name="Vector point"/>
          <p:cNvSpPr/>
          <p:nvPr/>
        </p:nvSpPr>
        <p:spPr>
          <a:xfrm>
            <a:off x="8595360" y="1371600"/>
            <a:ext cx="310896" cy="310896"/>
          </a:xfrm>
          <a:prstGeom prst="ellipse">
            <a:avLst/>
          </a:prstGeom>
          <a:solidFill>
            <a:schemeClr val="accent4"/>
          </a:solidFill>
          <a:ln w="12700">
            <a:solidFill>
              <a:schemeClr val="accent4"/>
            </a:solidFill>
            <a:prstDash val="solid"/>
          </a:ln>
        </p:spPr>
      </p:sp>
      <p:sp>
        <p:nvSpPr>
          <p:cNvPr id="23" name="Vector point"/>
          <p:cNvSpPr/>
          <p:nvPr/>
        </p:nvSpPr>
        <p:spPr>
          <a:xfrm>
            <a:off x="9235440" y="2011680"/>
            <a:ext cx="237744" cy="237744"/>
          </a:xfrm>
          <a:prstGeom prst="ellipse">
            <a:avLst/>
          </a:prstGeom>
          <a:solidFill>
            <a:schemeClr val="accent4"/>
          </a:solidFill>
          <a:ln w="12700">
            <a:solidFill>
              <a:schemeClr val="accent4"/>
            </a:solidFill>
            <a:prstDash val="solid"/>
          </a:ln>
        </p:spPr>
      </p:sp>
      <p:sp>
        <p:nvSpPr>
          <p:cNvPr id="24" name="Vector point"/>
          <p:cNvSpPr/>
          <p:nvPr/>
        </p:nvSpPr>
        <p:spPr>
          <a:xfrm>
            <a:off x="8229600" y="2331720"/>
            <a:ext cx="201168" cy="201168"/>
          </a:xfrm>
          <a:prstGeom prst="ellipse">
            <a:avLst/>
          </a:prstGeom>
          <a:solidFill>
            <a:schemeClr val="accent4"/>
          </a:solidFill>
          <a:ln w="12700">
            <a:solidFill>
              <a:schemeClr val="accent4"/>
            </a:solidFill>
            <a:prstDash val="solid"/>
          </a:ln>
        </p:spPr>
      </p:sp>
      <p:sp>
        <p:nvSpPr>
          <p:cNvPr id="25" name="Vector point"/>
          <p:cNvSpPr/>
          <p:nvPr/>
        </p:nvSpPr>
        <p:spPr>
          <a:xfrm>
            <a:off x="9784080" y="1325880"/>
            <a:ext cx="182880" cy="182880"/>
          </a:xfrm>
          <a:prstGeom prst="ellipse">
            <a:avLst/>
          </a:prstGeom>
          <a:solidFill>
            <a:schemeClr val="accent4"/>
          </a:solidFill>
          <a:ln w="12700">
            <a:solidFill>
              <a:schemeClr val="accent4"/>
            </a:solidFill>
            <a:prstDash val="solid"/>
          </a:ln>
        </p:spPr>
      </p:sp>
      <p:sp>
        <p:nvSpPr>
          <p:cNvPr id="26" name="Vector point"/>
          <p:cNvSpPr/>
          <p:nvPr/>
        </p:nvSpPr>
        <p:spPr>
          <a:xfrm>
            <a:off x="8869680" y="2743200"/>
            <a:ext cx="274320" cy="274320"/>
          </a:xfrm>
          <a:prstGeom prst="ellipse">
            <a:avLst/>
          </a:prstGeom>
          <a:solidFill>
            <a:schemeClr val="accent4"/>
          </a:solidFill>
          <a:ln w="12700">
            <a:solidFill>
              <a:schemeClr val="accent4"/>
            </a:solidFill>
            <a:prstDash val="solid"/>
          </a:ln>
        </p:spPr>
      </p:sp>
      <p:sp>
        <p:nvSpPr>
          <p:cNvPr id="27" name="Vector point"/>
          <p:cNvSpPr/>
          <p:nvPr/>
        </p:nvSpPr>
        <p:spPr>
          <a:xfrm>
            <a:off x="10332720" y="4023360"/>
            <a:ext cx="310896" cy="310896"/>
          </a:xfrm>
          <a:prstGeom prst="ellipse">
            <a:avLst/>
          </a:prstGeom>
          <a:solidFill>
            <a:schemeClr val="accent2"/>
          </a:solidFill>
          <a:ln w="12700">
            <a:solidFill>
              <a:schemeClr val="accent2"/>
            </a:solidFill>
            <a:prstDash val="solid"/>
          </a:ln>
        </p:spPr>
      </p:sp>
      <p:sp>
        <p:nvSpPr>
          <p:cNvPr id="28" name="Vector point"/>
          <p:cNvSpPr/>
          <p:nvPr/>
        </p:nvSpPr>
        <p:spPr>
          <a:xfrm>
            <a:off x="10972800" y="4572000"/>
            <a:ext cx="219456" cy="219456"/>
          </a:xfrm>
          <a:prstGeom prst="ellipse">
            <a:avLst/>
          </a:prstGeom>
          <a:solidFill>
            <a:schemeClr val="accent2"/>
          </a:solidFill>
          <a:ln w="12700">
            <a:solidFill>
              <a:schemeClr val="accent2"/>
            </a:solidFill>
            <a:prstDash val="solid"/>
          </a:ln>
        </p:spPr>
      </p:sp>
      <p:sp>
        <p:nvSpPr>
          <p:cNvPr id="29" name="Vector point"/>
          <p:cNvSpPr/>
          <p:nvPr/>
        </p:nvSpPr>
        <p:spPr>
          <a:xfrm>
            <a:off x="9875520" y="4754880"/>
            <a:ext cx="256032" cy="256032"/>
          </a:xfrm>
          <a:prstGeom prst="ellipse">
            <a:avLst/>
          </a:prstGeom>
          <a:solidFill>
            <a:schemeClr val="accent2"/>
          </a:solidFill>
          <a:ln w="12700">
            <a:solidFill>
              <a:schemeClr val="accent2"/>
            </a:solidFill>
            <a:prstDash val="solid"/>
          </a:ln>
        </p:spPr>
      </p:sp>
      <p:sp>
        <p:nvSpPr>
          <p:cNvPr id="30" name="Vector point"/>
          <p:cNvSpPr/>
          <p:nvPr/>
        </p:nvSpPr>
        <p:spPr>
          <a:xfrm>
            <a:off x="10789920" y="3611880"/>
            <a:ext cx="182880" cy="182880"/>
          </a:xfrm>
          <a:prstGeom prst="ellipse">
            <a:avLst/>
          </a:prstGeom>
          <a:solidFill>
            <a:schemeClr val="accent2"/>
          </a:solidFill>
          <a:ln w="12700">
            <a:solidFill>
              <a:schemeClr val="accent2"/>
            </a:solidFill>
            <a:prstDash val="solid"/>
          </a:ln>
        </p:spPr>
      </p:sp>
      <p:sp>
        <p:nvSpPr>
          <p:cNvPr id="31" name="Vector point"/>
          <p:cNvSpPr/>
          <p:nvPr/>
        </p:nvSpPr>
        <p:spPr>
          <a:xfrm>
            <a:off x="11247120" y="4160520"/>
            <a:ext cx="201168" cy="201168"/>
          </a:xfrm>
          <a:prstGeom prst="ellipse">
            <a:avLst/>
          </a:prstGeom>
          <a:solidFill>
            <a:schemeClr val="accent2"/>
          </a:solidFill>
          <a:ln w="12700">
            <a:solidFill>
              <a:schemeClr val="accent2"/>
            </a:solidFill>
            <a:prstDash val="solid"/>
          </a:ln>
        </p:spPr>
      </p:sp>
      <p:sp>
        <p:nvSpPr>
          <p:cNvPr id="32" name="Vector point"/>
          <p:cNvSpPr/>
          <p:nvPr/>
        </p:nvSpPr>
        <p:spPr>
          <a:xfrm>
            <a:off x="8412480" y="5212080"/>
            <a:ext cx="274320" cy="274320"/>
          </a:xfrm>
          <a:prstGeom prst="ellipse">
            <a:avLst/>
          </a:prstGeom>
          <a:solidFill>
            <a:schemeClr val="accent5"/>
          </a:solidFill>
          <a:ln w="12700">
            <a:solidFill>
              <a:schemeClr val="accent5"/>
            </a:solidFill>
            <a:prstDash val="solid"/>
          </a:ln>
        </p:spPr>
      </p:sp>
      <p:sp>
        <p:nvSpPr>
          <p:cNvPr id="33" name="Vector point"/>
          <p:cNvSpPr/>
          <p:nvPr/>
        </p:nvSpPr>
        <p:spPr>
          <a:xfrm>
            <a:off x="8046720" y="4297680"/>
            <a:ext cx="201168" cy="201168"/>
          </a:xfrm>
          <a:prstGeom prst="ellipse">
            <a:avLst/>
          </a:prstGeom>
          <a:solidFill>
            <a:schemeClr val="accent5"/>
          </a:solidFill>
          <a:ln w="12700">
            <a:solidFill>
              <a:schemeClr val="accent5"/>
            </a:solidFill>
            <a:prstDash val="solid"/>
          </a:ln>
        </p:spPr>
      </p:sp>
      <p:sp>
        <p:nvSpPr>
          <p:cNvPr id="34" name="Vector point"/>
          <p:cNvSpPr/>
          <p:nvPr/>
        </p:nvSpPr>
        <p:spPr>
          <a:xfrm>
            <a:off x="9052560" y="4114800"/>
            <a:ext cx="182880" cy="182880"/>
          </a:xfrm>
          <a:prstGeom prst="ellipse">
            <a:avLst/>
          </a:prstGeom>
          <a:solidFill>
            <a:schemeClr val="accent5"/>
          </a:solidFill>
          <a:ln w="12700">
            <a:solidFill>
              <a:schemeClr val="accent5"/>
            </a:solidFill>
            <a:prstDash val="solid"/>
          </a:ln>
        </p:spPr>
      </p:sp>
      <p:sp>
        <p:nvSpPr>
          <p:cNvPr id="35" name="Vector point"/>
          <p:cNvSpPr/>
          <p:nvPr/>
        </p:nvSpPr>
        <p:spPr>
          <a:xfrm>
            <a:off x="8778240" y="5669280"/>
            <a:ext cx="219456" cy="219456"/>
          </a:xfrm>
          <a:prstGeom prst="ellipse">
            <a:avLst/>
          </a:prstGeom>
          <a:solidFill>
            <a:schemeClr val="accent5"/>
          </a:solidFill>
          <a:ln w="12700">
            <a:solidFill>
              <a:schemeClr val="accent5"/>
            </a:solidFill>
            <a:prstDash val="solid"/>
          </a:ln>
        </p:spPr>
      </p:sp>
      <p:sp>
        <p:nvSpPr>
          <p:cNvPr id="36" name="Vector point"/>
          <p:cNvSpPr/>
          <p:nvPr/>
        </p:nvSpPr>
        <p:spPr>
          <a:xfrm>
            <a:off x="9509760" y="5440680"/>
            <a:ext cx="164592" cy="164592"/>
          </a:xfrm>
          <a:prstGeom prst="ellipse">
            <a:avLst/>
          </a:prstGeom>
          <a:solidFill>
            <a:schemeClr val="accent5"/>
          </a:solidFill>
          <a:ln w="12700">
            <a:solidFill>
              <a:schemeClr val="accent5"/>
            </a:solidFill>
            <a:prstDash val="solid"/>
          </a:ln>
        </p:spPr>
      </p:sp>
      <p:sp>
        <p:nvSpPr>
          <p:cNvPr id="37" name="Vector point"/>
          <p:cNvSpPr/>
          <p:nvPr/>
        </p:nvSpPr>
        <p:spPr>
          <a:xfrm>
            <a:off x="10972800" y="1737360"/>
            <a:ext cx="164592" cy="164592"/>
          </a:xfrm>
          <a:prstGeom prst="ellipse">
            <a:avLst/>
          </a:prstGeom>
          <a:solidFill>
            <a:schemeClr val="accent6"/>
          </a:solidFill>
          <a:ln w="12700">
            <a:solidFill>
              <a:schemeClr val="accent6"/>
            </a:solidFill>
            <a:prstDash val="solid"/>
          </a:ln>
        </p:spPr>
      </p:sp>
      <p:sp>
        <p:nvSpPr>
          <p:cNvPr id="38" name="Vector point"/>
          <p:cNvSpPr/>
          <p:nvPr/>
        </p:nvSpPr>
        <p:spPr>
          <a:xfrm>
            <a:off x="11430000" y="2468880"/>
            <a:ext cx="201168" cy="201168"/>
          </a:xfrm>
          <a:prstGeom prst="ellipse">
            <a:avLst/>
          </a:prstGeom>
          <a:solidFill>
            <a:schemeClr val="accent6"/>
          </a:solidFill>
          <a:ln w="12700">
            <a:solidFill>
              <a:schemeClr val="accent6"/>
            </a:solidFill>
            <a:prstDash val="solid"/>
          </a:ln>
        </p:spPr>
      </p:sp>
      <p:sp>
        <p:nvSpPr>
          <p:cNvPr id="39" name="Vector point"/>
          <p:cNvSpPr/>
          <p:nvPr/>
        </p:nvSpPr>
        <p:spPr>
          <a:xfrm>
            <a:off x="10515600" y="2651760"/>
            <a:ext cx="146304" cy="146304"/>
          </a:xfrm>
          <a:prstGeom prst="ellipse">
            <a:avLst/>
          </a:prstGeom>
          <a:solidFill>
            <a:schemeClr val="accent6"/>
          </a:solidFill>
          <a:ln w="12700">
            <a:solidFill>
              <a:schemeClr val="accent6"/>
            </a:solidFill>
            <a:prstDash val="solid"/>
          </a:ln>
        </p:spPr>
      </p:sp>
      <p:sp>
        <p:nvSpPr>
          <p:cNvPr id="40" name="Text 37"/>
          <p:cNvSpPr txBox="1"/>
          <p:nvPr/>
        </p:nvSpPr>
        <p:spPr>
          <a:xfrm>
            <a:off x="8046720" y="6172200"/>
            <a:ext cx="3840480" cy="274320"/>
          </a:xfrm>
          <a:prstGeom prst="rect">
            <a:avLst/>
          </a:prstGeom>
          <a:noFill/>
          <a:ln/>
        </p:spPr>
        <p:txBody>
          <a:bodyPr wrap="square" lIns="0" tIns="0" rIns="0" bIns="0" rtlCol="0" anchor="t"/>
          <a:lstStyle/>
          <a:p>
            <a:pPr algn="ctr" indent="0" marL="0">
              <a:buNone/>
            </a:pPr>
            <a:r>
              <a:rPr lang="en-US" sz="1100" i="1" dirty="0">
                <a:solidFill>
                  <a:schemeClr val="accent5"/>
                </a:solidFill>
              </a:rPr>
              <a:t>không gian vector: ý nghĩa gần nhau thì vector gần nhau</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Nội dung trình bày</a:t>
            </a:r>
            <a:endParaRPr lang="en-US" sz="3200" dirty="0"/>
          </a:p>
        </p:txBody>
      </p:sp>
      <p:sp>
        <p:nvSpPr>
          <p:cNvPr id="4" name="Card"/>
          <p:cNvSpPr/>
          <p:nvPr/>
        </p:nvSpPr>
        <p:spPr>
          <a:xfrm>
            <a:off x="548640" y="1463040"/>
            <a:ext cx="5486400" cy="4754880"/>
          </a:xfrm>
          <a:prstGeom prst="roundRect">
            <a:avLst>
              <a:gd name="adj" fmla="val 1923"/>
            </a:avLst>
          </a:prstGeom>
          <a:solidFill>
            <a:schemeClr val="bg2"/>
          </a:solidFill>
          <a:ln w="12700">
            <a:solidFill>
              <a:schemeClr val="bg2"/>
            </a:solidFill>
            <a:prstDash val="solid"/>
          </a:ln>
        </p:spPr>
      </p:sp>
      <p:sp>
        <p:nvSpPr>
          <p:cNvPr id="5" name="Text 2"/>
          <p:cNvSpPr txBox="1"/>
          <p:nvPr/>
        </p:nvSpPr>
        <p:spPr>
          <a:xfrm>
            <a:off x="868680" y="1691640"/>
            <a:ext cx="4846320" cy="274320"/>
          </a:xfrm>
          <a:prstGeom prst="rect">
            <a:avLst/>
          </a:prstGeom>
          <a:noFill/>
          <a:ln/>
        </p:spPr>
        <p:txBody>
          <a:bodyPr wrap="square" lIns="0" tIns="0" rIns="0" bIns="0" rtlCol="0" anchor="t"/>
          <a:lstStyle/>
          <a:p>
            <a:pPr indent="0" marL="0">
              <a:buNone/>
            </a:pPr>
            <a:r>
              <a:rPr lang="en-US" sz="1300" b="1" dirty="0">
                <a:solidFill>
                  <a:schemeClr val="accent1"/>
                </a:solidFill>
              </a:rPr>
              <a:t>PHẦN 1 · NGHIÊN CỨU</a:t>
            </a:r>
            <a:endParaRPr lang="en-US" sz="1300" dirty="0"/>
          </a:p>
        </p:txBody>
      </p:sp>
      <p:sp>
        <p:nvSpPr>
          <p:cNvPr id="6" name="Text 3"/>
          <p:cNvSpPr txBox="1"/>
          <p:nvPr/>
        </p:nvSpPr>
        <p:spPr>
          <a:xfrm>
            <a:off x="868680" y="214884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1A</a:t>
            </a:r>
            <a:endParaRPr lang="en-US" sz="2000" dirty="0"/>
          </a:p>
        </p:txBody>
      </p:sp>
      <p:sp>
        <p:nvSpPr>
          <p:cNvPr id="7" name="Text 4"/>
          <p:cNvSpPr txBox="1"/>
          <p:nvPr/>
        </p:nvSpPr>
        <p:spPr>
          <a:xfrm>
            <a:off x="1874520" y="2130552"/>
            <a:ext cx="3931920" cy="365760"/>
          </a:xfrm>
          <a:prstGeom prst="rect">
            <a:avLst/>
          </a:prstGeom>
          <a:noFill/>
          <a:ln/>
        </p:spPr>
        <p:txBody>
          <a:bodyPr wrap="square" lIns="0" tIns="0" rIns="0" bIns="0" rtlCol="0" anchor="t"/>
          <a:lstStyle/>
          <a:p>
            <a:pPr indent="0" marL="0">
              <a:buNone/>
            </a:pPr>
            <a:r>
              <a:rPr lang="en-US" sz="1900" b="1" dirty="0">
                <a:solidFill>
                  <a:schemeClr val="tx2"/>
                </a:solidFill>
              </a:rPr>
              <a:t>Spring AI</a:t>
            </a:r>
            <a:endParaRPr lang="en-US" sz="1900" dirty="0"/>
          </a:p>
        </p:txBody>
      </p:sp>
      <p:sp>
        <p:nvSpPr>
          <p:cNvPr id="8" name="Text 5"/>
          <p:cNvSpPr txBox="1"/>
          <p:nvPr/>
        </p:nvSpPr>
        <p:spPr>
          <a:xfrm>
            <a:off x="1874520" y="251460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ChatClient, PromptTemplate, Tool Calling, RAG, Advisors</a:t>
            </a:r>
            <a:endParaRPr lang="en-US" sz="1400" dirty="0"/>
          </a:p>
        </p:txBody>
      </p:sp>
      <p:sp>
        <p:nvSpPr>
          <p:cNvPr id="9" name="Text 6"/>
          <p:cNvSpPr txBox="1"/>
          <p:nvPr/>
        </p:nvSpPr>
        <p:spPr>
          <a:xfrm>
            <a:off x="868680" y="347472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1B</a:t>
            </a:r>
            <a:endParaRPr lang="en-US" sz="2000" dirty="0"/>
          </a:p>
        </p:txBody>
      </p:sp>
      <p:sp>
        <p:nvSpPr>
          <p:cNvPr id="10" name="Text 7"/>
          <p:cNvSpPr txBox="1"/>
          <p:nvPr/>
        </p:nvSpPr>
        <p:spPr>
          <a:xfrm>
            <a:off x="1874520" y="3456432"/>
            <a:ext cx="3931920" cy="365760"/>
          </a:xfrm>
          <a:prstGeom prst="rect">
            <a:avLst/>
          </a:prstGeom>
          <a:noFill/>
          <a:ln/>
        </p:spPr>
        <p:txBody>
          <a:bodyPr wrap="square" lIns="0" tIns="0" rIns="0" bIns="0" rtlCol="0" anchor="t"/>
          <a:lstStyle/>
          <a:p>
            <a:pPr indent="0" marL="0">
              <a:buNone/>
            </a:pPr>
            <a:r>
              <a:rPr lang="en-US" sz="1900" b="1" dirty="0">
                <a:solidFill>
                  <a:schemeClr val="tx2"/>
                </a:solidFill>
              </a:rPr>
              <a:t>Vector Database</a:t>
            </a:r>
            <a:endParaRPr lang="en-US" sz="1900" dirty="0"/>
          </a:p>
        </p:txBody>
      </p:sp>
      <p:sp>
        <p:nvSpPr>
          <p:cNvPr id="11" name="Text 8"/>
          <p:cNvSpPr txBox="1"/>
          <p:nvPr/>
        </p:nvSpPr>
        <p:spPr>
          <a:xfrm>
            <a:off x="1874520" y="384048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Embedding, VectorStore, semantic search, thống kê theo tiêu chí</a:t>
            </a:r>
            <a:endParaRPr lang="en-US" sz="1400" dirty="0"/>
          </a:p>
        </p:txBody>
      </p:sp>
      <p:sp>
        <p:nvSpPr>
          <p:cNvPr id="12" name="Text 9"/>
          <p:cNvSpPr txBox="1"/>
          <p:nvPr/>
        </p:nvSpPr>
        <p:spPr>
          <a:xfrm>
            <a:off x="868680" y="4800600"/>
            <a:ext cx="777240" cy="777240"/>
          </a:xfrm>
          <a:prstGeom prst="roundRect">
            <a:avLst>
              <a:gd name="adj" fmla="val 14118"/>
            </a:avLst>
          </a:prstGeom>
          <a:solidFill>
            <a:schemeClr val="accent1"/>
          </a:solidFill>
          <a:ln/>
        </p:spPr>
        <p:txBody>
          <a:bodyPr wrap="square" lIns="0" tIns="0" rIns="0" bIns="0" rtlCol="0" anchor="ctr"/>
          <a:lstStyle/>
          <a:p>
            <a:pPr algn="ctr" indent="0" marL="0">
              <a:buNone/>
            </a:pPr>
            <a:r>
              <a:rPr lang="en-US" sz="2000" b="1" dirty="0">
                <a:solidFill>
                  <a:schemeClr val="bg1"/>
                </a:solidFill>
              </a:rPr>
              <a:t>1C</a:t>
            </a:r>
            <a:endParaRPr lang="en-US" sz="2000" dirty="0"/>
          </a:p>
        </p:txBody>
      </p:sp>
      <p:sp>
        <p:nvSpPr>
          <p:cNvPr id="13" name="Text 10"/>
          <p:cNvSpPr txBox="1"/>
          <p:nvPr/>
        </p:nvSpPr>
        <p:spPr>
          <a:xfrm>
            <a:off x="1874520" y="4782312"/>
            <a:ext cx="3931920" cy="365760"/>
          </a:xfrm>
          <a:prstGeom prst="rect">
            <a:avLst/>
          </a:prstGeom>
          <a:noFill/>
          <a:ln/>
        </p:spPr>
        <p:txBody>
          <a:bodyPr wrap="square" lIns="0" tIns="0" rIns="0" bIns="0" rtlCol="0" anchor="t"/>
          <a:lstStyle/>
          <a:p>
            <a:pPr indent="0" marL="0">
              <a:buNone/>
            </a:pPr>
            <a:r>
              <a:rPr lang="en-US" sz="1900" b="1" dirty="0">
                <a:solidFill>
                  <a:schemeClr val="tx2"/>
                </a:solidFill>
              </a:rPr>
              <a:t>User tracking trên UI</a:t>
            </a:r>
            <a:endParaRPr lang="en-US" sz="1900" dirty="0"/>
          </a:p>
        </p:txBody>
      </p:sp>
      <p:sp>
        <p:nvSpPr>
          <p:cNvPr id="14" name="Text 11"/>
          <p:cNvSpPr txBox="1"/>
          <p:nvPr/>
        </p:nvSpPr>
        <p:spPr>
          <a:xfrm>
            <a:off x="1874520" y="5166360"/>
            <a:ext cx="3931920" cy="548640"/>
          </a:xfrm>
          <a:prstGeom prst="rect">
            <a:avLst/>
          </a:prstGeom>
          <a:noFill/>
          <a:ln/>
        </p:spPr>
        <p:txBody>
          <a:bodyPr wrap="square" lIns="0" tIns="0" rIns="0" bIns="0" rtlCol="0" anchor="t"/>
          <a:lstStyle/>
          <a:p>
            <a:pPr indent="0" marL="0">
              <a:buNone/>
            </a:pPr>
            <a:r>
              <a:rPr lang="en-US" sz="1400" dirty="0">
                <a:solidFill>
                  <a:schemeClr val="accent6"/>
                </a:solidFill>
              </a:rPr>
              <a:t>Time on page, click, add-to-cart, sản phẩm đặt nhiều</a:t>
            </a:r>
            <a:endParaRPr lang="en-US" sz="1400" dirty="0"/>
          </a:p>
        </p:txBody>
      </p:sp>
      <p:sp>
        <p:nvSpPr>
          <p:cNvPr id="15" name="Card"/>
          <p:cNvSpPr/>
          <p:nvPr/>
        </p:nvSpPr>
        <p:spPr>
          <a:xfrm>
            <a:off x="6336792" y="1463040"/>
            <a:ext cx="5303520" cy="4754880"/>
          </a:xfrm>
          <a:prstGeom prst="roundRect">
            <a:avLst>
              <a:gd name="adj" fmla="val 1923"/>
            </a:avLst>
          </a:prstGeom>
          <a:solidFill>
            <a:schemeClr val="tx2"/>
          </a:solidFill>
          <a:ln w="12700">
            <a:solidFill>
              <a:schemeClr val="tx2"/>
            </a:solidFill>
            <a:prstDash val="solid"/>
          </a:ln>
        </p:spPr>
      </p:sp>
      <p:sp>
        <p:nvSpPr>
          <p:cNvPr id="16" name="Text 13"/>
          <p:cNvSpPr txBox="1"/>
          <p:nvPr/>
        </p:nvSpPr>
        <p:spPr>
          <a:xfrm>
            <a:off x="6675120" y="1691640"/>
            <a:ext cx="4754880" cy="274320"/>
          </a:xfrm>
          <a:prstGeom prst="rect">
            <a:avLst/>
          </a:prstGeom>
          <a:noFill/>
          <a:ln/>
        </p:spPr>
        <p:txBody>
          <a:bodyPr wrap="square" lIns="0" tIns="0" rIns="0" bIns="0" rtlCol="0" anchor="t"/>
          <a:lstStyle/>
          <a:p>
            <a:pPr indent="0" marL="0">
              <a:buNone/>
            </a:pPr>
            <a:r>
              <a:rPr lang="en-US" sz="1300" b="1" dirty="0">
                <a:solidFill>
                  <a:schemeClr val="accent2"/>
                </a:solidFill>
              </a:rPr>
              <a:t>PHẦN 2 · ÁP DỤNG VÀO DỰ ÁN NHÓM</a:t>
            </a:r>
            <a:endParaRPr lang="en-US" sz="1300" dirty="0"/>
          </a:p>
        </p:txBody>
      </p:sp>
      <p:sp>
        <p:nvSpPr>
          <p:cNvPr id="17" name="Text 14"/>
          <p:cNvSpPr txBox="1"/>
          <p:nvPr/>
        </p:nvSpPr>
        <p:spPr>
          <a:xfrm>
            <a:off x="6675120" y="2194560"/>
            <a:ext cx="4663440" cy="3840480"/>
          </a:xfrm>
          <a:prstGeom prst="rect">
            <a:avLst/>
          </a:prstGeom>
          <a:noFill/>
          <a:ln/>
        </p:spPr>
        <p:txBody>
          <a:bodyPr wrap="square" lIns="0" tIns="0" rIns="0" bIns="0" rtlCol="0" anchor="t"/>
          <a:lstStyle/>
          <a:p>
            <a:pPr marL="177800" indent="-177800">
              <a:spcAft>
                <a:spcPts val="900"/>
              </a:spcAft>
              <a:buSzPct val="100000"/>
              <a:buChar char="•"/>
            </a:pPr>
            <a:r>
              <a:rPr lang="en-US" sz="1700" dirty="0">
                <a:solidFill>
                  <a:schemeClr val="bg1"/>
                </a:solidFill>
              </a:rPr>
              <a:t>Hiện trạng IUH Tour Booking</a:t>
            </a:r>
            <a:endParaRPr lang="en-US" sz="1700" dirty="0"/>
          </a:p>
          <a:p>
            <a:pPr marL="177800" indent="-177800">
              <a:spcAft>
                <a:spcPts val="900"/>
              </a:spcAft>
              <a:buSzPct val="100000"/>
              <a:buChar char="•"/>
            </a:pPr>
            <a:r>
              <a:rPr lang="en-US" sz="1700" dirty="0">
                <a:solidFill>
                  <a:schemeClr val="bg1"/>
                </a:solidFill>
              </a:rPr>
              <a:t>Kiến trúc đề xuất, chọn vector store và model</a:t>
            </a:r>
            <a:endParaRPr lang="en-US" sz="1700" dirty="0"/>
          </a:p>
          <a:p>
            <a:pPr marL="177800" indent="-177800">
              <a:spcAft>
                <a:spcPts val="900"/>
              </a:spcAft>
              <a:buSzPct val="100000"/>
              <a:buChar char="•"/>
            </a:pPr>
            <a:r>
              <a:rPr lang="en-US" sz="1700" dirty="0">
                <a:solidFill>
                  <a:schemeClr val="bg1"/>
                </a:solidFill>
              </a:rPr>
              <a:t>Cài đặt: dependencies, ingest, semantic search</a:t>
            </a:r>
            <a:endParaRPr lang="en-US" sz="1700" dirty="0"/>
          </a:p>
          <a:p>
            <a:pPr marL="177800" indent="-177800">
              <a:spcAft>
                <a:spcPts val="900"/>
              </a:spcAft>
              <a:buSzPct val="100000"/>
              <a:buChar char="•"/>
            </a:pPr>
            <a:r>
              <a:rPr lang="en-US" sz="1700" dirty="0">
                <a:solidFill>
                  <a:schemeClr val="bg1"/>
                </a:solidFill>
              </a:rPr>
              <a:t>Chatbot tư vấn (RAG + Tool Calling)</a:t>
            </a:r>
            <a:endParaRPr lang="en-US" sz="1700" dirty="0"/>
          </a:p>
          <a:p>
            <a:pPr marL="177800" indent="-177800">
              <a:spcAft>
                <a:spcPts val="900"/>
              </a:spcAft>
              <a:buSzPct val="100000"/>
              <a:buChar char="•"/>
            </a:pPr>
            <a:r>
              <a:rPr lang="en-US" sz="1700" dirty="0">
                <a:solidFill>
                  <a:schemeClr val="bg1"/>
                </a:solidFill>
              </a:rPr>
              <a:t>Tracking: bảng user_events, JavaScript, API</a:t>
            </a:r>
            <a:endParaRPr lang="en-US" sz="1700" dirty="0"/>
          </a:p>
          <a:p>
            <a:pPr marL="177800" indent="-177800">
              <a:spcAft>
                <a:spcPts val="900"/>
              </a:spcAft>
              <a:buSzPct val="100000"/>
              <a:buChar char="•"/>
            </a:pPr>
            <a:r>
              <a:rPr lang="en-US" sz="1700" dirty="0">
                <a:solidFill>
                  <a:schemeClr val="bg1"/>
                </a:solidFill>
              </a:rPr>
              <a:t>Thống kê, dashboard, gợi ý tour</a:t>
            </a:r>
            <a:endParaRPr lang="en-US" sz="1700" dirty="0"/>
          </a:p>
          <a:p>
            <a:pPr marL="177800" indent="-177800">
              <a:spcAft>
                <a:spcPts val="900"/>
              </a:spcAft>
              <a:buSzPct val="100000"/>
              <a:buChar char="•"/>
            </a:pPr>
            <a:r>
              <a:rPr lang="en-US" sz="1700" dirty="0">
                <a:solidFill>
                  <a:schemeClr val="bg1"/>
                </a:solidFill>
              </a:rPr>
              <a:t>Kịch bản demo, kết luận</a:t>
            </a:r>
            <a:endParaRPr lang="en-US" sz="17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Generative AI và vì sao chọn Java/Spring</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600" b="1" dirty="0">
                <a:solidFill>
                  <a:schemeClr val="tx2"/>
                </a:solidFill>
              </a:rPr>
              <a:t>Cách GenAI hoạt động</a:t>
            </a:r>
            <a:endParaRPr lang="en-US" sz="1600" dirty="0"/>
          </a:p>
        </p:txBody>
      </p:sp>
      <p:sp>
        <p:nvSpPr>
          <p:cNvPr id="6" name="Box"/>
          <p:cNvSpPr txBox="1"/>
          <p:nvPr/>
        </p:nvSpPr>
        <p:spPr>
          <a:xfrm>
            <a:off x="548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Thu thập &amp; làm sạch dữ liệu</a:t>
            </a:r>
            <a:endParaRPr lang="en-US" sz="1400" dirty="0"/>
          </a:p>
        </p:txBody>
      </p:sp>
      <p:sp>
        <p:nvSpPr>
          <p:cNvPr id="7" name="Arrow"/>
          <p:cNvSpPr/>
          <p:nvPr/>
        </p:nvSpPr>
        <p:spPr>
          <a:xfrm>
            <a:off x="2487168" y="2212848"/>
            <a:ext cx="329184" cy="0"/>
          </a:xfrm>
          <a:prstGeom prst="line">
            <a:avLst/>
          </a:prstGeom>
          <a:noFill/>
          <a:ln w="22225">
            <a:solidFill>
              <a:schemeClr val="accent6"/>
            </a:solidFill>
            <a:prstDash val="solid"/>
            <a:tailEnd type="triangle"/>
          </a:ln>
        </p:spPr>
      </p:sp>
      <p:sp>
        <p:nvSpPr>
          <p:cNvPr id="8" name="Box"/>
          <p:cNvSpPr txBox="1"/>
          <p:nvPr/>
        </p:nvSpPr>
        <p:spPr>
          <a:xfrm>
            <a:off x="2834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Huấn luyện Transformer (GPU/TPU)</a:t>
            </a:r>
            <a:endParaRPr lang="en-US" sz="1400" dirty="0"/>
          </a:p>
        </p:txBody>
      </p:sp>
      <p:sp>
        <p:nvSpPr>
          <p:cNvPr id="9" name="Arrow"/>
          <p:cNvSpPr/>
          <p:nvPr/>
        </p:nvSpPr>
        <p:spPr>
          <a:xfrm>
            <a:off x="4773168" y="2212848"/>
            <a:ext cx="329184" cy="0"/>
          </a:xfrm>
          <a:prstGeom prst="line">
            <a:avLst/>
          </a:prstGeom>
          <a:noFill/>
          <a:ln w="22225">
            <a:solidFill>
              <a:schemeClr val="accent6"/>
            </a:solidFill>
            <a:prstDash val="solid"/>
            <a:tailEnd type="triangle"/>
          </a:ln>
        </p:spPr>
      </p:sp>
      <p:sp>
        <p:nvSpPr>
          <p:cNvPr id="10" name="Box"/>
          <p:cNvSpPr txBox="1"/>
          <p:nvPr/>
        </p:nvSpPr>
        <p:spPr>
          <a:xfrm>
            <a:off x="5120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LLM hàng tỷ tham số</a:t>
            </a:r>
            <a:endParaRPr lang="en-US" sz="1400" dirty="0"/>
          </a:p>
        </p:txBody>
      </p:sp>
      <p:sp>
        <p:nvSpPr>
          <p:cNvPr id="11" name="Arrow"/>
          <p:cNvSpPr/>
          <p:nvPr/>
        </p:nvSpPr>
        <p:spPr>
          <a:xfrm>
            <a:off x="7059168" y="2212848"/>
            <a:ext cx="329184" cy="0"/>
          </a:xfrm>
          <a:prstGeom prst="line">
            <a:avLst/>
          </a:prstGeom>
          <a:noFill/>
          <a:ln w="22225">
            <a:solidFill>
              <a:schemeClr val="accent6"/>
            </a:solidFill>
            <a:prstDash val="solid"/>
            <a:tailEnd type="triangle"/>
          </a:ln>
        </p:spPr>
      </p:sp>
      <p:sp>
        <p:nvSpPr>
          <p:cNvPr id="12" name="Box"/>
          <p:cNvSpPr txBox="1"/>
          <p:nvPr/>
        </p:nvSpPr>
        <p:spPr>
          <a:xfrm>
            <a:off x="7406640" y="1783080"/>
            <a:ext cx="1920240" cy="868680"/>
          </a:xfrm>
          <a:prstGeom prst="roundRect">
            <a:avLst>
              <a:gd name="adj" fmla="val 10526"/>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Fine-tune + RLHF</a:t>
            </a:r>
            <a:endParaRPr lang="en-US" sz="1400" dirty="0"/>
          </a:p>
        </p:txBody>
      </p:sp>
      <p:sp>
        <p:nvSpPr>
          <p:cNvPr id="13" name="Arrow"/>
          <p:cNvSpPr/>
          <p:nvPr/>
        </p:nvSpPr>
        <p:spPr>
          <a:xfrm>
            <a:off x="9345168" y="2212848"/>
            <a:ext cx="329184" cy="0"/>
          </a:xfrm>
          <a:prstGeom prst="line">
            <a:avLst/>
          </a:prstGeom>
          <a:noFill/>
          <a:ln w="22225">
            <a:solidFill>
              <a:schemeClr val="accent6"/>
            </a:solidFill>
            <a:prstDash val="solid"/>
            <a:tailEnd type="triangle"/>
          </a:ln>
        </p:spPr>
      </p:sp>
      <p:sp>
        <p:nvSpPr>
          <p:cNvPr id="14" name="Box"/>
          <p:cNvSpPr txBox="1"/>
          <p:nvPr/>
        </p:nvSpPr>
        <p:spPr>
          <a:xfrm>
            <a:off x="9692640" y="1783080"/>
            <a:ext cx="1920240" cy="868680"/>
          </a:xfrm>
          <a:prstGeom prst="roundRect">
            <a:avLst>
              <a:gd name="adj" fmla="val 10526"/>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Sinh nội dung (text, ảnh, code)</a:t>
            </a:r>
            <a:endParaRPr lang="en-US" sz="1400" dirty="0"/>
          </a:p>
        </p:txBody>
      </p:sp>
      <p:sp>
        <p:nvSpPr>
          <p:cNvPr id="15" name="Card"/>
          <p:cNvSpPr/>
          <p:nvPr/>
        </p:nvSpPr>
        <p:spPr>
          <a:xfrm>
            <a:off x="548640" y="2880360"/>
            <a:ext cx="11091672" cy="777240"/>
          </a:xfrm>
          <a:prstGeom prst="roundRect">
            <a:avLst>
              <a:gd name="adj" fmla="val 11765"/>
            </a:avLst>
          </a:prstGeom>
          <a:solidFill>
            <a:schemeClr val="bg2"/>
          </a:solidFill>
          <a:ln w="12700">
            <a:solidFill>
              <a:schemeClr val="bg2"/>
            </a:solidFill>
            <a:prstDash val="solid"/>
          </a:ln>
        </p:spPr>
      </p:sp>
      <p:sp>
        <p:nvSpPr>
          <p:cNvPr id="16" name="Text 13"/>
          <p:cNvSpPr txBox="1"/>
          <p:nvPr/>
        </p:nvSpPr>
        <p:spPr>
          <a:xfrm>
            <a:off x="777240" y="2971800"/>
            <a:ext cx="10634472" cy="594360"/>
          </a:xfrm>
          <a:prstGeom prst="rect">
            <a:avLst/>
          </a:prstGeom>
          <a:noFill/>
          <a:ln/>
        </p:spPr>
        <p:txBody>
          <a:bodyPr wrap="square" lIns="0" tIns="0" rIns="0" bIns="0" rtlCol="0" anchor="ctr"/>
          <a:lstStyle/>
          <a:p>
            <a:pPr indent="0" marL="0">
              <a:buNone/>
            </a:pPr>
            <a:r>
              <a:rPr lang="en-US" sz="1400" b="1" dirty="0">
                <a:solidFill>
                  <a:schemeClr val="tx1"/>
                </a:solidFill>
              </a:rPr>
              <a:t>Công nghệ lõi: </a:t>
            </a:r>
            <a:r>
              <a:rPr lang="en-US" sz="1400" dirty="0">
                <a:solidFill>
                  <a:schemeClr val="tx1"/>
                </a:solidFill>
              </a:rPr>
              <a:t>Transformers (GPT, BERT) · LLMs (GPT, Claude, Gemini) · Diffusion (DALL·E, Midjourney) · Embeddings &amp; vector space (RAG) · Prompt engineering</a:t>
            </a:r>
            <a:endParaRPr lang="en-US" sz="1400" dirty="0"/>
          </a:p>
        </p:txBody>
      </p:sp>
      <p:sp>
        <p:nvSpPr>
          <p:cNvPr id="17" name="Card"/>
          <p:cNvSpPr/>
          <p:nvPr/>
        </p:nvSpPr>
        <p:spPr>
          <a:xfrm>
            <a:off x="548640" y="3886200"/>
            <a:ext cx="5440680" cy="2331720"/>
          </a:xfrm>
          <a:prstGeom prst="roundRect">
            <a:avLst>
              <a:gd name="adj" fmla="val 3922"/>
            </a:avLst>
          </a:prstGeom>
          <a:solidFill>
            <a:schemeClr val="bg2"/>
          </a:solidFill>
          <a:ln w="12700">
            <a:solidFill>
              <a:schemeClr val="bg2"/>
            </a:solidFill>
            <a:prstDash val="solid"/>
          </a:ln>
        </p:spPr>
      </p:sp>
      <p:sp>
        <p:nvSpPr>
          <p:cNvPr id="18" name="Icon circle"/>
          <p:cNvSpPr/>
          <p:nvPr/>
        </p:nvSpPr>
        <p:spPr>
          <a:xfrm>
            <a:off x="822960" y="4114800"/>
            <a:ext cx="548640" cy="548640"/>
          </a:xfrm>
          <a:prstGeom prst="ellipse">
            <a:avLst/>
          </a:prstGeom>
          <a:solidFill>
            <a:schemeClr val="accent1"/>
          </a:solidFill>
          <a:ln w="12700">
            <a:solidFill>
              <a:schemeClr val="accent1"/>
            </a:solidFill>
            <a:prstDash val="solid"/>
          </a:ln>
        </p:spPr>
      </p:sp>
      <p:pic>
        <p:nvPicPr>
          <p:cNvPr id="19" name="Image 0" descr="Java icon">    </p:cNvPr>
          <p:cNvPicPr>
            <a:picLocks noChangeAspect="1"/>
          </p:cNvPicPr>
          <p:nvPr/>
        </p:nvPicPr>
        <p:blipFill>
          <a:blip r:embed="rId1"/>
          <a:stretch>
            <a:fillRect/>
          </a:stretch>
        </p:blipFill>
        <p:spPr>
          <a:xfrm>
            <a:off x="954634" y="4246474"/>
            <a:ext cx="285293" cy="285293"/>
          </a:xfrm>
          <a:prstGeom prst="rect">
            <a:avLst/>
          </a:prstGeom>
        </p:spPr>
      </p:pic>
      <p:sp>
        <p:nvSpPr>
          <p:cNvPr id="20" name="Text 16"/>
          <p:cNvSpPr txBox="1"/>
          <p:nvPr/>
        </p:nvSpPr>
        <p:spPr>
          <a:xfrm>
            <a:off x="1554480" y="416052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Java cho AI doanh nghiệp</a:t>
            </a:r>
            <a:endParaRPr lang="en-US" sz="1800" dirty="0"/>
          </a:p>
        </p:txBody>
      </p:sp>
      <p:sp>
        <p:nvSpPr>
          <p:cNvPr id="21" name="Text 17"/>
          <p:cNvSpPr txBox="1"/>
          <p:nvPr/>
        </p:nvSpPr>
        <p:spPr>
          <a:xfrm>
            <a:off x="822960" y="48006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Tin cậy trong tài chính, viễn thông, bảo hiểm</a:t>
            </a:r>
            <a:endParaRPr lang="en-US" sz="1500" dirty="0"/>
          </a:p>
          <a:p>
            <a:pPr marL="177800" indent="-177800">
              <a:spcAft>
                <a:spcPts val="600"/>
              </a:spcAft>
              <a:buSzPct val="100000"/>
              <a:buChar char="•"/>
            </a:pPr>
            <a:r>
              <a:rPr lang="en-US" sz="1500" dirty="0">
                <a:solidFill>
                  <a:schemeClr val="tx1"/>
                </a:solidFill>
              </a:rPr>
              <a:t>Thân thiện với kiến trúc microservices</a:t>
            </a:r>
            <a:endParaRPr lang="en-US" sz="1500" dirty="0"/>
          </a:p>
          <a:p>
            <a:pPr marL="177800" indent="-177800">
              <a:spcAft>
                <a:spcPts val="600"/>
              </a:spcAft>
              <a:buSzPct val="100000"/>
              <a:buChar char="•"/>
            </a:pPr>
            <a:r>
              <a:rPr lang="en-US" sz="1500" dirty="0">
                <a:solidFill>
                  <a:schemeClr val="tx1"/>
                </a:solidFill>
              </a:rPr>
              <a:t>Đa nền tảng và đa luồng</a:t>
            </a:r>
            <a:endParaRPr lang="en-US" sz="1500" dirty="0"/>
          </a:p>
        </p:txBody>
      </p:sp>
      <p:sp>
        <p:nvSpPr>
          <p:cNvPr id="22" name="Card"/>
          <p:cNvSpPr/>
          <p:nvPr/>
        </p:nvSpPr>
        <p:spPr>
          <a:xfrm>
            <a:off x="6199632" y="3886200"/>
            <a:ext cx="5440680" cy="2331720"/>
          </a:xfrm>
          <a:prstGeom prst="roundRect">
            <a:avLst>
              <a:gd name="adj" fmla="val 3922"/>
            </a:avLst>
          </a:prstGeom>
          <a:solidFill>
            <a:schemeClr val="bg2"/>
          </a:solidFill>
          <a:ln w="12700">
            <a:solidFill>
              <a:schemeClr val="bg2"/>
            </a:solidFill>
            <a:prstDash val="solid"/>
          </a:ln>
        </p:spPr>
      </p:sp>
      <p:sp>
        <p:nvSpPr>
          <p:cNvPr id="23" name="Icon circle"/>
          <p:cNvSpPr/>
          <p:nvPr/>
        </p:nvSpPr>
        <p:spPr>
          <a:xfrm>
            <a:off x="6473952" y="4114800"/>
            <a:ext cx="548640" cy="548640"/>
          </a:xfrm>
          <a:prstGeom prst="ellipse">
            <a:avLst/>
          </a:prstGeom>
          <a:solidFill>
            <a:schemeClr val="accent1"/>
          </a:solidFill>
          <a:ln w="12700">
            <a:solidFill>
              <a:schemeClr val="accent1"/>
            </a:solidFill>
            <a:prstDash val="solid"/>
          </a:ln>
        </p:spPr>
      </p:sp>
      <p:pic>
        <p:nvPicPr>
          <p:cNvPr id="24" name="Image 1" descr="Leaf icon">    </p:cNvPr>
          <p:cNvPicPr>
            <a:picLocks noChangeAspect="1"/>
          </p:cNvPicPr>
          <p:nvPr/>
        </p:nvPicPr>
        <p:blipFill>
          <a:blip r:embed="rId2"/>
          <a:stretch>
            <a:fillRect/>
          </a:stretch>
        </p:blipFill>
        <p:spPr>
          <a:xfrm>
            <a:off x="6605626" y="4246474"/>
            <a:ext cx="285293" cy="285293"/>
          </a:xfrm>
          <a:prstGeom prst="rect">
            <a:avLst/>
          </a:prstGeom>
        </p:spPr>
      </p:pic>
      <p:sp>
        <p:nvSpPr>
          <p:cNvPr id="25" name="Text 20"/>
          <p:cNvSpPr txBox="1"/>
          <p:nvPr/>
        </p:nvSpPr>
        <p:spPr>
          <a:xfrm>
            <a:off x="7205472" y="4160520"/>
            <a:ext cx="4206240" cy="411480"/>
          </a:xfrm>
          <a:prstGeom prst="rect">
            <a:avLst/>
          </a:prstGeom>
          <a:noFill/>
          <a:ln/>
        </p:spPr>
        <p:txBody>
          <a:bodyPr wrap="square" lIns="0" tIns="0" rIns="0" bIns="0" rtlCol="0" anchor="ctr"/>
          <a:lstStyle/>
          <a:p>
            <a:pPr indent="0" marL="0">
              <a:buNone/>
            </a:pPr>
            <a:r>
              <a:rPr lang="en-US" sz="1800" b="1" dirty="0">
                <a:solidFill>
                  <a:schemeClr val="tx2"/>
                </a:solidFill>
              </a:rPr>
              <a:t>Spring Boot</a:t>
            </a:r>
            <a:endParaRPr lang="en-US" sz="1800" dirty="0"/>
          </a:p>
        </p:txBody>
      </p:sp>
      <p:sp>
        <p:nvSpPr>
          <p:cNvPr id="26" name="Text 21"/>
          <p:cNvSpPr txBox="1"/>
          <p:nvPr/>
        </p:nvSpPr>
        <p:spPr>
          <a:xfrm>
            <a:off x="6473952" y="4800600"/>
            <a:ext cx="4937760" cy="1371600"/>
          </a:xfrm>
          <a:prstGeom prst="rect">
            <a:avLst/>
          </a:prstGeom>
          <a:noFill/>
          <a:ln/>
        </p:spPr>
        <p:txBody>
          <a:bodyPr wrap="square" lIns="0" tIns="0" rIns="0" bIns="0" rtlCol="0" anchor="t"/>
          <a:lstStyle/>
          <a:p>
            <a:pPr marL="177800" indent="-177800">
              <a:spcAft>
                <a:spcPts val="600"/>
              </a:spcAft>
              <a:buSzPct val="100000"/>
              <a:buChar char="•"/>
            </a:pPr>
            <a:r>
              <a:rPr lang="en-US" sz="1500" dirty="0">
                <a:solidFill>
                  <a:schemeClr val="tx1"/>
                </a:solidFill>
              </a:rPr>
              <a:t>REST API, triển khai dễ dàng</a:t>
            </a:r>
            <a:endParaRPr lang="en-US" sz="1500" dirty="0"/>
          </a:p>
          <a:p>
            <a:pPr marL="177800" indent="-177800">
              <a:spcAft>
                <a:spcPts val="600"/>
              </a:spcAft>
              <a:buSzPct val="100000"/>
              <a:buChar char="•"/>
            </a:pPr>
            <a:r>
              <a:rPr lang="en-US" sz="1500" dirty="0">
                <a:solidFill>
                  <a:schemeClr val="tx1"/>
                </a:solidFill>
              </a:rPr>
              <a:t>Spring Data cho dữ liệu của bạn</a:t>
            </a:r>
            <a:endParaRPr lang="en-US" sz="1500" dirty="0"/>
          </a:p>
          <a:p>
            <a:pPr marL="177800" indent="-177800">
              <a:spcAft>
                <a:spcPts val="600"/>
              </a:spcAft>
              <a:buSzPct val="100000"/>
              <a:buChar char="•"/>
            </a:pPr>
            <a:r>
              <a:rPr lang="en-US" sz="1500" dirty="0">
                <a:solidFill>
                  <a:schemeClr val="tx1"/>
                </a:solidFill>
              </a:rPr>
              <a:t>Spring Security kiểm soát truy cập</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Spring AI là gì và có gì bên trong</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548640" y="1463040"/>
            <a:ext cx="4297680" cy="2880360"/>
          </a:xfrm>
          <a:prstGeom prst="roundRect">
            <a:avLst>
              <a:gd name="adj" fmla="val 3175"/>
            </a:avLst>
          </a:prstGeom>
          <a:solidFill>
            <a:schemeClr val="bg2"/>
          </a:solidFill>
          <a:ln w="12700">
            <a:solidFill>
              <a:schemeClr val="bg2"/>
            </a:solidFill>
            <a:prstDash val="solid"/>
          </a:ln>
        </p:spPr>
      </p:sp>
      <p:sp>
        <p:nvSpPr>
          <p:cNvPr id="6" name="Text 3"/>
          <p:cNvSpPr txBox="1"/>
          <p:nvPr/>
        </p:nvSpPr>
        <p:spPr>
          <a:xfrm>
            <a:off x="777240" y="1572768"/>
            <a:ext cx="3840480" cy="320040"/>
          </a:xfrm>
          <a:prstGeom prst="rect">
            <a:avLst/>
          </a:prstGeom>
          <a:noFill/>
          <a:ln/>
        </p:spPr>
        <p:txBody>
          <a:bodyPr wrap="square" lIns="0" tIns="0" rIns="0" bIns="0" rtlCol="0" anchor="t"/>
          <a:lstStyle/>
          <a:p>
            <a:pPr indent="0" marL="0">
              <a:buNone/>
            </a:pPr>
            <a:r>
              <a:rPr lang="en-US" sz="1700" b="1" dirty="0">
                <a:solidFill>
                  <a:schemeClr val="tx2"/>
                </a:solidFill>
              </a:rPr>
              <a:t>Spring AI là gì?</a:t>
            </a:r>
            <a:endParaRPr lang="en-US" sz="1700" dirty="0"/>
          </a:p>
        </p:txBody>
      </p:sp>
      <p:sp>
        <p:nvSpPr>
          <p:cNvPr id="7" name="Text 4"/>
          <p:cNvSpPr txBox="1"/>
          <p:nvPr/>
        </p:nvSpPr>
        <p:spPr>
          <a:xfrm>
            <a:off x="777240" y="1965960"/>
            <a:ext cx="3886200" cy="1645920"/>
          </a:xfrm>
          <a:prstGeom prst="rect">
            <a:avLst/>
          </a:prstGeom>
          <a:noFill/>
          <a:ln/>
        </p:spPr>
        <p:txBody>
          <a:bodyPr wrap="square" lIns="0" tIns="0" rIns="0" bIns="0" rtlCol="0" anchor="t"/>
          <a:lstStyle/>
          <a:p>
            <a:pPr marL="177800" indent="-177800">
              <a:spcAft>
                <a:spcPts val="500"/>
              </a:spcAft>
              <a:buSzPct val="100000"/>
              <a:buChar char="•"/>
            </a:pPr>
            <a:r>
              <a:rPr lang="en-US" sz="1400" dirty="0">
                <a:solidFill>
                  <a:schemeClr val="tx1"/>
                </a:solidFill>
              </a:rPr>
              <a:t>Tích hợp AI ngay trong hệ sinh thái Spring quen thuộc</a:t>
            </a:r>
            <a:endParaRPr lang="en-US" sz="1400" dirty="0"/>
          </a:p>
          <a:p>
            <a:pPr marL="177800" indent="-177800">
              <a:spcAft>
                <a:spcPts val="500"/>
              </a:spcAft>
              <a:buSzPct val="100000"/>
              <a:buChar char="•"/>
            </a:pPr>
            <a:r>
              <a:rPr lang="en-US" sz="1400" dirty="0">
                <a:solidFill>
                  <a:schemeClr val="tx1"/>
                </a:solidFill>
              </a:rPr>
              <a:t>Lấy cảm hứng từ LangChain, LlamaIndex (không phải bản port)</a:t>
            </a:r>
            <a:endParaRPr lang="en-US" sz="1400" dirty="0"/>
          </a:p>
          <a:p>
            <a:pPr marL="177800" indent="-177800">
              <a:spcAft>
                <a:spcPts val="500"/>
              </a:spcAft>
              <a:buSzPct val="100000"/>
              <a:buChar char="•"/>
            </a:pPr>
            <a:r>
              <a:rPr lang="en-US" sz="1400" dirty="0">
                <a:solidFill>
                  <a:schemeClr val="tx1"/>
                </a:solidFill>
              </a:rPr>
              <a:t>Đổi model chỉ bằng cấu hình</a:t>
            </a:r>
            <a:endParaRPr lang="en-US" sz="1400" dirty="0"/>
          </a:p>
        </p:txBody>
      </p:sp>
      <p:sp>
        <p:nvSpPr>
          <p:cNvPr id="8" name="Box"/>
          <p:cNvSpPr txBox="1"/>
          <p:nvPr/>
        </p:nvSpPr>
        <p:spPr>
          <a:xfrm>
            <a:off x="777240" y="3657600"/>
            <a:ext cx="3840480" cy="502920"/>
          </a:xfrm>
          <a:prstGeom prst="roundRect">
            <a:avLst>
              <a:gd name="adj" fmla="val 18182"/>
            </a:avLst>
          </a:prstGeom>
          <a:solidFill>
            <a:schemeClr val="accent2"/>
          </a:solidFill>
          <a:ln>
            <a:solidFill>
              <a:schemeClr val="accent2"/>
            </a:solidFill>
          </a:ln>
        </p:spPr>
        <p:txBody>
          <a:bodyPr wrap="square" lIns="76200" tIns="76200" rIns="76200" bIns="76200" rtlCol="0" anchor="ctr"/>
          <a:lstStyle/>
          <a:p>
            <a:pPr algn="ctr" indent="0" marL="0">
              <a:buNone/>
            </a:pPr>
            <a:r>
              <a:rPr lang="en-US" sz="1300" b="1" dirty="0">
                <a:solidFill>
                  <a:schemeClr val="tx1"/>
                </a:solidFill>
              </a:rPr>
              <a:t>Spring AI 2.0.2: bản ổn định hiện tại (Chương 7)</a:t>
            </a:r>
            <a:endParaRPr lang="en-US" sz="1300" dirty="0"/>
          </a:p>
        </p:txBody>
      </p:sp>
      <p:sp>
        <p:nvSpPr>
          <p:cNvPr id="9" name="Card"/>
          <p:cNvSpPr/>
          <p:nvPr/>
        </p:nvSpPr>
        <p:spPr>
          <a:xfrm>
            <a:off x="5029200" y="1463040"/>
            <a:ext cx="2103120" cy="1371600"/>
          </a:xfrm>
          <a:prstGeom prst="roundRect">
            <a:avLst>
              <a:gd name="adj" fmla="val 6667"/>
            </a:avLst>
          </a:prstGeom>
          <a:solidFill>
            <a:schemeClr val="bg2"/>
          </a:solidFill>
          <a:ln w="12700">
            <a:solidFill>
              <a:schemeClr val="bg2"/>
            </a:solidFill>
            <a:prstDash val="solid"/>
          </a:ln>
        </p:spPr>
      </p:sp>
      <p:sp>
        <p:nvSpPr>
          <p:cNvPr id="10" name="Icon circle"/>
          <p:cNvSpPr/>
          <p:nvPr/>
        </p:nvSpPr>
        <p:spPr>
          <a:xfrm>
            <a:off x="5166360" y="1600200"/>
            <a:ext cx="411480" cy="411480"/>
          </a:xfrm>
          <a:prstGeom prst="ellipse">
            <a:avLst/>
          </a:prstGeom>
          <a:solidFill>
            <a:schemeClr val="accent1"/>
          </a:solidFill>
          <a:ln w="12700">
            <a:solidFill>
              <a:schemeClr val="accent1"/>
            </a:solidFill>
            <a:prstDash val="solid"/>
          </a:ln>
        </p:spPr>
      </p:sp>
      <p:pic>
        <p:nvPicPr>
          <p:cNvPr id="11" name="Image 0" descr="Comments icon">    </p:cNvPr>
          <p:cNvPicPr>
            <a:picLocks noChangeAspect="1"/>
          </p:cNvPicPr>
          <p:nvPr/>
        </p:nvPicPr>
        <p:blipFill>
          <a:blip r:embed="rId1"/>
          <a:stretch>
            <a:fillRect/>
          </a:stretch>
        </p:blipFill>
        <p:spPr>
          <a:xfrm>
            <a:off x="5265115" y="1698955"/>
            <a:ext cx="213970" cy="213970"/>
          </a:xfrm>
          <a:prstGeom prst="rect">
            <a:avLst/>
          </a:prstGeom>
        </p:spPr>
      </p:pic>
      <p:sp>
        <p:nvSpPr>
          <p:cNvPr id="12" name="Text 8"/>
          <p:cNvSpPr txBox="1"/>
          <p:nvPr/>
        </p:nvSpPr>
        <p:spPr>
          <a:xfrm>
            <a:off x="5669280"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ChatClient</a:t>
            </a:r>
            <a:endParaRPr lang="en-US" sz="1400" dirty="0"/>
          </a:p>
        </p:txBody>
      </p:sp>
      <p:sp>
        <p:nvSpPr>
          <p:cNvPr id="13" name="Text 9"/>
          <p:cNvSpPr txBox="1"/>
          <p:nvPr/>
        </p:nvSpPr>
        <p:spPr>
          <a:xfrm>
            <a:off x="5166360"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Fluent API giống RestClient</a:t>
            </a:r>
            <a:endParaRPr lang="en-US" sz="1300" dirty="0"/>
          </a:p>
        </p:txBody>
      </p:sp>
      <p:sp>
        <p:nvSpPr>
          <p:cNvPr id="14" name="Card"/>
          <p:cNvSpPr/>
          <p:nvPr/>
        </p:nvSpPr>
        <p:spPr>
          <a:xfrm>
            <a:off x="7278624" y="1463040"/>
            <a:ext cx="2103120" cy="1371600"/>
          </a:xfrm>
          <a:prstGeom prst="roundRect">
            <a:avLst>
              <a:gd name="adj" fmla="val 6667"/>
            </a:avLst>
          </a:prstGeom>
          <a:solidFill>
            <a:schemeClr val="bg2"/>
          </a:solidFill>
          <a:ln w="12700">
            <a:solidFill>
              <a:schemeClr val="bg2"/>
            </a:solidFill>
            <a:prstDash val="solid"/>
          </a:ln>
        </p:spPr>
      </p:sp>
      <p:sp>
        <p:nvSpPr>
          <p:cNvPr id="15" name="Icon circle"/>
          <p:cNvSpPr/>
          <p:nvPr/>
        </p:nvSpPr>
        <p:spPr>
          <a:xfrm>
            <a:off x="7415784" y="1600200"/>
            <a:ext cx="411480" cy="411480"/>
          </a:xfrm>
          <a:prstGeom prst="ellipse">
            <a:avLst/>
          </a:prstGeom>
          <a:solidFill>
            <a:schemeClr val="accent1"/>
          </a:solidFill>
          <a:ln w="12700">
            <a:solidFill>
              <a:schemeClr val="accent1"/>
            </a:solidFill>
            <a:prstDash val="solid"/>
          </a:ln>
        </p:spPr>
      </p:sp>
      <p:pic>
        <p:nvPicPr>
          <p:cNvPr id="16" name="Image 1" descr="FileAlt icon">    </p:cNvPr>
          <p:cNvPicPr>
            <a:picLocks noChangeAspect="1"/>
          </p:cNvPicPr>
          <p:nvPr/>
        </p:nvPicPr>
        <p:blipFill>
          <a:blip r:embed="rId2"/>
          <a:stretch>
            <a:fillRect/>
          </a:stretch>
        </p:blipFill>
        <p:spPr>
          <a:xfrm>
            <a:off x="7514539" y="1698955"/>
            <a:ext cx="213970" cy="213970"/>
          </a:xfrm>
          <a:prstGeom prst="rect">
            <a:avLst/>
          </a:prstGeom>
        </p:spPr>
      </p:pic>
      <p:sp>
        <p:nvSpPr>
          <p:cNvPr id="17" name="Text 12"/>
          <p:cNvSpPr txBox="1"/>
          <p:nvPr/>
        </p:nvSpPr>
        <p:spPr>
          <a:xfrm>
            <a:off x="7918704"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PromptTemplate</a:t>
            </a:r>
            <a:endParaRPr lang="en-US" sz="1400" dirty="0"/>
          </a:p>
        </p:txBody>
      </p:sp>
      <p:sp>
        <p:nvSpPr>
          <p:cNvPr id="18" name="Text 13"/>
          <p:cNvSpPr txBox="1"/>
          <p:nvPr/>
        </p:nvSpPr>
        <p:spPr>
          <a:xfrm>
            <a:off x="7415784"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Prompt tái sử dụng, có biến</a:t>
            </a:r>
            <a:endParaRPr lang="en-US" sz="1300" dirty="0"/>
          </a:p>
        </p:txBody>
      </p:sp>
      <p:sp>
        <p:nvSpPr>
          <p:cNvPr id="19" name="Card"/>
          <p:cNvSpPr/>
          <p:nvPr/>
        </p:nvSpPr>
        <p:spPr>
          <a:xfrm>
            <a:off x="9528048" y="1463040"/>
            <a:ext cx="2103120" cy="1371600"/>
          </a:xfrm>
          <a:prstGeom prst="roundRect">
            <a:avLst>
              <a:gd name="adj" fmla="val 6667"/>
            </a:avLst>
          </a:prstGeom>
          <a:solidFill>
            <a:schemeClr val="bg2"/>
          </a:solidFill>
          <a:ln w="12700">
            <a:solidFill>
              <a:schemeClr val="bg2"/>
            </a:solidFill>
            <a:prstDash val="solid"/>
          </a:ln>
        </p:spPr>
      </p:sp>
      <p:sp>
        <p:nvSpPr>
          <p:cNvPr id="20" name="Icon circle"/>
          <p:cNvSpPr/>
          <p:nvPr/>
        </p:nvSpPr>
        <p:spPr>
          <a:xfrm>
            <a:off x="9665208" y="1600200"/>
            <a:ext cx="411480" cy="411480"/>
          </a:xfrm>
          <a:prstGeom prst="ellipse">
            <a:avLst/>
          </a:prstGeom>
          <a:solidFill>
            <a:schemeClr val="accent1"/>
          </a:solidFill>
          <a:ln w="12700">
            <a:solidFill>
              <a:schemeClr val="accent1"/>
            </a:solidFill>
            <a:prstDash val="solid"/>
          </a:ln>
        </p:spPr>
      </p:sp>
      <p:pic>
        <p:nvPicPr>
          <p:cNvPr id="21" name="Image 2" descr="Memory icon">    </p:cNvPr>
          <p:cNvPicPr>
            <a:picLocks noChangeAspect="1"/>
          </p:cNvPicPr>
          <p:nvPr/>
        </p:nvPicPr>
        <p:blipFill>
          <a:blip r:embed="rId3"/>
          <a:stretch>
            <a:fillRect/>
          </a:stretch>
        </p:blipFill>
        <p:spPr>
          <a:xfrm>
            <a:off x="9763963" y="1698955"/>
            <a:ext cx="213970" cy="213970"/>
          </a:xfrm>
          <a:prstGeom prst="rect">
            <a:avLst/>
          </a:prstGeom>
        </p:spPr>
      </p:pic>
      <p:sp>
        <p:nvSpPr>
          <p:cNvPr id="22" name="Text 16"/>
          <p:cNvSpPr txBox="1"/>
          <p:nvPr/>
        </p:nvSpPr>
        <p:spPr>
          <a:xfrm>
            <a:off x="10168128" y="1600200"/>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Advisors &amp; Memory</a:t>
            </a:r>
            <a:endParaRPr lang="en-US" sz="1400" dirty="0"/>
          </a:p>
        </p:txBody>
      </p:sp>
      <p:sp>
        <p:nvSpPr>
          <p:cNvPr id="23" name="Text 17"/>
          <p:cNvSpPr txBox="1"/>
          <p:nvPr/>
        </p:nvSpPr>
        <p:spPr>
          <a:xfrm>
            <a:off x="9665208" y="2148840"/>
            <a:ext cx="1874520" cy="594360"/>
          </a:xfrm>
          <a:prstGeom prst="rect">
            <a:avLst/>
          </a:prstGeom>
          <a:noFill/>
          <a:ln/>
        </p:spPr>
        <p:txBody>
          <a:bodyPr wrap="square" lIns="0" tIns="0" rIns="0" bIns="0" rtlCol="0" anchor="t"/>
          <a:lstStyle/>
          <a:p>
            <a:pPr indent="0" marL="0">
              <a:buNone/>
            </a:pPr>
            <a:r>
              <a:rPr lang="en-US" sz="1300" dirty="0">
                <a:solidFill>
                  <a:schemeClr val="accent6"/>
                </a:solidFill>
              </a:rPr>
              <a:t>Lịch sử chat, mẫu RAG</a:t>
            </a:r>
            <a:endParaRPr lang="en-US" sz="1300" dirty="0"/>
          </a:p>
        </p:txBody>
      </p:sp>
      <p:sp>
        <p:nvSpPr>
          <p:cNvPr id="24" name="Card"/>
          <p:cNvSpPr/>
          <p:nvPr/>
        </p:nvSpPr>
        <p:spPr>
          <a:xfrm>
            <a:off x="5029200" y="2944368"/>
            <a:ext cx="2103120" cy="1371600"/>
          </a:xfrm>
          <a:prstGeom prst="roundRect">
            <a:avLst>
              <a:gd name="adj" fmla="val 6667"/>
            </a:avLst>
          </a:prstGeom>
          <a:solidFill>
            <a:schemeClr val="bg2"/>
          </a:solidFill>
          <a:ln w="12700">
            <a:solidFill>
              <a:schemeClr val="bg2"/>
            </a:solidFill>
            <a:prstDash val="solid"/>
          </a:ln>
        </p:spPr>
      </p:sp>
      <p:sp>
        <p:nvSpPr>
          <p:cNvPr id="25" name="Icon circle"/>
          <p:cNvSpPr/>
          <p:nvPr/>
        </p:nvSpPr>
        <p:spPr>
          <a:xfrm>
            <a:off x="5166360" y="3081528"/>
            <a:ext cx="411480" cy="411480"/>
          </a:xfrm>
          <a:prstGeom prst="ellipse">
            <a:avLst/>
          </a:prstGeom>
          <a:solidFill>
            <a:schemeClr val="accent1"/>
          </a:solidFill>
          <a:ln w="12700">
            <a:solidFill>
              <a:schemeClr val="accent1"/>
            </a:solidFill>
            <a:prstDash val="solid"/>
          </a:ln>
        </p:spPr>
      </p:sp>
      <p:pic>
        <p:nvPicPr>
          <p:cNvPr id="26" name="Image 3" descr="Database icon">    </p:cNvPr>
          <p:cNvPicPr>
            <a:picLocks noChangeAspect="1"/>
          </p:cNvPicPr>
          <p:nvPr/>
        </p:nvPicPr>
        <p:blipFill>
          <a:blip r:embed="rId4"/>
          <a:stretch>
            <a:fillRect/>
          </a:stretch>
        </p:blipFill>
        <p:spPr>
          <a:xfrm>
            <a:off x="5265115" y="3180283"/>
            <a:ext cx="213970" cy="213970"/>
          </a:xfrm>
          <a:prstGeom prst="rect">
            <a:avLst/>
          </a:prstGeom>
        </p:spPr>
      </p:pic>
      <p:sp>
        <p:nvSpPr>
          <p:cNvPr id="27" name="Text 20"/>
          <p:cNvSpPr txBox="1"/>
          <p:nvPr/>
        </p:nvSpPr>
        <p:spPr>
          <a:xfrm>
            <a:off x="5669280"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VectorStore</a:t>
            </a:r>
            <a:endParaRPr lang="en-US" sz="1400" dirty="0"/>
          </a:p>
        </p:txBody>
      </p:sp>
      <p:sp>
        <p:nvSpPr>
          <p:cNvPr id="28" name="Text 21"/>
          <p:cNvSpPr txBox="1"/>
          <p:nvPr/>
        </p:nvSpPr>
        <p:spPr>
          <a:xfrm>
            <a:off x="5166360"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Tìm kiếm ngữ nghĩa trên embeddings</a:t>
            </a:r>
            <a:endParaRPr lang="en-US" sz="1300" dirty="0"/>
          </a:p>
        </p:txBody>
      </p:sp>
      <p:sp>
        <p:nvSpPr>
          <p:cNvPr id="29" name="Card"/>
          <p:cNvSpPr/>
          <p:nvPr/>
        </p:nvSpPr>
        <p:spPr>
          <a:xfrm>
            <a:off x="7278624" y="2944368"/>
            <a:ext cx="2103120" cy="1371600"/>
          </a:xfrm>
          <a:prstGeom prst="roundRect">
            <a:avLst>
              <a:gd name="adj" fmla="val 6667"/>
            </a:avLst>
          </a:prstGeom>
          <a:solidFill>
            <a:schemeClr val="bg2"/>
          </a:solidFill>
          <a:ln w="12700">
            <a:solidFill>
              <a:schemeClr val="bg2"/>
            </a:solidFill>
            <a:prstDash val="solid"/>
          </a:ln>
        </p:spPr>
      </p:sp>
      <p:sp>
        <p:nvSpPr>
          <p:cNvPr id="30" name="Icon circle"/>
          <p:cNvSpPr/>
          <p:nvPr/>
        </p:nvSpPr>
        <p:spPr>
          <a:xfrm>
            <a:off x="7415784" y="3081528"/>
            <a:ext cx="411480" cy="411480"/>
          </a:xfrm>
          <a:prstGeom prst="ellipse">
            <a:avLst/>
          </a:prstGeom>
          <a:solidFill>
            <a:schemeClr val="accent1"/>
          </a:solidFill>
          <a:ln w="12700">
            <a:solidFill>
              <a:schemeClr val="accent1"/>
            </a:solidFill>
            <a:prstDash val="solid"/>
          </a:ln>
        </p:spPr>
      </p:sp>
      <p:pic>
        <p:nvPicPr>
          <p:cNvPr id="31" name="Image 4" descr="Tools icon">    </p:cNvPr>
          <p:cNvPicPr>
            <a:picLocks noChangeAspect="1"/>
          </p:cNvPicPr>
          <p:nvPr/>
        </p:nvPicPr>
        <p:blipFill>
          <a:blip r:embed="rId5"/>
          <a:stretch>
            <a:fillRect/>
          </a:stretch>
        </p:blipFill>
        <p:spPr>
          <a:xfrm>
            <a:off x="7514539" y="3180283"/>
            <a:ext cx="213970" cy="213970"/>
          </a:xfrm>
          <a:prstGeom prst="rect">
            <a:avLst/>
          </a:prstGeom>
        </p:spPr>
      </p:pic>
      <p:sp>
        <p:nvSpPr>
          <p:cNvPr id="32" name="Text 24"/>
          <p:cNvSpPr txBox="1"/>
          <p:nvPr/>
        </p:nvSpPr>
        <p:spPr>
          <a:xfrm>
            <a:off x="7918704"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Tool Calling</a:t>
            </a:r>
            <a:endParaRPr lang="en-US" sz="1400" dirty="0"/>
          </a:p>
        </p:txBody>
      </p:sp>
      <p:sp>
        <p:nvSpPr>
          <p:cNvPr id="33" name="Text 25"/>
          <p:cNvSpPr txBox="1"/>
          <p:nvPr/>
        </p:nvSpPr>
        <p:spPr>
          <a:xfrm>
            <a:off x="7415784"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Model gọi phương thức Java</a:t>
            </a:r>
            <a:endParaRPr lang="en-US" sz="1300" dirty="0"/>
          </a:p>
        </p:txBody>
      </p:sp>
      <p:sp>
        <p:nvSpPr>
          <p:cNvPr id="34" name="Card"/>
          <p:cNvSpPr/>
          <p:nvPr/>
        </p:nvSpPr>
        <p:spPr>
          <a:xfrm>
            <a:off x="9528048" y="2944368"/>
            <a:ext cx="2103120" cy="1371600"/>
          </a:xfrm>
          <a:prstGeom prst="roundRect">
            <a:avLst>
              <a:gd name="adj" fmla="val 6667"/>
            </a:avLst>
          </a:prstGeom>
          <a:solidFill>
            <a:schemeClr val="bg2"/>
          </a:solidFill>
          <a:ln w="12700">
            <a:solidFill>
              <a:schemeClr val="bg2"/>
            </a:solidFill>
            <a:prstDash val="solid"/>
          </a:ln>
        </p:spPr>
      </p:sp>
      <p:sp>
        <p:nvSpPr>
          <p:cNvPr id="35" name="Icon circle"/>
          <p:cNvSpPr/>
          <p:nvPr/>
        </p:nvSpPr>
        <p:spPr>
          <a:xfrm>
            <a:off x="9665208" y="3081528"/>
            <a:ext cx="411480" cy="411480"/>
          </a:xfrm>
          <a:prstGeom prst="ellipse">
            <a:avLst/>
          </a:prstGeom>
          <a:solidFill>
            <a:schemeClr val="accent1"/>
          </a:solidFill>
          <a:ln w="12700">
            <a:solidFill>
              <a:schemeClr val="accent1"/>
            </a:solidFill>
            <a:prstDash val="solid"/>
          </a:ln>
        </p:spPr>
      </p:sp>
      <p:pic>
        <p:nvPicPr>
          <p:cNvPr id="36" name="Image 5" descr="Code icon">    </p:cNvPr>
          <p:cNvPicPr>
            <a:picLocks noChangeAspect="1"/>
          </p:cNvPicPr>
          <p:nvPr/>
        </p:nvPicPr>
        <p:blipFill>
          <a:blip r:embed="rId6"/>
          <a:stretch>
            <a:fillRect/>
          </a:stretch>
        </p:blipFill>
        <p:spPr>
          <a:xfrm>
            <a:off x="9763963" y="3180283"/>
            <a:ext cx="213970" cy="213970"/>
          </a:xfrm>
          <a:prstGeom prst="rect">
            <a:avLst/>
          </a:prstGeom>
        </p:spPr>
      </p:pic>
      <p:sp>
        <p:nvSpPr>
          <p:cNvPr id="37" name="Text 28"/>
          <p:cNvSpPr txBox="1"/>
          <p:nvPr/>
        </p:nvSpPr>
        <p:spPr>
          <a:xfrm>
            <a:off x="10168128" y="3081528"/>
            <a:ext cx="1417320" cy="411480"/>
          </a:xfrm>
          <a:prstGeom prst="rect">
            <a:avLst/>
          </a:prstGeom>
          <a:noFill/>
          <a:ln/>
        </p:spPr>
        <p:txBody>
          <a:bodyPr wrap="square" lIns="0" tIns="0" rIns="0" bIns="0" rtlCol="0" anchor="ctr"/>
          <a:lstStyle/>
          <a:p>
            <a:pPr indent="0" marL="0">
              <a:buNone/>
            </a:pPr>
            <a:r>
              <a:rPr lang="en-US" sz="1400" b="1" dirty="0">
                <a:solidFill>
                  <a:schemeClr val="tx2"/>
                </a:solidFill>
              </a:rPr>
              <a:t>Structured Output</a:t>
            </a:r>
            <a:endParaRPr lang="en-US" sz="1400" dirty="0"/>
          </a:p>
        </p:txBody>
      </p:sp>
      <p:sp>
        <p:nvSpPr>
          <p:cNvPr id="38" name="Text 29"/>
          <p:cNvSpPr txBox="1"/>
          <p:nvPr/>
        </p:nvSpPr>
        <p:spPr>
          <a:xfrm>
            <a:off x="9665208" y="3630168"/>
            <a:ext cx="1874520" cy="594360"/>
          </a:xfrm>
          <a:prstGeom prst="rect">
            <a:avLst/>
          </a:prstGeom>
          <a:noFill/>
          <a:ln/>
        </p:spPr>
        <p:txBody>
          <a:bodyPr wrap="square" lIns="0" tIns="0" rIns="0" bIns="0" rtlCol="0" anchor="t"/>
          <a:lstStyle/>
          <a:p>
            <a:pPr indent="0" marL="0">
              <a:buNone/>
            </a:pPr>
            <a:r>
              <a:rPr lang="en-US" sz="1300" dirty="0">
                <a:solidFill>
                  <a:schemeClr val="accent6"/>
                </a:solidFill>
              </a:rPr>
              <a:t>Ánh xạ câu trả lời sang POJO</a:t>
            </a:r>
            <a:endParaRPr lang="en-US" sz="1300" dirty="0"/>
          </a:p>
        </p:txBody>
      </p:sp>
      <p:sp>
        <p:nvSpPr>
          <p:cNvPr id="39" name="Text 30"/>
          <p:cNvSpPr txBox="1"/>
          <p:nvPr/>
        </p:nvSpPr>
        <p:spPr>
          <a:xfrm>
            <a:off x="548640" y="4526280"/>
            <a:ext cx="5486400" cy="274320"/>
          </a:xfrm>
          <a:prstGeom prst="rect">
            <a:avLst/>
          </a:prstGeom>
          <a:noFill/>
          <a:ln/>
        </p:spPr>
        <p:txBody>
          <a:bodyPr wrap="square" lIns="0" tIns="0" rIns="0" bIns="0" rtlCol="0" anchor="t"/>
          <a:lstStyle/>
          <a:p>
            <a:pPr indent="0" marL="0">
              <a:buNone/>
            </a:pPr>
            <a:r>
              <a:rPr lang="en-US" sz="1400" b="1" dirty="0">
                <a:solidFill>
                  <a:schemeClr val="tx2"/>
                </a:solidFill>
              </a:rPr>
              <a:t>Chat &amp; embedding models được hỗ trợ</a:t>
            </a:r>
            <a:endParaRPr lang="en-US" sz="1400" dirty="0"/>
          </a:p>
        </p:txBody>
      </p:sp>
      <p:sp>
        <p:nvSpPr>
          <p:cNvPr id="40" name="Box"/>
          <p:cNvSpPr txBox="1"/>
          <p:nvPr/>
        </p:nvSpPr>
        <p:spPr>
          <a:xfrm>
            <a:off x="548640"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OpenAI</a:t>
            </a:r>
            <a:endParaRPr lang="en-US" sz="1200" dirty="0"/>
          </a:p>
        </p:txBody>
      </p:sp>
      <p:sp>
        <p:nvSpPr>
          <p:cNvPr id="41" name="Box"/>
          <p:cNvSpPr txBox="1"/>
          <p:nvPr/>
        </p:nvSpPr>
        <p:spPr>
          <a:xfrm>
            <a:off x="1933956"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Anthropic</a:t>
            </a:r>
            <a:endParaRPr lang="en-US" sz="1200" dirty="0"/>
          </a:p>
        </p:txBody>
      </p:sp>
      <p:sp>
        <p:nvSpPr>
          <p:cNvPr id="42" name="Box"/>
          <p:cNvSpPr txBox="1"/>
          <p:nvPr/>
        </p:nvSpPr>
        <p:spPr>
          <a:xfrm>
            <a:off x="3319272"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Google Gemini</a:t>
            </a:r>
            <a:endParaRPr lang="en-US" sz="1200" dirty="0"/>
          </a:p>
        </p:txBody>
      </p:sp>
      <p:sp>
        <p:nvSpPr>
          <p:cNvPr id="43" name="Box"/>
          <p:cNvSpPr txBox="1"/>
          <p:nvPr/>
        </p:nvSpPr>
        <p:spPr>
          <a:xfrm>
            <a:off x="4704588"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Azure OpenAI</a:t>
            </a:r>
            <a:endParaRPr lang="en-US" sz="1200" dirty="0"/>
          </a:p>
        </p:txBody>
      </p:sp>
      <p:sp>
        <p:nvSpPr>
          <p:cNvPr id="44" name="Box"/>
          <p:cNvSpPr txBox="1"/>
          <p:nvPr/>
        </p:nvSpPr>
        <p:spPr>
          <a:xfrm>
            <a:off x="6089904"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Mistral AI</a:t>
            </a:r>
            <a:endParaRPr lang="en-US" sz="1200" dirty="0"/>
          </a:p>
        </p:txBody>
      </p:sp>
      <p:sp>
        <p:nvSpPr>
          <p:cNvPr id="45" name="Box"/>
          <p:cNvSpPr txBox="1"/>
          <p:nvPr/>
        </p:nvSpPr>
        <p:spPr>
          <a:xfrm>
            <a:off x="7475220"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Ollama (local)</a:t>
            </a:r>
            <a:endParaRPr lang="en-US" sz="1200" dirty="0"/>
          </a:p>
        </p:txBody>
      </p:sp>
      <p:sp>
        <p:nvSpPr>
          <p:cNvPr id="46" name="Box"/>
          <p:cNvSpPr txBox="1"/>
          <p:nvPr/>
        </p:nvSpPr>
        <p:spPr>
          <a:xfrm>
            <a:off x="8860536"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Amazon Bedrock</a:t>
            </a:r>
            <a:endParaRPr lang="en-US" sz="1200" dirty="0"/>
          </a:p>
        </p:txBody>
      </p:sp>
      <p:sp>
        <p:nvSpPr>
          <p:cNvPr id="47" name="Box"/>
          <p:cNvSpPr txBox="1"/>
          <p:nvPr/>
        </p:nvSpPr>
        <p:spPr>
          <a:xfrm>
            <a:off x="10245852" y="4846320"/>
            <a:ext cx="1298448" cy="384048"/>
          </a:xfrm>
          <a:prstGeom prst="roundRect">
            <a:avLst>
              <a:gd name="adj" fmla="val 23810"/>
            </a:avLst>
          </a:prstGeom>
          <a:solidFill>
            <a:schemeClr val="bg2"/>
          </a:solidFill>
          <a:ln>
            <a:solidFill>
              <a:schemeClr val="bg2"/>
            </a:solidFill>
          </a:ln>
        </p:spPr>
        <p:txBody>
          <a:bodyPr wrap="square" lIns="76200" tIns="76200" rIns="76200" bIns="76200" rtlCol="0" anchor="ctr"/>
          <a:lstStyle/>
          <a:p>
            <a:pPr algn="ctr" indent="0" marL="0">
              <a:buNone/>
            </a:pPr>
            <a:r>
              <a:rPr lang="en-US" sz="1200" b="1" dirty="0">
                <a:solidFill>
                  <a:schemeClr val="tx2"/>
                </a:solidFill>
              </a:rPr>
              <a:t>DeepSeek</a:t>
            </a:r>
            <a:endParaRPr lang="en-US" sz="1200" dirty="0"/>
          </a:p>
        </p:txBody>
      </p:sp>
      <p:sp>
        <p:nvSpPr>
          <p:cNvPr id="48" name="Text 39"/>
          <p:cNvSpPr txBox="1"/>
          <p:nvPr/>
        </p:nvSpPr>
        <p:spPr>
          <a:xfrm>
            <a:off x="548640" y="5413248"/>
            <a:ext cx="5486400" cy="274320"/>
          </a:xfrm>
          <a:prstGeom prst="rect">
            <a:avLst/>
          </a:prstGeom>
          <a:noFill/>
          <a:ln/>
        </p:spPr>
        <p:txBody>
          <a:bodyPr wrap="square" lIns="0" tIns="0" rIns="0" bIns="0" rtlCol="0" anchor="t"/>
          <a:lstStyle/>
          <a:p>
            <a:pPr indent="0" marL="0">
              <a:buNone/>
            </a:pPr>
            <a:r>
              <a:rPr lang="en-US" sz="1400" b="1" dirty="0">
                <a:solidFill>
                  <a:schemeClr val="tx2"/>
                </a:solidFill>
              </a:rPr>
              <a:t>Vector databases</a:t>
            </a:r>
            <a:endParaRPr lang="en-US" sz="1400" dirty="0"/>
          </a:p>
        </p:txBody>
      </p:sp>
      <p:sp>
        <p:nvSpPr>
          <p:cNvPr id="49" name="Box"/>
          <p:cNvSpPr txBox="1"/>
          <p:nvPr/>
        </p:nvSpPr>
        <p:spPr>
          <a:xfrm>
            <a:off x="548640"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PGvector</a:t>
            </a:r>
            <a:endParaRPr lang="en-US" sz="1200" dirty="0"/>
          </a:p>
        </p:txBody>
      </p:sp>
      <p:sp>
        <p:nvSpPr>
          <p:cNvPr id="50" name="Box"/>
          <p:cNvSpPr txBox="1"/>
          <p:nvPr/>
        </p:nvSpPr>
        <p:spPr>
          <a:xfrm>
            <a:off x="1933956"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Qdrant</a:t>
            </a:r>
            <a:endParaRPr lang="en-US" sz="1200" dirty="0"/>
          </a:p>
        </p:txBody>
      </p:sp>
      <p:sp>
        <p:nvSpPr>
          <p:cNvPr id="51" name="Box"/>
          <p:cNvSpPr txBox="1"/>
          <p:nvPr/>
        </p:nvSpPr>
        <p:spPr>
          <a:xfrm>
            <a:off x="3319272"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Weaviate</a:t>
            </a:r>
            <a:endParaRPr lang="en-US" sz="1200" dirty="0"/>
          </a:p>
        </p:txBody>
      </p:sp>
      <p:sp>
        <p:nvSpPr>
          <p:cNvPr id="52" name="Box"/>
          <p:cNvSpPr txBox="1"/>
          <p:nvPr/>
        </p:nvSpPr>
        <p:spPr>
          <a:xfrm>
            <a:off x="4704588" y="5733288"/>
            <a:ext cx="1298448"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Redis</a:t>
            </a:r>
            <a:endParaRPr lang="en-US" sz="1200" dirty="0"/>
          </a:p>
        </p:txBody>
      </p:sp>
      <p:sp>
        <p:nvSpPr>
          <p:cNvPr id="53" name="Text 44"/>
          <p:cNvSpPr txBox="1"/>
          <p:nvPr/>
        </p:nvSpPr>
        <p:spPr>
          <a:xfrm>
            <a:off x="6089904" y="5733288"/>
            <a:ext cx="2743200" cy="384048"/>
          </a:xfrm>
          <a:prstGeom prst="rect">
            <a:avLst/>
          </a:prstGeom>
          <a:noFill/>
          <a:ln/>
        </p:spPr>
        <p:txBody>
          <a:bodyPr wrap="square" lIns="0" tIns="0" rIns="0" bIns="0" rtlCol="0" anchor="ctr"/>
          <a:lstStyle/>
          <a:p>
            <a:pPr indent="0" marL="0">
              <a:buNone/>
            </a:pPr>
            <a:r>
              <a:rPr lang="en-US" sz="1300" i="1" dirty="0">
                <a:solidFill>
                  <a:schemeClr val="accent6"/>
                </a:solidFill>
              </a:rPr>
              <a:t>… cùng nhiều store khác</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Luồng tích hợp GenAI và ChatClient</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411480" y="1417320"/>
            <a:ext cx="6903720" cy="1600200"/>
          </a:xfrm>
          <a:prstGeom prst="roundRect">
            <a:avLst>
              <a:gd name="adj" fmla="val 5714"/>
            </a:avLst>
          </a:prstGeom>
          <a:solidFill>
            <a:schemeClr val="bg2"/>
          </a:solidFill>
          <a:ln w="12700">
            <a:solidFill>
              <a:schemeClr val="bg2"/>
            </a:solidFill>
            <a:prstDash val="solid"/>
          </a:ln>
        </p:spPr>
      </p:sp>
      <p:sp>
        <p:nvSpPr>
          <p:cNvPr id="6" name="Text 3"/>
          <p:cNvSpPr txBox="1"/>
          <p:nvPr/>
        </p:nvSpPr>
        <p:spPr>
          <a:xfrm>
            <a:off x="594360" y="1481328"/>
            <a:ext cx="4572000" cy="274320"/>
          </a:xfrm>
          <a:prstGeom prst="rect">
            <a:avLst/>
          </a:prstGeom>
          <a:noFill/>
          <a:ln/>
        </p:spPr>
        <p:txBody>
          <a:bodyPr wrap="square" lIns="0" tIns="0" rIns="0" bIns="0" rtlCol="0" anchor="t"/>
          <a:lstStyle/>
          <a:p>
            <a:pPr indent="0" marL="0">
              <a:buNone/>
            </a:pPr>
            <a:r>
              <a:rPr lang="en-US" sz="1200" b="1" dirty="0">
                <a:solidFill>
                  <a:schemeClr val="accent1"/>
                </a:solidFill>
              </a:rPr>
              <a:t>Ứng dụng Spring Boot của bạn</a:t>
            </a:r>
            <a:endParaRPr lang="en-US" sz="1200" dirty="0"/>
          </a:p>
        </p:txBody>
      </p:sp>
      <p:sp>
        <p:nvSpPr>
          <p:cNvPr id="7" name="Box"/>
          <p:cNvSpPr txBox="1"/>
          <p:nvPr/>
        </p:nvSpPr>
        <p:spPr>
          <a:xfrm>
            <a:off x="548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dirty="0">
                <a:solidFill>
                  <a:schemeClr val="tx1"/>
                </a:solidFill>
              </a:rPr>
              <a:t>User (Web / API)</a:t>
            </a:r>
            <a:endParaRPr lang="en-US" sz="1400" dirty="0"/>
          </a:p>
        </p:txBody>
      </p:sp>
      <p:sp>
        <p:nvSpPr>
          <p:cNvPr id="8" name="Arrow"/>
          <p:cNvSpPr/>
          <p:nvPr/>
        </p:nvSpPr>
        <p:spPr>
          <a:xfrm>
            <a:off x="2487168" y="2350008"/>
            <a:ext cx="329184" cy="0"/>
          </a:xfrm>
          <a:prstGeom prst="line">
            <a:avLst/>
          </a:prstGeom>
          <a:noFill/>
          <a:ln w="22225">
            <a:solidFill>
              <a:schemeClr val="accent6"/>
            </a:solidFill>
            <a:prstDash val="solid"/>
            <a:tailEnd type="triangle"/>
          </a:ln>
        </p:spPr>
      </p:sp>
      <p:sp>
        <p:nvSpPr>
          <p:cNvPr id="9" name="Box"/>
          <p:cNvSpPr txBox="1"/>
          <p:nvPr/>
        </p:nvSpPr>
        <p:spPr>
          <a:xfrm>
            <a:off x="2834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dirty="0">
                <a:solidFill>
                  <a:schemeClr val="tx1"/>
                </a:solidFill>
              </a:rPr>
              <a:t>REST Controller</a:t>
            </a:r>
            <a:endParaRPr lang="en-US" sz="1400" dirty="0"/>
          </a:p>
        </p:txBody>
      </p:sp>
      <p:sp>
        <p:nvSpPr>
          <p:cNvPr id="10" name="Arrow"/>
          <p:cNvSpPr/>
          <p:nvPr/>
        </p:nvSpPr>
        <p:spPr>
          <a:xfrm>
            <a:off x="4773168" y="2350008"/>
            <a:ext cx="329184" cy="0"/>
          </a:xfrm>
          <a:prstGeom prst="line">
            <a:avLst/>
          </a:prstGeom>
          <a:noFill/>
          <a:ln w="22225">
            <a:solidFill>
              <a:schemeClr val="accent6"/>
            </a:solidFill>
            <a:prstDash val="solid"/>
            <a:tailEnd type="triangle"/>
          </a:ln>
        </p:spPr>
      </p:sp>
      <p:sp>
        <p:nvSpPr>
          <p:cNvPr id="11" name="Box"/>
          <p:cNvSpPr txBox="1"/>
          <p:nvPr/>
        </p:nvSpPr>
        <p:spPr>
          <a:xfrm>
            <a:off x="5120640" y="1920240"/>
            <a:ext cx="1920240" cy="868680"/>
          </a:xfrm>
          <a:prstGeom prst="roundRect">
            <a:avLst>
              <a:gd name="adj" fmla="val 10526"/>
            </a:avLst>
          </a:prstGeom>
          <a:solidFill>
            <a:srgbClr val="FFFFFF"/>
          </a:solidFill>
          <a:ln w="15875">
            <a:solidFill>
              <a:schemeClr val="accent5"/>
            </a:solidFill>
            <a:prstDash val="solid"/>
          </a:ln>
        </p:spPr>
        <p:txBody>
          <a:bodyPr wrap="square" lIns="76200" tIns="76200" rIns="76200" bIns="76200" rtlCol="0" anchor="ctr"/>
          <a:lstStyle/>
          <a:p>
            <a:pPr algn="ctr" indent="0" marL="0">
              <a:buNone/>
            </a:pPr>
            <a:r>
              <a:rPr lang="en-US" sz="1400" b="1" dirty="0">
                <a:solidFill>
                  <a:schemeClr val="tx1"/>
                </a:solidFill>
              </a:rPr>
              <a:t>AI Service + ChatClient</a:t>
            </a:r>
            <a:endParaRPr lang="en-US" sz="1400" dirty="0"/>
          </a:p>
        </p:txBody>
      </p:sp>
      <p:sp>
        <p:nvSpPr>
          <p:cNvPr id="12" name="Arrow"/>
          <p:cNvSpPr/>
          <p:nvPr/>
        </p:nvSpPr>
        <p:spPr>
          <a:xfrm>
            <a:off x="7059168" y="2350008"/>
            <a:ext cx="329184" cy="0"/>
          </a:xfrm>
          <a:prstGeom prst="line">
            <a:avLst/>
          </a:prstGeom>
          <a:noFill/>
          <a:ln w="22225">
            <a:solidFill>
              <a:schemeClr val="accent6"/>
            </a:solidFill>
            <a:prstDash val="solid"/>
            <a:tailEnd type="triangle"/>
          </a:ln>
        </p:spPr>
      </p:sp>
      <p:sp>
        <p:nvSpPr>
          <p:cNvPr id="13" name="Box"/>
          <p:cNvSpPr txBox="1"/>
          <p:nvPr/>
        </p:nvSpPr>
        <p:spPr>
          <a:xfrm>
            <a:off x="7406640" y="1920240"/>
            <a:ext cx="1920240" cy="868680"/>
          </a:xfrm>
          <a:prstGeom prst="roundRect">
            <a:avLst>
              <a:gd name="adj" fmla="val 10526"/>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LLM provider</a:t>
            </a:r>
            <a:endParaRPr lang="en-US" sz="1400" dirty="0"/>
          </a:p>
        </p:txBody>
      </p:sp>
      <p:sp>
        <p:nvSpPr>
          <p:cNvPr id="14" name="Arrow"/>
          <p:cNvSpPr/>
          <p:nvPr/>
        </p:nvSpPr>
        <p:spPr>
          <a:xfrm>
            <a:off x="9345168" y="2350008"/>
            <a:ext cx="329184" cy="0"/>
          </a:xfrm>
          <a:prstGeom prst="line">
            <a:avLst/>
          </a:prstGeom>
          <a:noFill/>
          <a:ln w="22225">
            <a:solidFill>
              <a:schemeClr val="accent6"/>
            </a:solidFill>
            <a:prstDash val="solid"/>
            <a:tailEnd type="triangle"/>
          </a:ln>
        </p:spPr>
      </p:sp>
      <p:sp>
        <p:nvSpPr>
          <p:cNvPr id="15" name="Box"/>
          <p:cNvSpPr txBox="1"/>
          <p:nvPr/>
        </p:nvSpPr>
        <p:spPr>
          <a:xfrm>
            <a:off x="9692640" y="1920240"/>
            <a:ext cx="1920240" cy="868680"/>
          </a:xfrm>
          <a:prstGeom prst="roundRect">
            <a:avLst>
              <a:gd name="adj" fmla="val 10526"/>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Response: text, ảnh, code</a:t>
            </a:r>
            <a:endParaRPr lang="en-US" sz="1400" dirty="0"/>
          </a:p>
        </p:txBody>
      </p:sp>
      <p:sp>
        <p:nvSpPr>
          <p:cNvPr id="16" name="Text 13"/>
          <p:cNvSpPr txBox="1"/>
          <p:nvPr/>
        </p:nvSpPr>
        <p:spPr>
          <a:xfrm>
            <a:off x="548640" y="3127248"/>
            <a:ext cx="11091672" cy="320040"/>
          </a:xfrm>
          <a:prstGeom prst="rect">
            <a:avLst/>
          </a:prstGeom>
          <a:noFill/>
          <a:ln/>
        </p:spPr>
        <p:txBody>
          <a:bodyPr wrap="square" lIns="0" tIns="0" rIns="0" bIns="0" rtlCol="0" anchor="t"/>
          <a:lstStyle/>
          <a:p>
            <a:pPr indent="0" marL="0">
              <a:buNone/>
            </a:pPr>
            <a:r>
              <a:rPr lang="en-US" sz="1500" b="1" dirty="0">
                <a:solidFill>
                  <a:schemeClr val="tx2"/>
                </a:solidFill>
              </a:rPr>
              <a:t>ChatClient dựng prompt từ PromptTemplate → chạy advisors → gọi model → trả câu trả lời</a:t>
            </a:r>
            <a:endParaRPr lang="en-US" sz="1500" dirty="0"/>
          </a:p>
        </p:txBody>
      </p:sp>
      <p:sp>
        <p:nvSpPr>
          <p:cNvPr id="17" name="Code panel AiService.java"/>
          <p:cNvSpPr/>
          <p:nvPr/>
        </p:nvSpPr>
        <p:spPr>
          <a:xfrm>
            <a:off x="548640" y="3566160"/>
            <a:ext cx="6858000" cy="2697480"/>
          </a:xfrm>
          <a:prstGeom prst="roundRect">
            <a:avLst>
              <a:gd name="adj" fmla="val 2712"/>
            </a:avLst>
          </a:prstGeom>
          <a:solidFill>
            <a:schemeClr val="tx2"/>
          </a:solidFill>
          <a:ln w="12700">
            <a:solidFill>
              <a:schemeClr val="tx2"/>
            </a:solidFill>
            <a:prstDash val="solid"/>
          </a:ln>
        </p:spPr>
      </p:sp>
      <p:sp>
        <p:nvSpPr>
          <p:cNvPr id="18" name="Text 15"/>
          <p:cNvSpPr txBox="1"/>
          <p:nvPr/>
        </p:nvSpPr>
        <p:spPr>
          <a:xfrm>
            <a:off x="731520" y="3657600"/>
            <a:ext cx="6492240" cy="237744"/>
          </a:xfrm>
          <a:prstGeom prst="rect">
            <a:avLst/>
          </a:prstGeom>
          <a:noFill/>
          <a:ln/>
        </p:spPr>
        <p:txBody>
          <a:bodyPr wrap="square" lIns="0" tIns="0" rIns="0" bIns="0" rtlCol="0" anchor="ctr"/>
          <a:lstStyle/>
          <a:p>
            <a:pPr indent="0" marL="0">
              <a:buNone/>
            </a:pPr>
            <a:r>
              <a:rPr lang="en-US" sz="1100" b="1" dirty="0">
                <a:solidFill>
                  <a:schemeClr val="accent5"/>
                </a:solidFill>
              </a:rPr>
              <a:t>AiService.java</a:t>
            </a:r>
            <a:endParaRPr lang="en-US" sz="1100" dirty="0"/>
          </a:p>
        </p:txBody>
      </p:sp>
      <p:sp>
        <p:nvSpPr>
          <p:cNvPr id="19" name="Code AiService.java"/>
          <p:cNvSpPr txBox="1"/>
          <p:nvPr/>
        </p:nvSpPr>
        <p:spPr>
          <a:xfrm>
            <a:off x="731520" y="3950208"/>
            <a:ext cx="6492240" cy="224028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@Service</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AiService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private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final</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AiService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this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ask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prompt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system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"Bạn là trợ lý du lịch."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call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content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0" name="Text 17"/>
          <p:cNvSpPr txBox="1"/>
          <p:nvPr/>
        </p:nvSpPr>
        <p:spPr>
          <a:xfrm>
            <a:off x="7635240" y="3703320"/>
            <a:ext cx="4023360" cy="246888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ChatClient.Builder </a:t>
            </a:r>
            <a:r>
              <a:rPr lang="en-US" sz="1400" dirty="0">
                <a:solidFill>
                  <a:schemeClr val="tx1"/>
                </a:solidFill>
              </a:rPr>
              <a:t>được starter auto-configure</a:t>
            </a:r>
            <a:endParaRPr lang="en-US" sz="1400" dirty="0"/>
          </a:p>
          <a:p>
            <a:pPr marL="177800" indent="-177800">
              <a:spcAft>
                <a:spcPts val="900"/>
              </a:spcAft>
              <a:buSzPct val="100000"/>
              <a:buChar char="•"/>
            </a:pPr>
            <a:r>
              <a:rPr lang="en-US" sz="1400" b="1" dirty="0">
                <a:solidFill>
                  <a:schemeClr val="tx1"/>
                </a:solidFill>
              </a:rPr>
              <a:t>call()</a:t>
            </a:r>
            <a:r>
              <a:rPr lang="en-US" sz="1400" dirty="0">
                <a:solidFill>
                  <a:schemeClr val="tx1"/>
                </a:solidFill>
              </a:rPr>
              <a:t> trả kết quả một lần</a:t>
            </a:r>
            <a:endParaRPr lang="en-US" sz="1400" dirty="0"/>
          </a:p>
          <a:p>
            <a:pPr marL="177800" indent="-177800">
              <a:spcAft>
                <a:spcPts val="900"/>
              </a:spcAft>
              <a:buSzPct val="100000"/>
              <a:buChar char="•"/>
            </a:pPr>
            <a:r>
              <a:rPr lang="en-US" sz="1400" b="1" dirty="0">
                <a:solidFill>
                  <a:schemeClr val="tx1"/>
                </a:solidFill>
              </a:rPr>
              <a:t>stream()</a:t>
            </a:r>
            <a:r>
              <a:rPr lang="en-US" sz="1400" dirty="0">
                <a:solidFill>
                  <a:schemeClr val="tx1"/>
                </a:solidFill>
              </a:rPr>
              <a:t> trả Flux&lt;String&gt; theo từng token</a:t>
            </a:r>
            <a:endParaRPr lang="en-US" sz="1400" dirty="0"/>
          </a:p>
          <a:p>
            <a:pPr marL="177800" indent="-177800">
              <a:spcAft>
                <a:spcPts val="900"/>
              </a:spcAft>
              <a:buSzPct val="100000"/>
              <a:buChar char="•"/>
            </a:pPr>
            <a:r>
              <a:rPr lang="en-US" sz="1400" b="1" dirty="0">
                <a:solidFill>
                  <a:schemeClr val="tx1"/>
                </a:solidFill>
              </a:rPr>
              <a:t>Đổi provider </a:t>
            </a:r>
            <a:r>
              <a:rPr lang="en-US" sz="1400" dirty="0">
                <a:solidFill>
                  <a:schemeClr val="tx1"/>
                </a:solidFill>
              </a:rPr>
              <a:t>= đổi starter + cấu hình, code Java giữ nguyên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PromptTemplate và Structured Output</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ode panel PromptTemplate"/>
          <p:cNvSpPr/>
          <p:nvPr/>
        </p:nvSpPr>
        <p:spPr>
          <a:xfrm>
            <a:off x="548640" y="1463040"/>
            <a:ext cx="5440680" cy="2971800"/>
          </a:xfrm>
          <a:prstGeom prst="roundRect">
            <a:avLst>
              <a:gd name="adj" fmla="val 2462"/>
            </a:avLst>
          </a:prstGeom>
          <a:solidFill>
            <a:schemeClr val="tx2"/>
          </a:solidFill>
          <a:ln w="12700">
            <a:solidFill>
              <a:schemeClr val="tx2"/>
            </a:solidFill>
            <a:prstDash val="solid"/>
          </a:ln>
        </p:spPr>
      </p:sp>
      <p:sp>
        <p:nvSpPr>
          <p:cNvPr id="6" name="Text 3"/>
          <p:cNvSpPr txBox="1"/>
          <p:nvPr/>
        </p:nvSpPr>
        <p:spPr>
          <a:xfrm>
            <a:off x="731520" y="1554480"/>
            <a:ext cx="5074920" cy="237744"/>
          </a:xfrm>
          <a:prstGeom prst="rect">
            <a:avLst/>
          </a:prstGeom>
          <a:noFill/>
          <a:ln/>
        </p:spPr>
        <p:txBody>
          <a:bodyPr wrap="square" lIns="0" tIns="0" rIns="0" bIns="0" rtlCol="0" anchor="ctr"/>
          <a:lstStyle/>
          <a:p>
            <a:pPr indent="0" marL="0">
              <a:buNone/>
            </a:pPr>
            <a:r>
              <a:rPr lang="en-US" sz="1100" b="1" dirty="0">
                <a:solidFill>
                  <a:schemeClr val="accent5"/>
                </a:solidFill>
              </a:rPr>
              <a:t>PromptTemplate</a:t>
            </a:r>
            <a:endParaRPr lang="en-US" sz="1100" dirty="0"/>
          </a:p>
        </p:txBody>
      </p:sp>
      <p:sp>
        <p:nvSpPr>
          <p:cNvPr id="7" name="Code PromptTemplate"/>
          <p:cNvSpPr txBox="1"/>
          <p:nvPr/>
        </p:nvSpPr>
        <p:spPr>
          <a:xfrm>
            <a:off x="731520" y="1847088"/>
            <a:ext cx="5074920" cy="2514600"/>
          </a:xfrm>
          <a:prstGeom prst="rect">
            <a:avLst/>
          </a:prstGeom>
          <a:noFill/>
          <a:ln/>
        </p:spPr>
        <p:txBody>
          <a:bodyPr wrap="square" lIns="0" tIns="0" rIns="0" bIns="0" rtlCol="0" anchor="t"/>
          <a:lstStyle/>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tpl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F4B393"/>
                </a:solidFill>
                <a:latin typeface="Courier New" pitchFamily="34" charset="0"/>
                <a:ea typeface="Courier New" pitchFamily="34" charset="-122"/>
                <a:cs typeface="Courier New" pitchFamily="34" charset="-120"/>
              </a:rPr>
              <a:t>    Gợi ý {n} tour {type} cho {people} người.</a:t>
            </a:r>
            <a:endParaRPr lang="en-US" sz="1300" dirty="0"/>
          </a:p>
          <a:p>
            <a:pPr indent="0" marL="0">
              <a:lnSpc>
                <a:spcPts val="1600"/>
              </a:lnSpc>
              <a:buNone/>
            </a:pPr>
            <a:r>
              <a:rPr lang="en-US" sz="1300" dirty="0">
                <a:solidFill>
                  <a:srgbClr val="F4B393"/>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answer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chatClient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prompt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user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text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tpl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3</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"biển đảo"</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"people"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4</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call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content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8" name="Code panel Structured Output"/>
          <p:cNvSpPr/>
          <p:nvPr/>
        </p:nvSpPr>
        <p:spPr>
          <a:xfrm>
            <a:off x="6199632" y="1463040"/>
            <a:ext cx="5440680" cy="2971800"/>
          </a:xfrm>
          <a:prstGeom prst="roundRect">
            <a:avLst>
              <a:gd name="adj" fmla="val 2462"/>
            </a:avLst>
          </a:prstGeom>
          <a:solidFill>
            <a:schemeClr val="tx2"/>
          </a:solidFill>
          <a:ln w="12700">
            <a:solidFill>
              <a:schemeClr val="tx2"/>
            </a:solidFill>
            <a:prstDash val="solid"/>
          </a:ln>
        </p:spPr>
      </p:sp>
      <p:sp>
        <p:nvSpPr>
          <p:cNvPr id="9" name="Text 6"/>
          <p:cNvSpPr txBox="1"/>
          <p:nvPr/>
        </p:nvSpPr>
        <p:spPr>
          <a:xfrm>
            <a:off x="6382512" y="1554480"/>
            <a:ext cx="5074920" cy="237744"/>
          </a:xfrm>
          <a:prstGeom prst="rect">
            <a:avLst/>
          </a:prstGeom>
          <a:noFill/>
          <a:ln/>
        </p:spPr>
        <p:txBody>
          <a:bodyPr wrap="square" lIns="0" tIns="0" rIns="0" bIns="0" rtlCol="0" anchor="ctr"/>
          <a:lstStyle/>
          <a:p>
            <a:pPr indent="0" marL="0">
              <a:buNone/>
            </a:pPr>
            <a:r>
              <a:rPr lang="en-US" sz="1100" b="1" dirty="0">
                <a:solidFill>
                  <a:schemeClr val="accent5"/>
                </a:solidFill>
              </a:rPr>
              <a:t>Structured Output</a:t>
            </a:r>
            <a:endParaRPr lang="en-US" sz="1100" dirty="0"/>
          </a:p>
        </p:txBody>
      </p:sp>
      <p:sp>
        <p:nvSpPr>
          <p:cNvPr id="10" name="Code Structured Output"/>
          <p:cNvSpPr txBox="1"/>
          <p:nvPr/>
        </p:nvSpPr>
        <p:spPr>
          <a:xfrm>
            <a:off x="6382512" y="1847088"/>
            <a:ext cx="5074920" cy="251460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record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name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destination</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days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idea</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chatClient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prompt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user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"Gợi ý 1 tour biển đảo"</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call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entity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TourIdea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class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i="1" dirty="0">
                <a:solidFill>
                  <a:srgbClr val="86B3A8"/>
                </a:solidFill>
                <a:latin typeface="Courier New" pitchFamily="34" charset="0"/>
                <a:ea typeface="Courier New" pitchFamily="34" charset="-122"/>
                <a:cs typeface="Courier New" pitchFamily="34" charset="-120"/>
              </a:rPr>
              <a:t>// JSON -&gt; record</a:t>
            </a:r>
            <a:endParaRPr lang="en-US" sz="1300" dirty="0"/>
          </a:p>
        </p:txBody>
      </p:sp>
      <p:sp>
        <p:nvSpPr>
          <p:cNvPr id="11" name="Card"/>
          <p:cNvSpPr/>
          <p:nvPr/>
        </p:nvSpPr>
        <p:spPr>
          <a:xfrm>
            <a:off x="548640" y="4617720"/>
            <a:ext cx="3611880" cy="1645920"/>
          </a:xfrm>
          <a:prstGeom prst="roundRect">
            <a:avLst>
              <a:gd name="adj" fmla="val 5556"/>
            </a:avLst>
          </a:prstGeom>
          <a:solidFill>
            <a:schemeClr val="bg2"/>
          </a:solidFill>
          <a:ln w="12700">
            <a:solidFill>
              <a:schemeClr val="bg2"/>
            </a:solidFill>
            <a:prstDash val="solid"/>
          </a:ln>
        </p:spPr>
      </p:sp>
      <p:sp>
        <p:nvSpPr>
          <p:cNvPr id="12" name="Icon circle"/>
          <p:cNvSpPr/>
          <p:nvPr/>
        </p:nvSpPr>
        <p:spPr>
          <a:xfrm>
            <a:off x="731520" y="4800600"/>
            <a:ext cx="457200" cy="457200"/>
          </a:xfrm>
          <a:prstGeom prst="ellipse">
            <a:avLst/>
          </a:prstGeom>
          <a:solidFill>
            <a:schemeClr val="accent1"/>
          </a:solidFill>
          <a:ln w="12700">
            <a:solidFill>
              <a:schemeClr val="accent1"/>
            </a:solidFill>
            <a:prstDash val="solid"/>
          </a:ln>
        </p:spPr>
      </p:sp>
      <p:pic>
        <p:nvPicPr>
          <p:cNvPr id="13" name="Image 0" descr="Users icon">    </p:cNvPr>
          <p:cNvPicPr>
            <a:picLocks noChangeAspect="1"/>
          </p:cNvPicPr>
          <p:nvPr/>
        </p:nvPicPr>
        <p:blipFill>
          <a:blip r:embed="rId1"/>
          <a:stretch>
            <a:fillRect/>
          </a:stretch>
        </p:blipFill>
        <p:spPr>
          <a:xfrm>
            <a:off x="841248" y="4910328"/>
            <a:ext cx="237744" cy="237744"/>
          </a:xfrm>
          <a:prstGeom prst="rect">
            <a:avLst/>
          </a:prstGeom>
        </p:spPr>
      </p:pic>
      <p:sp>
        <p:nvSpPr>
          <p:cNvPr id="14" name="Text 10"/>
          <p:cNvSpPr txBox="1"/>
          <p:nvPr/>
        </p:nvSpPr>
        <p:spPr>
          <a:xfrm>
            <a:off x="132588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Vai trò trong prompt</a:t>
            </a:r>
            <a:endParaRPr lang="en-US" sz="1400" dirty="0"/>
          </a:p>
        </p:txBody>
      </p:sp>
      <p:sp>
        <p:nvSpPr>
          <p:cNvPr id="15" name="Text 11"/>
          <p:cNvSpPr txBox="1"/>
          <p:nvPr/>
        </p:nvSpPr>
        <p:spPr>
          <a:xfrm>
            <a:off x="73152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system / user / assistant (và tool)</a:t>
            </a:r>
            <a:endParaRPr lang="en-US" sz="1400" dirty="0"/>
          </a:p>
        </p:txBody>
      </p:sp>
      <p:sp>
        <p:nvSpPr>
          <p:cNvPr id="16" name="Card"/>
          <p:cNvSpPr/>
          <p:nvPr/>
        </p:nvSpPr>
        <p:spPr>
          <a:xfrm>
            <a:off x="4297680" y="4617720"/>
            <a:ext cx="3611880" cy="1645920"/>
          </a:xfrm>
          <a:prstGeom prst="roundRect">
            <a:avLst>
              <a:gd name="adj" fmla="val 5556"/>
            </a:avLst>
          </a:prstGeom>
          <a:solidFill>
            <a:schemeClr val="bg2"/>
          </a:solidFill>
          <a:ln w="12700">
            <a:solidFill>
              <a:schemeClr val="bg2"/>
            </a:solidFill>
            <a:prstDash val="solid"/>
          </a:ln>
        </p:spPr>
      </p:sp>
      <p:sp>
        <p:nvSpPr>
          <p:cNvPr id="17" name="Icon circle"/>
          <p:cNvSpPr/>
          <p:nvPr/>
        </p:nvSpPr>
        <p:spPr>
          <a:xfrm>
            <a:off x="4480560" y="4800600"/>
            <a:ext cx="457200" cy="457200"/>
          </a:xfrm>
          <a:prstGeom prst="ellipse">
            <a:avLst/>
          </a:prstGeom>
          <a:solidFill>
            <a:schemeClr val="accent1"/>
          </a:solidFill>
          <a:ln w="12700">
            <a:solidFill>
              <a:schemeClr val="accent1"/>
            </a:solidFill>
            <a:prstDash val="solid"/>
          </a:ln>
        </p:spPr>
      </p:sp>
      <p:pic>
        <p:nvPicPr>
          <p:cNvPr id="18" name="Image 1" descr="FileAlt icon">    </p:cNvPr>
          <p:cNvPicPr>
            <a:picLocks noChangeAspect="1"/>
          </p:cNvPicPr>
          <p:nvPr/>
        </p:nvPicPr>
        <p:blipFill>
          <a:blip r:embed="rId2"/>
          <a:stretch>
            <a:fillRect/>
          </a:stretch>
        </p:blipFill>
        <p:spPr>
          <a:xfrm>
            <a:off x="4590288" y="4910328"/>
            <a:ext cx="237744" cy="237744"/>
          </a:xfrm>
          <a:prstGeom prst="rect">
            <a:avLst/>
          </a:prstGeom>
        </p:spPr>
      </p:pic>
      <p:sp>
        <p:nvSpPr>
          <p:cNvPr id="19" name="Text 14"/>
          <p:cNvSpPr txBox="1"/>
          <p:nvPr/>
        </p:nvSpPr>
        <p:spPr>
          <a:xfrm>
            <a:off x="507492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Biến {...} trong template</a:t>
            </a:r>
            <a:endParaRPr lang="en-US" sz="1400" dirty="0"/>
          </a:p>
        </p:txBody>
      </p:sp>
      <p:sp>
        <p:nvSpPr>
          <p:cNvPr id="20" name="Text 15"/>
          <p:cNvSpPr txBox="1"/>
          <p:nvPr/>
        </p:nvSpPr>
        <p:spPr>
          <a:xfrm>
            <a:off x="448056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Một template, nhiều lần dùng; tách ngữ cảnh khỏi câu hỏi</a:t>
            </a:r>
            <a:endParaRPr lang="en-US" sz="1400" dirty="0"/>
          </a:p>
        </p:txBody>
      </p:sp>
      <p:sp>
        <p:nvSpPr>
          <p:cNvPr id="21" name="Card"/>
          <p:cNvSpPr/>
          <p:nvPr/>
        </p:nvSpPr>
        <p:spPr>
          <a:xfrm>
            <a:off x="8046720" y="4617720"/>
            <a:ext cx="3611880" cy="1645920"/>
          </a:xfrm>
          <a:prstGeom prst="roundRect">
            <a:avLst>
              <a:gd name="adj" fmla="val 5556"/>
            </a:avLst>
          </a:prstGeom>
          <a:solidFill>
            <a:schemeClr val="bg2"/>
          </a:solidFill>
          <a:ln w="12700">
            <a:solidFill>
              <a:schemeClr val="bg2"/>
            </a:solidFill>
            <a:prstDash val="solid"/>
          </a:ln>
        </p:spPr>
      </p:sp>
      <p:sp>
        <p:nvSpPr>
          <p:cNvPr id="22" name="Icon circle"/>
          <p:cNvSpPr/>
          <p:nvPr/>
        </p:nvSpPr>
        <p:spPr>
          <a:xfrm>
            <a:off x="8229600" y="4800600"/>
            <a:ext cx="457200" cy="457200"/>
          </a:xfrm>
          <a:prstGeom prst="ellipse">
            <a:avLst/>
          </a:prstGeom>
          <a:solidFill>
            <a:schemeClr val="accent1"/>
          </a:solidFill>
          <a:ln w="12700">
            <a:solidFill>
              <a:schemeClr val="accent1"/>
            </a:solidFill>
            <a:prstDash val="solid"/>
          </a:ln>
        </p:spPr>
      </p:sp>
      <p:pic>
        <p:nvPicPr>
          <p:cNvPr id="23" name="Image 2" descr="Code icon">    </p:cNvPr>
          <p:cNvPicPr>
            <a:picLocks noChangeAspect="1"/>
          </p:cNvPicPr>
          <p:nvPr/>
        </p:nvPicPr>
        <p:blipFill>
          <a:blip r:embed="rId3"/>
          <a:stretch>
            <a:fillRect/>
          </a:stretch>
        </p:blipFill>
        <p:spPr>
          <a:xfrm>
            <a:off x="8339328" y="4910328"/>
            <a:ext cx="237744" cy="237744"/>
          </a:xfrm>
          <a:prstGeom prst="rect">
            <a:avLst/>
          </a:prstGeom>
        </p:spPr>
      </p:pic>
      <p:sp>
        <p:nvSpPr>
          <p:cNvPr id="24" name="Text 18"/>
          <p:cNvSpPr txBox="1"/>
          <p:nvPr/>
        </p:nvSpPr>
        <p:spPr>
          <a:xfrm>
            <a:off x="8823960" y="4800600"/>
            <a:ext cx="2743200" cy="457200"/>
          </a:xfrm>
          <a:prstGeom prst="rect">
            <a:avLst/>
          </a:prstGeom>
          <a:noFill/>
          <a:ln/>
        </p:spPr>
        <p:txBody>
          <a:bodyPr wrap="square" lIns="0" tIns="0" rIns="0" bIns="0" rtlCol="0" anchor="ctr"/>
          <a:lstStyle/>
          <a:p>
            <a:pPr indent="0" marL="0">
              <a:buNone/>
            </a:pPr>
            <a:r>
              <a:rPr lang="en-US" sz="1400" b="1" dirty="0">
                <a:solidFill>
                  <a:schemeClr val="tx2"/>
                </a:solidFill>
              </a:rPr>
              <a:t>Output converter</a:t>
            </a:r>
            <a:endParaRPr lang="en-US" sz="1400" dirty="0"/>
          </a:p>
        </p:txBody>
      </p:sp>
      <p:sp>
        <p:nvSpPr>
          <p:cNvPr id="25" name="Text 19"/>
          <p:cNvSpPr txBox="1"/>
          <p:nvPr/>
        </p:nvSpPr>
        <p:spPr>
          <a:xfrm>
            <a:off x="8229600" y="5440680"/>
            <a:ext cx="3291840" cy="777240"/>
          </a:xfrm>
          <a:prstGeom prst="rect">
            <a:avLst/>
          </a:prstGeom>
          <a:noFill/>
          <a:ln/>
        </p:spPr>
        <p:txBody>
          <a:bodyPr wrap="square" lIns="0" tIns="0" rIns="0" bIns="0" rtlCol="0" anchor="t"/>
          <a:lstStyle/>
          <a:p>
            <a:pPr indent="0" marL="0">
              <a:buNone/>
            </a:pPr>
            <a:r>
              <a:rPr lang="en-US" sz="1400" dirty="0">
                <a:solidFill>
                  <a:schemeClr val="tx1"/>
                </a:solidFill>
              </a:rPr>
              <a:t>JSON → record/POJO; List&lt;T&gt; dùng ParameterizedTypeReference</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Tool Calling: model gọi hàm Java của bạn</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Box"/>
          <p:cNvSpPr txBox="1"/>
          <p:nvPr/>
        </p:nvSpPr>
        <p:spPr>
          <a:xfrm>
            <a:off x="731520" y="1554480"/>
            <a:ext cx="2286000" cy="1005840"/>
          </a:xfrm>
          <a:prstGeom prst="roundRect">
            <a:avLst>
              <a:gd name="adj" fmla="val 9091"/>
            </a:avLst>
          </a:prstGeom>
          <a:solidFill>
            <a:schemeClr val="accent1"/>
          </a:solidFill>
          <a:ln>
            <a:solidFill>
              <a:schemeClr val="accent1"/>
            </a:solidFill>
          </a:ln>
        </p:spPr>
        <p:txBody>
          <a:bodyPr wrap="square" lIns="76200" tIns="76200" rIns="76200" bIns="76200" rtlCol="0" anchor="ctr"/>
          <a:lstStyle/>
          <a:p>
            <a:pPr algn="ctr" indent="0" marL="0">
              <a:buNone/>
            </a:pPr>
            <a:r>
              <a:rPr lang="en-US" sz="1800" b="1" dirty="0">
                <a:solidFill>
                  <a:schemeClr val="bg1"/>
                </a:solidFill>
              </a:rPr>
              <a:t>LLM</a:t>
            </a:r>
            <a:endParaRPr lang="en-US" sz="1800" dirty="0"/>
          </a:p>
        </p:txBody>
      </p:sp>
      <p:sp>
        <p:nvSpPr>
          <p:cNvPr id="6" name="Box"/>
          <p:cNvSpPr txBox="1"/>
          <p:nvPr/>
        </p:nvSpPr>
        <p:spPr>
          <a:xfrm>
            <a:off x="4937760" y="1554480"/>
            <a:ext cx="2286000" cy="1005840"/>
          </a:xfrm>
          <a:prstGeom prst="roundRect">
            <a:avLst>
              <a:gd name="adj" fmla="val 9091"/>
            </a:avLst>
          </a:prstGeom>
          <a:solidFill>
            <a:schemeClr val="tx2"/>
          </a:solidFill>
          <a:ln>
            <a:solidFill>
              <a:schemeClr val="tx2"/>
            </a:solidFill>
          </a:ln>
        </p:spPr>
        <p:txBody>
          <a:bodyPr wrap="square" lIns="76200" tIns="76200" rIns="76200" bIns="76200" rtlCol="0" anchor="ctr"/>
          <a:lstStyle/>
          <a:p>
            <a:pPr algn="ctr" indent="0" marL="0">
              <a:buNone/>
            </a:pPr>
            <a:r>
              <a:rPr lang="en-US" sz="1800" b="1" dirty="0">
                <a:solidFill>
                  <a:schemeClr val="bg1"/>
                </a:solidFill>
              </a:rPr>
              <a:t>ChatClient</a:t>
            </a:r>
            <a:endParaRPr lang="en-US" sz="1800" dirty="0"/>
          </a:p>
        </p:txBody>
      </p:sp>
      <p:sp>
        <p:nvSpPr>
          <p:cNvPr id="7" name="Box"/>
          <p:cNvSpPr txBox="1"/>
          <p:nvPr/>
        </p:nvSpPr>
        <p:spPr>
          <a:xfrm>
            <a:off x="9144000" y="1554480"/>
            <a:ext cx="2286000" cy="1005840"/>
          </a:xfrm>
          <a:prstGeom prst="roundRect">
            <a:avLst>
              <a:gd name="adj" fmla="val 9091"/>
            </a:avLst>
          </a:prstGeom>
          <a:solidFill>
            <a:schemeClr val="accent2"/>
          </a:solidFill>
          <a:ln>
            <a:solidFill>
              <a:schemeClr val="accent2"/>
            </a:solidFill>
          </a:ln>
        </p:spPr>
        <p:txBody>
          <a:bodyPr wrap="square" lIns="76200" tIns="76200" rIns="76200" bIns="76200" rtlCol="0" anchor="ctr"/>
          <a:lstStyle/>
          <a:p>
            <a:pPr algn="ctr" indent="0" marL="0">
              <a:buNone/>
            </a:pPr>
            <a:r>
              <a:rPr lang="en-US" sz="1800" b="1" dirty="0">
                <a:solidFill>
                  <a:schemeClr val="tx2"/>
                </a:solidFill>
              </a:rPr>
              <a:t>@Tool methods</a:t>
            </a:r>
            <a:endParaRPr lang="en-US" sz="1800" dirty="0"/>
          </a:p>
        </p:txBody>
      </p:sp>
      <p:sp>
        <p:nvSpPr>
          <p:cNvPr id="8" name="Arrow"/>
          <p:cNvSpPr/>
          <p:nvPr/>
        </p:nvSpPr>
        <p:spPr>
          <a:xfrm>
            <a:off x="3063240" y="1874520"/>
            <a:ext cx="1828800" cy="0"/>
          </a:xfrm>
          <a:prstGeom prst="line">
            <a:avLst/>
          </a:prstGeom>
          <a:noFill/>
          <a:ln w="22225">
            <a:solidFill>
              <a:schemeClr val="accent6"/>
            </a:solidFill>
            <a:prstDash val="solid"/>
            <a:tailEnd type="triangle"/>
          </a:ln>
        </p:spPr>
      </p:sp>
      <p:sp>
        <p:nvSpPr>
          <p:cNvPr id="9" name="Arrow"/>
          <p:cNvSpPr/>
          <p:nvPr/>
        </p:nvSpPr>
        <p:spPr>
          <a:xfrm flipH="1">
            <a:off x="3063240" y="2286000"/>
            <a:ext cx="1828800" cy="0"/>
          </a:xfrm>
          <a:prstGeom prst="line">
            <a:avLst/>
          </a:prstGeom>
          <a:noFill/>
          <a:ln w="22225">
            <a:solidFill>
              <a:schemeClr val="accent6"/>
            </a:solidFill>
            <a:prstDash val="solid"/>
            <a:tailEnd type="triangle"/>
          </a:ln>
        </p:spPr>
      </p:sp>
      <p:sp>
        <p:nvSpPr>
          <p:cNvPr id="10" name="Arrow"/>
          <p:cNvSpPr/>
          <p:nvPr/>
        </p:nvSpPr>
        <p:spPr>
          <a:xfrm>
            <a:off x="7269480" y="1874520"/>
            <a:ext cx="1828800" cy="0"/>
          </a:xfrm>
          <a:prstGeom prst="line">
            <a:avLst/>
          </a:prstGeom>
          <a:noFill/>
          <a:ln w="22225">
            <a:solidFill>
              <a:schemeClr val="accent6"/>
            </a:solidFill>
            <a:prstDash val="solid"/>
            <a:tailEnd type="triangle"/>
          </a:ln>
        </p:spPr>
      </p:sp>
      <p:sp>
        <p:nvSpPr>
          <p:cNvPr id="11" name="Arrow"/>
          <p:cNvSpPr/>
          <p:nvPr/>
        </p:nvSpPr>
        <p:spPr>
          <a:xfrm flipH="1">
            <a:off x="7269480" y="2286000"/>
            <a:ext cx="1828800" cy="0"/>
          </a:xfrm>
          <a:prstGeom prst="line">
            <a:avLst/>
          </a:prstGeom>
          <a:noFill/>
          <a:ln w="22225">
            <a:solidFill>
              <a:schemeClr val="accent6"/>
            </a:solidFill>
            <a:prstDash val="solid"/>
            <a:tailEnd type="triangle"/>
          </a:ln>
        </p:spPr>
      </p:sp>
      <p:sp>
        <p:nvSpPr>
          <p:cNvPr id="12" name="Step number"/>
          <p:cNvSpPr txBox="1"/>
          <p:nvPr/>
        </p:nvSpPr>
        <p:spPr>
          <a:xfrm>
            <a:off x="3813048" y="1545336"/>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13" name="Step number"/>
          <p:cNvSpPr txBox="1"/>
          <p:nvPr/>
        </p:nvSpPr>
        <p:spPr>
          <a:xfrm>
            <a:off x="3813048" y="2286000"/>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4" name="Step number"/>
          <p:cNvSpPr txBox="1"/>
          <p:nvPr/>
        </p:nvSpPr>
        <p:spPr>
          <a:xfrm>
            <a:off x="8019288" y="1545336"/>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15" name="Step number"/>
          <p:cNvSpPr txBox="1"/>
          <p:nvPr/>
        </p:nvSpPr>
        <p:spPr>
          <a:xfrm>
            <a:off x="8019288" y="2286000"/>
            <a:ext cx="310896" cy="310896"/>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16" name="Step number"/>
          <p:cNvSpPr txBox="1"/>
          <p:nvPr/>
        </p:nvSpPr>
        <p:spPr>
          <a:xfrm>
            <a:off x="54864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1</a:t>
            </a:r>
            <a:endParaRPr lang="en-US" sz="1200" dirty="0"/>
          </a:p>
        </p:txBody>
      </p:sp>
      <p:sp>
        <p:nvSpPr>
          <p:cNvPr id="17" name="Text 14"/>
          <p:cNvSpPr txBox="1"/>
          <p:nvPr/>
        </p:nvSpPr>
        <p:spPr>
          <a:xfrm>
            <a:off x="96926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Prompt + định nghĩa tool gửi tới model</a:t>
            </a:r>
            <a:endParaRPr lang="en-US" sz="1300" dirty="0"/>
          </a:p>
        </p:txBody>
      </p:sp>
      <p:sp>
        <p:nvSpPr>
          <p:cNvPr id="18" name="Step number"/>
          <p:cNvSpPr txBox="1"/>
          <p:nvPr/>
        </p:nvSpPr>
        <p:spPr>
          <a:xfrm>
            <a:off x="333756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2</a:t>
            </a:r>
            <a:endParaRPr lang="en-US" sz="1200" dirty="0"/>
          </a:p>
        </p:txBody>
      </p:sp>
      <p:sp>
        <p:nvSpPr>
          <p:cNvPr id="19" name="Text 16"/>
          <p:cNvSpPr txBox="1"/>
          <p:nvPr/>
        </p:nvSpPr>
        <p:spPr>
          <a:xfrm>
            <a:off x="375818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Model yêu cầu gọi tool kèm tham số</a:t>
            </a:r>
            <a:endParaRPr lang="en-US" sz="1300" dirty="0"/>
          </a:p>
        </p:txBody>
      </p:sp>
      <p:sp>
        <p:nvSpPr>
          <p:cNvPr id="20" name="Step number"/>
          <p:cNvSpPr txBox="1"/>
          <p:nvPr/>
        </p:nvSpPr>
        <p:spPr>
          <a:xfrm>
            <a:off x="612648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3</a:t>
            </a:r>
            <a:endParaRPr lang="en-US" sz="1200" dirty="0"/>
          </a:p>
        </p:txBody>
      </p:sp>
      <p:sp>
        <p:nvSpPr>
          <p:cNvPr id="21" name="Text 18"/>
          <p:cNvSpPr txBox="1"/>
          <p:nvPr/>
        </p:nvSpPr>
        <p:spPr>
          <a:xfrm>
            <a:off x="654710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Ứng dụng chạy phương thức @Tool</a:t>
            </a:r>
            <a:endParaRPr lang="en-US" sz="1300" dirty="0"/>
          </a:p>
        </p:txBody>
      </p:sp>
      <p:sp>
        <p:nvSpPr>
          <p:cNvPr id="22" name="Step number"/>
          <p:cNvSpPr txBox="1"/>
          <p:nvPr/>
        </p:nvSpPr>
        <p:spPr>
          <a:xfrm>
            <a:off x="8915400" y="2926080"/>
            <a:ext cx="329184" cy="329184"/>
          </a:xfrm>
          <a:prstGeom prst="ellipse">
            <a:avLst/>
          </a:prstGeom>
          <a:solidFill>
            <a:schemeClr val="accent2"/>
          </a:solidFill>
          <a:ln/>
        </p:spPr>
        <p:txBody>
          <a:bodyPr wrap="square" lIns="0" tIns="0" rIns="0" bIns="0" rtlCol="0" anchor="ctr"/>
          <a:lstStyle/>
          <a:p>
            <a:pPr algn="ctr" indent="0" marL="0">
              <a:buNone/>
            </a:pPr>
            <a:r>
              <a:rPr lang="en-US" sz="1200" b="1" dirty="0">
                <a:solidFill>
                  <a:schemeClr val="tx2"/>
                </a:solidFill>
              </a:rPr>
              <a:t>4</a:t>
            </a:r>
            <a:endParaRPr lang="en-US" sz="1200" dirty="0"/>
          </a:p>
        </p:txBody>
      </p:sp>
      <p:sp>
        <p:nvSpPr>
          <p:cNvPr id="23" name="Text 20"/>
          <p:cNvSpPr txBox="1"/>
          <p:nvPr/>
        </p:nvSpPr>
        <p:spPr>
          <a:xfrm>
            <a:off x="9336024" y="2852928"/>
            <a:ext cx="2286000" cy="594360"/>
          </a:xfrm>
          <a:prstGeom prst="rect">
            <a:avLst/>
          </a:prstGeom>
          <a:noFill/>
          <a:ln/>
        </p:spPr>
        <p:txBody>
          <a:bodyPr wrap="square" lIns="0" tIns="0" rIns="0" bIns="0" rtlCol="0" anchor="ctr"/>
          <a:lstStyle/>
          <a:p>
            <a:pPr indent="0" marL="0">
              <a:buNone/>
            </a:pPr>
            <a:r>
              <a:rPr lang="en-US" sz="1300" dirty="0">
                <a:solidFill>
                  <a:schemeClr val="tx1"/>
                </a:solidFill>
              </a:rPr>
              <a:t>Kết quả về model; lặp đến câu trả lời cuối</a:t>
            </a:r>
            <a:endParaRPr lang="en-US" sz="1300" dirty="0"/>
          </a:p>
        </p:txBody>
      </p:sp>
      <p:sp>
        <p:nvSpPr>
          <p:cNvPr id="24" name="Code panel ProductTools.java"/>
          <p:cNvSpPr/>
          <p:nvPr/>
        </p:nvSpPr>
        <p:spPr>
          <a:xfrm>
            <a:off x="548640" y="3749040"/>
            <a:ext cx="6949440" cy="2514600"/>
          </a:xfrm>
          <a:prstGeom prst="roundRect">
            <a:avLst>
              <a:gd name="adj" fmla="val 2909"/>
            </a:avLst>
          </a:prstGeom>
          <a:solidFill>
            <a:schemeClr val="tx2"/>
          </a:solidFill>
          <a:ln w="12700">
            <a:solidFill>
              <a:schemeClr val="tx2"/>
            </a:solidFill>
            <a:prstDash val="solid"/>
          </a:ln>
        </p:spPr>
      </p:sp>
      <p:sp>
        <p:nvSpPr>
          <p:cNvPr id="25" name="Text 22"/>
          <p:cNvSpPr txBox="1"/>
          <p:nvPr/>
        </p:nvSpPr>
        <p:spPr>
          <a:xfrm>
            <a:off x="731520" y="3840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ProductTools.java</a:t>
            </a:r>
            <a:endParaRPr lang="en-US" sz="1100" dirty="0"/>
          </a:p>
        </p:txBody>
      </p:sp>
      <p:sp>
        <p:nvSpPr>
          <p:cNvPr id="26" name="Code ProductTools.java"/>
          <p:cNvSpPr txBox="1"/>
          <p:nvPr/>
        </p:nvSpPr>
        <p:spPr>
          <a:xfrm>
            <a:off x="731520" y="4133088"/>
            <a:ext cx="6583680" cy="2057400"/>
          </a:xfrm>
          <a:prstGeom prst="rect">
            <a:avLst/>
          </a:prstGeom>
          <a:noFill/>
          <a:ln/>
        </p:spPr>
        <p:txBody>
          <a:bodyPr wrap="square" lIns="0" tIns="0" rIns="0" bIns="0" rtlCol="0" anchor="t"/>
          <a:lstStyle/>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@Component</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class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ProductTools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description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"Tra cứu giá sản phẩm theo mã"</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BigDecimal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getPrice</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@ToolParam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description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"Mã sản phẩm"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productRepository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findPriceBySku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sku</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i="1" dirty="0">
                <a:solidFill>
                  <a:srgbClr val="86B3A8"/>
                </a:solidFill>
                <a:latin typeface="Courier New" pitchFamily="34" charset="0"/>
                <a:ea typeface="Courier New" pitchFamily="34" charset="-122"/>
                <a:cs typeface="Courier New" pitchFamily="34" charset="-120"/>
              </a:rPr>
              <a:t>// chatClient.prompt().user(...).tools(new ProductTools())</a:t>
            </a:r>
            <a:endParaRPr lang="en-US" sz="1300" dirty="0"/>
          </a:p>
        </p:txBody>
      </p:sp>
      <p:sp>
        <p:nvSpPr>
          <p:cNvPr id="27" name="Card"/>
          <p:cNvSpPr/>
          <p:nvPr/>
        </p:nvSpPr>
        <p:spPr>
          <a:xfrm>
            <a:off x="7772400" y="3749040"/>
            <a:ext cx="3867912" cy="2514600"/>
          </a:xfrm>
          <a:prstGeom prst="roundRect">
            <a:avLst>
              <a:gd name="adj" fmla="val 3636"/>
            </a:avLst>
          </a:prstGeom>
          <a:solidFill>
            <a:schemeClr val="accent2"/>
          </a:solidFill>
          <a:ln w="12700">
            <a:solidFill>
              <a:schemeClr val="accent2"/>
            </a:solidFill>
            <a:prstDash val="solid"/>
          </a:ln>
        </p:spPr>
      </p:sp>
      <p:sp>
        <p:nvSpPr>
          <p:cNvPr id="28" name="Icon circle"/>
          <p:cNvSpPr/>
          <p:nvPr/>
        </p:nvSpPr>
        <p:spPr>
          <a:xfrm>
            <a:off x="8001000" y="3931920"/>
            <a:ext cx="502920" cy="502920"/>
          </a:xfrm>
          <a:prstGeom prst="ellipse">
            <a:avLst/>
          </a:prstGeom>
          <a:solidFill>
            <a:schemeClr val="tx2"/>
          </a:solidFill>
          <a:ln w="12700">
            <a:solidFill>
              <a:schemeClr val="tx2"/>
            </a:solidFill>
            <a:prstDash val="solid"/>
          </a:ln>
        </p:spPr>
      </p:sp>
      <p:pic>
        <p:nvPicPr>
          <p:cNvPr id="29" name="Image 0" descr="Lock icon">    </p:cNvPr>
          <p:cNvPicPr>
            <a:picLocks noChangeAspect="1"/>
          </p:cNvPicPr>
          <p:nvPr/>
        </p:nvPicPr>
        <p:blipFill>
          <a:blip r:embed="rId1"/>
          <a:stretch>
            <a:fillRect/>
          </a:stretch>
        </p:blipFill>
        <p:spPr>
          <a:xfrm>
            <a:off x="8121701" y="4052621"/>
            <a:ext cx="261518" cy="261518"/>
          </a:xfrm>
          <a:prstGeom prst="rect">
            <a:avLst/>
          </a:prstGeom>
        </p:spPr>
      </p:pic>
      <p:sp>
        <p:nvSpPr>
          <p:cNvPr id="30" name="Text 26"/>
          <p:cNvSpPr txBox="1"/>
          <p:nvPr/>
        </p:nvSpPr>
        <p:spPr>
          <a:xfrm>
            <a:off x="8001000" y="4572000"/>
            <a:ext cx="3429000" cy="914400"/>
          </a:xfrm>
          <a:prstGeom prst="rect">
            <a:avLst/>
          </a:prstGeom>
          <a:noFill/>
          <a:ln/>
        </p:spPr>
        <p:txBody>
          <a:bodyPr wrap="square" lIns="0" tIns="0" rIns="0" bIns="0" rtlCol="0" anchor="t"/>
          <a:lstStyle/>
          <a:p>
            <a:pPr indent="0" marL="0">
              <a:buNone/>
            </a:pPr>
            <a:r>
              <a:rPr lang="en-US" sz="1600" b="1" dirty="0">
                <a:solidFill>
                  <a:schemeClr val="tx2"/>
                </a:solidFill>
              </a:rPr>
              <a:t>Model không bao giờ chạm DB hay API. Ứng dụng của bạn thực thi mọi tool.</a:t>
            </a:r>
            <a:endParaRPr lang="en-US" sz="1600" dirty="0"/>
          </a:p>
        </p:txBody>
      </p:sp>
      <p:sp>
        <p:nvSpPr>
          <p:cNvPr id="31" name="Text 27"/>
          <p:cNvSpPr txBox="1"/>
          <p:nvPr/>
        </p:nvSpPr>
        <p:spPr>
          <a:xfrm>
            <a:off x="8001000" y="5532120"/>
            <a:ext cx="3429000" cy="640080"/>
          </a:xfrm>
          <a:prstGeom prst="rect">
            <a:avLst/>
          </a:prstGeom>
          <a:noFill/>
          <a:ln/>
        </p:spPr>
        <p:txBody>
          <a:bodyPr wrap="square" lIns="0" tIns="0" rIns="0" bIns="0" rtlCol="0" anchor="t"/>
          <a:lstStyle/>
          <a:p>
            <a:pPr indent="0" marL="0">
              <a:buNone/>
            </a:pPr>
            <a:r>
              <a:rPr lang="en-US" sz="1300" dirty="0">
                <a:solidFill>
                  <a:schemeClr val="tx2"/>
                </a:solidFill>
              </a:rPr>
              <a:t>@Tool và @ToolParam mô tả cho model biết khi nào và gọi thế nào.</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RAG, ETL và Advisors</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Text 2"/>
          <p:cNvSpPr txBox="1"/>
          <p:nvPr/>
        </p:nvSpPr>
        <p:spPr>
          <a:xfrm>
            <a:off x="548640" y="1417320"/>
            <a:ext cx="3657600" cy="274320"/>
          </a:xfrm>
          <a:prstGeom prst="rect">
            <a:avLst/>
          </a:prstGeom>
          <a:noFill/>
          <a:ln/>
        </p:spPr>
        <p:txBody>
          <a:bodyPr wrap="square" lIns="0" tIns="0" rIns="0" bIns="0" rtlCol="0" anchor="t"/>
          <a:lstStyle/>
          <a:p>
            <a:pPr indent="0" marL="0">
              <a:buNone/>
            </a:pPr>
            <a:r>
              <a:rPr lang="en-US" sz="1500" b="1" dirty="0">
                <a:solidFill>
                  <a:schemeClr val="tx2"/>
                </a:solidFill>
              </a:rPr>
              <a:t>Lúc truy vấn</a:t>
            </a:r>
            <a:endParaRPr lang="en-US" sz="1500" dirty="0"/>
          </a:p>
        </p:txBody>
      </p:sp>
      <p:sp>
        <p:nvSpPr>
          <p:cNvPr id="6" name="Box"/>
          <p:cNvSpPr txBox="1"/>
          <p:nvPr/>
        </p:nvSpPr>
        <p:spPr>
          <a:xfrm>
            <a:off x="548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Câu hỏi người dùng</a:t>
            </a:r>
            <a:endParaRPr lang="en-US" sz="1400" dirty="0"/>
          </a:p>
        </p:txBody>
      </p:sp>
      <p:sp>
        <p:nvSpPr>
          <p:cNvPr id="7" name="Arrow"/>
          <p:cNvSpPr/>
          <p:nvPr/>
        </p:nvSpPr>
        <p:spPr>
          <a:xfrm>
            <a:off x="2487168" y="2148840"/>
            <a:ext cx="329184" cy="0"/>
          </a:xfrm>
          <a:prstGeom prst="line">
            <a:avLst/>
          </a:prstGeom>
          <a:noFill/>
          <a:ln w="22225">
            <a:solidFill>
              <a:schemeClr val="accent6"/>
            </a:solidFill>
            <a:prstDash val="solid"/>
            <a:tailEnd type="triangle"/>
          </a:ln>
        </p:spPr>
      </p:sp>
      <p:sp>
        <p:nvSpPr>
          <p:cNvPr id="8" name="Box"/>
          <p:cNvSpPr txBox="1"/>
          <p:nvPr/>
        </p:nvSpPr>
        <p:spPr>
          <a:xfrm>
            <a:off x="2834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Embed câu hỏi</a:t>
            </a:r>
            <a:endParaRPr lang="en-US" sz="1400" dirty="0"/>
          </a:p>
        </p:txBody>
      </p:sp>
      <p:sp>
        <p:nvSpPr>
          <p:cNvPr id="9" name="Arrow"/>
          <p:cNvSpPr/>
          <p:nvPr/>
        </p:nvSpPr>
        <p:spPr>
          <a:xfrm>
            <a:off x="4773168" y="2148840"/>
            <a:ext cx="329184" cy="0"/>
          </a:xfrm>
          <a:prstGeom prst="line">
            <a:avLst/>
          </a:prstGeom>
          <a:noFill/>
          <a:ln w="22225">
            <a:solidFill>
              <a:schemeClr val="accent6"/>
            </a:solidFill>
            <a:prstDash val="solid"/>
            <a:tailEnd type="triangle"/>
          </a:ln>
        </p:spPr>
      </p:sp>
      <p:sp>
        <p:nvSpPr>
          <p:cNvPr id="10" name="Box"/>
          <p:cNvSpPr txBox="1"/>
          <p:nvPr/>
        </p:nvSpPr>
        <p:spPr>
          <a:xfrm>
            <a:off x="5120640" y="178308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Tìm trong VectorStore</a:t>
            </a:r>
            <a:endParaRPr lang="en-US" sz="1400" dirty="0"/>
          </a:p>
        </p:txBody>
      </p:sp>
      <p:sp>
        <p:nvSpPr>
          <p:cNvPr id="11" name="Arrow"/>
          <p:cNvSpPr/>
          <p:nvPr/>
        </p:nvSpPr>
        <p:spPr>
          <a:xfrm>
            <a:off x="7059168" y="2148840"/>
            <a:ext cx="329184" cy="0"/>
          </a:xfrm>
          <a:prstGeom prst="line">
            <a:avLst/>
          </a:prstGeom>
          <a:noFill/>
          <a:ln w="22225">
            <a:solidFill>
              <a:schemeClr val="accent6"/>
            </a:solidFill>
            <a:prstDash val="solid"/>
            <a:tailEnd type="triangle"/>
          </a:ln>
        </p:spPr>
      </p:sp>
      <p:sp>
        <p:nvSpPr>
          <p:cNvPr id="12" name="Box"/>
          <p:cNvSpPr txBox="1"/>
          <p:nvPr/>
        </p:nvSpPr>
        <p:spPr>
          <a:xfrm>
            <a:off x="7406640" y="17830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Ghép vào prompt (augment)</a:t>
            </a:r>
            <a:endParaRPr lang="en-US" sz="1400" dirty="0"/>
          </a:p>
        </p:txBody>
      </p:sp>
      <p:sp>
        <p:nvSpPr>
          <p:cNvPr id="13" name="Arrow"/>
          <p:cNvSpPr/>
          <p:nvPr/>
        </p:nvSpPr>
        <p:spPr>
          <a:xfrm>
            <a:off x="9345168" y="2148840"/>
            <a:ext cx="329184" cy="0"/>
          </a:xfrm>
          <a:prstGeom prst="line">
            <a:avLst/>
          </a:prstGeom>
          <a:noFill/>
          <a:ln w="22225">
            <a:solidFill>
              <a:schemeClr val="accent6"/>
            </a:solidFill>
            <a:prstDash val="solid"/>
            <a:tailEnd type="triangle"/>
          </a:ln>
        </p:spPr>
      </p:sp>
      <p:sp>
        <p:nvSpPr>
          <p:cNvPr id="14" name="Box"/>
          <p:cNvSpPr txBox="1"/>
          <p:nvPr/>
        </p:nvSpPr>
        <p:spPr>
          <a:xfrm>
            <a:off x="9692640" y="1783080"/>
            <a:ext cx="1920240" cy="731520"/>
          </a:xfrm>
          <a:prstGeom prst="roundRect">
            <a:avLst>
              <a:gd name="adj" fmla="val 12500"/>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LLM trả lời</a:t>
            </a:r>
            <a:endParaRPr lang="en-US" sz="1400" dirty="0"/>
          </a:p>
        </p:txBody>
      </p:sp>
      <p:sp>
        <p:nvSpPr>
          <p:cNvPr id="15" name="Text 12"/>
          <p:cNvSpPr txBox="1"/>
          <p:nvPr/>
        </p:nvSpPr>
        <p:spPr>
          <a:xfrm>
            <a:off x="548640" y="2788920"/>
            <a:ext cx="3657600" cy="274320"/>
          </a:xfrm>
          <a:prstGeom prst="rect">
            <a:avLst/>
          </a:prstGeom>
          <a:noFill/>
          <a:ln/>
        </p:spPr>
        <p:txBody>
          <a:bodyPr wrap="square" lIns="0" tIns="0" rIns="0" bIns="0" rtlCol="0" anchor="t"/>
          <a:lstStyle/>
          <a:p>
            <a:pPr indent="0" marL="0">
              <a:buNone/>
            </a:pPr>
            <a:r>
              <a:rPr lang="en-US" sz="1500" b="1" dirty="0">
                <a:solidFill>
                  <a:schemeClr val="tx2"/>
                </a:solidFill>
              </a:rPr>
              <a:t>Nạp dữ liệu (ETL)</a:t>
            </a:r>
            <a:endParaRPr lang="en-US" sz="1500" dirty="0"/>
          </a:p>
        </p:txBody>
      </p:sp>
      <p:sp>
        <p:nvSpPr>
          <p:cNvPr id="16" name="Box"/>
          <p:cNvSpPr txBox="1"/>
          <p:nvPr/>
        </p:nvSpPr>
        <p:spPr>
          <a:xfrm>
            <a:off x="548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Document Reader</a:t>
            </a:r>
            <a:endParaRPr lang="en-US" sz="1400" dirty="0"/>
          </a:p>
        </p:txBody>
      </p:sp>
      <p:sp>
        <p:nvSpPr>
          <p:cNvPr id="17" name="Arrow"/>
          <p:cNvSpPr/>
          <p:nvPr/>
        </p:nvSpPr>
        <p:spPr>
          <a:xfrm>
            <a:off x="2487168" y="3520440"/>
            <a:ext cx="329184" cy="0"/>
          </a:xfrm>
          <a:prstGeom prst="line">
            <a:avLst/>
          </a:prstGeom>
          <a:noFill/>
          <a:ln w="22225">
            <a:solidFill>
              <a:schemeClr val="accent6"/>
            </a:solidFill>
            <a:prstDash val="solid"/>
            <a:tailEnd type="triangle"/>
          </a:ln>
        </p:spPr>
      </p:sp>
      <p:sp>
        <p:nvSpPr>
          <p:cNvPr id="18" name="Box"/>
          <p:cNvSpPr txBox="1"/>
          <p:nvPr/>
        </p:nvSpPr>
        <p:spPr>
          <a:xfrm>
            <a:off x="2834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Transformer (chunking)</a:t>
            </a:r>
            <a:endParaRPr lang="en-US" sz="1400" dirty="0"/>
          </a:p>
        </p:txBody>
      </p:sp>
      <p:sp>
        <p:nvSpPr>
          <p:cNvPr id="19" name="Arrow"/>
          <p:cNvSpPr/>
          <p:nvPr/>
        </p:nvSpPr>
        <p:spPr>
          <a:xfrm>
            <a:off x="4773168" y="3520440"/>
            <a:ext cx="329184" cy="0"/>
          </a:xfrm>
          <a:prstGeom prst="line">
            <a:avLst/>
          </a:prstGeom>
          <a:noFill/>
          <a:ln w="22225">
            <a:solidFill>
              <a:schemeClr val="accent6"/>
            </a:solidFill>
            <a:prstDash val="solid"/>
            <a:tailEnd type="triangle"/>
          </a:ln>
        </p:spPr>
      </p:sp>
      <p:sp>
        <p:nvSpPr>
          <p:cNvPr id="20" name="Box"/>
          <p:cNvSpPr txBox="1"/>
          <p:nvPr/>
        </p:nvSpPr>
        <p:spPr>
          <a:xfrm>
            <a:off x="5120640" y="315468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Embedding model</a:t>
            </a:r>
            <a:endParaRPr lang="en-US" sz="1400" dirty="0"/>
          </a:p>
        </p:txBody>
      </p:sp>
      <p:sp>
        <p:nvSpPr>
          <p:cNvPr id="21" name="Arrow"/>
          <p:cNvSpPr/>
          <p:nvPr/>
        </p:nvSpPr>
        <p:spPr>
          <a:xfrm>
            <a:off x="7059168" y="3520440"/>
            <a:ext cx="329184" cy="0"/>
          </a:xfrm>
          <a:prstGeom prst="line">
            <a:avLst/>
          </a:prstGeom>
          <a:noFill/>
          <a:ln w="22225">
            <a:solidFill>
              <a:schemeClr val="accent6"/>
            </a:solidFill>
            <a:prstDash val="solid"/>
            <a:tailEnd type="triangle"/>
          </a:ln>
        </p:spPr>
      </p:sp>
      <p:sp>
        <p:nvSpPr>
          <p:cNvPr id="22" name="Box"/>
          <p:cNvSpPr txBox="1"/>
          <p:nvPr/>
        </p:nvSpPr>
        <p:spPr>
          <a:xfrm>
            <a:off x="7406640" y="315468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Vector Store</a:t>
            </a:r>
            <a:endParaRPr lang="en-US" sz="1400" dirty="0"/>
          </a:p>
        </p:txBody>
      </p:sp>
      <p:sp>
        <p:nvSpPr>
          <p:cNvPr id="23" name="Text 20"/>
          <p:cNvSpPr txBox="1"/>
          <p:nvPr/>
        </p:nvSpPr>
        <p:spPr>
          <a:xfrm>
            <a:off x="9464040" y="3154680"/>
            <a:ext cx="2176272" cy="731520"/>
          </a:xfrm>
          <a:prstGeom prst="rect">
            <a:avLst/>
          </a:prstGeom>
          <a:noFill/>
          <a:ln/>
        </p:spPr>
        <p:txBody>
          <a:bodyPr wrap="square" lIns="0" tIns="0" rIns="0" bIns="0" rtlCol="0" anchor="ctr"/>
          <a:lstStyle/>
          <a:p>
            <a:pPr indent="0" marL="0">
              <a:buNone/>
            </a:pPr>
            <a:r>
              <a:rPr lang="en-US" sz="1250" i="1" dirty="0">
                <a:solidFill>
                  <a:schemeClr val="accent6"/>
                </a:solidFill>
              </a:rPr>
              <a:t>Tương đồng cosine → đoạn văn liên quan được thêm vào prompt</a:t>
            </a:r>
            <a:endParaRPr lang="en-US" sz="1250" dirty="0"/>
          </a:p>
        </p:txBody>
      </p:sp>
      <p:sp>
        <p:nvSpPr>
          <p:cNvPr id="24" name="Code panel RAG với QuestionAnswerAdvisor"/>
          <p:cNvSpPr/>
          <p:nvPr/>
        </p:nvSpPr>
        <p:spPr>
          <a:xfrm>
            <a:off x="548640" y="4114800"/>
            <a:ext cx="7040880" cy="2148840"/>
          </a:xfrm>
          <a:prstGeom prst="roundRect">
            <a:avLst>
              <a:gd name="adj" fmla="val 3404"/>
            </a:avLst>
          </a:prstGeom>
          <a:solidFill>
            <a:schemeClr val="tx2"/>
          </a:solidFill>
          <a:ln w="12700">
            <a:solidFill>
              <a:schemeClr val="tx2"/>
            </a:solidFill>
            <a:prstDash val="solid"/>
          </a:ln>
        </p:spPr>
      </p:sp>
      <p:sp>
        <p:nvSpPr>
          <p:cNvPr id="25" name="Text 22"/>
          <p:cNvSpPr txBox="1"/>
          <p:nvPr/>
        </p:nvSpPr>
        <p:spPr>
          <a:xfrm>
            <a:off x="731520" y="420624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RAG với QuestionAnswerAdvisor</a:t>
            </a:r>
            <a:endParaRPr lang="en-US" sz="1100" dirty="0"/>
          </a:p>
        </p:txBody>
      </p:sp>
      <p:sp>
        <p:nvSpPr>
          <p:cNvPr id="26" name="Code RAG với QuestionAnswerAdvisor"/>
          <p:cNvSpPr txBox="1"/>
          <p:nvPr/>
        </p:nvSpPr>
        <p:spPr>
          <a:xfrm>
            <a:off x="731520" y="4498848"/>
            <a:ext cx="6675120" cy="169164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qa</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QuestionAnswerAdvisor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topK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4</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similarityThreshold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0.6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memory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MessageChatMemoryAdvisor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answer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prompt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question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advisors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qa</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call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content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7" name="Text 24"/>
          <p:cNvSpPr txBox="1"/>
          <p:nvPr/>
        </p:nvSpPr>
        <p:spPr>
          <a:xfrm>
            <a:off x="7818120" y="4160520"/>
            <a:ext cx="3840480" cy="2103120"/>
          </a:xfrm>
          <a:prstGeom prst="rect">
            <a:avLst/>
          </a:prstGeom>
          <a:noFill/>
          <a:ln/>
        </p:spPr>
        <p:txBody>
          <a:bodyPr wrap="square" lIns="0" tIns="0" rIns="0" bIns="0" rtlCol="0" anchor="t"/>
          <a:lstStyle/>
          <a:p>
            <a:pPr marL="177800" indent="-177800">
              <a:spcAft>
                <a:spcPts val="700"/>
              </a:spcAft>
              <a:buSzPct val="100000"/>
              <a:buChar char="•"/>
            </a:pPr>
            <a:r>
              <a:rPr lang="en-US" sz="1400" b="1" dirty="0">
                <a:solidFill>
                  <a:schemeClr val="tx1"/>
                </a:solidFill>
              </a:rPr>
              <a:t>Advisor </a:t>
            </a:r>
            <a:r>
              <a:rPr lang="en-US" sz="1400" dirty="0">
                <a:solidFill>
                  <a:schemeClr val="tx1"/>
                </a:solidFill>
              </a:rPr>
              <a:t>= bộ chặn quanh lời gọi model</a:t>
            </a:r>
            <a:endParaRPr lang="en-US" sz="1400" dirty="0"/>
          </a:p>
          <a:p>
            <a:pPr marL="177800" indent="-177800">
              <a:spcAft>
                <a:spcPts val="700"/>
              </a:spcAft>
              <a:buSzPct val="100000"/>
              <a:buChar char="•"/>
            </a:pPr>
            <a:r>
              <a:rPr lang="en-US" sz="1400" b="1" dirty="0">
                <a:solidFill>
                  <a:schemeClr val="tx1"/>
                </a:solidFill>
              </a:rPr>
              <a:t>QuestionAnswerAdvisor </a:t>
            </a:r>
            <a:r>
              <a:rPr lang="en-US" sz="1400" dirty="0">
                <a:solidFill>
                  <a:schemeClr val="tx1"/>
                </a:solidFill>
              </a:rPr>
              <a:t>tự tìm tài liệu và ghép vào prompt</a:t>
            </a:r>
            <a:endParaRPr lang="en-US" sz="1400" dirty="0"/>
          </a:p>
          <a:p>
            <a:pPr marL="177800" indent="-177800">
              <a:spcAft>
                <a:spcPts val="700"/>
              </a:spcAft>
              <a:buSzPct val="100000"/>
              <a:buChar char="•"/>
            </a:pPr>
            <a:r>
              <a:rPr lang="en-US" sz="1400" b="1" dirty="0">
                <a:solidFill>
                  <a:schemeClr val="tx1"/>
                </a:solidFill>
              </a:rPr>
              <a:t>Chat Memory </a:t>
            </a:r>
            <a:r>
              <a:rPr lang="en-US" sz="1400" dirty="0">
                <a:solidFill>
                  <a:schemeClr val="tx1"/>
                </a:solidFill>
              </a:rPr>
              <a:t>lưu lịch sử theo conversationId</a:t>
            </a:r>
            <a:endParaRPr lang="en-US" sz="1400" dirty="0"/>
          </a:p>
          <a:p>
            <a:pPr marL="177800" indent="-177800">
              <a:spcAft>
                <a:spcPts val="700"/>
              </a:spcAft>
              <a:buSzPct val="100000"/>
              <a:buChar char="•"/>
            </a:pPr>
            <a:r>
              <a:rPr lang="en-US" sz="1400" b="1" dirty="0">
                <a:solidFill>
                  <a:schemeClr val="tx1"/>
                </a:solidFill>
              </a:rPr>
              <a:t>ETL </a:t>
            </a:r>
            <a:r>
              <a:rPr lang="en-US" sz="1400" dirty="0">
                <a:solidFill>
                  <a:schemeClr val="tx1"/>
                </a:solidFill>
              </a:rPr>
              <a:t>DocumentReader → TokenTextSplitter → VectorStore.add()</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Embedding và độ tương đồng cosine</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Card"/>
          <p:cNvSpPr/>
          <p:nvPr/>
        </p:nvSpPr>
        <p:spPr>
          <a:xfrm>
            <a:off x="548640" y="1463040"/>
            <a:ext cx="5486400" cy="4800600"/>
          </a:xfrm>
          <a:prstGeom prst="roundRect">
            <a:avLst>
              <a:gd name="adj" fmla="val 1905"/>
            </a:avLst>
          </a:prstGeom>
          <a:solidFill>
            <a:schemeClr val="bg2"/>
          </a:solidFill>
          <a:ln w="12700">
            <a:solidFill>
              <a:schemeClr val="bg2"/>
            </a:solidFill>
            <a:prstDash val="solid"/>
          </a:ln>
        </p:spPr>
      </p:sp>
      <p:sp>
        <p:nvSpPr>
          <p:cNvPr id="6" name="Arrow"/>
          <p:cNvSpPr/>
          <p:nvPr/>
        </p:nvSpPr>
        <p:spPr>
          <a:xfrm>
            <a:off x="1005840" y="5669280"/>
            <a:ext cx="4754880" cy="0"/>
          </a:xfrm>
          <a:prstGeom prst="line">
            <a:avLst/>
          </a:prstGeom>
          <a:noFill/>
          <a:ln w="15875">
            <a:solidFill>
              <a:schemeClr val="accent6"/>
            </a:solidFill>
            <a:prstDash val="solid"/>
            <a:tailEnd type="triangle"/>
          </a:ln>
        </p:spPr>
      </p:sp>
      <p:sp>
        <p:nvSpPr>
          <p:cNvPr id="7" name="Arrow"/>
          <p:cNvSpPr/>
          <p:nvPr/>
        </p:nvSpPr>
        <p:spPr>
          <a:xfrm flipV="1">
            <a:off x="1005840" y="1737360"/>
            <a:ext cx="0" cy="3931920"/>
          </a:xfrm>
          <a:prstGeom prst="line">
            <a:avLst/>
          </a:prstGeom>
          <a:noFill/>
          <a:ln w="15875">
            <a:solidFill>
              <a:schemeClr val="accent6"/>
            </a:solidFill>
            <a:prstDash val="solid"/>
            <a:tailEnd type="triangle"/>
          </a:ln>
        </p:spPr>
      </p:sp>
      <p:sp>
        <p:nvSpPr>
          <p:cNvPr id="8" name="Arrow"/>
          <p:cNvSpPr/>
          <p:nvPr/>
        </p:nvSpPr>
        <p:spPr>
          <a:xfrm flipV="1">
            <a:off x="1005840" y="2651760"/>
            <a:ext cx="3931920" cy="3017520"/>
          </a:xfrm>
          <a:prstGeom prst="line">
            <a:avLst/>
          </a:prstGeom>
          <a:noFill/>
          <a:ln w="38100">
            <a:solidFill>
              <a:srgbClr val="1B7A6B"/>
            </a:solidFill>
            <a:prstDash val="solid"/>
            <a:tailEnd type="triangle"/>
          </a:ln>
        </p:spPr>
      </p:sp>
      <p:sp>
        <p:nvSpPr>
          <p:cNvPr id="9" name="Arrow"/>
          <p:cNvSpPr/>
          <p:nvPr/>
        </p:nvSpPr>
        <p:spPr>
          <a:xfrm flipV="1">
            <a:off x="1005840" y="3520440"/>
            <a:ext cx="4206240" cy="2148840"/>
          </a:xfrm>
          <a:prstGeom prst="line">
            <a:avLst/>
          </a:prstGeom>
          <a:noFill/>
          <a:ln w="38100">
            <a:solidFill>
              <a:srgbClr val="2A9484"/>
            </a:solidFill>
            <a:prstDash val="solid"/>
            <a:tailEnd type="triangle"/>
          </a:ln>
        </p:spPr>
      </p:sp>
      <p:sp>
        <p:nvSpPr>
          <p:cNvPr id="10" name="Arrow"/>
          <p:cNvSpPr/>
          <p:nvPr/>
        </p:nvSpPr>
        <p:spPr>
          <a:xfrm flipV="1">
            <a:off x="1005840" y="1920240"/>
            <a:ext cx="1097280" cy="3749040"/>
          </a:xfrm>
          <a:prstGeom prst="line">
            <a:avLst/>
          </a:prstGeom>
          <a:noFill/>
          <a:ln w="38100">
            <a:solidFill>
              <a:srgbClr val="C2622D"/>
            </a:solidFill>
            <a:prstDash val="solid"/>
            <a:tailEnd type="triangle"/>
          </a:ln>
        </p:spPr>
      </p:sp>
      <p:sp>
        <p:nvSpPr>
          <p:cNvPr id="11" name="Text 8"/>
          <p:cNvSpPr txBox="1"/>
          <p:nvPr/>
        </p:nvSpPr>
        <p:spPr>
          <a:xfrm>
            <a:off x="3840480" y="2194560"/>
            <a:ext cx="1737360" cy="274320"/>
          </a:xfrm>
          <a:prstGeom prst="rect">
            <a:avLst/>
          </a:prstGeom>
          <a:noFill/>
          <a:ln/>
        </p:spPr>
        <p:txBody>
          <a:bodyPr wrap="square" lIns="0" tIns="0" rIns="0" bIns="0" rtlCol="0" anchor="t"/>
          <a:lstStyle/>
          <a:p>
            <a:pPr algn="r" indent="0" marL="0">
              <a:buNone/>
            </a:pPr>
            <a:r>
              <a:rPr lang="en-US" sz="1300" b="1" dirty="0">
                <a:solidFill>
                  <a:schemeClr val="accent1"/>
                </a:solidFill>
              </a:rPr>
              <a:t>Tour biển đảo</a:t>
            </a:r>
            <a:endParaRPr lang="en-US" sz="1300" dirty="0"/>
          </a:p>
        </p:txBody>
      </p:sp>
      <p:sp>
        <p:nvSpPr>
          <p:cNvPr id="12" name="Text 9"/>
          <p:cNvSpPr txBox="1"/>
          <p:nvPr/>
        </p:nvSpPr>
        <p:spPr>
          <a:xfrm>
            <a:off x="4069080" y="4224528"/>
            <a:ext cx="1828800" cy="274320"/>
          </a:xfrm>
          <a:prstGeom prst="rect">
            <a:avLst/>
          </a:prstGeom>
          <a:noFill/>
          <a:ln/>
        </p:spPr>
        <p:txBody>
          <a:bodyPr wrap="square" lIns="0" tIns="0" rIns="0" bIns="0" rtlCol="0" anchor="t"/>
          <a:lstStyle/>
          <a:p>
            <a:pPr algn="r" indent="0" marL="0">
              <a:buNone/>
            </a:pPr>
            <a:r>
              <a:rPr lang="en-US" sz="1300" b="1" dirty="0">
                <a:solidFill>
                  <a:schemeClr val="accent4"/>
                </a:solidFill>
              </a:rPr>
              <a:t>Tour nghỉ dưỡng biển</a:t>
            </a:r>
            <a:endParaRPr lang="en-US" sz="1300" dirty="0"/>
          </a:p>
        </p:txBody>
      </p:sp>
      <p:sp>
        <p:nvSpPr>
          <p:cNvPr id="13" name="Text 10"/>
          <p:cNvSpPr txBox="1"/>
          <p:nvPr/>
        </p:nvSpPr>
        <p:spPr>
          <a:xfrm>
            <a:off x="2194560" y="1828800"/>
            <a:ext cx="1737360" cy="274320"/>
          </a:xfrm>
          <a:prstGeom prst="rect">
            <a:avLst/>
          </a:prstGeom>
          <a:noFill/>
          <a:ln/>
        </p:spPr>
        <p:txBody>
          <a:bodyPr wrap="square" lIns="0" tIns="0" rIns="0" bIns="0" rtlCol="0" anchor="t"/>
          <a:lstStyle/>
          <a:p>
            <a:pPr indent="0" marL="0">
              <a:buNone/>
            </a:pPr>
            <a:r>
              <a:rPr lang="en-US" sz="1300" b="1" dirty="0">
                <a:solidFill>
                  <a:schemeClr val="accent3"/>
                </a:solidFill>
              </a:rPr>
              <a:t>Tour núi rừng</a:t>
            </a:r>
            <a:endParaRPr lang="en-US" sz="1300" dirty="0"/>
          </a:p>
        </p:txBody>
      </p:sp>
      <p:sp>
        <p:nvSpPr>
          <p:cNvPr id="14" name="Text 11"/>
          <p:cNvSpPr txBox="1"/>
          <p:nvPr/>
        </p:nvSpPr>
        <p:spPr>
          <a:xfrm>
            <a:off x="3017520" y="3200400"/>
            <a:ext cx="1737360" cy="274320"/>
          </a:xfrm>
          <a:prstGeom prst="rect">
            <a:avLst/>
          </a:prstGeom>
          <a:noFill/>
          <a:ln/>
        </p:spPr>
        <p:txBody>
          <a:bodyPr wrap="square" lIns="0" tIns="0" rIns="0" bIns="0" rtlCol="0" anchor="t"/>
          <a:lstStyle/>
          <a:p>
            <a:pPr indent="0" marL="0">
              <a:buNone/>
            </a:pPr>
            <a:r>
              <a:rPr lang="en-US" sz="1200" i="1" dirty="0">
                <a:solidFill>
                  <a:schemeClr val="tx1"/>
                </a:solidFill>
              </a:rPr>
              <a:t>θ nhỏ → cos ≈ 1</a:t>
            </a:r>
            <a:endParaRPr lang="en-US" sz="1200" dirty="0"/>
          </a:p>
        </p:txBody>
      </p:sp>
      <p:sp>
        <p:nvSpPr>
          <p:cNvPr id="15" name="Text 12"/>
          <p:cNvSpPr txBox="1"/>
          <p:nvPr/>
        </p:nvSpPr>
        <p:spPr>
          <a:xfrm>
            <a:off x="1097280" y="3931920"/>
            <a:ext cx="1737360" cy="274320"/>
          </a:xfrm>
          <a:prstGeom prst="rect">
            <a:avLst/>
          </a:prstGeom>
          <a:noFill/>
          <a:ln/>
        </p:spPr>
        <p:txBody>
          <a:bodyPr wrap="square" lIns="0" tIns="0" rIns="0" bIns="0" rtlCol="0" anchor="t"/>
          <a:lstStyle/>
          <a:p>
            <a:pPr indent="0" marL="0">
              <a:buNone/>
            </a:pPr>
            <a:r>
              <a:rPr lang="en-US" sz="1200" i="1" dirty="0">
                <a:solidFill>
                  <a:schemeClr val="tx1"/>
                </a:solidFill>
              </a:rPr>
              <a:t>θ ≈ 90° → cos ≈ 0</a:t>
            </a:r>
            <a:endParaRPr lang="en-US" sz="1200" dirty="0"/>
          </a:p>
        </p:txBody>
      </p:sp>
      <p:sp>
        <p:nvSpPr>
          <p:cNvPr id="16" name="Text 13"/>
          <p:cNvSpPr txBox="1"/>
          <p:nvPr/>
        </p:nvSpPr>
        <p:spPr>
          <a:xfrm>
            <a:off x="777240" y="5852160"/>
            <a:ext cx="5029200" cy="274320"/>
          </a:xfrm>
          <a:prstGeom prst="rect">
            <a:avLst/>
          </a:prstGeom>
          <a:noFill/>
          <a:ln/>
        </p:spPr>
        <p:txBody>
          <a:bodyPr wrap="square" lIns="0" tIns="0" rIns="0" bIns="0" rtlCol="0" anchor="t"/>
          <a:lstStyle/>
          <a:p>
            <a:pPr indent="0" marL="0">
              <a:buNone/>
            </a:pPr>
            <a:r>
              <a:rPr lang="en-US" sz="1100" dirty="0">
                <a:solidFill>
                  <a:schemeClr val="accent6"/>
                </a:solidFill>
              </a:rPr>
              <a:t>Minh hoạ 2 chiều (thực tế hàng trăm đến hàng nghìn chiều)</a:t>
            </a:r>
            <a:endParaRPr lang="en-US" sz="1100" dirty="0"/>
          </a:p>
        </p:txBody>
      </p:sp>
      <p:sp>
        <p:nvSpPr>
          <p:cNvPr id="17" name="Card"/>
          <p:cNvSpPr/>
          <p:nvPr/>
        </p:nvSpPr>
        <p:spPr>
          <a:xfrm>
            <a:off x="6309360" y="1463040"/>
            <a:ext cx="5330952" cy="1143000"/>
          </a:xfrm>
          <a:prstGeom prst="roundRect">
            <a:avLst>
              <a:gd name="adj" fmla="val 8000"/>
            </a:avLst>
          </a:prstGeom>
          <a:solidFill>
            <a:schemeClr val="tx2"/>
          </a:solidFill>
          <a:ln w="12700">
            <a:solidFill>
              <a:schemeClr val="tx2"/>
            </a:solidFill>
            <a:prstDash val="solid"/>
          </a:ln>
        </p:spPr>
      </p:sp>
      <p:sp>
        <p:nvSpPr>
          <p:cNvPr id="18" name="Text 15"/>
          <p:cNvSpPr txBox="1"/>
          <p:nvPr/>
        </p:nvSpPr>
        <p:spPr>
          <a:xfrm>
            <a:off x="6309360" y="1463040"/>
            <a:ext cx="5330952" cy="1143000"/>
          </a:xfrm>
          <a:prstGeom prst="rect">
            <a:avLst/>
          </a:prstGeom>
          <a:noFill/>
          <a:ln/>
        </p:spPr>
        <p:txBody>
          <a:bodyPr wrap="square" lIns="0" tIns="0" rIns="0" bIns="0" rtlCol="0" anchor="ctr"/>
          <a:lstStyle/>
          <a:p>
            <a:pPr algn="ctr" indent="0" marL="0">
              <a:buNone/>
            </a:pPr>
            <a:r>
              <a:rPr lang="en-US" sz="2600" b="1" dirty="0">
                <a:solidFill>
                  <a:schemeClr val="bg1"/>
                </a:solidFill>
              </a:rPr>
              <a:t>cos(θ) = (A · B) / (‖A‖ ‖B‖)</a:t>
            </a:r>
            <a:endParaRPr lang="en-US" sz="2600" dirty="0"/>
          </a:p>
        </p:txBody>
      </p:sp>
      <p:sp>
        <p:nvSpPr>
          <p:cNvPr id="19" name="Card"/>
          <p:cNvSpPr/>
          <p:nvPr/>
        </p:nvSpPr>
        <p:spPr>
          <a:xfrm>
            <a:off x="6309360" y="2788920"/>
            <a:ext cx="1728216" cy="1051560"/>
          </a:xfrm>
          <a:prstGeom prst="roundRect">
            <a:avLst>
              <a:gd name="adj" fmla="val 8696"/>
            </a:avLst>
          </a:prstGeom>
          <a:solidFill>
            <a:schemeClr val="bg2"/>
          </a:solidFill>
          <a:ln w="12700">
            <a:solidFill>
              <a:schemeClr val="bg2"/>
            </a:solidFill>
            <a:prstDash val="solid"/>
          </a:ln>
        </p:spPr>
      </p:sp>
      <p:sp>
        <p:nvSpPr>
          <p:cNvPr id="20" name="Text 17"/>
          <p:cNvSpPr txBox="1"/>
          <p:nvPr/>
        </p:nvSpPr>
        <p:spPr>
          <a:xfrm>
            <a:off x="6309360"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1</a:t>
            </a:r>
            <a:endParaRPr lang="en-US" sz="1800" dirty="0"/>
          </a:p>
        </p:txBody>
      </p:sp>
      <p:sp>
        <p:nvSpPr>
          <p:cNvPr id="21" name="Text 18"/>
          <p:cNvSpPr txBox="1"/>
          <p:nvPr/>
        </p:nvSpPr>
        <p:spPr>
          <a:xfrm>
            <a:off x="6355080"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0° · Giống nhau</a:t>
            </a:r>
            <a:endParaRPr lang="en-US" sz="1200" dirty="0"/>
          </a:p>
        </p:txBody>
      </p:sp>
      <p:sp>
        <p:nvSpPr>
          <p:cNvPr id="22" name="Card"/>
          <p:cNvSpPr/>
          <p:nvPr/>
        </p:nvSpPr>
        <p:spPr>
          <a:xfrm>
            <a:off x="8110728" y="2788920"/>
            <a:ext cx="1728216" cy="1051560"/>
          </a:xfrm>
          <a:prstGeom prst="roundRect">
            <a:avLst>
              <a:gd name="adj" fmla="val 8696"/>
            </a:avLst>
          </a:prstGeom>
          <a:solidFill>
            <a:schemeClr val="bg2"/>
          </a:solidFill>
          <a:ln w="12700">
            <a:solidFill>
              <a:schemeClr val="bg2"/>
            </a:solidFill>
            <a:prstDash val="solid"/>
          </a:ln>
        </p:spPr>
      </p:sp>
      <p:sp>
        <p:nvSpPr>
          <p:cNvPr id="23" name="Text 20"/>
          <p:cNvSpPr txBox="1"/>
          <p:nvPr/>
        </p:nvSpPr>
        <p:spPr>
          <a:xfrm>
            <a:off x="8110728"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0</a:t>
            </a:r>
            <a:endParaRPr lang="en-US" sz="1800" dirty="0"/>
          </a:p>
        </p:txBody>
      </p:sp>
      <p:sp>
        <p:nvSpPr>
          <p:cNvPr id="24" name="Text 21"/>
          <p:cNvSpPr txBox="1"/>
          <p:nvPr/>
        </p:nvSpPr>
        <p:spPr>
          <a:xfrm>
            <a:off x="8156448"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90° · Không liên quan</a:t>
            </a:r>
            <a:endParaRPr lang="en-US" sz="1200" dirty="0"/>
          </a:p>
        </p:txBody>
      </p:sp>
      <p:sp>
        <p:nvSpPr>
          <p:cNvPr id="25" name="Card"/>
          <p:cNvSpPr/>
          <p:nvPr/>
        </p:nvSpPr>
        <p:spPr>
          <a:xfrm>
            <a:off x="9912096" y="2788920"/>
            <a:ext cx="1728216" cy="1051560"/>
          </a:xfrm>
          <a:prstGeom prst="roundRect">
            <a:avLst>
              <a:gd name="adj" fmla="val 8696"/>
            </a:avLst>
          </a:prstGeom>
          <a:solidFill>
            <a:schemeClr val="bg2"/>
          </a:solidFill>
          <a:ln w="12700">
            <a:solidFill>
              <a:schemeClr val="bg2"/>
            </a:solidFill>
            <a:prstDash val="solid"/>
          </a:ln>
        </p:spPr>
      </p:sp>
      <p:sp>
        <p:nvSpPr>
          <p:cNvPr id="26" name="Text 23"/>
          <p:cNvSpPr txBox="1"/>
          <p:nvPr/>
        </p:nvSpPr>
        <p:spPr>
          <a:xfrm>
            <a:off x="9912096" y="2852928"/>
            <a:ext cx="1728216" cy="411480"/>
          </a:xfrm>
          <a:prstGeom prst="rect">
            <a:avLst/>
          </a:prstGeom>
          <a:noFill/>
          <a:ln/>
        </p:spPr>
        <p:txBody>
          <a:bodyPr wrap="square" lIns="0" tIns="0" rIns="0" bIns="0" rtlCol="0" anchor="t"/>
          <a:lstStyle/>
          <a:p>
            <a:pPr algn="ctr" indent="0" marL="0">
              <a:buNone/>
            </a:pPr>
            <a:r>
              <a:rPr lang="en-US" sz="1800" b="1" dirty="0">
                <a:solidFill>
                  <a:schemeClr val="accent1"/>
                </a:solidFill>
              </a:rPr>
              <a:t>cos = −1</a:t>
            </a:r>
            <a:endParaRPr lang="en-US" sz="1800" dirty="0"/>
          </a:p>
        </p:txBody>
      </p:sp>
      <p:sp>
        <p:nvSpPr>
          <p:cNvPr id="27" name="Text 24"/>
          <p:cNvSpPr txBox="1"/>
          <p:nvPr/>
        </p:nvSpPr>
        <p:spPr>
          <a:xfrm>
            <a:off x="9957816" y="3310128"/>
            <a:ext cx="1636776" cy="457200"/>
          </a:xfrm>
          <a:prstGeom prst="rect">
            <a:avLst/>
          </a:prstGeom>
          <a:noFill/>
          <a:ln/>
        </p:spPr>
        <p:txBody>
          <a:bodyPr wrap="square" lIns="0" tIns="0" rIns="0" bIns="0" rtlCol="0" anchor="t"/>
          <a:lstStyle/>
          <a:p>
            <a:pPr algn="ctr" indent="0" marL="0">
              <a:buNone/>
            </a:pPr>
            <a:r>
              <a:rPr lang="en-US" sz="1200" dirty="0">
                <a:solidFill>
                  <a:schemeClr val="tx1"/>
                </a:solidFill>
              </a:rPr>
              <a:t>θ = 180° · Đối lập</a:t>
            </a:r>
            <a:endParaRPr lang="en-US" sz="1200" dirty="0"/>
          </a:p>
        </p:txBody>
      </p:sp>
      <p:sp>
        <p:nvSpPr>
          <p:cNvPr id="28" name="Text 25"/>
          <p:cNvSpPr txBox="1"/>
          <p:nvPr/>
        </p:nvSpPr>
        <p:spPr>
          <a:xfrm>
            <a:off x="6309360" y="4023360"/>
            <a:ext cx="5330952" cy="141732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Embedding: </a:t>
            </a:r>
            <a:r>
              <a:rPr lang="en-US" sz="1400" dirty="0">
                <a:solidFill>
                  <a:schemeClr val="tx1"/>
                </a:solidFill>
              </a:rPr>
              <a:t>văn bản → vector số thực; gần nghĩa ⇒ vector gần nhau</a:t>
            </a:r>
            <a:endParaRPr lang="en-US" sz="1400" dirty="0"/>
          </a:p>
          <a:p>
            <a:pPr marL="177800" indent="-177800">
              <a:spcAft>
                <a:spcPts val="600"/>
              </a:spcAft>
              <a:buSzPct val="100000"/>
              <a:buChar char="•"/>
            </a:pPr>
            <a:r>
              <a:rPr lang="en-US" sz="1400" b="1" dirty="0">
                <a:solidFill>
                  <a:schemeClr val="tx1"/>
                </a:solidFill>
              </a:rPr>
              <a:t>EmbeddingModel.embed(text) </a:t>
            </a:r>
            <a:r>
              <a:rPr lang="en-US" sz="1400" dirty="0">
                <a:solidFill>
                  <a:schemeClr val="tx1"/>
                </a:solidFill>
              </a:rPr>
              <a:t>trả về float[]; số chiều phụ thuộc model</a:t>
            </a:r>
            <a:endParaRPr lang="en-US" sz="1400" dirty="0"/>
          </a:p>
          <a:p>
            <a:pPr marL="177800" indent="-177800">
              <a:spcAft>
                <a:spcPts val="600"/>
              </a:spcAft>
              <a:buSzPct val="100000"/>
              <a:buChar char="•"/>
            </a:pPr>
            <a:r>
              <a:rPr lang="en-US" sz="1400" b="1" dirty="0">
                <a:solidFill>
                  <a:schemeClr val="tx1"/>
                </a:solidFill>
              </a:rPr>
              <a:t>Ứng dụng: </a:t>
            </a:r>
            <a:r>
              <a:rPr lang="en-US" sz="1400" dirty="0">
                <a:solidFill>
                  <a:schemeClr val="tx1"/>
                </a:solidFill>
              </a:rPr>
              <a:t>semantic search, ngữ cảnh RAG, chatbot intent, recommendations</a:t>
            </a:r>
            <a:endParaRPr lang="en-US" sz="1400" dirty="0"/>
          </a:p>
        </p:txBody>
      </p:sp>
      <p:sp>
        <p:nvSpPr>
          <p:cNvPr id="29" name="Card"/>
          <p:cNvSpPr/>
          <p:nvPr/>
        </p:nvSpPr>
        <p:spPr>
          <a:xfrm>
            <a:off x="6309360" y="5486400"/>
            <a:ext cx="5330952" cy="777240"/>
          </a:xfrm>
          <a:prstGeom prst="roundRect">
            <a:avLst>
              <a:gd name="adj" fmla="val 11765"/>
            </a:avLst>
          </a:prstGeom>
          <a:solidFill>
            <a:schemeClr val="accent2"/>
          </a:solidFill>
          <a:ln w="12700">
            <a:solidFill>
              <a:schemeClr val="accent2"/>
            </a:solidFill>
            <a:prstDash val="solid"/>
          </a:ln>
        </p:spPr>
      </p:sp>
      <p:sp>
        <p:nvSpPr>
          <p:cNvPr id="30" name="Text 27"/>
          <p:cNvSpPr txBox="1"/>
          <p:nvPr/>
        </p:nvSpPr>
        <p:spPr>
          <a:xfrm>
            <a:off x="6492240" y="5486400"/>
            <a:ext cx="4983480" cy="777240"/>
          </a:xfrm>
          <a:prstGeom prst="rect">
            <a:avLst/>
          </a:prstGeom>
          <a:noFill/>
          <a:ln/>
        </p:spPr>
        <p:txBody>
          <a:bodyPr wrap="square" lIns="0" tIns="0" rIns="0" bIns="0" rtlCol="0" anchor="ctr"/>
          <a:lstStyle/>
          <a:p>
            <a:pPr indent="0" marL="0">
              <a:buNone/>
            </a:pPr>
            <a:r>
              <a:rPr lang="en-US" sz="1400" b="1" dirty="0">
                <a:solidFill>
                  <a:schemeClr val="tx2"/>
                </a:solidFill>
              </a:rPr>
              <a:t>Trong dự án: embed mô tả tour → tìm các tour “giống” tour khách đang xem.</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VectorStore, Document và similaritySearch</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Text 2"/>
          <p:cNvSpPr txBox="1"/>
          <p:nvPr/>
        </p:nvSpPr>
        <p:spPr>
          <a:xfrm>
            <a:off x="548640" y="1417320"/>
            <a:ext cx="4480560" cy="274320"/>
          </a:xfrm>
          <a:prstGeom prst="rect">
            <a:avLst/>
          </a:prstGeom>
          <a:noFill/>
          <a:ln/>
        </p:spPr>
        <p:txBody>
          <a:bodyPr wrap="square" lIns="0" tIns="0" rIns="0" bIns="0" rtlCol="0" anchor="t"/>
          <a:lstStyle/>
          <a:p>
            <a:pPr indent="0" marL="0">
              <a:buNone/>
            </a:pPr>
            <a:r>
              <a:rPr lang="en-US" sz="1500" b="1" dirty="0">
                <a:solidFill>
                  <a:schemeClr val="tx2"/>
                </a:solidFill>
              </a:rPr>
              <a:t>Cấu trúc Document</a:t>
            </a:r>
            <a:endParaRPr lang="en-US" sz="1500" dirty="0"/>
          </a:p>
        </p:txBody>
      </p:sp>
      <p:sp>
        <p:nvSpPr>
          <p:cNvPr id="6" name="Card"/>
          <p:cNvSpPr/>
          <p:nvPr/>
        </p:nvSpPr>
        <p:spPr>
          <a:xfrm>
            <a:off x="548640" y="1783080"/>
            <a:ext cx="4480560" cy="640080"/>
          </a:xfrm>
          <a:prstGeom prst="roundRect">
            <a:avLst>
              <a:gd name="adj" fmla="val 14286"/>
            </a:avLst>
          </a:prstGeom>
          <a:solidFill>
            <a:schemeClr val="bg2"/>
          </a:solidFill>
          <a:ln w="12700">
            <a:solidFill>
              <a:schemeClr val="bg2"/>
            </a:solidFill>
            <a:prstDash val="solid"/>
          </a:ln>
        </p:spPr>
      </p:sp>
      <p:sp>
        <p:nvSpPr>
          <p:cNvPr id="7" name="Text 4"/>
          <p:cNvSpPr txBox="1"/>
          <p:nvPr/>
        </p:nvSpPr>
        <p:spPr>
          <a:xfrm>
            <a:off x="731520" y="1783080"/>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id</a:t>
            </a:r>
            <a:endParaRPr lang="en-US" sz="1500" dirty="0"/>
          </a:p>
        </p:txBody>
      </p:sp>
      <p:sp>
        <p:nvSpPr>
          <p:cNvPr id="8" name="Text 5"/>
          <p:cNvSpPr txBox="1"/>
          <p:nvPr/>
        </p:nvSpPr>
        <p:spPr>
          <a:xfrm>
            <a:off x="2011680" y="1783080"/>
            <a:ext cx="2926080" cy="640080"/>
          </a:xfrm>
          <a:prstGeom prst="rect">
            <a:avLst/>
          </a:prstGeom>
          <a:noFill/>
          <a:ln/>
        </p:spPr>
        <p:txBody>
          <a:bodyPr wrap="square" lIns="0" tIns="0" rIns="0" bIns="0" rtlCol="0" anchor="ctr"/>
          <a:lstStyle/>
          <a:p>
            <a:pPr indent="0" marL="0">
              <a:buNone/>
            </a:pPr>
            <a:r>
              <a:rPr lang="en-US" sz="1300" dirty="0">
                <a:solidFill>
                  <a:schemeClr val="tx1"/>
                </a:solidFill>
              </a:rPr>
              <a:t>định danh (String / UUID)</a:t>
            </a:r>
            <a:endParaRPr lang="en-US" sz="1300" dirty="0"/>
          </a:p>
        </p:txBody>
      </p:sp>
      <p:sp>
        <p:nvSpPr>
          <p:cNvPr id="9" name="Card"/>
          <p:cNvSpPr/>
          <p:nvPr/>
        </p:nvSpPr>
        <p:spPr>
          <a:xfrm>
            <a:off x="548640" y="2532888"/>
            <a:ext cx="4480560" cy="640080"/>
          </a:xfrm>
          <a:prstGeom prst="roundRect">
            <a:avLst>
              <a:gd name="adj" fmla="val 14286"/>
            </a:avLst>
          </a:prstGeom>
          <a:solidFill>
            <a:schemeClr val="bg2"/>
          </a:solidFill>
          <a:ln w="12700">
            <a:solidFill>
              <a:schemeClr val="bg2"/>
            </a:solidFill>
            <a:prstDash val="solid"/>
          </a:ln>
        </p:spPr>
      </p:sp>
      <p:sp>
        <p:nvSpPr>
          <p:cNvPr id="10" name="Text 7"/>
          <p:cNvSpPr txBox="1"/>
          <p:nvPr/>
        </p:nvSpPr>
        <p:spPr>
          <a:xfrm>
            <a:off x="731520" y="2532888"/>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text</a:t>
            </a:r>
            <a:endParaRPr lang="en-US" sz="1500" dirty="0"/>
          </a:p>
        </p:txBody>
      </p:sp>
      <p:sp>
        <p:nvSpPr>
          <p:cNvPr id="11" name="Text 8"/>
          <p:cNvSpPr txBox="1"/>
          <p:nvPr/>
        </p:nvSpPr>
        <p:spPr>
          <a:xfrm>
            <a:off x="2011680" y="2532888"/>
            <a:ext cx="2926080" cy="640080"/>
          </a:xfrm>
          <a:prstGeom prst="rect">
            <a:avLst/>
          </a:prstGeom>
          <a:noFill/>
          <a:ln/>
        </p:spPr>
        <p:txBody>
          <a:bodyPr wrap="square" lIns="0" tIns="0" rIns="0" bIns="0" rtlCol="0" anchor="ctr"/>
          <a:lstStyle/>
          <a:p>
            <a:pPr indent="0" marL="0">
              <a:buNone/>
            </a:pPr>
            <a:r>
              <a:rPr lang="en-US" sz="1300" dirty="0">
                <a:solidFill>
                  <a:schemeClr val="tx1"/>
                </a:solidFill>
              </a:rPr>
              <a:t>nội dung dùng để tính embedding</a:t>
            </a:r>
            <a:endParaRPr lang="en-US" sz="1300" dirty="0"/>
          </a:p>
        </p:txBody>
      </p:sp>
      <p:sp>
        <p:nvSpPr>
          <p:cNvPr id="12" name="Card"/>
          <p:cNvSpPr/>
          <p:nvPr/>
        </p:nvSpPr>
        <p:spPr>
          <a:xfrm>
            <a:off x="548640" y="3282696"/>
            <a:ext cx="4480560" cy="640080"/>
          </a:xfrm>
          <a:prstGeom prst="roundRect">
            <a:avLst>
              <a:gd name="adj" fmla="val 14286"/>
            </a:avLst>
          </a:prstGeom>
          <a:solidFill>
            <a:schemeClr val="bg2"/>
          </a:solidFill>
          <a:ln w="12700">
            <a:solidFill>
              <a:schemeClr val="bg2"/>
            </a:solidFill>
            <a:prstDash val="solid"/>
          </a:ln>
        </p:spPr>
      </p:sp>
      <p:sp>
        <p:nvSpPr>
          <p:cNvPr id="13" name="Text 10"/>
          <p:cNvSpPr txBox="1"/>
          <p:nvPr/>
        </p:nvSpPr>
        <p:spPr>
          <a:xfrm>
            <a:off x="731520" y="3282696"/>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metadata</a:t>
            </a:r>
            <a:endParaRPr lang="en-US" sz="1500" dirty="0"/>
          </a:p>
        </p:txBody>
      </p:sp>
      <p:sp>
        <p:nvSpPr>
          <p:cNvPr id="14" name="Text 11"/>
          <p:cNvSpPr txBox="1"/>
          <p:nvPr/>
        </p:nvSpPr>
        <p:spPr>
          <a:xfrm>
            <a:off x="2011680" y="3282696"/>
            <a:ext cx="2926080" cy="640080"/>
          </a:xfrm>
          <a:prstGeom prst="rect">
            <a:avLst/>
          </a:prstGeom>
          <a:noFill/>
          <a:ln/>
        </p:spPr>
        <p:txBody>
          <a:bodyPr wrap="square" lIns="0" tIns="0" rIns="0" bIns="0" rtlCol="0" anchor="ctr"/>
          <a:lstStyle/>
          <a:p>
            <a:pPr indent="0" marL="0">
              <a:buNone/>
            </a:pPr>
            <a:r>
              <a:rPr lang="en-US" sz="1300" dirty="0">
                <a:solidFill>
                  <a:schemeClr val="tx1"/>
                </a:solidFill>
              </a:rPr>
              <a:t>Map&lt;String,Object&gt;: category, price…</a:t>
            </a:r>
            <a:endParaRPr lang="en-US" sz="1300" dirty="0"/>
          </a:p>
        </p:txBody>
      </p:sp>
      <p:sp>
        <p:nvSpPr>
          <p:cNvPr id="15" name="Card"/>
          <p:cNvSpPr/>
          <p:nvPr/>
        </p:nvSpPr>
        <p:spPr>
          <a:xfrm>
            <a:off x="548640" y="4032504"/>
            <a:ext cx="4480560" cy="640080"/>
          </a:xfrm>
          <a:prstGeom prst="roundRect">
            <a:avLst>
              <a:gd name="adj" fmla="val 14286"/>
            </a:avLst>
          </a:prstGeom>
          <a:solidFill>
            <a:srgbClr val="FFFFFF"/>
          </a:solidFill>
          <a:ln w="15875">
            <a:solidFill>
              <a:schemeClr val="accent5"/>
            </a:solidFill>
            <a:prstDash val="solid"/>
          </a:ln>
        </p:spPr>
      </p:sp>
      <p:sp>
        <p:nvSpPr>
          <p:cNvPr id="16" name="Text 13"/>
          <p:cNvSpPr txBox="1"/>
          <p:nvPr/>
        </p:nvSpPr>
        <p:spPr>
          <a:xfrm>
            <a:off x="731520" y="4032504"/>
            <a:ext cx="1280160" cy="640080"/>
          </a:xfrm>
          <a:prstGeom prst="rect">
            <a:avLst/>
          </a:prstGeom>
          <a:noFill/>
          <a:ln/>
        </p:spPr>
        <p:txBody>
          <a:bodyPr wrap="square" lIns="0" tIns="0" rIns="0" bIns="0" rtlCol="0" anchor="ctr"/>
          <a:lstStyle/>
          <a:p>
            <a:pPr indent="0" marL="0">
              <a:buNone/>
            </a:pPr>
            <a:r>
              <a:rPr lang="en-US" sz="1500" b="1" dirty="0">
                <a:solidFill>
                  <a:schemeClr val="accent1"/>
                </a:solidFill>
              </a:rPr>
              <a:t>embedding</a:t>
            </a:r>
            <a:endParaRPr lang="en-US" sz="1500" dirty="0"/>
          </a:p>
        </p:txBody>
      </p:sp>
      <p:sp>
        <p:nvSpPr>
          <p:cNvPr id="17" name="Text 14"/>
          <p:cNvSpPr txBox="1"/>
          <p:nvPr/>
        </p:nvSpPr>
        <p:spPr>
          <a:xfrm>
            <a:off x="2011680" y="4032504"/>
            <a:ext cx="2926080" cy="640080"/>
          </a:xfrm>
          <a:prstGeom prst="rect">
            <a:avLst/>
          </a:prstGeom>
          <a:noFill/>
          <a:ln/>
        </p:spPr>
        <p:txBody>
          <a:bodyPr wrap="square" lIns="0" tIns="0" rIns="0" bIns="0" rtlCol="0" anchor="ctr"/>
          <a:lstStyle/>
          <a:p>
            <a:pPr indent="0" marL="0">
              <a:buNone/>
            </a:pPr>
            <a:r>
              <a:rPr lang="en-US" sz="1300" dirty="0">
                <a:solidFill>
                  <a:schemeClr val="tx1"/>
                </a:solidFill>
              </a:rPr>
              <a:t>VectorStore tự tính qua EmbeddingModel</a:t>
            </a:r>
            <a:endParaRPr lang="en-US" sz="1300" dirty="0"/>
          </a:p>
        </p:txBody>
      </p:sp>
      <p:sp>
        <p:nvSpPr>
          <p:cNvPr id="18" name="Text 15"/>
          <p:cNvSpPr txBox="1"/>
          <p:nvPr/>
        </p:nvSpPr>
        <p:spPr>
          <a:xfrm>
            <a:off x="548640" y="4892040"/>
            <a:ext cx="4480560" cy="274320"/>
          </a:xfrm>
          <a:prstGeom prst="rect">
            <a:avLst/>
          </a:prstGeom>
          <a:noFill/>
          <a:ln/>
        </p:spPr>
        <p:txBody>
          <a:bodyPr wrap="square" lIns="0" tIns="0" rIns="0" bIns="0" rtlCol="0" anchor="t"/>
          <a:lstStyle/>
          <a:p>
            <a:pPr indent="0" marL="0">
              <a:buNone/>
            </a:pPr>
            <a:r>
              <a:rPr lang="en-US" sz="1500" b="1" dirty="0">
                <a:solidFill>
                  <a:schemeClr val="tx2"/>
                </a:solidFill>
              </a:rPr>
              <a:t>Các VectorStore (cùng một API)</a:t>
            </a:r>
            <a:endParaRPr lang="en-US" sz="1500" dirty="0"/>
          </a:p>
        </p:txBody>
      </p:sp>
      <p:sp>
        <p:nvSpPr>
          <p:cNvPr id="19" name="Box"/>
          <p:cNvSpPr txBox="1"/>
          <p:nvPr/>
        </p:nvSpPr>
        <p:spPr>
          <a:xfrm>
            <a:off x="548640" y="5257800"/>
            <a:ext cx="2194560" cy="384048"/>
          </a:xfrm>
          <a:prstGeom prst="roundRect">
            <a:avLst>
              <a:gd name="adj" fmla="val 23810"/>
            </a:avLst>
          </a:prstGeom>
          <a:solidFill>
            <a:schemeClr val="accent2"/>
          </a:solidFill>
          <a:ln>
            <a:solidFill>
              <a:schemeClr val="accent2"/>
            </a:solidFill>
          </a:ln>
        </p:spPr>
        <p:txBody>
          <a:bodyPr wrap="square" lIns="76200" tIns="76200" rIns="76200" bIns="76200" rtlCol="0" anchor="ctr"/>
          <a:lstStyle/>
          <a:p>
            <a:pPr algn="ctr" indent="0" marL="0">
              <a:buNone/>
            </a:pPr>
            <a:r>
              <a:rPr lang="en-US" sz="1200" b="1" dirty="0">
                <a:solidFill>
                  <a:schemeClr val="tx2"/>
                </a:solidFill>
              </a:rPr>
              <a:t>SimpleVectorStore</a:t>
            </a:r>
            <a:endParaRPr lang="en-US" sz="1200" dirty="0"/>
          </a:p>
        </p:txBody>
      </p:sp>
      <p:sp>
        <p:nvSpPr>
          <p:cNvPr id="20" name="Box"/>
          <p:cNvSpPr txBox="1"/>
          <p:nvPr/>
        </p:nvSpPr>
        <p:spPr>
          <a:xfrm>
            <a:off x="2816352" y="5257800"/>
            <a:ext cx="2194560"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PGvector</a:t>
            </a:r>
            <a:endParaRPr lang="en-US" sz="1200" dirty="0"/>
          </a:p>
        </p:txBody>
      </p:sp>
      <p:sp>
        <p:nvSpPr>
          <p:cNvPr id="21" name="Box"/>
          <p:cNvSpPr txBox="1"/>
          <p:nvPr/>
        </p:nvSpPr>
        <p:spPr>
          <a:xfrm>
            <a:off x="548640"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Qdrant</a:t>
            </a:r>
            <a:endParaRPr lang="en-US" sz="1200" dirty="0"/>
          </a:p>
        </p:txBody>
      </p:sp>
      <p:sp>
        <p:nvSpPr>
          <p:cNvPr id="22" name="Box"/>
          <p:cNvSpPr txBox="1"/>
          <p:nvPr/>
        </p:nvSpPr>
        <p:spPr>
          <a:xfrm>
            <a:off x="2048256"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Weaviate</a:t>
            </a:r>
            <a:endParaRPr lang="en-US" sz="1200" dirty="0"/>
          </a:p>
        </p:txBody>
      </p:sp>
      <p:sp>
        <p:nvSpPr>
          <p:cNvPr id="23" name="Box"/>
          <p:cNvSpPr txBox="1"/>
          <p:nvPr/>
        </p:nvSpPr>
        <p:spPr>
          <a:xfrm>
            <a:off x="3547872" y="5760720"/>
            <a:ext cx="1426464" cy="384048"/>
          </a:xfrm>
          <a:prstGeom prst="roundRect">
            <a:avLst>
              <a:gd name="adj" fmla="val 23810"/>
            </a:avLst>
          </a:prstGeom>
          <a:solidFill>
            <a:schemeClr val="accent1"/>
          </a:solidFill>
          <a:ln>
            <a:solidFill>
              <a:schemeClr val="accent1"/>
            </a:solidFill>
          </a:ln>
        </p:spPr>
        <p:txBody>
          <a:bodyPr wrap="square" lIns="76200" tIns="76200" rIns="76200" bIns="76200" rtlCol="0" anchor="ctr"/>
          <a:lstStyle/>
          <a:p>
            <a:pPr algn="ctr" indent="0" marL="0">
              <a:buNone/>
            </a:pPr>
            <a:r>
              <a:rPr lang="en-US" sz="1200" b="1" dirty="0">
                <a:solidFill>
                  <a:schemeClr val="bg1"/>
                </a:solidFill>
              </a:rPr>
              <a:t>Redis</a:t>
            </a:r>
            <a:endParaRPr lang="en-US" sz="1200" dirty="0"/>
          </a:p>
        </p:txBody>
      </p:sp>
      <p:sp>
        <p:nvSpPr>
          <p:cNvPr id="24" name="Code panel VectorStore API"/>
          <p:cNvSpPr/>
          <p:nvPr/>
        </p:nvSpPr>
        <p:spPr>
          <a:xfrm>
            <a:off x="5303520" y="1463040"/>
            <a:ext cx="6336792" cy="3291840"/>
          </a:xfrm>
          <a:prstGeom prst="roundRect">
            <a:avLst>
              <a:gd name="adj" fmla="val 2222"/>
            </a:avLst>
          </a:prstGeom>
          <a:solidFill>
            <a:schemeClr val="tx2"/>
          </a:solidFill>
          <a:ln w="12700">
            <a:solidFill>
              <a:schemeClr val="tx2"/>
            </a:solidFill>
            <a:prstDash val="solid"/>
          </a:ln>
        </p:spPr>
      </p:sp>
      <p:sp>
        <p:nvSpPr>
          <p:cNvPr id="25" name="Text 22"/>
          <p:cNvSpPr txBox="1"/>
          <p:nvPr/>
        </p:nvSpPr>
        <p:spPr>
          <a:xfrm>
            <a:off x="5486400" y="1554480"/>
            <a:ext cx="5971032" cy="237744"/>
          </a:xfrm>
          <a:prstGeom prst="rect">
            <a:avLst/>
          </a:prstGeom>
          <a:noFill/>
          <a:ln/>
        </p:spPr>
        <p:txBody>
          <a:bodyPr wrap="square" lIns="0" tIns="0" rIns="0" bIns="0" rtlCol="0" anchor="ctr"/>
          <a:lstStyle/>
          <a:p>
            <a:pPr indent="0" marL="0">
              <a:buNone/>
            </a:pPr>
            <a:r>
              <a:rPr lang="en-US" sz="1100" b="1" dirty="0">
                <a:solidFill>
                  <a:schemeClr val="accent5"/>
                </a:solidFill>
              </a:rPr>
              <a:t>VectorStore API</a:t>
            </a:r>
            <a:endParaRPr lang="en-US" sz="1100" dirty="0"/>
          </a:p>
        </p:txBody>
      </p:sp>
      <p:sp>
        <p:nvSpPr>
          <p:cNvPr id="26" name="Code VectorStore API"/>
          <p:cNvSpPr txBox="1"/>
          <p:nvPr/>
        </p:nvSpPr>
        <p:spPr>
          <a:xfrm>
            <a:off x="5486400" y="1847088"/>
            <a:ext cx="5971032" cy="2834640"/>
          </a:xfrm>
          <a:prstGeom prst="rect">
            <a:avLst/>
          </a:prstGeom>
          <a:noFill/>
          <a:ln/>
        </p:spPr>
        <p:txBody>
          <a:bodyPr wrap="square" lIns="0" tIns="0" rIns="0" bIns="0" rtlCol="0" anchor="t"/>
          <a:lstStyle/>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add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of</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"Phú Quốc - lặn ngắm san hô, hoàng hôn..."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Map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of</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"category"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"Biển đảo"</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"price"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5990000</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&lt;Document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hits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similaritySearch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"biển yên tĩnh cho gia đình"</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topK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5</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i="1" dirty="0">
                <a:solidFill>
                  <a:srgbClr val="86B3A8"/>
                </a:solidFill>
                <a:latin typeface="Courier New" pitchFamily="34" charset="0"/>
                <a:ea typeface="Courier New" pitchFamily="34" charset="-122"/>
                <a:cs typeface="Courier New" pitchFamily="34" charset="-120"/>
              </a:rPr>
              <a:t>// tối đa 5 kết quả</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similarityThreshold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0.6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i="1" dirty="0">
                <a:solidFill>
                  <a:srgbClr val="86B3A8"/>
                </a:solidFill>
                <a:latin typeface="Courier New" pitchFamily="34" charset="0"/>
                <a:ea typeface="Courier New" pitchFamily="34" charset="-122"/>
                <a:cs typeface="Courier New" pitchFamily="34" charset="-120"/>
              </a:rPr>
              <a:t>// bỏ kết quả kém giống</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filterExpression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"price &lt;= 8000000"</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7" name="Card"/>
          <p:cNvSpPr/>
          <p:nvPr/>
        </p:nvSpPr>
        <p:spPr>
          <a:xfrm>
            <a:off x="5303520" y="4937760"/>
            <a:ext cx="6336792" cy="1188720"/>
          </a:xfrm>
          <a:prstGeom prst="roundRect">
            <a:avLst>
              <a:gd name="adj" fmla="val 7692"/>
            </a:avLst>
          </a:prstGeom>
          <a:solidFill>
            <a:schemeClr val="bg2"/>
          </a:solidFill>
          <a:ln w="12700">
            <a:solidFill>
              <a:schemeClr val="bg2"/>
            </a:solidFill>
            <a:prstDash val="solid"/>
          </a:ln>
        </p:spPr>
      </p:sp>
      <p:sp>
        <p:nvSpPr>
          <p:cNvPr id="28" name="Text 25"/>
          <p:cNvSpPr txBox="1"/>
          <p:nvPr/>
        </p:nvSpPr>
        <p:spPr>
          <a:xfrm>
            <a:off x="5532120" y="4983480"/>
            <a:ext cx="5897880" cy="1097280"/>
          </a:xfrm>
          <a:prstGeom prst="rect">
            <a:avLst/>
          </a:prstGeom>
          <a:noFill/>
          <a:ln/>
        </p:spPr>
        <p:txBody>
          <a:bodyPr wrap="square" lIns="0" tIns="0" rIns="0" bIns="0" rtlCol="0" anchor="ctr"/>
          <a:lstStyle/>
          <a:p>
            <a:pPr indent="0" marL="0">
              <a:buNone/>
            </a:pPr>
            <a:r>
              <a:rPr lang="en-US" sz="1500" b="1" dirty="0">
                <a:solidFill>
                  <a:srgbClr val="0A3833"/>
                </a:solidFill>
              </a:rPr>
              <a:t>Biểu thức lọc metadata: </a:t>
            </a:r>
            <a:r>
              <a:rPr lang="en-US" sz="1500" dirty="0">
                <a:solidFill>
                  <a:schemeClr val="tx1"/>
                </a:solidFill>
              </a:rPr>
              <a:t>==  !=  &lt;  &lt;=  &gt;  &gt;=  in  nin  &amp;&amp;  ||  — ví dụ  category == 'Biển đảo' &amp;&amp; price &lt; 8000000</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Vector DB trong dự án giỏ hàng</a:t>
            </a:r>
            <a:endParaRPr lang="en-US" sz="3200" dirty="0"/>
          </a:p>
        </p:txBody>
      </p:sp>
      <p:sp>
        <p:nvSpPr>
          <p:cNvPr id="3" name="Section chip"/>
          <p:cNvSpPr txBox="1"/>
          <p:nvPr/>
        </p:nvSpPr>
        <p:spPr>
          <a:xfrm>
            <a:off x="548640" y="246888"/>
            <a:ext cx="1938528"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1B · VECTOR DATABASE</a:t>
            </a:r>
            <a:endParaRPr lang="en-US" sz="1100" dirty="0"/>
          </a:p>
        </p:txBody>
      </p:sp>
      <p:sp>
        <p:nvSpPr>
          <p:cNvPr id="5" name="Card"/>
          <p:cNvSpPr/>
          <p:nvPr/>
        </p:nvSpPr>
        <p:spPr>
          <a:xfrm>
            <a:off x="548640" y="1463040"/>
            <a:ext cx="3611880" cy="2286000"/>
          </a:xfrm>
          <a:prstGeom prst="roundRect">
            <a:avLst>
              <a:gd name="adj" fmla="val 4000"/>
            </a:avLst>
          </a:prstGeom>
          <a:solidFill>
            <a:schemeClr val="bg2"/>
          </a:solidFill>
          <a:ln w="12700">
            <a:solidFill>
              <a:schemeClr val="bg2"/>
            </a:solidFill>
            <a:prstDash val="solid"/>
          </a:ln>
        </p:spPr>
      </p:sp>
      <p:sp>
        <p:nvSpPr>
          <p:cNvPr id="6" name="Icon circle"/>
          <p:cNvSpPr/>
          <p:nvPr/>
        </p:nvSpPr>
        <p:spPr>
          <a:xfrm>
            <a:off x="731520" y="1627632"/>
            <a:ext cx="502920" cy="502920"/>
          </a:xfrm>
          <a:prstGeom prst="ellipse">
            <a:avLst/>
          </a:prstGeom>
          <a:solidFill>
            <a:schemeClr val="accent1"/>
          </a:solidFill>
          <a:ln w="12700">
            <a:solidFill>
              <a:schemeClr val="accent1"/>
            </a:solidFill>
            <a:prstDash val="solid"/>
          </a:ln>
        </p:spPr>
      </p:sp>
      <p:pic>
        <p:nvPicPr>
          <p:cNvPr id="7" name="Image 0" descr="Search icon">    </p:cNvPr>
          <p:cNvPicPr>
            <a:picLocks noChangeAspect="1"/>
          </p:cNvPicPr>
          <p:nvPr/>
        </p:nvPicPr>
        <p:blipFill>
          <a:blip r:embed="rId1"/>
          <a:stretch>
            <a:fillRect/>
          </a:stretch>
        </p:blipFill>
        <p:spPr>
          <a:xfrm>
            <a:off x="852221" y="1748333"/>
            <a:ext cx="261518" cy="261518"/>
          </a:xfrm>
          <a:prstGeom prst="rect">
            <a:avLst/>
          </a:prstGeom>
        </p:spPr>
      </p:pic>
      <p:sp>
        <p:nvSpPr>
          <p:cNvPr id="8" name="Text 4"/>
          <p:cNvSpPr txBox="1"/>
          <p:nvPr/>
        </p:nvSpPr>
        <p:spPr>
          <a:xfrm>
            <a:off x="137160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Semantic search</a:t>
            </a:r>
            <a:endParaRPr lang="en-US" sz="1600" dirty="0"/>
          </a:p>
        </p:txBody>
      </p:sp>
      <p:sp>
        <p:nvSpPr>
          <p:cNvPr id="9" name="Text 5"/>
          <p:cNvSpPr txBox="1"/>
          <p:nvPr/>
        </p:nvSpPr>
        <p:spPr>
          <a:xfrm>
            <a:off x="73152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Tìm theo ý, không chỉ theo từ khoá. LIKE '%biển%' bỏ sót “đảo xanh, nghỉ dưỡng”; vector search khớp được.</a:t>
            </a:r>
            <a:endParaRPr lang="en-US" sz="1500" dirty="0"/>
          </a:p>
        </p:txBody>
      </p:sp>
      <p:sp>
        <p:nvSpPr>
          <p:cNvPr id="10" name="Card"/>
          <p:cNvSpPr/>
          <p:nvPr/>
        </p:nvSpPr>
        <p:spPr>
          <a:xfrm>
            <a:off x="4297680" y="1463040"/>
            <a:ext cx="3611880" cy="2286000"/>
          </a:xfrm>
          <a:prstGeom prst="roundRect">
            <a:avLst>
              <a:gd name="adj" fmla="val 4000"/>
            </a:avLst>
          </a:prstGeom>
          <a:solidFill>
            <a:schemeClr val="bg2"/>
          </a:solidFill>
          <a:ln w="12700">
            <a:solidFill>
              <a:schemeClr val="bg2"/>
            </a:solidFill>
            <a:prstDash val="solid"/>
          </a:ln>
        </p:spPr>
      </p:sp>
      <p:sp>
        <p:nvSpPr>
          <p:cNvPr id="11" name="Icon circle"/>
          <p:cNvSpPr/>
          <p:nvPr/>
        </p:nvSpPr>
        <p:spPr>
          <a:xfrm>
            <a:off x="4480560" y="1627632"/>
            <a:ext cx="502920" cy="502920"/>
          </a:xfrm>
          <a:prstGeom prst="ellipse">
            <a:avLst/>
          </a:prstGeom>
          <a:solidFill>
            <a:schemeClr val="accent1"/>
          </a:solidFill>
          <a:ln w="12700">
            <a:solidFill>
              <a:schemeClr val="accent1"/>
            </a:solidFill>
            <a:prstDash val="solid"/>
          </a:ln>
        </p:spPr>
      </p:sp>
      <p:pic>
        <p:nvPicPr>
          <p:cNvPr id="12" name="Image 1" descr="ShoppingCart icon">    </p:cNvPr>
          <p:cNvPicPr>
            <a:picLocks noChangeAspect="1"/>
          </p:cNvPicPr>
          <p:nvPr/>
        </p:nvPicPr>
        <p:blipFill>
          <a:blip r:embed="rId2"/>
          <a:stretch>
            <a:fillRect/>
          </a:stretch>
        </p:blipFill>
        <p:spPr>
          <a:xfrm>
            <a:off x="4601261" y="1748333"/>
            <a:ext cx="261518" cy="261518"/>
          </a:xfrm>
          <a:prstGeom prst="rect">
            <a:avLst/>
          </a:prstGeom>
        </p:spPr>
      </p:pic>
      <p:sp>
        <p:nvSpPr>
          <p:cNvPr id="13" name="Text 8"/>
          <p:cNvSpPr txBox="1"/>
          <p:nvPr/>
        </p:nvSpPr>
        <p:spPr>
          <a:xfrm>
            <a:off x="512064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Sản phẩm tương tự</a:t>
            </a:r>
            <a:endParaRPr lang="en-US" sz="1600" dirty="0"/>
          </a:p>
        </p:txBody>
      </p:sp>
      <p:sp>
        <p:nvSpPr>
          <p:cNvPr id="14" name="Text 9"/>
          <p:cNvSpPr txBox="1"/>
          <p:nvPr/>
        </p:nvSpPr>
        <p:spPr>
          <a:xfrm>
            <a:off x="448056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Lấy vector của sản phẩm đang xem, tìm các sản phẩm gần nhất: “khách xem X cũng quan tâm Y”.</a:t>
            </a:r>
            <a:endParaRPr lang="en-US" sz="1500" dirty="0"/>
          </a:p>
        </p:txBody>
      </p:sp>
      <p:sp>
        <p:nvSpPr>
          <p:cNvPr id="15" name="Card"/>
          <p:cNvSpPr/>
          <p:nvPr/>
        </p:nvSpPr>
        <p:spPr>
          <a:xfrm>
            <a:off x="8046720" y="1463040"/>
            <a:ext cx="3611880" cy="2286000"/>
          </a:xfrm>
          <a:prstGeom prst="roundRect">
            <a:avLst>
              <a:gd name="adj" fmla="val 4000"/>
            </a:avLst>
          </a:prstGeom>
          <a:solidFill>
            <a:schemeClr val="bg2"/>
          </a:solidFill>
          <a:ln w="12700">
            <a:solidFill>
              <a:schemeClr val="bg2"/>
            </a:solidFill>
            <a:prstDash val="solid"/>
          </a:ln>
        </p:spPr>
      </p:sp>
      <p:sp>
        <p:nvSpPr>
          <p:cNvPr id="16" name="Icon circle"/>
          <p:cNvSpPr/>
          <p:nvPr/>
        </p:nvSpPr>
        <p:spPr>
          <a:xfrm>
            <a:off x="8229600" y="1627632"/>
            <a:ext cx="502920" cy="502920"/>
          </a:xfrm>
          <a:prstGeom prst="ellipse">
            <a:avLst/>
          </a:prstGeom>
          <a:solidFill>
            <a:schemeClr val="accent1"/>
          </a:solidFill>
          <a:ln w="12700">
            <a:solidFill>
              <a:schemeClr val="accent1"/>
            </a:solidFill>
            <a:prstDash val="solid"/>
          </a:ln>
        </p:spPr>
      </p:sp>
      <p:pic>
        <p:nvPicPr>
          <p:cNvPr id="17" name="Image 2" descr="Robot icon">    </p:cNvPr>
          <p:cNvPicPr>
            <a:picLocks noChangeAspect="1"/>
          </p:cNvPicPr>
          <p:nvPr/>
        </p:nvPicPr>
        <p:blipFill>
          <a:blip r:embed="rId3"/>
          <a:stretch>
            <a:fillRect/>
          </a:stretch>
        </p:blipFill>
        <p:spPr>
          <a:xfrm>
            <a:off x="8350301" y="1748333"/>
            <a:ext cx="261518" cy="261518"/>
          </a:xfrm>
          <a:prstGeom prst="rect">
            <a:avLst/>
          </a:prstGeom>
        </p:spPr>
      </p:pic>
      <p:sp>
        <p:nvSpPr>
          <p:cNvPr id="18" name="Text 12"/>
          <p:cNvSpPr txBox="1"/>
          <p:nvPr/>
        </p:nvSpPr>
        <p:spPr>
          <a:xfrm>
            <a:off x="8869680" y="1627632"/>
            <a:ext cx="2651760" cy="502920"/>
          </a:xfrm>
          <a:prstGeom prst="rect">
            <a:avLst/>
          </a:prstGeom>
          <a:noFill/>
          <a:ln/>
        </p:spPr>
        <p:txBody>
          <a:bodyPr wrap="square" lIns="0" tIns="0" rIns="0" bIns="0" rtlCol="0" anchor="ctr"/>
          <a:lstStyle/>
          <a:p>
            <a:pPr indent="0" marL="0">
              <a:buNone/>
            </a:pPr>
            <a:r>
              <a:rPr lang="en-US" sz="1600" b="1" dirty="0">
                <a:solidFill>
                  <a:schemeClr val="tx2"/>
                </a:solidFill>
              </a:rPr>
              <a:t>Chatbot tư vấn (RAG)</a:t>
            </a:r>
            <a:endParaRPr lang="en-US" sz="1600" dirty="0"/>
          </a:p>
        </p:txBody>
      </p:sp>
      <p:sp>
        <p:nvSpPr>
          <p:cNvPr id="19" name="Text 13"/>
          <p:cNvSpPr txBox="1"/>
          <p:nvPr/>
        </p:nvSpPr>
        <p:spPr>
          <a:xfrm>
            <a:off x="8229600" y="2286000"/>
            <a:ext cx="3246120" cy="1417320"/>
          </a:xfrm>
          <a:prstGeom prst="rect">
            <a:avLst/>
          </a:prstGeom>
          <a:noFill/>
          <a:ln/>
        </p:spPr>
        <p:txBody>
          <a:bodyPr wrap="square" lIns="0" tIns="0" rIns="0" bIns="0" rtlCol="0" anchor="t"/>
          <a:lstStyle/>
          <a:p>
            <a:pPr indent="0" marL="0">
              <a:buNone/>
            </a:pPr>
            <a:r>
              <a:rPr lang="en-US" sz="1500" dirty="0">
                <a:solidFill>
                  <a:schemeClr val="tx1"/>
                </a:solidFill>
              </a:rPr>
              <a:t>Lấy mô tả, chính sách, đánh giá liên quan làm ngữ cảnh để LLM trả lời đúng dữ liệu của cửa hàng.</a:t>
            </a:r>
            <a:endParaRPr lang="en-US" sz="1500" dirty="0"/>
          </a:p>
        </p:txBody>
      </p:sp>
      <p:sp>
        <p:nvSpPr>
          <p:cNvPr id="20" name="Card"/>
          <p:cNvSpPr/>
          <p:nvPr/>
        </p:nvSpPr>
        <p:spPr>
          <a:xfrm>
            <a:off x="548640" y="3931920"/>
            <a:ext cx="11091672" cy="2331720"/>
          </a:xfrm>
          <a:prstGeom prst="roundRect">
            <a:avLst>
              <a:gd name="adj" fmla="val 3922"/>
            </a:avLst>
          </a:prstGeom>
          <a:solidFill>
            <a:schemeClr val="tx2"/>
          </a:solidFill>
          <a:ln w="12700">
            <a:solidFill>
              <a:schemeClr val="tx2"/>
            </a:solidFill>
            <a:prstDash val="solid"/>
          </a:ln>
        </p:spPr>
      </p:sp>
      <p:sp>
        <p:nvSpPr>
          <p:cNvPr id="21" name="Icon circle"/>
          <p:cNvSpPr/>
          <p:nvPr/>
        </p:nvSpPr>
        <p:spPr>
          <a:xfrm>
            <a:off x="777240" y="4069080"/>
            <a:ext cx="457200" cy="457200"/>
          </a:xfrm>
          <a:prstGeom prst="ellipse">
            <a:avLst/>
          </a:prstGeom>
          <a:solidFill>
            <a:schemeClr val="accent2"/>
          </a:solidFill>
          <a:ln w="12700">
            <a:solidFill>
              <a:schemeClr val="accent2"/>
            </a:solidFill>
            <a:prstDash val="solid"/>
          </a:ln>
        </p:spPr>
      </p:sp>
      <p:pic>
        <p:nvPicPr>
          <p:cNvPr id="22" name="Image 3" descr="ChartBar icon">    </p:cNvPr>
          <p:cNvPicPr>
            <a:picLocks noChangeAspect="1"/>
          </p:cNvPicPr>
          <p:nvPr/>
        </p:nvPicPr>
        <p:blipFill>
          <a:blip r:embed="rId4"/>
          <a:stretch>
            <a:fillRect/>
          </a:stretch>
        </p:blipFill>
        <p:spPr>
          <a:xfrm>
            <a:off x="886968" y="4178808"/>
            <a:ext cx="237744" cy="237744"/>
          </a:xfrm>
          <a:prstGeom prst="rect">
            <a:avLst/>
          </a:prstGeom>
        </p:spPr>
      </p:pic>
      <p:sp>
        <p:nvSpPr>
          <p:cNvPr id="23" name="Text 16"/>
          <p:cNvSpPr txBox="1"/>
          <p:nvPr/>
        </p:nvSpPr>
        <p:spPr>
          <a:xfrm>
            <a:off x="1417320" y="4069080"/>
            <a:ext cx="5486400" cy="457200"/>
          </a:xfrm>
          <a:prstGeom prst="rect">
            <a:avLst/>
          </a:prstGeom>
          <a:noFill/>
          <a:ln/>
        </p:spPr>
        <p:txBody>
          <a:bodyPr wrap="square" lIns="0" tIns="0" rIns="0" bIns="0" rtlCol="0" anchor="ctr"/>
          <a:lstStyle/>
          <a:p>
            <a:pPr indent="0" marL="0">
              <a:buNone/>
            </a:pPr>
            <a:r>
              <a:rPr lang="en-US" sz="1700" b="1" dirty="0">
                <a:solidFill>
                  <a:schemeClr val="bg1"/>
                </a:solidFill>
              </a:rPr>
              <a:t>Thống kê theo tiêu chí</a:t>
            </a:r>
            <a:endParaRPr lang="en-US" sz="1700" dirty="0"/>
          </a:p>
        </p:txBody>
      </p:sp>
      <p:sp>
        <p:nvSpPr>
          <p:cNvPr id="24" name="Text 17"/>
          <p:cNvSpPr txBox="1"/>
          <p:nvPr/>
        </p:nvSpPr>
        <p:spPr>
          <a:xfrm>
            <a:off x="77724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Lọc metadata rồi đếm</a:t>
            </a:r>
            <a:endParaRPr lang="en-US" sz="1400" dirty="0"/>
          </a:p>
        </p:txBody>
      </p:sp>
      <p:sp>
        <p:nvSpPr>
          <p:cNvPr id="25" name="Text 18"/>
          <p:cNvSpPr txBox="1"/>
          <p:nvPr/>
        </p:nvSpPr>
        <p:spPr>
          <a:xfrm>
            <a:off x="77724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filterExpression theo category, price, rating; đếm/xếp hạng kết quả khớp</a:t>
            </a:r>
            <a:endParaRPr lang="en-US" sz="1300" dirty="0"/>
          </a:p>
        </p:txBody>
      </p:sp>
      <p:sp>
        <p:nvSpPr>
          <p:cNvPr id="26" name="Text 19"/>
          <p:cNvSpPr txBox="1"/>
          <p:nvPr/>
        </p:nvSpPr>
        <p:spPr>
          <a:xfrm>
            <a:off x="438912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Nhóm theo chủ đề</a:t>
            </a:r>
            <a:endParaRPr lang="en-US" sz="1400" dirty="0"/>
          </a:p>
        </p:txBody>
      </p:sp>
      <p:sp>
        <p:nvSpPr>
          <p:cNvPr id="27" name="Text 20"/>
          <p:cNvSpPr txBox="1"/>
          <p:nvPr/>
        </p:nvSpPr>
        <p:spPr>
          <a:xfrm>
            <a:off x="438912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Gom sản phẩm hay đánh giá có vector gần nhau (cluster) để thống kê theo nhóm ngữ nghĩa</a:t>
            </a:r>
            <a:endParaRPr lang="en-US" sz="1300" dirty="0"/>
          </a:p>
        </p:txBody>
      </p:sp>
      <p:sp>
        <p:nvSpPr>
          <p:cNvPr id="28" name="Text 21"/>
          <p:cNvSpPr txBox="1"/>
          <p:nvPr/>
        </p:nvSpPr>
        <p:spPr>
          <a:xfrm>
            <a:off x="8001000" y="4663440"/>
            <a:ext cx="3383280" cy="274320"/>
          </a:xfrm>
          <a:prstGeom prst="rect">
            <a:avLst/>
          </a:prstGeom>
          <a:noFill/>
          <a:ln/>
        </p:spPr>
        <p:txBody>
          <a:bodyPr wrap="square" lIns="0" tIns="0" rIns="0" bIns="0" rtlCol="0" anchor="t"/>
          <a:lstStyle/>
          <a:p>
            <a:pPr indent="0" marL="0">
              <a:buNone/>
            </a:pPr>
            <a:r>
              <a:rPr lang="en-US" sz="1400" b="1" dirty="0">
                <a:solidFill>
                  <a:schemeClr val="accent2"/>
                </a:solidFill>
              </a:rPr>
              <a:t>LLM + Structured Output</a:t>
            </a:r>
            <a:endParaRPr lang="en-US" sz="1400" dirty="0"/>
          </a:p>
        </p:txBody>
      </p:sp>
      <p:sp>
        <p:nvSpPr>
          <p:cNvPr id="29" name="Text 22"/>
          <p:cNvSpPr txBox="1"/>
          <p:nvPr/>
        </p:nvSpPr>
        <p:spPr>
          <a:xfrm>
            <a:off x="8001000" y="4983480"/>
            <a:ext cx="3383280" cy="822960"/>
          </a:xfrm>
          <a:prstGeom prst="rect">
            <a:avLst/>
          </a:prstGeom>
          <a:noFill/>
          <a:ln/>
        </p:spPr>
        <p:txBody>
          <a:bodyPr wrap="square" lIns="0" tIns="0" rIns="0" bIns="0" rtlCol="0" anchor="t"/>
          <a:lstStyle/>
          <a:p>
            <a:pPr indent="0" marL="0">
              <a:buNone/>
            </a:pPr>
            <a:r>
              <a:rPr lang="en-US" sz="1300" dirty="0">
                <a:solidFill>
                  <a:schemeClr val="bg1"/>
                </a:solidFill>
              </a:rPr>
              <a:t>Phân loại đánh giá (tích cực/tiêu cực, chủ đề) thành record rồi đếm bằng SQL</a:t>
            </a:r>
            <a:endParaRPr lang="en-US" sz="1300" dirty="0"/>
          </a:p>
        </p:txBody>
      </p:sp>
      <p:sp>
        <p:nvSpPr>
          <p:cNvPr id="30" name="Text 23"/>
          <p:cNvSpPr txBox="1"/>
          <p:nvPr/>
        </p:nvSpPr>
        <p:spPr>
          <a:xfrm>
            <a:off x="777240" y="5852160"/>
            <a:ext cx="10634472" cy="320040"/>
          </a:xfrm>
          <a:prstGeom prst="rect">
            <a:avLst/>
          </a:prstGeom>
          <a:noFill/>
          <a:ln/>
        </p:spPr>
        <p:txBody>
          <a:bodyPr wrap="square" lIns="0" tIns="0" rIns="0" bIns="0" rtlCol="0" anchor="t"/>
          <a:lstStyle/>
          <a:p>
            <a:pPr indent="0" marL="0">
              <a:buNone/>
            </a:pPr>
            <a:r>
              <a:rPr lang="en-US" sz="1300" i="1" dirty="0">
                <a:solidFill>
                  <a:schemeClr val="accent5"/>
                </a:solidFill>
              </a:rPr>
              <a:t>Vector DB tối ưu cho tìm tương đồng; tổng hợp SUM/GROUP BY vẫn dùng SQL → kết hợp cả hai (hybrid).</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Best practices và DevOps cho ứng dụng AI</a:t>
            </a:r>
            <a:endParaRPr lang="en-US" sz="3200" dirty="0"/>
          </a:p>
        </p:txBody>
      </p:sp>
      <p:sp>
        <p:nvSpPr>
          <p:cNvPr id="3" name="Section chip"/>
          <p:cNvSpPr txBox="1"/>
          <p:nvPr/>
        </p:nvSpPr>
        <p:spPr>
          <a:xfrm>
            <a:off x="548640" y="246888"/>
            <a:ext cx="1417320"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1A · SPRING AI</a:t>
            </a:r>
            <a:endParaRPr lang="en-US" sz="1100" dirty="0"/>
          </a:p>
        </p:txBody>
      </p:sp>
      <p:sp>
        <p:nvSpPr>
          <p:cNvPr id="5" name="Card"/>
          <p:cNvSpPr/>
          <p:nvPr/>
        </p:nvSpPr>
        <p:spPr>
          <a:xfrm>
            <a:off x="548640" y="1463040"/>
            <a:ext cx="2679192" cy="2697480"/>
          </a:xfrm>
          <a:prstGeom prst="roundRect">
            <a:avLst>
              <a:gd name="adj" fmla="val 3413"/>
            </a:avLst>
          </a:prstGeom>
          <a:solidFill>
            <a:schemeClr val="bg2"/>
          </a:solidFill>
          <a:ln w="12700">
            <a:solidFill>
              <a:schemeClr val="bg2"/>
            </a:solidFill>
            <a:prstDash val="solid"/>
          </a:ln>
        </p:spPr>
      </p:sp>
      <p:sp>
        <p:nvSpPr>
          <p:cNvPr id="6" name="Icon circle"/>
          <p:cNvSpPr/>
          <p:nvPr/>
        </p:nvSpPr>
        <p:spPr>
          <a:xfrm>
            <a:off x="731520" y="1627632"/>
            <a:ext cx="457200" cy="457200"/>
          </a:xfrm>
          <a:prstGeom prst="ellipse">
            <a:avLst/>
          </a:prstGeom>
          <a:solidFill>
            <a:schemeClr val="accent1"/>
          </a:solidFill>
          <a:ln w="12700">
            <a:solidFill>
              <a:schemeClr val="accent1"/>
            </a:solidFill>
            <a:prstDash val="solid"/>
          </a:ln>
        </p:spPr>
      </p:sp>
      <p:pic>
        <p:nvPicPr>
          <p:cNvPr id="7" name="Image 0" descr="Key icon">    </p:cNvPr>
          <p:cNvPicPr>
            <a:picLocks noChangeAspect="1"/>
          </p:cNvPicPr>
          <p:nvPr/>
        </p:nvPicPr>
        <p:blipFill>
          <a:blip r:embed="rId1"/>
          <a:stretch>
            <a:fillRect/>
          </a:stretch>
        </p:blipFill>
        <p:spPr>
          <a:xfrm>
            <a:off x="841248" y="1737360"/>
            <a:ext cx="237744" cy="237744"/>
          </a:xfrm>
          <a:prstGeom prst="rect">
            <a:avLst/>
          </a:prstGeom>
        </p:spPr>
      </p:pic>
      <p:sp>
        <p:nvSpPr>
          <p:cNvPr id="8" name="Text 4"/>
          <p:cNvSpPr txBox="1"/>
          <p:nvPr/>
        </p:nvSpPr>
        <p:spPr>
          <a:xfrm>
            <a:off x="1325880"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Bảo mật &amp; cấu hình</a:t>
            </a:r>
            <a:endParaRPr lang="en-US" sz="1400" dirty="0"/>
          </a:p>
        </p:txBody>
      </p:sp>
      <p:sp>
        <p:nvSpPr>
          <p:cNvPr id="9" name="Text 5"/>
          <p:cNvSpPr txBox="1"/>
          <p:nvPr/>
        </p:nvSpPr>
        <p:spPr>
          <a:xfrm>
            <a:off x="731520"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API key trong env, Vault hoặc CI secrets</a:t>
            </a:r>
            <a:endParaRPr lang="en-US" sz="1400" dirty="0"/>
          </a:p>
          <a:p>
            <a:pPr marL="177800" indent="-177800">
              <a:spcAft>
                <a:spcPts val="800"/>
              </a:spcAft>
              <a:buSzPct val="100000"/>
              <a:buChar char="•"/>
            </a:pPr>
            <a:r>
              <a:rPr lang="en-US" sz="1400" dirty="0">
                <a:solidFill>
                  <a:schemeClr val="tx1"/>
                </a:solidFill>
              </a:rPr>
              <a:t>Không commit key; thu hồi key bị lộ</a:t>
            </a:r>
            <a:endParaRPr lang="en-US" sz="1400" dirty="0"/>
          </a:p>
        </p:txBody>
      </p:sp>
      <p:sp>
        <p:nvSpPr>
          <p:cNvPr id="10" name="Card"/>
          <p:cNvSpPr/>
          <p:nvPr/>
        </p:nvSpPr>
        <p:spPr>
          <a:xfrm>
            <a:off x="3346704" y="1463040"/>
            <a:ext cx="2679192" cy="2697480"/>
          </a:xfrm>
          <a:prstGeom prst="roundRect">
            <a:avLst>
              <a:gd name="adj" fmla="val 3413"/>
            </a:avLst>
          </a:prstGeom>
          <a:solidFill>
            <a:schemeClr val="bg2"/>
          </a:solidFill>
          <a:ln w="12700">
            <a:solidFill>
              <a:schemeClr val="bg2"/>
            </a:solidFill>
            <a:prstDash val="solid"/>
          </a:ln>
        </p:spPr>
      </p:sp>
      <p:sp>
        <p:nvSpPr>
          <p:cNvPr id="11" name="Icon circle"/>
          <p:cNvSpPr/>
          <p:nvPr/>
        </p:nvSpPr>
        <p:spPr>
          <a:xfrm>
            <a:off x="3529584" y="1627632"/>
            <a:ext cx="457200" cy="457200"/>
          </a:xfrm>
          <a:prstGeom prst="ellipse">
            <a:avLst/>
          </a:prstGeom>
          <a:solidFill>
            <a:schemeClr val="accent1"/>
          </a:solidFill>
          <a:ln w="12700">
            <a:solidFill>
              <a:schemeClr val="accent1"/>
            </a:solidFill>
            <a:prstDash val="solid"/>
          </a:ln>
        </p:spPr>
      </p:sp>
      <p:pic>
        <p:nvPicPr>
          <p:cNvPr id="12" name="Image 1" descr="Bolt icon">    </p:cNvPr>
          <p:cNvPicPr>
            <a:picLocks noChangeAspect="1"/>
          </p:cNvPicPr>
          <p:nvPr/>
        </p:nvPicPr>
        <p:blipFill>
          <a:blip r:embed="rId2"/>
          <a:stretch>
            <a:fillRect/>
          </a:stretch>
        </p:blipFill>
        <p:spPr>
          <a:xfrm>
            <a:off x="3639312" y="1737360"/>
            <a:ext cx="237744" cy="237744"/>
          </a:xfrm>
          <a:prstGeom prst="rect">
            <a:avLst/>
          </a:prstGeom>
        </p:spPr>
      </p:pic>
      <p:sp>
        <p:nvSpPr>
          <p:cNvPr id="13" name="Text 8"/>
          <p:cNvSpPr txBox="1"/>
          <p:nvPr/>
        </p:nvSpPr>
        <p:spPr>
          <a:xfrm>
            <a:off x="4123944"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Tối ưu prompt</a:t>
            </a:r>
            <a:endParaRPr lang="en-US" sz="1400" dirty="0"/>
          </a:p>
        </p:txBody>
      </p:sp>
      <p:sp>
        <p:nvSpPr>
          <p:cNvPr id="14" name="Text 9"/>
          <p:cNvSpPr txBox="1"/>
          <p:nvPr/>
        </p:nvSpPr>
        <p:spPr>
          <a:xfrm>
            <a:off x="3529584"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Prompt ngắn để tiết kiệm token</a:t>
            </a:r>
            <a:endParaRPr lang="en-US" sz="1400" dirty="0"/>
          </a:p>
          <a:p>
            <a:pPr marL="177800" indent="-177800">
              <a:spcAft>
                <a:spcPts val="800"/>
              </a:spcAft>
              <a:buSzPct val="100000"/>
              <a:buChar char="•"/>
            </a:pPr>
            <a:r>
              <a:rPr lang="en-US" sz="1400" dirty="0">
                <a:solidFill>
                  <a:schemeClr val="tx1"/>
                </a:solidFill>
              </a:rPr>
              <a:t>Dùng template; tách ngữ cảnh và câu hỏi</a:t>
            </a:r>
            <a:endParaRPr lang="en-US" sz="1400" dirty="0"/>
          </a:p>
        </p:txBody>
      </p:sp>
      <p:sp>
        <p:nvSpPr>
          <p:cNvPr id="15" name="Card"/>
          <p:cNvSpPr/>
          <p:nvPr/>
        </p:nvSpPr>
        <p:spPr>
          <a:xfrm>
            <a:off x="6144768" y="1463040"/>
            <a:ext cx="2679192" cy="2697480"/>
          </a:xfrm>
          <a:prstGeom prst="roundRect">
            <a:avLst>
              <a:gd name="adj" fmla="val 3413"/>
            </a:avLst>
          </a:prstGeom>
          <a:solidFill>
            <a:schemeClr val="bg2"/>
          </a:solidFill>
          <a:ln w="12700">
            <a:solidFill>
              <a:schemeClr val="bg2"/>
            </a:solidFill>
            <a:prstDash val="solid"/>
          </a:ln>
        </p:spPr>
      </p:sp>
      <p:sp>
        <p:nvSpPr>
          <p:cNvPr id="16" name="Icon circle"/>
          <p:cNvSpPr/>
          <p:nvPr/>
        </p:nvSpPr>
        <p:spPr>
          <a:xfrm>
            <a:off x="6327648" y="1627632"/>
            <a:ext cx="457200" cy="457200"/>
          </a:xfrm>
          <a:prstGeom prst="ellipse">
            <a:avLst/>
          </a:prstGeom>
          <a:solidFill>
            <a:schemeClr val="accent1"/>
          </a:solidFill>
          <a:ln w="12700">
            <a:solidFill>
              <a:schemeClr val="accent1"/>
            </a:solidFill>
            <a:prstDash val="solid"/>
          </a:ln>
        </p:spPr>
      </p:sp>
      <p:pic>
        <p:nvPicPr>
          <p:cNvPr id="17" name="Image 2" descr="Bug icon">    </p:cNvPr>
          <p:cNvPicPr>
            <a:picLocks noChangeAspect="1"/>
          </p:cNvPicPr>
          <p:nvPr/>
        </p:nvPicPr>
        <p:blipFill>
          <a:blip r:embed="rId3"/>
          <a:stretch>
            <a:fillRect/>
          </a:stretch>
        </p:blipFill>
        <p:spPr>
          <a:xfrm>
            <a:off x="6437376" y="1737360"/>
            <a:ext cx="237744" cy="237744"/>
          </a:xfrm>
          <a:prstGeom prst="rect">
            <a:avLst/>
          </a:prstGeom>
        </p:spPr>
      </p:pic>
      <p:sp>
        <p:nvSpPr>
          <p:cNvPr id="18" name="Text 12"/>
          <p:cNvSpPr txBox="1"/>
          <p:nvPr/>
        </p:nvSpPr>
        <p:spPr>
          <a:xfrm>
            <a:off x="6922008"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Logging &amp; debug</a:t>
            </a:r>
            <a:endParaRPr lang="en-US" sz="1400" dirty="0"/>
          </a:p>
        </p:txBody>
      </p:sp>
      <p:sp>
        <p:nvSpPr>
          <p:cNvPr id="19" name="Text 13"/>
          <p:cNvSpPr txBox="1"/>
          <p:nvPr/>
        </p:nvSpPr>
        <p:spPr>
          <a:xfrm>
            <a:off x="6327648"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Log input, prompt, response</a:t>
            </a:r>
            <a:endParaRPr lang="en-US" sz="1400" dirty="0"/>
          </a:p>
          <a:p>
            <a:pPr marL="177800" indent="-177800">
              <a:spcAft>
                <a:spcPts val="800"/>
              </a:spcAft>
              <a:buSzPct val="100000"/>
              <a:buChar char="•"/>
            </a:pPr>
            <a:r>
              <a:rPr lang="en-US" sz="1400" dirty="0">
                <a:solidFill>
                  <a:schemeClr val="tx1"/>
                </a:solidFill>
              </a:rPr>
              <a:t>Theo dõi độ trễ (latency)</a:t>
            </a:r>
            <a:endParaRPr lang="en-US" sz="1400" dirty="0"/>
          </a:p>
        </p:txBody>
      </p:sp>
      <p:sp>
        <p:nvSpPr>
          <p:cNvPr id="20" name="Card"/>
          <p:cNvSpPr/>
          <p:nvPr/>
        </p:nvSpPr>
        <p:spPr>
          <a:xfrm>
            <a:off x="8942832" y="1463040"/>
            <a:ext cx="2679192" cy="2697480"/>
          </a:xfrm>
          <a:prstGeom prst="roundRect">
            <a:avLst>
              <a:gd name="adj" fmla="val 3413"/>
            </a:avLst>
          </a:prstGeom>
          <a:solidFill>
            <a:schemeClr val="bg2"/>
          </a:solidFill>
          <a:ln w="12700">
            <a:solidFill>
              <a:schemeClr val="bg2"/>
            </a:solidFill>
            <a:prstDash val="solid"/>
          </a:ln>
        </p:spPr>
      </p:sp>
      <p:sp>
        <p:nvSpPr>
          <p:cNvPr id="21" name="Icon circle"/>
          <p:cNvSpPr/>
          <p:nvPr/>
        </p:nvSpPr>
        <p:spPr>
          <a:xfrm>
            <a:off x="9125712" y="1627632"/>
            <a:ext cx="457200" cy="457200"/>
          </a:xfrm>
          <a:prstGeom prst="ellipse">
            <a:avLst/>
          </a:prstGeom>
          <a:solidFill>
            <a:schemeClr val="accent1"/>
          </a:solidFill>
          <a:ln w="12700">
            <a:solidFill>
              <a:schemeClr val="accent1"/>
            </a:solidFill>
            <a:prstDash val="solid"/>
          </a:ln>
        </p:spPr>
      </p:sp>
      <p:pic>
        <p:nvPicPr>
          <p:cNvPr id="22" name="Image 3" descr="LayerGroup icon">    </p:cNvPr>
          <p:cNvPicPr>
            <a:picLocks noChangeAspect="1"/>
          </p:cNvPicPr>
          <p:nvPr/>
        </p:nvPicPr>
        <p:blipFill>
          <a:blip r:embed="rId4"/>
          <a:stretch>
            <a:fillRect/>
          </a:stretch>
        </p:blipFill>
        <p:spPr>
          <a:xfrm>
            <a:off x="9235440" y="1737360"/>
            <a:ext cx="237744" cy="237744"/>
          </a:xfrm>
          <a:prstGeom prst="rect">
            <a:avLst/>
          </a:prstGeom>
        </p:spPr>
      </p:pic>
      <p:sp>
        <p:nvSpPr>
          <p:cNvPr id="23" name="Text 16"/>
          <p:cNvSpPr txBox="1"/>
          <p:nvPr/>
        </p:nvSpPr>
        <p:spPr>
          <a:xfrm>
            <a:off x="9720072" y="1627632"/>
            <a:ext cx="1828800" cy="457200"/>
          </a:xfrm>
          <a:prstGeom prst="rect">
            <a:avLst/>
          </a:prstGeom>
          <a:noFill/>
          <a:ln/>
        </p:spPr>
        <p:txBody>
          <a:bodyPr wrap="square" lIns="0" tIns="0" rIns="0" bIns="0" rtlCol="0" anchor="ctr"/>
          <a:lstStyle/>
          <a:p>
            <a:pPr indent="0" marL="0">
              <a:buNone/>
            </a:pPr>
            <a:r>
              <a:rPr lang="en-US" sz="1400" b="1" dirty="0">
                <a:solidFill>
                  <a:schemeClr val="tx2"/>
                </a:solidFill>
              </a:rPr>
              <a:t>Thiết kế module</a:t>
            </a:r>
            <a:endParaRPr lang="en-US" sz="1400" dirty="0"/>
          </a:p>
        </p:txBody>
      </p:sp>
      <p:sp>
        <p:nvSpPr>
          <p:cNvPr id="24" name="Text 17"/>
          <p:cNvSpPr txBox="1"/>
          <p:nvPr/>
        </p:nvSpPr>
        <p:spPr>
          <a:xfrm>
            <a:off x="9125712" y="2286000"/>
            <a:ext cx="2331720" cy="1828800"/>
          </a:xfrm>
          <a:prstGeom prst="rect">
            <a:avLst/>
          </a:prstGeom>
          <a:noFill/>
          <a:ln/>
        </p:spPr>
        <p:txBody>
          <a:bodyPr wrap="square" lIns="0" tIns="0" rIns="0" bIns="0" rtlCol="0" anchor="t"/>
          <a:lstStyle/>
          <a:p>
            <a:pPr marL="177800" indent="-177800">
              <a:spcAft>
                <a:spcPts val="800"/>
              </a:spcAft>
              <a:buSzPct val="100000"/>
              <a:buChar char="•"/>
            </a:pPr>
            <a:r>
              <a:rPr lang="en-US" sz="1400" dirty="0">
                <a:solidFill>
                  <a:schemeClr val="tx1"/>
                </a:solidFill>
              </a:rPr>
              <a:t>Mỗi dịch vụ AI một interface để đổi model</a:t>
            </a:r>
            <a:endParaRPr lang="en-US" sz="1400" dirty="0"/>
          </a:p>
          <a:p>
            <a:pPr marL="177800" indent="-177800">
              <a:spcAft>
                <a:spcPts val="800"/>
              </a:spcAft>
              <a:buSzPct val="100000"/>
              <a:buChar char="•"/>
            </a:pPr>
            <a:r>
              <a:rPr lang="en-US" sz="1400" dirty="0">
                <a:solidFill>
                  <a:schemeClr val="tx1"/>
                </a:solidFill>
              </a:rPr>
              <a:t>Mock phản hồi AI trong unit test</a:t>
            </a:r>
            <a:endParaRPr lang="en-US" sz="1400" dirty="0"/>
          </a:p>
        </p:txBody>
      </p:sp>
      <p:sp>
        <p:nvSpPr>
          <p:cNvPr id="25" name="Text 18"/>
          <p:cNvSpPr txBox="1"/>
          <p:nvPr/>
        </p:nvSpPr>
        <p:spPr>
          <a:xfrm>
            <a:off x="548640" y="4389120"/>
            <a:ext cx="7315200" cy="274320"/>
          </a:xfrm>
          <a:prstGeom prst="rect">
            <a:avLst/>
          </a:prstGeom>
          <a:noFill/>
          <a:ln/>
        </p:spPr>
        <p:txBody>
          <a:bodyPr wrap="square" lIns="0" tIns="0" rIns="0" bIns="0" rtlCol="0" anchor="t"/>
          <a:lstStyle/>
          <a:p>
            <a:pPr indent="0" marL="0">
              <a:buNone/>
            </a:pPr>
            <a:r>
              <a:rPr lang="en-US" sz="1500" b="1" dirty="0">
                <a:solidFill>
                  <a:schemeClr val="tx2"/>
                </a:solidFill>
              </a:rPr>
              <a:t>Pipeline DevOps cho ứng dụng có AI</a:t>
            </a:r>
            <a:endParaRPr lang="en-US" sz="1500" dirty="0"/>
          </a:p>
        </p:txBody>
      </p:sp>
      <p:sp>
        <p:nvSpPr>
          <p:cNvPr id="26" name="Box"/>
          <p:cNvSpPr txBox="1"/>
          <p:nvPr/>
        </p:nvSpPr>
        <p:spPr>
          <a:xfrm>
            <a:off x="548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Git push</a:t>
            </a:r>
            <a:endParaRPr lang="en-US" sz="1400" dirty="0"/>
          </a:p>
        </p:txBody>
      </p:sp>
      <p:sp>
        <p:nvSpPr>
          <p:cNvPr id="27" name="Arrow"/>
          <p:cNvSpPr/>
          <p:nvPr/>
        </p:nvSpPr>
        <p:spPr>
          <a:xfrm>
            <a:off x="2487168" y="5047488"/>
            <a:ext cx="329184" cy="0"/>
          </a:xfrm>
          <a:prstGeom prst="line">
            <a:avLst/>
          </a:prstGeom>
          <a:noFill/>
          <a:ln w="22225">
            <a:solidFill>
              <a:schemeClr val="accent6"/>
            </a:solidFill>
            <a:prstDash val="solid"/>
            <a:tailEnd type="triangle"/>
          </a:ln>
        </p:spPr>
      </p:sp>
      <p:sp>
        <p:nvSpPr>
          <p:cNvPr id="28" name="Box"/>
          <p:cNvSpPr txBox="1"/>
          <p:nvPr/>
        </p:nvSpPr>
        <p:spPr>
          <a:xfrm>
            <a:off x="2834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CI: build &amp; test</a:t>
            </a:r>
            <a:endParaRPr lang="en-US" sz="1400" dirty="0"/>
          </a:p>
        </p:txBody>
      </p:sp>
      <p:sp>
        <p:nvSpPr>
          <p:cNvPr id="29" name="Arrow"/>
          <p:cNvSpPr/>
          <p:nvPr/>
        </p:nvSpPr>
        <p:spPr>
          <a:xfrm>
            <a:off x="4773168" y="5047488"/>
            <a:ext cx="329184" cy="0"/>
          </a:xfrm>
          <a:prstGeom prst="line">
            <a:avLst/>
          </a:prstGeom>
          <a:noFill/>
          <a:ln w="22225">
            <a:solidFill>
              <a:schemeClr val="accent6"/>
            </a:solidFill>
            <a:prstDash val="solid"/>
            <a:tailEnd type="triangle"/>
          </a:ln>
        </p:spPr>
      </p:sp>
      <p:sp>
        <p:nvSpPr>
          <p:cNvPr id="30" name="Box"/>
          <p:cNvSpPr txBox="1"/>
          <p:nvPr/>
        </p:nvSpPr>
        <p:spPr>
          <a:xfrm>
            <a:off x="5120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Docker image</a:t>
            </a:r>
            <a:endParaRPr lang="en-US" sz="1400" dirty="0"/>
          </a:p>
        </p:txBody>
      </p:sp>
      <p:sp>
        <p:nvSpPr>
          <p:cNvPr id="31" name="Arrow"/>
          <p:cNvSpPr/>
          <p:nvPr/>
        </p:nvSpPr>
        <p:spPr>
          <a:xfrm>
            <a:off x="7059168" y="5047488"/>
            <a:ext cx="329184" cy="0"/>
          </a:xfrm>
          <a:prstGeom prst="line">
            <a:avLst/>
          </a:prstGeom>
          <a:noFill/>
          <a:ln w="22225">
            <a:solidFill>
              <a:schemeClr val="accent6"/>
            </a:solidFill>
            <a:prstDash val="solid"/>
            <a:tailEnd type="triangle"/>
          </a:ln>
        </p:spPr>
      </p:sp>
      <p:sp>
        <p:nvSpPr>
          <p:cNvPr id="32" name="Box"/>
          <p:cNvSpPr txBox="1"/>
          <p:nvPr/>
        </p:nvSpPr>
        <p:spPr>
          <a:xfrm>
            <a:off x="7406640" y="4754880"/>
            <a:ext cx="1920240" cy="594360"/>
          </a:xfrm>
          <a:prstGeom prst="roundRect">
            <a:avLst>
              <a:gd name="adj" fmla="val 15385"/>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Deploy: K8s</a:t>
            </a:r>
            <a:endParaRPr lang="en-US" sz="1400" dirty="0"/>
          </a:p>
        </p:txBody>
      </p:sp>
      <p:sp>
        <p:nvSpPr>
          <p:cNvPr id="33" name="Arrow"/>
          <p:cNvSpPr/>
          <p:nvPr/>
        </p:nvSpPr>
        <p:spPr>
          <a:xfrm>
            <a:off x="9345168" y="5047488"/>
            <a:ext cx="329184" cy="0"/>
          </a:xfrm>
          <a:prstGeom prst="line">
            <a:avLst/>
          </a:prstGeom>
          <a:noFill/>
          <a:ln w="22225">
            <a:solidFill>
              <a:schemeClr val="accent6"/>
            </a:solidFill>
            <a:prstDash val="solid"/>
            <a:tailEnd type="triangle"/>
          </a:ln>
        </p:spPr>
      </p:sp>
      <p:sp>
        <p:nvSpPr>
          <p:cNvPr id="34" name="Box"/>
          <p:cNvSpPr txBox="1"/>
          <p:nvPr/>
        </p:nvSpPr>
        <p:spPr>
          <a:xfrm>
            <a:off x="9692640" y="4754880"/>
            <a:ext cx="1920240" cy="594360"/>
          </a:xfrm>
          <a:prstGeom prst="roundRect">
            <a:avLst>
              <a:gd name="adj" fmla="val 15385"/>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2"/>
                </a:solidFill>
              </a:rPr>
              <a:t>Observe</a:t>
            </a:r>
            <a:endParaRPr lang="en-US" sz="1400" dirty="0"/>
          </a:p>
        </p:txBody>
      </p:sp>
      <p:sp>
        <p:nvSpPr>
          <p:cNvPr id="35" name="Text 28"/>
          <p:cNvSpPr txBox="1"/>
          <p:nvPr/>
        </p:nvSpPr>
        <p:spPr>
          <a:xfrm>
            <a:off x="548640" y="5577840"/>
            <a:ext cx="5394960" cy="640080"/>
          </a:xfrm>
          <a:prstGeom prst="rect">
            <a:avLst/>
          </a:prstGeom>
          <a:noFill/>
          <a:ln/>
        </p:spPr>
        <p:txBody>
          <a:bodyPr wrap="square" lIns="0" tIns="0" rIns="0" bIns="0" rtlCol="0" anchor="t"/>
          <a:lstStyle/>
          <a:p>
            <a:pPr indent="0" marL="0">
              <a:buNone/>
            </a:pPr>
            <a:r>
              <a:rPr lang="en-US" sz="1300" b="1" dirty="0">
                <a:solidFill>
                  <a:schemeClr val="tx1"/>
                </a:solidFill>
              </a:rPr>
              <a:t>Cấu hình &amp; bí mật: </a:t>
            </a:r>
            <a:r>
              <a:rPr lang="en-US" sz="1300" dirty="0">
                <a:solidFill>
                  <a:schemeClr val="tx1"/>
                </a:solidFill>
              </a:rPr>
              <a:t>key từ Vault/K8s Secrets/CI; dev dùng Ollama, prod dùng cloud model.</a:t>
            </a:r>
            <a:endParaRPr lang="en-US" sz="1300" dirty="0"/>
          </a:p>
        </p:txBody>
      </p:sp>
      <p:sp>
        <p:nvSpPr>
          <p:cNvPr id="36" name="Text 29"/>
          <p:cNvSpPr txBox="1"/>
          <p:nvPr/>
        </p:nvSpPr>
        <p:spPr>
          <a:xfrm>
            <a:off x="6245352" y="5577840"/>
            <a:ext cx="5394960" cy="640080"/>
          </a:xfrm>
          <a:prstGeom prst="rect">
            <a:avLst/>
          </a:prstGeom>
          <a:noFill/>
          <a:ln/>
        </p:spPr>
        <p:txBody>
          <a:bodyPr wrap="square" lIns="0" tIns="0" rIns="0" bIns="0" rtlCol="0" anchor="t"/>
          <a:lstStyle/>
          <a:p>
            <a:pPr indent="0" marL="0">
              <a:buNone/>
            </a:pPr>
            <a:r>
              <a:rPr lang="en-US" sz="1300" b="1" dirty="0">
                <a:solidFill>
                  <a:schemeClr val="tx1"/>
                </a:solidFill>
              </a:rPr>
              <a:t>Kiểm thử &amp; quan sát: </a:t>
            </a:r>
            <a:r>
              <a:rPr lang="en-US" sz="1300" dirty="0">
                <a:solidFill>
                  <a:schemeClr val="tx1"/>
                </a:solidFill>
              </a:rPr>
              <a:t>mock ChatModel trong CI; Micrometer: latency, số lần gọi tool, lỗi.</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User tracking: đo những gì, để làm gì</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Card"/>
          <p:cNvSpPr/>
          <p:nvPr/>
        </p:nvSpPr>
        <p:spPr>
          <a:xfrm>
            <a:off x="548640" y="1463040"/>
            <a:ext cx="2103120" cy="2240280"/>
          </a:xfrm>
          <a:prstGeom prst="roundRect">
            <a:avLst>
              <a:gd name="adj" fmla="val 4348"/>
            </a:avLst>
          </a:prstGeom>
          <a:solidFill>
            <a:schemeClr val="bg2"/>
          </a:solidFill>
          <a:ln w="12700">
            <a:solidFill>
              <a:schemeClr val="bg2"/>
            </a:solidFill>
            <a:prstDash val="solid"/>
          </a:ln>
        </p:spPr>
      </p:sp>
      <p:sp>
        <p:nvSpPr>
          <p:cNvPr id="6" name="Icon circle"/>
          <p:cNvSpPr/>
          <p:nvPr/>
        </p:nvSpPr>
        <p:spPr>
          <a:xfrm>
            <a:off x="731520" y="1627632"/>
            <a:ext cx="502920" cy="502920"/>
          </a:xfrm>
          <a:prstGeom prst="ellipse">
            <a:avLst/>
          </a:prstGeom>
          <a:solidFill>
            <a:schemeClr val="accent1"/>
          </a:solidFill>
          <a:ln w="12700">
            <a:solidFill>
              <a:schemeClr val="accent1"/>
            </a:solidFill>
            <a:prstDash val="solid"/>
          </a:ln>
        </p:spPr>
      </p:sp>
      <p:pic>
        <p:nvPicPr>
          <p:cNvPr id="7" name="Image 0" descr="Clock icon">    </p:cNvPr>
          <p:cNvPicPr>
            <a:picLocks noChangeAspect="1"/>
          </p:cNvPicPr>
          <p:nvPr/>
        </p:nvPicPr>
        <p:blipFill>
          <a:blip r:embed="rId1"/>
          <a:stretch>
            <a:fillRect/>
          </a:stretch>
        </p:blipFill>
        <p:spPr>
          <a:xfrm>
            <a:off x="852221" y="1748333"/>
            <a:ext cx="261518" cy="261518"/>
          </a:xfrm>
          <a:prstGeom prst="rect">
            <a:avLst/>
          </a:prstGeom>
        </p:spPr>
      </p:pic>
      <p:sp>
        <p:nvSpPr>
          <p:cNvPr id="8" name="Text 4"/>
          <p:cNvSpPr txBox="1"/>
          <p:nvPr/>
        </p:nvSpPr>
        <p:spPr>
          <a:xfrm>
            <a:off x="731520"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Thời gian trên trang</a:t>
            </a:r>
            <a:endParaRPr lang="en-US" sz="1500" dirty="0"/>
          </a:p>
        </p:txBody>
      </p:sp>
      <p:sp>
        <p:nvSpPr>
          <p:cNvPr id="9" name="Text 5"/>
          <p:cNvSpPr txBox="1"/>
          <p:nvPr/>
        </p:nvSpPr>
        <p:spPr>
          <a:xfrm>
            <a:off x="731520"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Time on page: khách đọc kỹ sản phẩm nào</a:t>
            </a:r>
            <a:endParaRPr lang="en-US" sz="1400" dirty="0"/>
          </a:p>
        </p:txBody>
      </p:sp>
      <p:sp>
        <p:nvSpPr>
          <p:cNvPr id="10" name="Card"/>
          <p:cNvSpPr/>
          <p:nvPr/>
        </p:nvSpPr>
        <p:spPr>
          <a:xfrm>
            <a:off x="2798064" y="1463040"/>
            <a:ext cx="2103120" cy="2240280"/>
          </a:xfrm>
          <a:prstGeom prst="roundRect">
            <a:avLst>
              <a:gd name="adj" fmla="val 4348"/>
            </a:avLst>
          </a:prstGeom>
          <a:solidFill>
            <a:schemeClr val="bg2"/>
          </a:solidFill>
          <a:ln w="12700">
            <a:solidFill>
              <a:schemeClr val="bg2"/>
            </a:solidFill>
            <a:prstDash val="solid"/>
          </a:ln>
        </p:spPr>
      </p:sp>
      <p:sp>
        <p:nvSpPr>
          <p:cNvPr id="11" name="Icon circle"/>
          <p:cNvSpPr/>
          <p:nvPr/>
        </p:nvSpPr>
        <p:spPr>
          <a:xfrm>
            <a:off x="2980944" y="1627632"/>
            <a:ext cx="502920" cy="502920"/>
          </a:xfrm>
          <a:prstGeom prst="ellipse">
            <a:avLst/>
          </a:prstGeom>
          <a:solidFill>
            <a:schemeClr val="accent1"/>
          </a:solidFill>
          <a:ln w="12700">
            <a:solidFill>
              <a:schemeClr val="accent1"/>
            </a:solidFill>
            <a:prstDash val="solid"/>
          </a:ln>
        </p:spPr>
      </p:sp>
      <p:pic>
        <p:nvPicPr>
          <p:cNvPr id="12" name="Image 1" descr="MousePointer icon">    </p:cNvPr>
          <p:cNvPicPr>
            <a:picLocks noChangeAspect="1"/>
          </p:cNvPicPr>
          <p:nvPr/>
        </p:nvPicPr>
        <p:blipFill>
          <a:blip r:embed="rId2"/>
          <a:stretch>
            <a:fillRect/>
          </a:stretch>
        </p:blipFill>
        <p:spPr>
          <a:xfrm>
            <a:off x="3101645" y="1748333"/>
            <a:ext cx="261518" cy="261518"/>
          </a:xfrm>
          <a:prstGeom prst="rect">
            <a:avLst/>
          </a:prstGeom>
        </p:spPr>
      </p:pic>
      <p:sp>
        <p:nvSpPr>
          <p:cNvPr id="13" name="Text 8"/>
          <p:cNvSpPr txBox="1"/>
          <p:nvPr/>
        </p:nvSpPr>
        <p:spPr>
          <a:xfrm>
            <a:off x="2980944"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Click vào sản phẩm</a:t>
            </a:r>
            <a:endParaRPr lang="en-US" sz="1500" dirty="0"/>
          </a:p>
        </p:txBody>
      </p:sp>
      <p:sp>
        <p:nvSpPr>
          <p:cNvPr id="14" name="Text 9"/>
          <p:cNvSpPr txBox="1"/>
          <p:nvPr/>
        </p:nvSpPr>
        <p:spPr>
          <a:xfrm>
            <a:off x="2980944"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CTR = click / lượt xem</a:t>
            </a:r>
            <a:endParaRPr lang="en-US" sz="1400" dirty="0"/>
          </a:p>
        </p:txBody>
      </p:sp>
      <p:sp>
        <p:nvSpPr>
          <p:cNvPr id="15" name="Card"/>
          <p:cNvSpPr/>
          <p:nvPr/>
        </p:nvSpPr>
        <p:spPr>
          <a:xfrm>
            <a:off x="5047488" y="1463040"/>
            <a:ext cx="2103120" cy="2240280"/>
          </a:xfrm>
          <a:prstGeom prst="roundRect">
            <a:avLst>
              <a:gd name="adj" fmla="val 4348"/>
            </a:avLst>
          </a:prstGeom>
          <a:solidFill>
            <a:schemeClr val="bg2"/>
          </a:solidFill>
          <a:ln w="12700">
            <a:solidFill>
              <a:schemeClr val="bg2"/>
            </a:solidFill>
            <a:prstDash val="solid"/>
          </a:ln>
        </p:spPr>
      </p:sp>
      <p:sp>
        <p:nvSpPr>
          <p:cNvPr id="16" name="Icon circle"/>
          <p:cNvSpPr/>
          <p:nvPr/>
        </p:nvSpPr>
        <p:spPr>
          <a:xfrm>
            <a:off x="5230368" y="1627632"/>
            <a:ext cx="502920" cy="502920"/>
          </a:xfrm>
          <a:prstGeom prst="ellipse">
            <a:avLst/>
          </a:prstGeom>
          <a:solidFill>
            <a:schemeClr val="accent1"/>
          </a:solidFill>
          <a:ln w="12700">
            <a:solidFill>
              <a:schemeClr val="accent1"/>
            </a:solidFill>
            <a:prstDash val="solid"/>
          </a:ln>
        </p:spPr>
      </p:sp>
      <p:pic>
        <p:nvPicPr>
          <p:cNvPr id="17" name="Image 2" descr="ShoppingCart icon">    </p:cNvPr>
          <p:cNvPicPr>
            <a:picLocks noChangeAspect="1"/>
          </p:cNvPicPr>
          <p:nvPr/>
        </p:nvPicPr>
        <p:blipFill>
          <a:blip r:embed="rId3"/>
          <a:stretch>
            <a:fillRect/>
          </a:stretch>
        </p:blipFill>
        <p:spPr>
          <a:xfrm>
            <a:off x="5351069" y="1748333"/>
            <a:ext cx="261518" cy="261518"/>
          </a:xfrm>
          <a:prstGeom prst="rect">
            <a:avLst/>
          </a:prstGeom>
        </p:spPr>
      </p:pic>
      <p:sp>
        <p:nvSpPr>
          <p:cNvPr id="18" name="Text 12"/>
          <p:cNvSpPr txBox="1"/>
          <p:nvPr/>
        </p:nvSpPr>
        <p:spPr>
          <a:xfrm>
            <a:off x="5230368"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Thêm vào giỏ</a:t>
            </a:r>
            <a:endParaRPr lang="en-US" sz="1500" dirty="0"/>
          </a:p>
        </p:txBody>
      </p:sp>
      <p:sp>
        <p:nvSpPr>
          <p:cNvPr id="19" name="Text 13"/>
          <p:cNvSpPr txBox="1"/>
          <p:nvPr/>
        </p:nvSpPr>
        <p:spPr>
          <a:xfrm>
            <a:off x="5230368"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Add-to-cart rate của từng sản phẩm</a:t>
            </a:r>
            <a:endParaRPr lang="en-US" sz="1400" dirty="0"/>
          </a:p>
        </p:txBody>
      </p:sp>
      <p:sp>
        <p:nvSpPr>
          <p:cNvPr id="20" name="Card"/>
          <p:cNvSpPr/>
          <p:nvPr/>
        </p:nvSpPr>
        <p:spPr>
          <a:xfrm>
            <a:off x="7296912" y="1463040"/>
            <a:ext cx="2103120" cy="2240280"/>
          </a:xfrm>
          <a:prstGeom prst="roundRect">
            <a:avLst>
              <a:gd name="adj" fmla="val 4348"/>
            </a:avLst>
          </a:prstGeom>
          <a:solidFill>
            <a:schemeClr val="bg2"/>
          </a:solidFill>
          <a:ln w="12700">
            <a:solidFill>
              <a:schemeClr val="bg2"/>
            </a:solidFill>
            <a:prstDash val="solid"/>
          </a:ln>
        </p:spPr>
      </p:sp>
      <p:sp>
        <p:nvSpPr>
          <p:cNvPr id="21" name="Icon circle"/>
          <p:cNvSpPr/>
          <p:nvPr/>
        </p:nvSpPr>
        <p:spPr>
          <a:xfrm>
            <a:off x="7479792" y="1627632"/>
            <a:ext cx="502920" cy="502920"/>
          </a:xfrm>
          <a:prstGeom prst="ellipse">
            <a:avLst/>
          </a:prstGeom>
          <a:solidFill>
            <a:schemeClr val="accent1"/>
          </a:solidFill>
          <a:ln w="12700">
            <a:solidFill>
              <a:schemeClr val="accent1"/>
            </a:solidFill>
            <a:prstDash val="solid"/>
          </a:ln>
        </p:spPr>
      </p:sp>
      <p:pic>
        <p:nvPicPr>
          <p:cNvPr id="22" name="Image 3" descr="ChartBar icon">    </p:cNvPr>
          <p:cNvPicPr>
            <a:picLocks noChangeAspect="1"/>
          </p:cNvPicPr>
          <p:nvPr/>
        </p:nvPicPr>
        <p:blipFill>
          <a:blip r:embed="rId4"/>
          <a:stretch>
            <a:fillRect/>
          </a:stretch>
        </p:blipFill>
        <p:spPr>
          <a:xfrm>
            <a:off x="7600493" y="1748333"/>
            <a:ext cx="261518" cy="261518"/>
          </a:xfrm>
          <a:prstGeom prst="rect">
            <a:avLst/>
          </a:prstGeom>
        </p:spPr>
      </p:pic>
      <p:sp>
        <p:nvSpPr>
          <p:cNvPr id="23" name="Text 16"/>
          <p:cNvSpPr txBox="1"/>
          <p:nvPr/>
        </p:nvSpPr>
        <p:spPr>
          <a:xfrm>
            <a:off x="7479792"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Đặt nhiều nhất</a:t>
            </a:r>
            <a:endParaRPr lang="en-US" sz="1500" dirty="0"/>
          </a:p>
        </p:txBody>
      </p:sp>
      <p:sp>
        <p:nvSpPr>
          <p:cNvPr id="24" name="Text 17"/>
          <p:cNvSpPr txBox="1"/>
          <p:nvPr/>
        </p:nvSpPr>
        <p:spPr>
          <a:xfrm>
            <a:off x="7479792"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Sản phẩm được đặt thường xuyên</a:t>
            </a:r>
            <a:endParaRPr lang="en-US" sz="1400" dirty="0"/>
          </a:p>
        </p:txBody>
      </p:sp>
      <p:sp>
        <p:nvSpPr>
          <p:cNvPr id="25" name="Card"/>
          <p:cNvSpPr/>
          <p:nvPr/>
        </p:nvSpPr>
        <p:spPr>
          <a:xfrm>
            <a:off x="9546336" y="1463040"/>
            <a:ext cx="2103120" cy="2240280"/>
          </a:xfrm>
          <a:prstGeom prst="roundRect">
            <a:avLst>
              <a:gd name="adj" fmla="val 4348"/>
            </a:avLst>
          </a:prstGeom>
          <a:solidFill>
            <a:schemeClr val="bg2"/>
          </a:solidFill>
          <a:ln w="12700">
            <a:solidFill>
              <a:schemeClr val="bg2"/>
            </a:solidFill>
            <a:prstDash val="solid"/>
          </a:ln>
        </p:spPr>
      </p:sp>
      <p:sp>
        <p:nvSpPr>
          <p:cNvPr id="26" name="Icon circle"/>
          <p:cNvSpPr/>
          <p:nvPr/>
        </p:nvSpPr>
        <p:spPr>
          <a:xfrm>
            <a:off x="9729216" y="1627632"/>
            <a:ext cx="502920" cy="502920"/>
          </a:xfrm>
          <a:prstGeom prst="ellipse">
            <a:avLst/>
          </a:prstGeom>
          <a:solidFill>
            <a:schemeClr val="accent1"/>
          </a:solidFill>
          <a:ln w="12700">
            <a:solidFill>
              <a:schemeClr val="accent1"/>
            </a:solidFill>
            <a:prstDash val="solid"/>
          </a:ln>
        </p:spPr>
      </p:sp>
      <p:pic>
        <p:nvPicPr>
          <p:cNvPr id="27" name="Image 4" descr="Search icon">    </p:cNvPr>
          <p:cNvPicPr>
            <a:picLocks noChangeAspect="1"/>
          </p:cNvPicPr>
          <p:nvPr/>
        </p:nvPicPr>
        <p:blipFill>
          <a:blip r:embed="rId5"/>
          <a:stretch>
            <a:fillRect/>
          </a:stretch>
        </p:blipFill>
        <p:spPr>
          <a:xfrm>
            <a:off x="9849917" y="1748333"/>
            <a:ext cx="261518" cy="261518"/>
          </a:xfrm>
          <a:prstGeom prst="rect">
            <a:avLst/>
          </a:prstGeom>
        </p:spPr>
      </p:pic>
      <p:sp>
        <p:nvSpPr>
          <p:cNvPr id="28" name="Text 20"/>
          <p:cNvSpPr txBox="1"/>
          <p:nvPr/>
        </p:nvSpPr>
        <p:spPr>
          <a:xfrm>
            <a:off x="9729216" y="2286000"/>
            <a:ext cx="1783080" cy="548640"/>
          </a:xfrm>
          <a:prstGeom prst="rect">
            <a:avLst/>
          </a:prstGeom>
          <a:noFill/>
          <a:ln/>
        </p:spPr>
        <p:txBody>
          <a:bodyPr wrap="square" lIns="0" tIns="0" rIns="0" bIns="0" rtlCol="0" anchor="t"/>
          <a:lstStyle/>
          <a:p>
            <a:pPr indent="0" marL="0">
              <a:buNone/>
            </a:pPr>
            <a:r>
              <a:rPr lang="en-US" sz="1500" b="1" dirty="0">
                <a:solidFill>
                  <a:schemeClr val="tx2"/>
                </a:solidFill>
              </a:rPr>
              <a:t>Từ khoá tìm kiếm</a:t>
            </a:r>
            <a:endParaRPr lang="en-US" sz="1500" dirty="0"/>
          </a:p>
        </p:txBody>
      </p:sp>
      <p:sp>
        <p:nvSpPr>
          <p:cNvPr id="29" name="Text 21"/>
          <p:cNvSpPr txBox="1"/>
          <p:nvPr/>
        </p:nvSpPr>
        <p:spPr>
          <a:xfrm>
            <a:off x="9729216" y="2834640"/>
            <a:ext cx="1783080" cy="822960"/>
          </a:xfrm>
          <a:prstGeom prst="rect">
            <a:avLst/>
          </a:prstGeom>
          <a:noFill/>
          <a:ln/>
        </p:spPr>
        <p:txBody>
          <a:bodyPr wrap="square" lIns="0" tIns="0" rIns="0" bIns="0" rtlCol="0" anchor="t"/>
          <a:lstStyle/>
          <a:p>
            <a:pPr indent="0" marL="0">
              <a:buNone/>
            </a:pPr>
            <a:r>
              <a:rPr lang="en-US" sz="1400" dirty="0">
                <a:solidFill>
                  <a:schemeClr val="tx1"/>
                </a:solidFill>
              </a:rPr>
              <a:t>Nhu cầu thật và từ khoá không có kết quả</a:t>
            </a:r>
            <a:endParaRPr lang="en-US" sz="1400" dirty="0"/>
          </a:p>
        </p:txBody>
      </p:sp>
      <p:sp>
        <p:nvSpPr>
          <p:cNvPr id="30" name="Text 22"/>
          <p:cNvSpPr txBox="1"/>
          <p:nvPr/>
        </p:nvSpPr>
        <p:spPr>
          <a:xfrm>
            <a:off x="548640" y="3977640"/>
            <a:ext cx="5486400" cy="274320"/>
          </a:xfrm>
          <a:prstGeom prst="rect">
            <a:avLst/>
          </a:prstGeom>
          <a:noFill/>
          <a:ln/>
        </p:spPr>
        <p:txBody>
          <a:bodyPr wrap="square" lIns="0" tIns="0" rIns="0" bIns="0" rtlCol="0" anchor="t"/>
          <a:lstStyle/>
          <a:p>
            <a:pPr indent="0" marL="0">
              <a:buNone/>
            </a:pPr>
            <a:r>
              <a:rPr lang="en-US" sz="1500" b="1" dirty="0">
                <a:solidFill>
                  <a:schemeClr val="tx2"/>
                </a:solidFill>
              </a:rPr>
              <a:t>Phễu chuyển đổi (funnel)</a:t>
            </a:r>
            <a:endParaRPr lang="en-US" sz="1500" dirty="0"/>
          </a:p>
        </p:txBody>
      </p:sp>
      <p:sp>
        <p:nvSpPr>
          <p:cNvPr id="31" name="Box"/>
          <p:cNvSpPr txBox="1"/>
          <p:nvPr/>
        </p:nvSpPr>
        <p:spPr>
          <a:xfrm>
            <a:off x="548640" y="4389120"/>
            <a:ext cx="2331720" cy="777240"/>
          </a:xfrm>
          <a:prstGeom prst="roundRect">
            <a:avLst>
              <a:gd name="adj" fmla="val 11765"/>
            </a:avLst>
          </a:prstGeom>
          <a:solidFill>
            <a:schemeClr val="bg2"/>
          </a:solidFill>
          <a:ln>
            <a:solidFill>
              <a:schemeClr val="bg2"/>
            </a:solidFill>
          </a:ln>
        </p:spPr>
        <p:txBody>
          <a:bodyPr wrap="square" lIns="76200" tIns="76200" rIns="76200" bIns="76200" rtlCol="0" anchor="ctr"/>
          <a:lstStyle/>
          <a:p>
            <a:pPr algn="ctr" indent="0" marL="0">
              <a:buNone/>
            </a:pPr>
            <a:r>
              <a:rPr lang="en-US" sz="1600" b="1" dirty="0">
                <a:solidFill>
                  <a:schemeClr val="tx1"/>
                </a:solidFill>
              </a:rPr>
              <a:t>Xem trang</a:t>
            </a:r>
            <a:endParaRPr lang="en-US" sz="1600" dirty="0"/>
          </a:p>
        </p:txBody>
      </p:sp>
      <p:sp>
        <p:nvSpPr>
          <p:cNvPr id="32" name="Arrow"/>
          <p:cNvSpPr/>
          <p:nvPr/>
        </p:nvSpPr>
        <p:spPr>
          <a:xfrm>
            <a:off x="2898648" y="4773168"/>
            <a:ext cx="530352" cy="0"/>
          </a:xfrm>
          <a:prstGeom prst="line">
            <a:avLst/>
          </a:prstGeom>
          <a:noFill/>
          <a:ln w="22225">
            <a:solidFill>
              <a:schemeClr val="accent6"/>
            </a:solidFill>
            <a:prstDash val="solid"/>
            <a:tailEnd type="triangle"/>
          </a:ln>
        </p:spPr>
      </p:sp>
      <p:sp>
        <p:nvSpPr>
          <p:cNvPr id="33" name="Text 25"/>
          <p:cNvSpPr txBox="1"/>
          <p:nvPr/>
        </p:nvSpPr>
        <p:spPr>
          <a:xfrm>
            <a:off x="2478024"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CTR</a:t>
            </a:r>
            <a:endParaRPr lang="en-US" sz="1200" dirty="0"/>
          </a:p>
        </p:txBody>
      </p:sp>
      <p:sp>
        <p:nvSpPr>
          <p:cNvPr id="34" name="Box"/>
          <p:cNvSpPr txBox="1"/>
          <p:nvPr/>
        </p:nvSpPr>
        <p:spPr>
          <a:xfrm>
            <a:off x="3447288" y="4389120"/>
            <a:ext cx="2331720" cy="777240"/>
          </a:xfrm>
          <a:prstGeom prst="roundRect">
            <a:avLst>
              <a:gd name="adj" fmla="val 11765"/>
            </a:avLst>
          </a:prstGeom>
          <a:solidFill>
            <a:schemeClr val="accent5"/>
          </a:solidFill>
          <a:ln>
            <a:solidFill>
              <a:schemeClr val="accent5"/>
            </a:solidFill>
          </a:ln>
        </p:spPr>
        <p:txBody>
          <a:bodyPr wrap="square" lIns="76200" tIns="76200" rIns="76200" bIns="76200" rtlCol="0" anchor="ctr"/>
          <a:lstStyle/>
          <a:p>
            <a:pPr algn="ctr" indent="0" marL="0">
              <a:buNone/>
            </a:pPr>
            <a:r>
              <a:rPr lang="en-US" sz="1600" b="1" dirty="0">
                <a:solidFill>
                  <a:schemeClr val="tx1"/>
                </a:solidFill>
              </a:rPr>
              <a:t>Click chi tiết</a:t>
            </a:r>
            <a:endParaRPr lang="en-US" sz="1600" dirty="0"/>
          </a:p>
        </p:txBody>
      </p:sp>
      <p:sp>
        <p:nvSpPr>
          <p:cNvPr id="35" name="Arrow"/>
          <p:cNvSpPr/>
          <p:nvPr/>
        </p:nvSpPr>
        <p:spPr>
          <a:xfrm>
            <a:off x="5797296" y="4773168"/>
            <a:ext cx="530352" cy="0"/>
          </a:xfrm>
          <a:prstGeom prst="line">
            <a:avLst/>
          </a:prstGeom>
          <a:noFill/>
          <a:ln w="22225">
            <a:solidFill>
              <a:schemeClr val="accent6"/>
            </a:solidFill>
            <a:prstDash val="solid"/>
            <a:tailEnd type="triangle"/>
          </a:ln>
        </p:spPr>
      </p:sp>
      <p:sp>
        <p:nvSpPr>
          <p:cNvPr id="36" name="Text 28"/>
          <p:cNvSpPr txBox="1"/>
          <p:nvPr/>
        </p:nvSpPr>
        <p:spPr>
          <a:xfrm>
            <a:off x="5376672"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tỉ lệ thêm giỏ</a:t>
            </a:r>
            <a:endParaRPr lang="en-US" sz="1200" dirty="0"/>
          </a:p>
        </p:txBody>
      </p:sp>
      <p:sp>
        <p:nvSpPr>
          <p:cNvPr id="37" name="Box"/>
          <p:cNvSpPr txBox="1"/>
          <p:nvPr/>
        </p:nvSpPr>
        <p:spPr>
          <a:xfrm>
            <a:off x="6345936" y="4389120"/>
            <a:ext cx="2331720" cy="777240"/>
          </a:xfrm>
          <a:prstGeom prst="roundRect">
            <a:avLst>
              <a:gd name="adj" fmla="val 11765"/>
            </a:avLst>
          </a:prstGeom>
          <a:solidFill>
            <a:schemeClr val="accent4"/>
          </a:solidFill>
          <a:ln>
            <a:solidFill>
              <a:schemeClr val="accent4"/>
            </a:solidFill>
          </a:ln>
        </p:spPr>
        <p:txBody>
          <a:bodyPr wrap="square" lIns="76200" tIns="76200" rIns="76200" bIns="76200" rtlCol="0" anchor="ctr"/>
          <a:lstStyle/>
          <a:p>
            <a:pPr algn="ctr" indent="0" marL="0">
              <a:buNone/>
            </a:pPr>
            <a:r>
              <a:rPr lang="en-US" sz="1600" b="1" dirty="0">
                <a:solidFill>
                  <a:schemeClr val="tx1"/>
                </a:solidFill>
              </a:rPr>
              <a:t>Thêm vào giỏ</a:t>
            </a:r>
            <a:endParaRPr lang="en-US" sz="1600" dirty="0"/>
          </a:p>
        </p:txBody>
      </p:sp>
      <p:sp>
        <p:nvSpPr>
          <p:cNvPr id="38" name="Arrow"/>
          <p:cNvSpPr/>
          <p:nvPr/>
        </p:nvSpPr>
        <p:spPr>
          <a:xfrm>
            <a:off x="8695944" y="4773168"/>
            <a:ext cx="530352" cy="0"/>
          </a:xfrm>
          <a:prstGeom prst="line">
            <a:avLst/>
          </a:prstGeom>
          <a:noFill/>
          <a:ln w="22225">
            <a:solidFill>
              <a:schemeClr val="accent6"/>
            </a:solidFill>
            <a:prstDash val="solid"/>
            <a:tailEnd type="triangle"/>
          </a:ln>
        </p:spPr>
      </p:sp>
      <p:sp>
        <p:nvSpPr>
          <p:cNvPr id="39" name="Text 31"/>
          <p:cNvSpPr txBox="1"/>
          <p:nvPr/>
        </p:nvSpPr>
        <p:spPr>
          <a:xfrm>
            <a:off x="8275320" y="5230368"/>
            <a:ext cx="1371600" cy="274320"/>
          </a:xfrm>
          <a:prstGeom prst="rect">
            <a:avLst/>
          </a:prstGeom>
          <a:noFill/>
          <a:ln/>
        </p:spPr>
        <p:txBody>
          <a:bodyPr wrap="square" lIns="0" tIns="0" rIns="0" bIns="0" rtlCol="0" anchor="t"/>
          <a:lstStyle/>
          <a:p>
            <a:pPr algn="ctr" indent="0" marL="0">
              <a:buNone/>
            </a:pPr>
            <a:r>
              <a:rPr lang="en-US" sz="1200" i="1" dirty="0">
                <a:solidFill>
                  <a:schemeClr val="accent6"/>
                </a:solidFill>
              </a:rPr>
              <a:t>tỉ lệ chốt đơn</a:t>
            </a:r>
            <a:endParaRPr lang="en-US" sz="1200" dirty="0"/>
          </a:p>
        </p:txBody>
      </p:sp>
      <p:sp>
        <p:nvSpPr>
          <p:cNvPr id="40" name="Box"/>
          <p:cNvSpPr txBox="1"/>
          <p:nvPr/>
        </p:nvSpPr>
        <p:spPr>
          <a:xfrm>
            <a:off x="9244584" y="4389120"/>
            <a:ext cx="2331720" cy="777240"/>
          </a:xfrm>
          <a:prstGeom prst="roundRect">
            <a:avLst>
              <a:gd name="adj" fmla="val 11765"/>
            </a:avLst>
          </a:prstGeom>
          <a:solidFill>
            <a:schemeClr val="accent1"/>
          </a:solidFill>
          <a:ln>
            <a:solidFill>
              <a:schemeClr val="accent1"/>
            </a:solidFill>
          </a:ln>
        </p:spPr>
        <p:txBody>
          <a:bodyPr wrap="square" lIns="76200" tIns="76200" rIns="76200" bIns="76200" rtlCol="0" anchor="ctr"/>
          <a:lstStyle/>
          <a:p>
            <a:pPr algn="ctr" indent="0" marL="0">
              <a:buNone/>
            </a:pPr>
            <a:r>
              <a:rPr lang="en-US" sz="1600" b="1" dirty="0">
                <a:solidFill>
                  <a:schemeClr val="bg1"/>
                </a:solidFill>
              </a:rPr>
              <a:t>Đặt hàng</a:t>
            </a:r>
            <a:endParaRPr lang="en-US" sz="1600" dirty="0"/>
          </a:p>
        </p:txBody>
      </p:sp>
      <p:sp>
        <p:nvSpPr>
          <p:cNvPr id="41" name="Text 33"/>
          <p:cNvSpPr txBox="1"/>
          <p:nvPr/>
        </p:nvSpPr>
        <p:spPr>
          <a:xfrm>
            <a:off x="548640" y="5760720"/>
            <a:ext cx="11091672" cy="365760"/>
          </a:xfrm>
          <a:prstGeom prst="rect">
            <a:avLst/>
          </a:prstGeom>
          <a:noFill/>
          <a:ln/>
        </p:spPr>
        <p:txBody>
          <a:bodyPr wrap="square" lIns="0" tIns="0" rIns="0" bIns="0" rtlCol="0" anchor="t"/>
          <a:lstStyle/>
          <a:p>
            <a:pPr indent="0" marL="0">
              <a:buNone/>
            </a:pPr>
            <a:r>
              <a:rPr lang="en-US" sz="1500" b="1" dirty="0">
                <a:solidFill>
                  <a:schemeClr val="accent1"/>
                </a:solidFill>
              </a:rPr>
              <a:t>Mục tiêu: hiểu người dùng để cải thiện giao diện, gợi ý đúng sản phẩm và tối ưu chiến dịch.</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Thu thập sự kiện ở front-end</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Box"/>
          <p:cNvSpPr txBox="1"/>
          <p:nvPr/>
        </p:nvSpPr>
        <p:spPr>
          <a:xfrm>
            <a:off x="548640" y="1463040"/>
            <a:ext cx="1920240" cy="731520"/>
          </a:xfrm>
          <a:prstGeom prst="roundRect">
            <a:avLst>
              <a:gd name="adj" fmla="val 12500"/>
            </a:avLst>
          </a:prstGeom>
          <a:solidFill>
            <a:schemeClr val="accent1"/>
          </a:solidFill>
          <a:ln>
            <a:solidFill>
              <a:schemeClr val="accent1"/>
            </a:solidFill>
          </a:ln>
        </p:spPr>
        <p:txBody>
          <a:bodyPr wrap="square" lIns="76200" tIns="76200" rIns="76200" bIns="76200" rtlCol="0" anchor="ctr"/>
          <a:lstStyle/>
          <a:p>
            <a:pPr algn="ctr" indent="0" marL="0">
              <a:buNone/>
            </a:pPr>
            <a:r>
              <a:rPr lang="en-US" sz="1400" b="1" dirty="0">
                <a:solidFill>
                  <a:schemeClr val="bg1"/>
                </a:solidFill>
              </a:rPr>
              <a:t>Trình duyệt (JS)</a:t>
            </a:r>
            <a:endParaRPr lang="en-US" sz="1400" dirty="0"/>
          </a:p>
        </p:txBody>
      </p:sp>
      <p:sp>
        <p:nvSpPr>
          <p:cNvPr id="6" name="Arrow"/>
          <p:cNvSpPr/>
          <p:nvPr/>
        </p:nvSpPr>
        <p:spPr>
          <a:xfrm>
            <a:off x="2487168" y="1828800"/>
            <a:ext cx="329184" cy="0"/>
          </a:xfrm>
          <a:prstGeom prst="line">
            <a:avLst/>
          </a:prstGeom>
          <a:noFill/>
          <a:ln w="22225">
            <a:solidFill>
              <a:schemeClr val="accent6"/>
            </a:solidFill>
            <a:prstDash val="solid"/>
            <a:tailEnd type="triangle"/>
          </a:ln>
        </p:spPr>
      </p:sp>
      <p:sp>
        <p:nvSpPr>
          <p:cNvPr id="7" name="Box"/>
          <p:cNvSpPr txBox="1"/>
          <p:nvPr/>
        </p:nvSpPr>
        <p:spPr>
          <a:xfrm>
            <a:off x="2834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POST /api/tracking</a:t>
            </a:r>
            <a:endParaRPr lang="en-US" sz="1400" dirty="0"/>
          </a:p>
        </p:txBody>
      </p:sp>
      <p:sp>
        <p:nvSpPr>
          <p:cNvPr id="8" name="Arrow"/>
          <p:cNvSpPr/>
          <p:nvPr/>
        </p:nvSpPr>
        <p:spPr>
          <a:xfrm>
            <a:off x="4773168" y="1828800"/>
            <a:ext cx="329184" cy="0"/>
          </a:xfrm>
          <a:prstGeom prst="line">
            <a:avLst/>
          </a:prstGeom>
          <a:noFill/>
          <a:ln w="22225">
            <a:solidFill>
              <a:schemeClr val="accent6"/>
            </a:solidFill>
            <a:prstDash val="solid"/>
            <a:tailEnd type="triangle"/>
          </a:ln>
        </p:spPr>
      </p:sp>
      <p:sp>
        <p:nvSpPr>
          <p:cNvPr id="9" name="Box"/>
          <p:cNvSpPr txBox="1"/>
          <p:nvPr/>
        </p:nvSpPr>
        <p:spPr>
          <a:xfrm>
            <a:off x="5120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Controller + validate</a:t>
            </a:r>
            <a:endParaRPr lang="en-US" sz="1400" dirty="0"/>
          </a:p>
        </p:txBody>
      </p:sp>
      <p:sp>
        <p:nvSpPr>
          <p:cNvPr id="10" name="Arrow"/>
          <p:cNvSpPr/>
          <p:nvPr/>
        </p:nvSpPr>
        <p:spPr>
          <a:xfrm>
            <a:off x="7059168" y="1828800"/>
            <a:ext cx="329184" cy="0"/>
          </a:xfrm>
          <a:prstGeom prst="line">
            <a:avLst/>
          </a:prstGeom>
          <a:noFill/>
          <a:ln w="22225">
            <a:solidFill>
              <a:schemeClr val="accent6"/>
            </a:solidFill>
            <a:prstDash val="solid"/>
            <a:tailEnd type="triangle"/>
          </a:ln>
        </p:spPr>
      </p:sp>
      <p:sp>
        <p:nvSpPr>
          <p:cNvPr id="11" name="Box"/>
          <p:cNvSpPr txBox="1"/>
          <p:nvPr/>
        </p:nvSpPr>
        <p:spPr>
          <a:xfrm>
            <a:off x="7406640" y="1463040"/>
            <a:ext cx="1920240" cy="731520"/>
          </a:xfrm>
          <a:prstGeom prst="roundRect">
            <a:avLst>
              <a:gd name="adj" fmla="val 12500"/>
            </a:avLst>
          </a:prstGeom>
          <a:solidFill>
            <a:schemeClr val="accent2"/>
          </a:solidFill>
          <a:ln>
            <a:solidFill>
              <a:schemeClr val="accent2"/>
            </a:solidFill>
          </a:ln>
        </p:spPr>
        <p:txBody>
          <a:bodyPr wrap="square" lIns="76200" tIns="76200" rIns="76200" bIns="76200" rtlCol="0" anchor="ctr"/>
          <a:lstStyle/>
          <a:p>
            <a:pPr algn="ctr" indent="0" marL="0">
              <a:buNone/>
            </a:pPr>
            <a:r>
              <a:rPr lang="en-US" sz="1400" b="1" dirty="0">
                <a:solidFill>
                  <a:schemeClr val="tx1"/>
                </a:solidFill>
              </a:rPr>
              <a:t>Lưu CSDL</a:t>
            </a:r>
            <a:endParaRPr lang="en-US" sz="1400" dirty="0"/>
          </a:p>
        </p:txBody>
      </p:sp>
      <p:sp>
        <p:nvSpPr>
          <p:cNvPr id="12" name="Arrow"/>
          <p:cNvSpPr/>
          <p:nvPr/>
        </p:nvSpPr>
        <p:spPr>
          <a:xfrm>
            <a:off x="9345168" y="1828800"/>
            <a:ext cx="329184" cy="0"/>
          </a:xfrm>
          <a:prstGeom prst="line">
            <a:avLst/>
          </a:prstGeom>
          <a:noFill/>
          <a:ln w="22225">
            <a:solidFill>
              <a:schemeClr val="accent6"/>
            </a:solidFill>
            <a:prstDash val="solid"/>
            <a:tailEnd type="triangle"/>
          </a:ln>
        </p:spPr>
      </p:sp>
      <p:sp>
        <p:nvSpPr>
          <p:cNvPr id="13" name="Box"/>
          <p:cNvSpPr txBox="1"/>
          <p:nvPr/>
        </p:nvSpPr>
        <p:spPr>
          <a:xfrm>
            <a:off x="9692640" y="1463040"/>
            <a:ext cx="1920240" cy="731520"/>
          </a:xfrm>
          <a:prstGeom prst="roundRect">
            <a:avLst>
              <a:gd name="adj" fmla="val 12500"/>
            </a:avLst>
          </a:prstGeom>
          <a:solidFill>
            <a:schemeClr val="bg2"/>
          </a:solidFill>
          <a:ln>
            <a:solidFill>
              <a:schemeClr val="bg2"/>
            </a:solidFill>
          </a:ln>
        </p:spPr>
        <p:txBody>
          <a:bodyPr wrap="square" lIns="76200" tIns="76200" rIns="76200" bIns="76200" rtlCol="0" anchor="ctr"/>
          <a:lstStyle/>
          <a:p>
            <a:pPr algn="ctr" indent="0" marL="0">
              <a:buNone/>
            </a:pPr>
            <a:r>
              <a:rPr lang="en-US" sz="1400" dirty="0">
                <a:solidFill>
                  <a:schemeClr val="tx1"/>
                </a:solidFill>
              </a:rPr>
              <a:t>Báo cáo / dashboard</a:t>
            </a:r>
            <a:endParaRPr lang="en-US" sz="1400" dirty="0"/>
          </a:p>
        </p:txBody>
      </p:sp>
      <p:sp>
        <p:nvSpPr>
          <p:cNvPr id="14" name="Icon circle"/>
          <p:cNvSpPr/>
          <p:nvPr/>
        </p:nvSpPr>
        <p:spPr>
          <a:xfrm>
            <a:off x="548640" y="2514600"/>
            <a:ext cx="502920" cy="502920"/>
          </a:xfrm>
          <a:prstGeom prst="ellipse">
            <a:avLst/>
          </a:prstGeom>
          <a:solidFill>
            <a:schemeClr val="accent1"/>
          </a:solidFill>
          <a:ln w="12700">
            <a:solidFill>
              <a:schemeClr val="accent1"/>
            </a:solidFill>
            <a:prstDash val="solid"/>
          </a:ln>
        </p:spPr>
      </p:sp>
      <p:pic>
        <p:nvPicPr>
          <p:cNvPr id="15" name="Image 0" descr="MousePointer icon">    </p:cNvPr>
          <p:cNvPicPr>
            <a:picLocks noChangeAspect="1"/>
          </p:cNvPicPr>
          <p:nvPr/>
        </p:nvPicPr>
        <p:blipFill>
          <a:blip r:embed="rId1"/>
          <a:stretch>
            <a:fillRect/>
          </a:stretch>
        </p:blipFill>
        <p:spPr>
          <a:xfrm>
            <a:off x="669341" y="2635301"/>
            <a:ext cx="261518" cy="261518"/>
          </a:xfrm>
          <a:prstGeom prst="rect">
            <a:avLst/>
          </a:prstGeom>
        </p:spPr>
      </p:pic>
      <p:sp>
        <p:nvSpPr>
          <p:cNvPr id="16" name="Text 12"/>
          <p:cNvSpPr txBox="1"/>
          <p:nvPr/>
        </p:nvSpPr>
        <p:spPr>
          <a:xfrm>
            <a:off x="1234440" y="2478024"/>
            <a:ext cx="5120640" cy="292608"/>
          </a:xfrm>
          <a:prstGeom prst="rect">
            <a:avLst/>
          </a:prstGeom>
          <a:noFill/>
          <a:ln/>
        </p:spPr>
        <p:txBody>
          <a:bodyPr wrap="square" lIns="0" tIns="0" rIns="0" bIns="0" rtlCol="0" anchor="t"/>
          <a:lstStyle/>
          <a:p>
            <a:pPr indent="0" marL="0">
              <a:buNone/>
            </a:pPr>
            <a:r>
              <a:rPr lang="en-US" sz="1500" b="1" dirty="0">
                <a:solidFill>
                  <a:schemeClr val="tx2"/>
                </a:solidFill>
              </a:rPr>
              <a:t>Event delegation</a:t>
            </a:r>
            <a:endParaRPr lang="en-US" sz="1500" dirty="0"/>
          </a:p>
        </p:txBody>
      </p:sp>
      <p:sp>
        <p:nvSpPr>
          <p:cNvPr id="17" name="Text 13"/>
          <p:cNvSpPr txBox="1"/>
          <p:nvPr/>
        </p:nvSpPr>
        <p:spPr>
          <a:xfrm>
            <a:off x="1234440" y="2788920"/>
            <a:ext cx="5120640" cy="457200"/>
          </a:xfrm>
          <a:prstGeom prst="rect">
            <a:avLst/>
          </a:prstGeom>
          <a:noFill/>
          <a:ln/>
        </p:spPr>
        <p:txBody>
          <a:bodyPr wrap="square" lIns="0" tIns="0" rIns="0" bIns="0" rtlCol="0" anchor="t"/>
          <a:lstStyle/>
          <a:p>
            <a:pPr indent="0" marL="0">
              <a:buNone/>
            </a:pPr>
            <a:r>
              <a:rPr lang="en-US" sz="1300" dirty="0">
                <a:solidFill>
                  <a:schemeClr val="tx1"/>
                </a:solidFill>
              </a:rPr>
              <a:t>một listener bắt click cho cả trang</a:t>
            </a:r>
            <a:endParaRPr lang="en-US" sz="1300" dirty="0"/>
          </a:p>
        </p:txBody>
      </p:sp>
      <p:sp>
        <p:nvSpPr>
          <p:cNvPr id="18" name="Icon circle"/>
          <p:cNvSpPr/>
          <p:nvPr/>
        </p:nvSpPr>
        <p:spPr>
          <a:xfrm>
            <a:off x="548640" y="3456432"/>
            <a:ext cx="502920" cy="502920"/>
          </a:xfrm>
          <a:prstGeom prst="ellipse">
            <a:avLst/>
          </a:prstGeom>
          <a:solidFill>
            <a:schemeClr val="accent1"/>
          </a:solidFill>
          <a:ln w="12700">
            <a:solidFill>
              <a:schemeClr val="accent1"/>
            </a:solidFill>
            <a:prstDash val="solid"/>
          </a:ln>
        </p:spPr>
      </p:sp>
      <p:pic>
        <p:nvPicPr>
          <p:cNvPr id="19" name="Image 1" descr="Eye icon">    </p:cNvPr>
          <p:cNvPicPr>
            <a:picLocks noChangeAspect="1"/>
          </p:cNvPicPr>
          <p:nvPr/>
        </p:nvPicPr>
        <p:blipFill>
          <a:blip r:embed="rId2"/>
          <a:stretch>
            <a:fillRect/>
          </a:stretch>
        </p:blipFill>
        <p:spPr>
          <a:xfrm>
            <a:off x="669341" y="3577133"/>
            <a:ext cx="261518" cy="261518"/>
          </a:xfrm>
          <a:prstGeom prst="rect">
            <a:avLst/>
          </a:prstGeom>
        </p:spPr>
      </p:pic>
      <p:sp>
        <p:nvSpPr>
          <p:cNvPr id="20" name="Text 15"/>
          <p:cNvSpPr txBox="1"/>
          <p:nvPr/>
        </p:nvSpPr>
        <p:spPr>
          <a:xfrm>
            <a:off x="1234440" y="3419856"/>
            <a:ext cx="5120640" cy="292608"/>
          </a:xfrm>
          <a:prstGeom prst="rect">
            <a:avLst/>
          </a:prstGeom>
          <a:noFill/>
          <a:ln/>
        </p:spPr>
        <p:txBody>
          <a:bodyPr wrap="square" lIns="0" tIns="0" rIns="0" bIns="0" rtlCol="0" anchor="t"/>
          <a:lstStyle/>
          <a:p>
            <a:pPr indent="0" marL="0">
              <a:buNone/>
            </a:pPr>
            <a:r>
              <a:rPr lang="en-US" sz="1500" b="1" dirty="0">
                <a:solidFill>
                  <a:schemeClr val="tx2"/>
                </a:solidFill>
              </a:rPr>
              <a:t>Page Visibility API</a:t>
            </a:r>
            <a:endParaRPr lang="en-US" sz="1500" dirty="0"/>
          </a:p>
        </p:txBody>
      </p:sp>
      <p:sp>
        <p:nvSpPr>
          <p:cNvPr id="21" name="Text 16"/>
          <p:cNvSpPr txBox="1"/>
          <p:nvPr/>
        </p:nvSpPr>
        <p:spPr>
          <a:xfrm>
            <a:off x="1234440" y="3730752"/>
            <a:ext cx="5120640" cy="457200"/>
          </a:xfrm>
          <a:prstGeom prst="rect">
            <a:avLst/>
          </a:prstGeom>
          <a:noFill/>
          <a:ln/>
        </p:spPr>
        <p:txBody>
          <a:bodyPr wrap="square" lIns="0" tIns="0" rIns="0" bIns="0" rtlCol="0" anchor="t"/>
          <a:lstStyle/>
          <a:p>
            <a:pPr indent="0" marL="0">
              <a:buNone/>
            </a:pPr>
            <a:r>
              <a:rPr lang="en-US" sz="1300" dirty="0">
                <a:solidFill>
                  <a:schemeClr val="tx1"/>
                </a:solidFill>
              </a:rPr>
              <a:t>visibilitychange: đo thời gian xem thực sự</a:t>
            </a:r>
            <a:endParaRPr lang="en-US" sz="1300" dirty="0"/>
          </a:p>
        </p:txBody>
      </p:sp>
      <p:sp>
        <p:nvSpPr>
          <p:cNvPr id="22" name="Icon circle"/>
          <p:cNvSpPr/>
          <p:nvPr/>
        </p:nvSpPr>
        <p:spPr>
          <a:xfrm>
            <a:off x="548640" y="4398264"/>
            <a:ext cx="502920" cy="502920"/>
          </a:xfrm>
          <a:prstGeom prst="ellipse">
            <a:avLst/>
          </a:prstGeom>
          <a:solidFill>
            <a:schemeClr val="accent1"/>
          </a:solidFill>
          <a:ln w="12700">
            <a:solidFill>
              <a:schemeClr val="accent1"/>
            </a:solidFill>
            <a:prstDash val="solid"/>
          </a:ln>
        </p:spPr>
      </p:sp>
      <p:pic>
        <p:nvPicPr>
          <p:cNvPr id="23" name="Image 2" descr="Route icon">    </p:cNvPr>
          <p:cNvPicPr>
            <a:picLocks noChangeAspect="1"/>
          </p:cNvPicPr>
          <p:nvPr/>
        </p:nvPicPr>
        <p:blipFill>
          <a:blip r:embed="rId3"/>
          <a:stretch>
            <a:fillRect/>
          </a:stretch>
        </p:blipFill>
        <p:spPr>
          <a:xfrm>
            <a:off x="669341" y="4518965"/>
            <a:ext cx="261518" cy="261518"/>
          </a:xfrm>
          <a:prstGeom prst="rect">
            <a:avLst/>
          </a:prstGeom>
        </p:spPr>
      </p:pic>
      <p:sp>
        <p:nvSpPr>
          <p:cNvPr id="24" name="Text 18"/>
          <p:cNvSpPr txBox="1"/>
          <p:nvPr/>
        </p:nvSpPr>
        <p:spPr>
          <a:xfrm>
            <a:off x="1234440" y="4361688"/>
            <a:ext cx="5120640" cy="292608"/>
          </a:xfrm>
          <a:prstGeom prst="rect">
            <a:avLst/>
          </a:prstGeom>
          <a:noFill/>
          <a:ln/>
        </p:spPr>
        <p:txBody>
          <a:bodyPr wrap="square" lIns="0" tIns="0" rIns="0" bIns="0" rtlCol="0" anchor="t"/>
          <a:lstStyle/>
          <a:p>
            <a:pPr indent="0" marL="0">
              <a:buNone/>
            </a:pPr>
            <a:r>
              <a:rPr lang="en-US" sz="1500" b="1" dirty="0">
                <a:solidFill>
                  <a:schemeClr val="tx2"/>
                </a:solidFill>
              </a:rPr>
              <a:t>fetch keepalive / sendBeacon</a:t>
            </a:r>
            <a:endParaRPr lang="en-US" sz="1500" dirty="0"/>
          </a:p>
        </p:txBody>
      </p:sp>
      <p:sp>
        <p:nvSpPr>
          <p:cNvPr id="25" name="Text 19"/>
          <p:cNvSpPr txBox="1"/>
          <p:nvPr/>
        </p:nvSpPr>
        <p:spPr>
          <a:xfrm>
            <a:off x="1234440" y="4672584"/>
            <a:ext cx="5120640" cy="457200"/>
          </a:xfrm>
          <a:prstGeom prst="rect">
            <a:avLst/>
          </a:prstGeom>
          <a:noFill/>
          <a:ln/>
        </p:spPr>
        <p:txBody>
          <a:bodyPr wrap="square" lIns="0" tIns="0" rIns="0" bIns="0" rtlCol="0" anchor="t"/>
          <a:lstStyle/>
          <a:p>
            <a:pPr indent="0" marL="0">
              <a:buNone/>
            </a:pPr>
            <a:r>
              <a:rPr lang="en-US" sz="1300" dirty="0">
                <a:solidFill>
                  <a:schemeClr val="tx1"/>
                </a:solidFill>
              </a:rPr>
              <a:t>gửi được cả khi đóng tab</a:t>
            </a:r>
            <a:endParaRPr lang="en-US" sz="1300" dirty="0"/>
          </a:p>
        </p:txBody>
      </p:sp>
      <p:sp>
        <p:nvSpPr>
          <p:cNvPr id="26" name="Icon circle"/>
          <p:cNvSpPr/>
          <p:nvPr/>
        </p:nvSpPr>
        <p:spPr>
          <a:xfrm>
            <a:off x="548640" y="5340096"/>
            <a:ext cx="502920" cy="502920"/>
          </a:xfrm>
          <a:prstGeom prst="ellipse">
            <a:avLst/>
          </a:prstGeom>
          <a:solidFill>
            <a:schemeClr val="accent1"/>
          </a:solidFill>
          <a:ln w="12700">
            <a:solidFill>
              <a:schemeClr val="accent1"/>
            </a:solidFill>
            <a:prstDash val="solid"/>
          </a:ln>
        </p:spPr>
      </p:sp>
      <p:pic>
        <p:nvPicPr>
          <p:cNvPr id="27" name="Image 3" descr="ListUl icon">    </p:cNvPr>
          <p:cNvPicPr>
            <a:picLocks noChangeAspect="1"/>
          </p:cNvPicPr>
          <p:nvPr/>
        </p:nvPicPr>
        <p:blipFill>
          <a:blip r:embed="rId4"/>
          <a:stretch>
            <a:fillRect/>
          </a:stretch>
        </p:blipFill>
        <p:spPr>
          <a:xfrm>
            <a:off x="669341" y="5460797"/>
            <a:ext cx="261518" cy="261518"/>
          </a:xfrm>
          <a:prstGeom prst="rect">
            <a:avLst/>
          </a:prstGeom>
        </p:spPr>
      </p:pic>
      <p:sp>
        <p:nvSpPr>
          <p:cNvPr id="28" name="Text 21"/>
          <p:cNvSpPr txBox="1"/>
          <p:nvPr/>
        </p:nvSpPr>
        <p:spPr>
          <a:xfrm>
            <a:off x="1234440" y="5303520"/>
            <a:ext cx="5120640" cy="292608"/>
          </a:xfrm>
          <a:prstGeom prst="rect">
            <a:avLst/>
          </a:prstGeom>
          <a:noFill/>
          <a:ln/>
        </p:spPr>
        <p:txBody>
          <a:bodyPr wrap="square" lIns="0" tIns="0" rIns="0" bIns="0" rtlCol="0" anchor="t"/>
          <a:lstStyle/>
          <a:p>
            <a:pPr indent="0" marL="0">
              <a:buNone/>
            </a:pPr>
            <a:r>
              <a:rPr lang="en-US" sz="1500" b="1" dirty="0">
                <a:solidFill>
                  <a:schemeClr val="tx2"/>
                </a:solidFill>
              </a:rPr>
              <a:t>IntersectionObserver</a:t>
            </a:r>
            <a:endParaRPr lang="en-US" sz="1500" dirty="0"/>
          </a:p>
        </p:txBody>
      </p:sp>
      <p:sp>
        <p:nvSpPr>
          <p:cNvPr id="29" name="Text 22"/>
          <p:cNvSpPr txBox="1"/>
          <p:nvPr/>
        </p:nvSpPr>
        <p:spPr>
          <a:xfrm>
            <a:off x="1234440" y="5614416"/>
            <a:ext cx="5120640" cy="457200"/>
          </a:xfrm>
          <a:prstGeom prst="rect">
            <a:avLst/>
          </a:prstGeom>
          <a:noFill/>
          <a:ln/>
        </p:spPr>
        <p:txBody>
          <a:bodyPr wrap="square" lIns="0" tIns="0" rIns="0" bIns="0" rtlCol="0" anchor="t"/>
          <a:lstStyle/>
          <a:p>
            <a:pPr indent="0" marL="0">
              <a:buNone/>
            </a:pPr>
            <a:r>
              <a:rPr lang="en-US" sz="1300" dirty="0">
                <a:solidFill>
                  <a:schemeClr val="tx1"/>
                </a:solidFill>
              </a:rPr>
              <a:t>đo hiển thị; gom lô + debounce giảm request</a:t>
            </a:r>
            <a:endParaRPr lang="en-US" sz="1300" dirty="0"/>
          </a:p>
        </p:txBody>
      </p:sp>
      <p:sp>
        <p:nvSpPr>
          <p:cNvPr id="30" name="Code panel time-on-page.js"/>
          <p:cNvSpPr/>
          <p:nvPr/>
        </p:nvSpPr>
        <p:spPr>
          <a:xfrm>
            <a:off x="6492240" y="2514600"/>
            <a:ext cx="5148072" cy="3017520"/>
          </a:xfrm>
          <a:prstGeom prst="roundRect">
            <a:avLst>
              <a:gd name="adj" fmla="val 2424"/>
            </a:avLst>
          </a:prstGeom>
          <a:solidFill>
            <a:schemeClr val="tx2"/>
          </a:solidFill>
          <a:ln w="12700">
            <a:solidFill>
              <a:schemeClr val="tx2"/>
            </a:solidFill>
            <a:prstDash val="solid"/>
          </a:ln>
        </p:spPr>
      </p:sp>
      <p:sp>
        <p:nvSpPr>
          <p:cNvPr id="31" name="Text 24"/>
          <p:cNvSpPr txBox="1"/>
          <p:nvPr/>
        </p:nvSpPr>
        <p:spPr>
          <a:xfrm>
            <a:off x="6675120" y="2606040"/>
            <a:ext cx="4782312" cy="237744"/>
          </a:xfrm>
          <a:prstGeom prst="rect">
            <a:avLst/>
          </a:prstGeom>
          <a:noFill/>
          <a:ln/>
        </p:spPr>
        <p:txBody>
          <a:bodyPr wrap="square" lIns="0" tIns="0" rIns="0" bIns="0" rtlCol="0" anchor="ctr"/>
          <a:lstStyle/>
          <a:p>
            <a:pPr indent="0" marL="0">
              <a:buNone/>
            </a:pPr>
            <a:r>
              <a:rPr lang="en-US" sz="1100" b="1" dirty="0">
                <a:solidFill>
                  <a:schemeClr val="accent5"/>
                </a:solidFill>
              </a:rPr>
              <a:t>time-on-page.js</a:t>
            </a:r>
            <a:endParaRPr lang="en-US" sz="1100" dirty="0"/>
          </a:p>
        </p:txBody>
      </p:sp>
      <p:sp>
        <p:nvSpPr>
          <p:cNvPr id="32" name="Code time-on-page.js"/>
          <p:cNvSpPr txBox="1"/>
          <p:nvPr/>
        </p:nvSpPr>
        <p:spPr>
          <a:xfrm>
            <a:off x="6675120" y="2898648"/>
            <a:ext cx="4782312" cy="256032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let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0</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addEventListener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'visibilitychange'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hidden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else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addEventListener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'pagehide'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hidden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send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type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'TIME_ON_PAGE'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durationMs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33" name="Text 26"/>
          <p:cNvSpPr txBox="1"/>
          <p:nvPr/>
        </p:nvSpPr>
        <p:spPr>
          <a:xfrm>
            <a:off x="6492240" y="5669280"/>
            <a:ext cx="5148072" cy="320040"/>
          </a:xfrm>
          <a:prstGeom prst="rect">
            <a:avLst/>
          </a:prstGeom>
          <a:noFill/>
          <a:ln/>
        </p:spPr>
        <p:txBody>
          <a:bodyPr wrap="square" lIns="0" tIns="0" rIns="0" bIns="0" rtlCol="0" anchor="t"/>
          <a:lstStyle/>
          <a:p>
            <a:pPr indent="0" marL="0">
              <a:buNone/>
            </a:pPr>
            <a:r>
              <a:rPr lang="en-US" sz="1200" i="1" dirty="0">
                <a:solidFill>
                  <a:schemeClr val="accent6"/>
                </a:solidFill>
              </a:rPr>
              <a:t>send(): fetch POST JSON tới /api/tracking</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Công cụ, quyền riêng tư và chất lượng dữ liệu</a:t>
            </a:r>
            <a:endParaRPr lang="en-US" sz="3200" dirty="0"/>
          </a:p>
        </p:txBody>
      </p:sp>
      <p:sp>
        <p:nvSpPr>
          <p:cNvPr id="3" name="Section chip"/>
          <p:cNvSpPr txBox="1"/>
          <p:nvPr/>
        </p:nvSpPr>
        <p:spPr>
          <a:xfrm>
            <a:off x="548640" y="246888"/>
            <a:ext cx="1764792"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1C · USER TRACKING</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Công cụ có sẵn và tự xây</a:t>
            </a:r>
            <a:endParaRPr lang="en-US" sz="15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394960" cy="914400"/>
        </p:xfrm>
        <a:graphic>
          <a:graphicData uri="http://schemas.openxmlformats.org/drawingml/2006/table">
            <a:tbl>
              <a:tblPr/>
              <a:tblGrid>
                <a:gridCol w="2011680"/>
                <a:gridCol w="3383280"/>
              </a:tblGrid>
              <a:tr h="713232">
                <a:tc>
                  <a:txBody>
                    <a:bodyPr/>
                    <a:lstStyle/>
                    <a:p>
                      <a:pPr indent="0" marL="0">
                        <a:buNone/>
                      </a:pPr>
                      <a:r>
                        <a:rPr lang="en-US" sz="1400" b="1" dirty="0">
                          <a:solidFill>
                            <a:srgbClr val="FFFFFF"/>
                          </a:solidFill>
                        </a:rPr>
                        <a:t>Giải pháp</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400" b="1" dirty="0">
                          <a:solidFill>
                            <a:srgbClr val="FFFFFF"/>
                          </a:solidFill>
                        </a:rPr>
                        <a:t>Điểm mạnh</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713232">
                <a:tc>
                  <a:txBody>
                    <a:bodyPr/>
                    <a:lstStyle/>
                    <a:p>
                      <a:pPr indent="0" marL="0">
                        <a:buNone/>
                      </a:pPr>
                      <a:r>
                        <a:rPr lang="en-US" sz="1400" b="1" dirty="0">
                          <a:solidFill>
                            <a:srgbClr val="14201E"/>
                          </a:solidFill>
                        </a:rPr>
                        <a:t>Google Analytics 4</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Miễn phí, nhanh; dữ liệu nằm ở bên ngoài</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13232">
                <a:tc>
                  <a:txBody>
                    <a:bodyPr/>
                    <a:lstStyle/>
                    <a:p>
                      <a:pPr indent="0" marL="0">
                        <a:buNone/>
                      </a:pPr>
                      <a:r>
                        <a:rPr lang="en-US" sz="1400" b="1" dirty="0">
                          <a:solidFill>
                            <a:srgbClr val="14201E"/>
                          </a:solidFill>
                        </a:rPr>
                        <a:t>Matomo</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400" dirty="0">
                          <a:solidFill>
                            <a:srgbClr val="14201E"/>
                          </a:solidFill>
                        </a:rPr>
                        <a:t>Self-host, kiểm soát hoàn toàn dữ liệu</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4201E"/>
                          </a:solidFill>
                        </a:rPr>
                        <a:t>Hotjar / MS Clarity</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Heatmap, ghi lại phiên (session replay)</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13232">
                <a:tc>
                  <a:txBody>
                    <a:bodyPr/>
                    <a:lstStyle/>
                    <a:p>
                      <a:pPr indent="0" marL="0">
                        <a:buNone/>
                      </a:pPr>
                      <a:r>
                        <a:rPr lang="en-US" sz="1400" b="1" dirty="0">
                          <a:solidFill>
                            <a:srgbClr val="14201E"/>
                          </a:solidFill>
                        </a:rPr>
                        <a:t>PostHog / Mixpanel</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400" dirty="0">
                          <a:solidFill>
                            <a:srgbClr val="14201E"/>
                          </a:solidFill>
                        </a:rPr>
                        <a:t>Product analytics, funnel, cohort</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13232">
                <a:tc>
                  <a:txBody>
                    <a:bodyPr/>
                    <a:lstStyle/>
                    <a:p>
                      <a:pPr indent="0" marL="0">
                        <a:buNone/>
                      </a:pPr>
                      <a:r>
                        <a:rPr lang="en-US" sz="1400" b="1" dirty="0">
                          <a:solidFill>
                            <a:srgbClr val="14201E"/>
                          </a:solidFill>
                        </a:rPr>
                        <a:t>Tự xây (user_events)</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400" dirty="0">
                          <a:solidFill>
                            <a:srgbClr val="14201E"/>
                          </a:solidFill>
                        </a:rPr>
                        <a:t>Khớp nghiệp vụ, join với bookings; tốn công</a:t>
                      </a:r>
                      <a:endParaRPr lang="en-US" sz="14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6263640" y="1417320"/>
            <a:ext cx="5376672" cy="4846320"/>
          </a:xfrm>
          <a:prstGeom prst="roundRect">
            <a:avLst>
              <a:gd name="adj" fmla="val 1887"/>
            </a:avLst>
          </a:prstGeom>
          <a:solidFill>
            <a:schemeClr val="bg2"/>
          </a:solidFill>
          <a:ln w="12700">
            <a:solidFill>
              <a:schemeClr val="bg2"/>
            </a:solidFill>
            <a:prstDash val="solid"/>
          </a:ln>
        </p:spPr>
      </p:sp>
      <p:sp>
        <p:nvSpPr>
          <p:cNvPr id="8" name="Icon circle"/>
          <p:cNvSpPr/>
          <p:nvPr/>
        </p:nvSpPr>
        <p:spPr>
          <a:xfrm>
            <a:off x="6492240" y="1600200"/>
            <a:ext cx="502920" cy="502920"/>
          </a:xfrm>
          <a:prstGeom prst="ellipse">
            <a:avLst/>
          </a:prstGeom>
          <a:solidFill>
            <a:schemeClr val="accent1"/>
          </a:solidFill>
          <a:ln w="12700">
            <a:solidFill>
              <a:schemeClr val="accent1"/>
            </a:solidFill>
            <a:prstDash val="solid"/>
          </a:ln>
        </p:spPr>
      </p:sp>
      <p:pic>
        <p:nvPicPr>
          <p:cNvPr id="9" name="Image 0" descr="ShieldAlt icon">    </p:cNvPr>
          <p:cNvPicPr>
            <a:picLocks noChangeAspect="1"/>
          </p:cNvPicPr>
          <p:nvPr/>
        </p:nvPicPr>
        <p:blipFill>
          <a:blip r:embed="rId1"/>
          <a:stretch>
            <a:fillRect/>
          </a:stretch>
        </p:blipFill>
        <p:spPr>
          <a:xfrm>
            <a:off x="6612941" y="1720901"/>
            <a:ext cx="261518" cy="261518"/>
          </a:xfrm>
          <a:prstGeom prst="rect">
            <a:avLst/>
          </a:prstGeom>
        </p:spPr>
      </p:pic>
      <p:sp>
        <p:nvSpPr>
          <p:cNvPr id="10" name="Text 5"/>
          <p:cNvSpPr txBox="1"/>
          <p:nvPr/>
        </p:nvSpPr>
        <p:spPr>
          <a:xfrm>
            <a:off x="7132320" y="1600200"/>
            <a:ext cx="4389120" cy="502920"/>
          </a:xfrm>
          <a:prstGeom prst="rect">
            <a:avLst/>
          </a:prstGeom>
          <a:noFill/>
          <a:ln/>
        </p:spPr>
        <p:txBody>
          <a:bodyPr wrap="square" lIns="0" tIns="0" rIns="0" bIns="0" rtlCol="0" anchor="ctr"/>
          <a:lstStyle/>
          <a:p>
            <a:pPr indent="0" marL="0">
              <a:buNone/>
            </a:pPr>
            <a:r>
              <a:rPr lang="en-US" sz="1600" b="1" dirty="0">
                <a:solidFill>
                  <a:schemeClr val="tx2"/>
                </a:solidFill>
              </a:rPr>
              <a:t>Quyền riêng tư &amp; chất lượng dữ liệu</a:t>
            </a:r>
            <a:endParaRPr lang="en-US" sz="1600" dirty="0"/>
          </a:p>
        </p:txBody>
      </p:sp>
      <p:sp>
        <p:nvSpPr>
          <p:cNvPr id="11" name="Text 6"/>
          <p:cNvSpPr txBox="1"/>
          <p:nvPr/>
        </p:nvSpPr>
        <p:spPr>
          <a:xfrm>
            <a:off x="6492240" y="2331720"/>
            <a:ext cx="4937760" cy="3840480"/>
          </a:xfrm>
          <a:prstGeom prst="rect">
            <a:avLst/>
          </a:prstGeom>
          <a:noFill/>
          <a:ln/>
        </p:spPr>
        <p:txBody>
          <a:bodyPr wrap="square" lIns="0" tIns="0" rIns="0" bIns="0" rtlCol="0" anchor="t"/>
          <a:lstStyle/>
          <a:p>
            <a:pPr marL="177800" indent="-177800">
              <a:spcAft>
                <a:spcPts val="1000"/>
              </a:spcAft>
              <a:buSzPct val="100000"/>
              <a:buChar char="•"/>
            </a:pPr>
            <a:r>
              <a:rPr lang="en-US" sz="1500" b="1" dirty="0">
                <a:solidFill>
                  <a:schemeClr val="tx1"/>
                </a:solidFill>
              </a:rPr>
              <a:t>Thông báo &amp; xin đồng ý </a:t>
            </a:r>
            <a:r>
              <a:rPr lang="en-US" sz="1500" dirty="0">
                <a:solidFill>
                  <a:schemeClr val="tx1"/>
                </a:solidFill>
              </a:rPr>
              <a:t>(consent); tuân thủ Nghị định 13/2023/NĐ-CP</a:t>
            </a:r>
            <a:endParaRPr lang="en-US" sz="1500" dirty="0"/>
          </a:p>
          <a:p>
            <a:pPr marL="177800" indent="-177800">
              <a:spcAft>
                <a:spcPts val="1000"/>
              </a:spcAft>
              <a:buSzPct val="100000"/>
              <a:buChar char="•"/>
            </a:pPr>
            <a:r>
              <a:rPr lang="en-US" sz="1500" b="1" dirty="0">
                <a:solidFill>
                  <a:schemeClr val="tx1"/>
                </a:solidFill>
              </a:rPr>
              <a:t>Thu thập tối thiểu: </a:t>
            </a:r>
            <a:r>
              <a:rPr lang="en-US" sz="1500" dirty="0">
                <a:solidFill>
                  <a:schemeClr val="tx1"/>
                </a:solidFill>
              </a:rPr>
              <a:t>dùng session id thay vì thông tin cá nhân</a:t>
            </a:r>
            <a:endParaRPr lang="en-US" sz="1500" dirty="0"/>
          </a:p>
          <a:p>
            <a:pPr marL="177800" indent="-177800">
              <a:spcAft>
                <a:spcPts val="1000"/>
              </a:spcAft>
              <a:buSzPct val="100000"/>
              <a:buChar char="•"/>
            </a:pPr>
            <a:r>
              <a:rPr lang="en-US" sz="1500" b="1" dirty="0">
                <a:solidFill>
                  <a:schemeClr val="tx1"/>
                </a:solidFill>
              </a:rPr>
              <a:t>Không tin client: </a:t>
            </a:r>
            <a:r>
              <a:rPr lang="en-US" sz="1500" dirty="0">
                <a:solidFill>
                  <a:schemeClr val="tx1"/>
                </a:solidFill>
              </a:rPr>
              <a:t>server tự xác định user/session, kiểm tra loại sự kiện</a:t>
            </a:r>
            <a:endParaRPr lang="en-US" sz="1500" dirty="0"/>
          </a:p>
          <a:p>
            <a:pPr marL="177800" indent="-177800">
              <a:spcAft>
                <a:spcPts val="1000"/>
              </a:spcAft>
              <a:buSzPct val="100000"/>
              <a:buChar char="•"/>
            </a:pPr>
            <a:r>
              <a:rPr lang="en-US" sz="1500" b="1" dirty="0">
                <a:solidFill>
                  <a:schemeClr val="tx1"/>
                </a:solidFill>
              </a:rPr>
              <a:t>Lọc bot, rate limit </a:t>
            </a:r>
            <a:r>
              <a:rPr lang="en-US" sz="1500" dirty="0">
                <a:solidFill>
                  <a:schemeClr val="tx1"/>
                </a:solidFill>
              </a:rPr>
              <a:t>để số liệu không bị nhiễu</a:t>
            </a:r>
            <a:endParaRPr lang="en-US" sz="1500" dirty="0"/>
          </a:p>
          <a:p>
            <a:pPr marL="177800" indent="-177800">
              <a:spcAft>
                <a:spcPts val="1000"/>
              </a:spcAft>
              <a:buSzPct val="100000"/>
              <a:buChar char="•"/>
            </a:pPr>
            <a:r>
              <a:rPr lang="en-US" sz="1500" b="1" dirty="0">
                <a:solidFill>
                  <a:schemeClr val="tx1"/>
                </a:solidFill>
              </a:rPr>
              <a:t>Chính sách lưu trữ: </a:t>
            </a:r>
            <a:r>
              <a:rPr lang="en-US" sz="1500" dirty="0">
                <a:solidFill>
                  <a:schemeClr val="tx1"/>
                </a:solidFill>
              </a:rPr>
              <a:t>xoá hoặc tổng hợp dữ liệu cũ sau N ngày</a:t>
            </a:r>
            <a:endParaRPr lang="en-US" sz="1500" dirty="0"/>
          </a:p>
          <a:p>
            <a:pPr marL="177800" indent="-177800">
              <a:spcAft>
                <a:spcPts val="1000"/>
              </a:spcAft>
              <a:buSzPct val="100000"/>
              <a:buChar char="•"/>
            </a:pPr>
            <a:r>
              <a:rPr lang="en-US" sz="1500" b="1" dirty="0">
                <a:solidFill>
                  <a:schemeClr val="tx1"/>
                </a:solidFill>
              </a:rPr>
              <a:t>Tách khỏi luồng nghiệp vụ: </a:t>
            </a:r>
            <a:r>
              <a:rPr lang="en-US" sz="1500" dirty="0">
                <a:solidFill>
                  <a:schemeClr val="tx1"/>
                </a:solidFill>
              </a:rPr>
              <a:t>lỗi tracking không làm hỏng việc đặt tour</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Hiện trạng dự án IUH Tour Booking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2468880" cy="1097280"/>
          </a:xfrm>
          <a:prstGeom prst="roundRect">
            <a:avLst>
              <a:gd name="adj" fmla="val 8333"/>
            </a:avLst>
          </a:prstGeom>
          <a:solidFill>
            <a:schemeClr val="bg2"/>
          </a:solidFill>
          <a:ln w="12700">
            <a:solidFill>
              <a:schemeClr val="bg2"/>
            </a:solidFill>
            <a:prstDash val="solid"/>
          </a:ln>
        </p:spPr>
      </p:sp>
      <p:sp>
        <p:nvSpPr>
          <p:cNvPr id="6" name="Text 3"/>
          <p:cNvSpPr txBox="1"/>
          <p:nvPr/>
        </p:nvSpPr>
        <p:spPr>
          <a:xfrm>
            <a:off x="685800" y="15727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Spring Boot 3.5.16</a:t>
            </a:r>
            <a:endParaRPr lang="en-US" sz="1400" dirty="0"/>
          </a:p>
        </p:txBody>
      </p:sp>
      <p:sp>
        <p:nvSpPr>
          <p:cNvPr id="7" name="Text 4"/>
          <p:cNvSpPr txBox="1"/>
          <p:nvPr/>
        </p:nvSpPr>
        <p:spPr>
          <a:xfrm>
            <a:off x="685800" y="210312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Java 21, Maven</a:t>
            </a:r>
            <a:endParaRPr lang="en-US" sz="1200" dirty="0"/>
          </a:p>
        </p:txBody>
      </p:sp>
      <p:sp>
        <p:nvSpPr>
          <p:cNvPr id="8" name="Card"/>
          <p:cNvSpPr/>
          <p:nvPr/>
        </p:nvSpPr>
        <p:spPr>
          <a:xfrm>
            <a:off x="3154680" y="1463040"/>
            <a:ext cx="2468880" cy="1097280"/>
          </a:xfrm>
          <a:prstGeom prst="roundRect">
            <a:avLst>
              <a:gd name="adj" fmla="val 8333"/>
            </a:avLst>
          </a:prstGeom>
          <a:solidFill>
            <a:schemeClr val="bg2"/>
          </a:solidFill>
          <a:ln w="12700">
            <a:solidFill>
              <a:schemeClr val="bg2"/>
            </a:solidFill>
            <a:prstDash val="solid"/>
          </a:ln>
        </p:spPr>
      </p:sp>
      <p:sp>
        <p:nvSpPr>
          <p:cNvPr id="9" name="Text 6"/>
          <p:cNvSpPr txBox="1"/>
          <p:nvPr/>
        </p:nvSpPr>
        <p:spPr>
          <a:xfrm>
            <a:off x="3291840" y="1572768"/>
            <a:ext cx="2194560" cy="502920"/>
          </a:xfrm>
          <a:prstGeom prst="rect">
            <a:avLst/>
          </a:prstGeom>
          <a:noFill/>
          <a:ln/>
        </p:spPr>
        <p:txBody>
          <a:bodyPr wrap="square" lIns="0" tIns="0" rIns="0" bIns="0" rtlCol="0" anchor="t"/>
          <a:lstStyle/>
          <a:p>
            <a:pPr indent="0" marL="0">
              <a:buNone/>
            </a:pPr>
            <a:r>
              <a:rPr lang="en-US" sz="1400" b="1" dirty="0">
                <a:solidFill>
                  <a:schemeClr val="tx2"/>
                </a:solidFill>
              </a:rPr>
              <a:t>SQL Server · 16 bảng</a:t>
            </a:r>
            <a:endParaRPr lang="en-US" sz="1400" dirty="0"/>
          </a:p>
        </p:txBody>
      </p:sp>
      <p:sp>
        <p:nvSpPr>
          <p:cNvPr id="10" name="Text 7"/>
          <p:cNvSpPr txBox="1"/>
          <p:nvPr/>
        </p:nvSpPr>
        <p:spPr>
          <a:xfrm>
            <a:off x="3291840" y="210312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JPA/Hibernate, ddl-auto: validate</a:t>
            </a:r>
            <a:endParaRPr lang="en-US" sz="1200" dirty="0"/>
          </a:p>
        </p:txBody>
      </p:sp>
      <p:sp>
        <p:nvSpPr>
          <p:cNvPr id="11" name="Card"/>
          <p:cNvSpPr/>
          <p:nvPr/>
        </p:nvSpPr>
        <p:spPr>
          <a:xfrm>
            <a:off x="548640" y="2697480"/>
            <a:ext cx="2468880" cy="1097280"/>
          </a:xfrm>
          <a:prstGeom prst="roundRect">
            <a:avLst>
              <a:gd name="adj" fmla="val 8333"/>
            </a:avLst>
          </a:prstGeom>
          <a:solidFill>
            <a:schemeClr val="bg2"/>
          </a:solidFill>
          <a:ln w="12700">
            <a:solidFill>
              <a:schemeClr val="bg2"/>
            </a:solidFill>
            <a:prstDash val="solid"/>
          </a:ln>
        </p:spPr>
      </p:sp>
      <p:sp>
        <p:nvSpPr>
          <p:cNvPr id="12" name="Text 9"/>
          <p:cNvSpPr txBox="1"/>
          <p:nvPr/>
        </p:nvSpPr>
        <p:spPr>
          <a:xfrm>
            <a:off x="685800" y="2807208"/>
            <a:ext cx="2194560" cy="502920"/>
          </a:xfrm>
          <a:prstGeom prst="rect">
            <a:avLst/>
          </a:prstGeom>
          <a:noFill/>
          <a:ln/>
        </p:spPr>
        <p:txBody>
          <a:bodyPr wrap="square" lIns="0" tIns="0" rIns="0" bIns="0" rtlCol="0" anchor="t"/>
          <a:lstStyle/>
          <a:p>
            <a:pPr indent="0" marL="0">
              <a:buNone/>
            </a:pPr>
            <a:r>
              <a:rPr lang="en-US" sz="1400" b="1" dirty="0">
                <a:solidFill>
                  <a:schemeClr val="tx2"/>
                </a:solidFill>
              </a:rPr>
              <a:t>Thymeleaf + Bootstrap 5</a:t>
            </a:r>
            <a:endParaRPr lang="en-US" sz="1400" dirty="0"/>
          </a:p>
        </p:txBody>
      </p:sp>
      <p:sp>
        <p:nvSpPr>
          <p:cNvPr id="13" name="Text 10"/>
          <p:cNvSpPr txBox="1"/>
          <p:nvPr/>
        </p:nvSpPr>
        <p:spPr>
          <a:xfrm>
            <a:off x="685800" y="333756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jQuery, app.js</a:t>
            </a:r>
            <a:endParaRPr lang="en-US" sz="1200" dirty="0"/>
          </a:p>
        </p:txBody>
      </p:sp>
      <p:sp>
        <p:nvSpPr>
          <p:cNvPr id="14" name="Card"/>
          <p:cNvSpPr/>
          <p:nvPr/>
        </p:nvSpPr>
        <p:spPr>
          <a:xfrm>
            <a:off x="3154680" y="2697480"/>
            <a:ext cx="2468880" cy="1097280"/>
          </a:xfrm>
          <a:prstGeom prst="roundRect">
            <a:avLst>
              <a:gd name="adj" fmla="val 8333"/>
            </a:avLst>
          </a:prstGeom>
          <a:solidFill>
            <a:schemeClr val="bg2"/>
          </a:solidFill>
          <a:ln w="12700">
            <a:solidFill>
              <a:schemeClr val="bg2"/>
            </a:solidFill>
            <a:prstDash val="solid"/>
          </a:ln>
        </p:spPr>
      </p:sp>
      <p:sp>
        <p:nvSpPr>
          <p:cNvPr id="15" name="Text 12"/>
          <p:cNvSpPr txBox="1"/>
          <p:nvPr/>
        </p:nvSpPr>
        <p:spPr>
          <a:xfrm>
            <a:off x="3291840" y="2807208"/>
            <a:ext cx="2194560" cy="502920"/>
          </a:xfrm>
          <a:prstGeom prst="rect">
            <a:avLst/>
          </a:prstGeom>
          <a:noFill/>
          <a:ln/>
        </p:spPr>
        <p:txBody>
          <a:bodyPr wrap="square" lIns="0" tIns="0" rIns="0" bIns="0" rtlCol="0" anchor="t"/>
          <a:lstStyle/>
          <a:p>
            <a:pPr indent="0" marL="0">
              <a:buNone/>
            </a:pPr>
            <a:r>
              <a:rPr lang="en-US" sz="1400" b="1" dirty="0">
                <a:solidFill>
                  <a:schemeClr val="tx2"/>
                </a:solidFill>
              </a:rPr>
              <a:t>Giỏ hàng trong HttpSession</a:t>
            </a:r>
            <a:endParaRPr lang="en-US" sz="1400" dirty="0"/>
          </a:p>
        </p:txBody>
      </p:sp>
      <p:sp>
        <p:nvSpPr>
          <p:cNvPr id="16" name="Text 13"/>
          <p:cNvSpPr txBox="1"/>
          <p:nvPr/>
        </p:nvSpPr>
        <p:spPr>
          <a:xfrm>
            <a:off x="3291840" y="3337560"/>
            <a:ext cx="2194560" cy="411480"/>
          </a:xfrm>
          <a:prstGeom prst="rect">
            <a:avLst/>
          </a:prstGeom>
          <a:noFill/>
          <a:ln/>
        </p:spPr>
        <p:txBody>
          <a:bodyPr wrap="square" lIns="0" tIns="0" rIns="0" bIns="0" rtlCol="0" anchor="t"/>
          <a:lstStyle/>
          <a:p>
            <a:pPr indent="0" marL="0">
              <a:buNone/>
            </a:pPr>
            <a:r>
              <a:rPr lang="en-US" sz="1200" dirty="0">
                <a:solidFill>
                  <a:schemeClr val="accent6"/>
                </a:solidFill>
              </a:rPr>
              <a:t>Cart, CartItem, /api/cart</a:t>
            </a:r>
            <a:endParaRPr lang="en-US" sz="1200" dirty="0"/>
          </a:p>
        </p:txBody>
      </p:sp>
      <p:sp>
        <p:nvSpPr>
          <p:cNvPr id="17" name="Card"/>
          <p:cNvSpPr/>
          <p:nvPr/>
        </p:nvSpPr>
        <p:spPr>
          <a:xfrm>
            <a:off x="548640" y="4023360"/>
            <a:ext cx="5074920" cy="2240280"/>
          </a:xfrm>
          <a:prstGeom prst="roundRect">
            <a:avLst>
              <a:gd name="adj" fmla="val 4082"/>
            </a:avLst>
          </a:prstGeom>
          <a:solidFill>
            <a:schemeClr val="tx2"/>
          </a:solidFill>
          <a:ln w="12700">
            <a:solidFill>
              <a:schemeClr val="tx2"/>
            </a:solidFill>
            <a:prstDash val="solid"/>
          </a:ln>
        </p:spPr>
      </p:sp>
      <p:sp>
        <p:nvSpPr>
          <p:cNvPr id="18" name="Text 15"/>
          <p:cNvSpPr txBox="1"/>
          <p:nvPr/>
        </p:nvSpPr>
        <p:spPr>
          <a:xfrm>
            <a:off x="777240" y="4133088"/>
            <a:ext cx="4663440" cy="320040"/>
          </a:xfrm>
          <a:prstGeom prst="rect">
            <a:avLst/>
          </a:prstGeom>
          <a:noFill/>
          <a:ln/>
        </p:spPr>
        <p:txBody>
          <a:bodyPr wrap="square" lIns="0" tIns="0" rIns="0" bIns="0" rtlCol="0" anchor="t"/>
          <a:lstStyle/>
          <a:p>
            <a:pPr indent="0" marL="0">
              <a:buNone/>
            </a:pPr>
            <a:r>
              <a:rPr lang="en-US" sz="1500" b="1" dirty="0">
                <a:solidFill>
                  <a:schemeClr val="accent2"/>
                </a:solidFill>
              </a:rPr>
              <a:t>Miền nghiệp vụ: đặt tour du lịch</a:t>
            </a:r>
            <a:endParaRPr lang="en-US" sz="1500" dirty="0"/>
          </a:p>
        </p:txBody>
      </p:sp>
      <p:sp>
        <p:nvSpPr>
          <p:cNvPr id="19" name="Text 16"/>
          <p:cNvSpPr txBox="1"/>
          <p:nvPr/>
        </p:nvSpPr>
        <p:spPr>
          <a:xfrm>
            <a:off x="777240" y="4526280"/>
            <a:ext cx="4663440" cy="1691640"/>
          </a:xfrm>
          <a:prstGeom prst="rect">
            <a:avLst/>
          </a:prstGeom>
          <a:noFill/>
          <a:ln/>
        </p:spPr>
        <p:txBody>
          <a:bodyPr wrap="square" lIns="0" tIns="0" rIns="0" bIns="0" rtlCol="0" anchor="t"/>
          <a:lstStyle/>
          <a:p>
            <a:pPr marL="177800" indent="-177800">
              <a:spcAft>
                <a:spcPts val="400"/>
              </a:spcAft>
              <a:buSzPct val="100000"/>
              <a:buChar char="•"/>
            </a:pPr>
            <a:r>
              <a:rPr lang="en-US" sz="1300" b="1" dirty="0">
                <a:solidFill>
                  <a:schemeClr val="bg1"/>
                </a:solidFill>
              </a:rPr>
              <a:t>Sản phẩm </a:t>
            </a:r>
            <a:r>
              <a:rPr lang="en-US" sz="1300" dirty="0">
                <a:solidFill>
                  <a:schemeClr val="bg1"/>
                </a:solidFill>
              </a:rPr>
              <a:t>= Tour (20 tour mẫu, 6 danh mục)</a:t>
            </a:r>
            <a:endParaRPr lang="en-US" sz="1300" dirty="0"/>
          </a:p>
          <a:p>
            <a:pPr marL="177800" indent="-177800">
              <a:spcAft>
                <a:spcPts val="400"/>
              </a:spcAft>
              <a:buSzPct val="100000"/>
              <a:buChar char="•"/>
            </a:pPr>
            <a:r>
              <a:rPr lang="en-US" sz="1300" b="1" dirty="0">
                <a:solidFill>
                  <a:schemeClr val="bg1"/>
                </a:solidFill>
              </a:rPr>
              <a:t>Đơn vị đặt/giỏ </a:t>
            </a:r>
            <a:r>
              <a:rPr lang="en-US" sz="1300" dirty="0">
                <a:solidFill>
                  <a:schemeClr val="bg1"/>
                </a:solidFill>
              </a:rPr>
              <a:t>= TourDeparture (lịch khởi hành)</a:t>
            </a:r>
            <a:endParaRPr lang="en-US" sz="1300" dirty="0"/>
          </a:p>
          <a:p>
            <a:pPr marL="177800" indent="-177800">
              <a:spcAft>
                <a:spcPts val="400"/>
              </a:spcAft>
              <a:buSzPct val="100000"/>
              <a:buChar char="•"/>
            </a:pPr>
            <a:r>
              <a:rPr lang="en-US" sz="1300" b="1" dirty="0">
                <a:solidFill>
                  <a:schemeClr val="bg1"/>
                </a:solidFill>
              </a:rPr>
              <a:t>Đơn hàng </a:t>
            </a:r>
            <a:r>
              <a:rPr lang="en-US" sz="1300" dirty="0">
                <a:solidFill>
                  <a:schemeClr val="bg1"/>
                </a:solidFill>
              </a:rPr>
              <a:t>= Booking + BookingDetail</a:t>
            </a:r>
            <a:endParaRPr lang="en-US" sz="1300" dirty="0"/>
          </a:p>
          <a:p>
            <a:pPr marL="177800" indent="-177800">
              <a:spcAft>
                <a:spcPts val="400"/>
              </a:spcAft>
              <a:buSzPct val="100000"/>
              <a:buChar char="•"/>
            </a:pPr>
            <a:r>
              <a:rPr lang="en-US" sz="1300" b="1" dirty="0">
                <a:solidFill>
                  <a:schemeClr val="bg1"/>
                </a:solidFill>
              </a:rPr>
              <a:t>Khác: </a:t>
            </a:r>
            <a:r>
              <a:rPr lang="en-US" sz="1300" dirty="0">
                <a:solidFill>
                  <a:schemeClr val="bg1"/>
                </a:solidFill>
              </a:rPr>
              <a:t>Review, User, Promotion, Payment</a:t>
            </a:r>
            <a:endParaRPr lang="en-US" sz="1300" dirty="0"/>
          </a:p>
        </p:txBody>
      </p:sp>
      <p:sp>
        <p:nvSpPr>
          <p:cNvPr id="20" name="Text 17"/>
          <p:cNvSpPr txBox="1"/>
          <p:nvPr/>
        </p:nvSpPr>
        <p:spPr>
          <a:xfrm>
            <a:off x="594360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Hạn chế hiện tại → đề xuất AI</a:t>
            </a:r>
            <a:endParaRPr lang="en-US" sz="15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943600" y="1783080"/>
          <a:ext cx="5696712" cy="914400"/>
        </p:xfrm>
        <a:graphic>
          <a:graphicData uri="http://schemas.openxmlformats.org/drawingml/2006/table">
            <a:tbl>
              <a:tblPr/>
              <a:tblGrid>
                <a:gridCol w="3108960"/>
                <a:gridCol w="2587752"/>
              </a:tblGrid>
              <a:tr h="731520">
                <a:tc>
                  <a:txBody>
                    <a:bodyPr/>
                    <a:lstStyle/>
                    <a:p>
                      <a:pPr indent="0" marL="0">
                        <a:buNone/>
                      </a:pPr>
                      <a:r>
                        <a:rPr lang="en-US" sz="1300" b="1" dirty="0">
                          <a:solidFill>
                            <a:srgbClr val="FFFFFF"/>
                          </a:solidFill>
                        </a:rPr>
                        <a:t>Hiện có (hạn chế)</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Đề xuất</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731520">
                <a:tc>
                  <a:txBody>
                    <a:bodyPr/>
                    <a:lstStyle/>
                    <a:p>
                      <a:pPr indent="0" marL="0">
                        <a:buNone/>
                      </a:pPr>
                      <a:r>
                        <a:rPr lang="en-US" sz="1300" dirty="0">
                          <a:solidFill>
                            <a:srgbClr val="14201E"/>
                          </a:solidFill>
                        </a:rPr>
                        <a:t>Tour.searchText + LIKE (bỏ dấu): chỉ khớp từ khoá</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Semantic search bằng VectorStore</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31520">
                <a:tc>
                  <a:txBody>
                    <a:bodyPr/>
                    <a:lstStyle/>
                    <a:p>
                      <a:pPr indent="0" marL="0">
                        <a:buNone/>
                      </a:pPr>
                      <a:r>
                        <a:rPr lang="en-US" sz="1300" dirty="0">
                          <a:solidFill>
                            <a:srgbClr val="14201E"/>
                          </a:solidFill>
                        </a:rPr>
                        <a:t>Tour.viewCount: chỉ là bộ đếm tổng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Bảng user_events: ai, khi nào, bao lâu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31520">
                <a:tc>
                  <a:txBody>
                    <a:bodyPr/>
                    <a:lstStyle/>
                    <a:p>
                      <a:pPr indent="0" marL="0">
                        <a:buNone/>
                      </a:pPr>
                      <a:r>
                        <a:rPr lang="en-US" sz="1300" dirty="0">
                          <a:solidFill>
                            <a:srgbClr val="14201E"/>
                          </a:solidFill>
                        </a:rPr>
                        <a:t>StatisticsService: doanh thu, top bán chạy</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Funnel, top click, tour đặt nhiều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731520">
                <a:tc>
                  <a:txBody>
                    <a:bodyPr/>
                    <a:lstStyle/>
                    <a:p>
                      <a:pPr indent="0" marL="0">
                        <a:buNone/>
                      </a:pPr>
                      <a:r>
                        <a:rPr lang="en-US" sz="1300" dirty="0">
                          <a:solidFill>
                            <a:srgbClr val="14201E"/>
                          </a:solidFill>
                        </a:rPr>
                        <a:t>Giỏ trong session: mất khi hết phiên</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Ghi nhận ADD_TO_CART để phân tích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731520">
                <a:tc>
                  <a:txBody>
                    <a:bodyPr/>
                    <a:lstStyle/>
                    <a:p>
                      <a:pPr indent="0" marL="0">
                        <a:buNone/>
                      </a:pPr>
                      <a:r>
                        <a:rPr lang="en-US" sz="1300" dirty="0">
                          <a:solidFill>
                            <a:srgbClr val="14201E"/>
                          </a:solidFill>
                        </a:rPr>
                        <a:t>ContactMessage: tư vấn thủ công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Chatbot RAG + Tool Calling</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Kiến trúc đề xuất</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2377440" cy="256032"/>
          </a:xfrm>
          <a:prstGeom prst="rect">
            <a:avLst/>
          </a:prstGeom>
          <a:noFill/>
          <a:ln/>
        </p:spPr>
        <p:txBody>
          <a:bodyPr wrap="square" lIns="0" tIns="0" rIns="0" bIns="0" rtlCol="0" anchor="t"/>
          <a:lstStyle/>
          <a:p>
            <a:pPr algn="ctr" indent="0" marL="0">
              <a:buNone/>
            </a:pPr>
            <a:r>
              <a:rPr lang="en-US" sz="1100" b="1" dirty="0">
                <a:solidFill>
                  <a:schemeClr val="accent6"/>
                </a:solidFill>
              </a:rPr>
              <a:t>TRÌNH DUYỆT</a:t>
            </a:r>
            <a:endParaRPr lang="en-US" sz="1100" dirty="0"/>
          </a:p>
        </p:txBody>
      </p:sp>
      <p:sp>
        <p:nvSpPr>
          <p:cNvPr id="6" name="Text 3"/>
          <p:cNvSpPr txBox="1"/>
          <p:nvPr/>
        </p:nvSpPr>
        <p:spPr>
          <a:xfrm>
            <a:off x="3429000" y="1417320"/>
            <a:ext cx="2606040" cy="256032"/>
          </a:xfrm>
          <a:prstGeom prst="rect">
            <a:avLst/>
          </a:prstGeom>
          <a:noFill/>
          <a:ln/>
        </p:spPr>
        <p:txBody>
          <a:bodyPr wrap="square" lIns="0" tIns="0" rIns="0" bIns="0" rtlCol="0" anchor="t"/>
          <a:lstStyle/>
          <a:p>
            <a:pPr algn="ctr" indent="0" marL="0">
              <a:buNone/>
            </a:pPr>
            <a:r>
              <a:rPr lang="en-US" sz="1100" b="1" dirty="0">
                <a:solidFill>
                  <a:schemeClr val="accent6"/>
                </a:solidFill>
              </a:rPr>
              <a:t>CONTROLLER</a:t>
            </a:r>
            <a:endParaRPr lang="en-US" sz="1100" dirty="0"/>
          </a:p>
        </p:txBody>
      </p:sp>
      <p:sp>
        <p:nvSpPr>
          <p:cNvPr id="7" name="Text 4"/>
          <p:cNvSpPr txBox="1"/>
          <p:nvPr/>
        </p:nvSpPr>
        <p:spPr>
          <a:xfrm>
            <a:off x="6537960" y="1417320"/>
            <a:ext cx="2743200" cy="256032"/>
          </a:xfrm>
          <a:prstGeom prst="rect">
            <a:avLst/>
          </a:prstGeom>
          <a:noFill/>
          <a:ln/>
        </p:spPr>
        <p:txBody>
          <a:bodyPr wrap="square" lIns="0" tIns="0" rIns="0" bIns="0" rtlCol="0" anchor="t"/>
          <a:lstStyle/>
          <a:p>
            <a:pPr algn="ctr" indent="0" marL="0">
              <a:buNone/>
            </a:pPr>
            <a:r>
              <a:rPr lang="en-US" sz="1100" b="1" dirty="0">
                <a:solidFill>
                  <a:schemeClr val="accent6"/>
                </a:solidFill>
              </a:rPr>
              <a:t>SERVICE</a:t>
            </a:r>
            <a:endParaRPr lang="en-US" sz="1100" dirty="0"/>
          </a:p>
        </p:txBody>
      </p:sp>
      <p:sp>
        <p:nvSpPr>
          <p:cNvPr id="8" name="Text 5"/>
          <p:cNvSpPr txBox="1"/>
          <p:nvPr/>
        </p:nvSpPr>
        <p:spPr>
          <a:xfrm>
            <a:off x="9784080" y="1417320"/>
            <a:ext cx="1856232" cy="256032"/>
          </a:xfrm>
          <a:prstGeom prst="rect">
            <a:avLst/>
          </a:prstGeom>
          <a:noFill/>
          <a:ln/>
        </p:spPr>
        <p:txBody>
          <a:bodyPr wrap="square" lIns="0" tIns="0" rIns="0" bIns="0" rtlCol="0" anchor="t"/>
          <a:lstStyle/>
          <a:p>
            <a:pPr algn="ctr" indent="0" marL="0">
              <a:buNone/>
            </a:pPr>
            <a:r>
              <a:rPr lang="en-US" sz="1100" b="1" dirty="0">
                <a:solidFill>
                  <a:schemeClr val="accent6"/>
                </a:solidFill>
              </a:rPr>
              <a:t>LƯU TRỮ / NGOÀI</a:t>
            </a:r>
            <a:endParaRPr lang="en-US" sz="1100" dirty="0"/>
          </a:p>
        </p:txBody>
      </p:sp>
      <p:sp>
        <p:nvSpPr>
          <p:cNvPr id="9" name="Box"/>
          <p:cNvSpPr txBox="1"/>
          <p:nvPr/>
        </p:nvSpPr>
        <p:spPr>
          <a:xfrm>
            <a:off x="548640" y="178308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Chat widget (jQuery)</a:t>
            </a:r>
            <a:endParaRPr lang="en-US" sz="1300" dirty="0"/>
          </a:p>
        </p:txBody>
      </p:sp>
      <p:sp>
        <p:nvSpPr>
          <p:cNvPr id="10" name="Arrow"/>
          <p:cNvSpPr/>
          <p:nvPr/>
        </p:nvSpPr>
        <p:spPr>
          <a:xfrm>
            <a:off x="2944368" y="2377440"/>
            <a:ext cx="466344" cy="0"/>
          </a:xfrm>
          <a:prstGeom prst="line">
            <a:avLst/>
          </a:prstGeom>
          <a:noFill/>
          <a:ln w="22225">
            <a:solidFill>
              <a:schemeClr val="accent6"/>
            </a:solidFill>
            <a:prstDash val="solid"/>
            <a:tailEnd type="triangle"/>
          </a:ln>
        </p:spPr>
      </p:sp>
      <p:sp>
        <p:nvSpPr>
          <p:cNvPr id="11" name="Box"/>
          <p:cNvSpPr txBox="1"/>
          <p:nvPr/>
        </p:nvSpPr>
        <p:spPr>
          <a:xfrm>
            <a:off x="3429000" y="178308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POST /api/chat · ChatApiController</a:t>
            </a:r>
            <a:endParaRPr lang="en-US" sz="1300" dirty="0"/>
          </a:p>
        </p:txBody>
      </p:sp>
      <p:sp>
        <p:nvSpPr>
          <p:cNvPr id="12" name="Arrow"/>
          <p:cNvSpPr/>
          <p:nvPr/>
        </p:nvSpPr>
        <p:spPr>
          <a:xfrm>
            <a:off x="6053328" y="2377440"/>
            <a:ext cx="466344" cy="0"/>
          </a:xfrm>
          <a:prstGeom prst="line">
            <a:avLst/>
          </a:prstGeom>
          <a:noFill/>
          <a:ln w="22225">
            <a:solidFill>
              <a:schemeClr val="accent6"/>
            </a:solidFill>
            <a:prstDash val="solid"/>
            <a:tailEnd type="triangle"/>
          </a:ln>
        </p:spPr>
      </p:sp>
      <p:sp>
        <p:nvSpPr>
          <p:cNvPr id="13" name="Box"/>
          <p:cNvSpPr txBox="1"/>
          <p:nvPr/>
        </p:nvSpPr>
        <p:spPr>
          <a:xfrm>
            <a:off x="6537960" y="178308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ChatClient + Memory + QuestionAnswerAdvisor + TourTools</a:t>
            </a:r>
            <a:endParaRPr lang="en-US" sz="1300" dirty="0"/>
          </a:p>
        </p:txBody>
      </p:sp>
      <p:sp>
        <p:nvSpPr>
          <p:cNvPr id="14" name="Arrow"/>
          <p:cNvSpPr/>
          <p:nvPr/>
        </p:nvSpPr>
        <p:spPr>
          <a:xfrm>
            <a:off x="9299448" y="2377440"/>
            <a:ext cx="466344" cy="0"/>
          </a:xfrm>
          <a:prstGeom prst="line">
            <a:avLst/>
          </a:prstGeom>
          <a:noFill/>
          <a:ln w="22225">
            <a:solidFill>
              <a:schemeClr val="accent6"/>
            </a:solidFill>
            <a:prstDash val="solid"/>
            <a:headEnd type="triangle"/>
            <a:tailEnd type="triangle"/>
          </a:ln>
        </p:spPr>
      </p:sp>
      <p:sp>
        <p:nvSpPr>
          <p:cNvPr id="15" name="Box"/>
          <p:cNvSpPr txBox="1"/>
          <p:nvPr/>
        </p:nvSpPr>
        <p:spPr>
          <a:xfrm>
            <a:off x="9784080" y="1783080"/>
            <a:ext cx="1856232" cy="1188720"/>
          </a:xfrm>
          <a:prstGeom prst="roundRect">
            <a:avLst>
              <a:gd name="adj" fmla="val 7692"/>
            </a:avLst>
          </a:prstGeom>
          <a:solidFill>
            <a:schemeClr val="accent1"/>
          </a:solidFill>
          <a:ln>
            <a:solidFill>
              <a:schemeClr val="accent1"/>
            </a:solidFill>
          </a:ln>
        </p:spPr>
        <p:txBody>
          <a:bodyPr wrap="square" lIns="101600" tIns="101600" rIns="101600" bIns="101600" rtlCol="0" anchor="ctr"/>
          <a:lstStyle/>
          <a:p>
            <a:pPr algn="ctr" indent="0" marL="0">
              <a:buNone/>
            </a:pPr>
            <a:r>
              <a:rPr lang="en-US" sz="1300" b="1" dirty="0">
                <a:solidFill>
                  <a:schemeClr val="bg1"/>
                </a:solidFill>
              </a:rPr>
              <a:t>LLM</a:t>
            </a:r>
            <a:endParaRPr lang="en-US" sz="1300" dirty="0"/>
          </a:p>
          <a:p>
            <a:pPr algn="ctr" indent="0" marL="0">
              <a:buNone/>
            </a:pPr>
            <a:r>
              <a:rPr lang="en-US" sz="1300" b="1" dirty="0">
                <a:solidFill>
                  <a:schemeClr val="bg1"/>
                </a:solidFill>
              </a:rPr>
              <a:t>Ollama / OpenAI</a:t>
            </a:r>
            <a:endParaRPr lang="en-US" sz="1300" dirty="0"/>
          </a:p>
        </p:txBody>
      </p:sp>
      <p:sp>
        <p:nvSpPr>
          <p:cNvPr id="16" name="Box"/>
          <p:cNvSpPr txBox="1"/>
          <p:nvPr/>
        </p:nvSpPr>
        <p:spPr>
          <a:xfrm>
            <a:off x="548640" y="329184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Ô tìm kiếm (app.js)</a:t>
            </a:r>
            <a:endParaRPr lang="en-US" sz="1300" dirty="0"/>
          </a:p>
        </p:txBody>
      </p:sp>
      <p:sp>
        <p:nvSpPr>
          <p:cNvPr id="17" name="Arrow"/>
          <p:cNvSpPr/>
          <p:nvPr/>
        </p:nvSpPr>
        <p:spPr>
          <a:xfrm>
            <a:off x="2944368" y="3886200"/>
            <a:ext cx="466344" cy="0"/>
          </a:xfrm>
          <a:prstGeom prst="line">
            <a:avLst/>
          </a:prstGeom>
          <a:noFill/>
          <a:ln w="22225">
            <a:solidFill>
              <a:schemeClr val="accent6"/>
            </a:solidFill>
            <a:prstDash val="solid"/>
            <a:tailEnd type="triangle"/>
          </a:ln>
        </p:spPr>
      </p:sp>
      <p:sp>
        <p:nvSpPr>
          <p:cNvPr id="18" name="Box"/>
          <p:cNvSpPr txBox="1"/>
          <p:nvPr/>
        </p:nvSpPr>
        <p:spPr>
          <a:xfrm>
            <a:off x="3429000" y="329184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GET /api/tours/semantic · TourApiController</a:t>
            </a:r>
            <a:endParaRPr lang="en-US" sz="1300" dirty="0"/>
          </a:p>
        </p:txBody>
      </p:sp>
      <p:sp>
        <p:nvSpPr>
          <p:cNvPr id="19" name="Arrow"/>
          <p:cNvSpPr/>
          <p:nvPr/>
        </p:nvSpPr>
        <p:spPr>
          <a:xfrm>
            <a:off x="6053328" y="3886200"/>
            <a:ext cx="466344" cy="0"/>
          </a:xfrm>
          <a:prstGeom prst="line">
            <a:avLst/>
          </a:prstGeom>
          <a:noFill/>
          <a:ln w="22225">
            <a:solidFill>
              <a:schemeClr val="accent6"/>
            </a:solidFill>
            <a:prstDash val="solid"/>
            <a:tailEnd type="triangle"/>
          </a:ln>
        </p:spPr>
      </p:sp>
      <p:sp>
        <p:nvSpPr>
          <p:cNvPr id="20" name="Box"/>
          <p:cNvSpPr txBox="1"/>
          <p:nvPr/>
        </p:nvSpPr>
        <p:spPr>
          <a:xfrm>
            <a:off x="6537960" y="329184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TourVectorService (ingest + search)</a:t>
            </a:r>
            <a:endParaRPr lang="en-US" sz="1300" dirty="0"/>
          </a:p>
        </p:txBody>
      </p:sp>
      <p:sp>
        <p:nvSpPr>
          <p:cNvPr id="21" name="Arrow"/>
          <p:cNvSpPr/>
          <p:nvPr/>
        </p:nvSpPr>
        <p:spPr>
          <a:xfrm>
            <a:off x="9299448" y="3886200"/>
            <a:ext cx="466344" cy="0"/>
          </a:xfrm>
          <a:prstGeom prst="line">
            <a:avLst/>
          </a:prstGeom>
          <a:noFill/>
          <a:ln w="22225">
            <a:solidFill>
              <a:schemeClr val="accent6"/>
            </a:solidFill>
            <a:prstDash val="solid"/>
            <a:headEnd type="triangle"/>
            <a:tailEnd type="triangle"/>
          </a:ln>
        </p:spPr>
      </p:sp>
      <p:sp>
        <p:nvSpPr>
          <p:cNvPr id="22" name="Box"/>
          <p:cNvSpPr txBox="1"/>
          <p:nvPr/>
        </p:nvSpPr>
        <p:spPr>
          <a:xfrm>
            <a:off x="9784080" y="3291840"/>
            <a:ext cx="1856232" cy="1188720"/>
          </a:xfrm>
          <a:prstGeom prst="roundRect">
            <a:avLst>
              <a:gd name="adj" fmla="val 7692"/>
            </a:avLst>
          </a:prstGeom>
          <a:solidFill>
            <a:schemeClr val="accent2"/>
          </a:solidFill>
          <a:ln>
            <a:solidFill>
              <a:schemeClr val="accent2"/>
            </a:solidFill>
          </a:ln>
        </p:spPr>
        <p:txBody>
          <a:bodyPr wrap="square" lIns="101600" tIns="101600" rIns="101600" bIns="101600" rtlCol="0" anchor="ctr"/>
          <a:lstStyle/>
          <a:p>
            <a:pPr algn="ctr" indent="0" marL="0">
              <a:buNone/>
            </a:pPr>
            <a:r>
              <a:rPr lang="en-US" sz="1300" b="1" dirty="0">
                <a:solidFill>
                  <a:schemeClr val="tx2"/>
                </a:solidFill>
              </a:rPr>
              <a:t>VectorStore</a:t>
            </a:r>
            <a:endParaRPr lang="en-US" sz="1300" dirty="0"/>
          </a:p>
          <a:p>
            <a:pPr algn="ctr" indent="0" marL="0">
              <a:buNone/>
            </a:pPr>
            <a:r>
              <a:rPr lang="en-US" sz="1300" b="1" dirty="0">
                <a:solidFill>
                  <a:schemeClr val="tx2"/>
                </a:solidFill>
              </a:rPr>
              <a:t>PgVector / Simple</a:t>
            </a:r>
            <a:endParaRPr lang="en-US" sz="1300" dirty="0"/>
          </a:p>
        </p:txBody>
      </p:sp>
      <p:sp>
        <p:nvSpPr>
          <p:cNvPr id="23" name="Box"/>
          <p:cNvSpPr txBox="1"/>
          <p:nvPr/>
        </p:nvSpPr>
        <p:spPr>
          <a:xfrm>
            <a:off x="548640" y="4800600"/>
            <a:ext cx="2377440" cy="1188720"/>
          </a:xfrm>
          <a:prstGeom prst="roundRect">
            <a:avLst>
              <a:gd name="adj" fmla="val 7692"/>
            </a:avLst>
          </a:prstGeom>
          <a:solidFill>
            <a:srgbClr val="FFFFFF"/>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tracker.js</a:t>
            </a:r>
            <a:endParaRPr lang="en-US" sz="1300" dirty="0"/>
          </a:p>
        </p:txBody>
      </p:sp>
      <p:sp>
        <p:nvSpPr>
          <p:cNvPr id="24" name="Arrow"/>
          <p:cNvSpPr/>
          <p:nvPr/>
        </p:nvSpPr>
        <p:spPr>
          <a:xfrm>
            <a:off x="2944368" y="5394960"/>
            <a:ext cx="466344" cy="0"/>
          </a:xfrm>
          <a:prstGeom prst="line">
            <a:avLst/>
          </a:prstGeom>
          <a:noFill/>
          <a:ln w="22225">
            <a:solidFill>
              <a:schemeClr val="accent6"/>
            </a:solidFill>
            <a:prstDash val="solid"/>
            <a:tailEnd type="triangle"/>
          </a:ln>
        </p:spPr>
      </p:sp>
      <p:sp>
        <p:nvSpPr>
          <p:cNvPr id="25" name="Box"/>
          <p:cNvSpPr txBox="1"/>
          <p:nvPr/>
        </p:nvSpPr>
        <p:spPr>
          <a:xfrm>
            <a:off x="3429000" y="4800600"/>
            <a:ext cx="260604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dirty="0">
                <a:solidFill>
                  <a:schemeClr val="tx1"/>
                </a:solidFill>
              </a:rPr>
              <a:t>POST /api/tracking · TrackingApiController</a:t>
            </a:r>
            <a:endParaRPr lang="en-US" sz="1300" dirty="0"/>
          </a:p>
        </p:txBody>
      </p:sp>
      <p:sp>
        <p:nvSpPr>
          <p:cNvPr id="26" name="Arrow"/>
          <p:cNvSpPr/>
          <p:nvPr/>
        </p:nvSpPr>
        <p:spPr>
          <a:xfrm>
            <a:off x="6053328" y="5394960"/>
            <a:ext cx="466344" cy="0"/>
          </a:xfrm>
          <a:prstGeom prst="line">
            <a:avLst/>
          </a:prstGeom>
          <a:noFill/>
          <a:ln w="22225">
            <a:solidFill>
              <a:schemeClr val="accent6"/>
            </a:solidFill>
            <a:prstDash val="solid"/>
            <a:tailEnd type="triangle"/>
          </a:ln>
        </p:spPr>
      </p:sp>
      <p:sp>
        <p:nvSpPr>
          <p:cNvPr id="27" name="Box"/>
          <p:cNvSpPr txBox="1"/>
          <p:nvPr/>
        </p:nvSpPr>
        <p:spPr>
          <a:xfrm>
            <a:off x="6537960" y="4800600"/>
            <a:ext cx="2743200" cy="1188720"/>
          </a:xfrm>
          <a:prstGeom prst="roundRect">
            <a:avLst>
              <a:gd name="adj" fmla="val 7692"/>
            </a:avLst>
          </a:prstGeom>
          <a:solidFill>
            <a:schemeClr val="bg2"/>
          </a:solidFill>
          <a:ln w="15875">
            <a:solidFill>
              <a:schemeClr val="accent5"/>
            </a:solidFill>
            <a:prstDash val="solid"/>
          </a:ln>
        </p:spPr>
        <p:txBody>
          <a:bodyPr wrap="square" lIns="101600" tIns="101600" rIns="101600" bIns="101600" rtlCol="0" anchor="ctr"/>
          <a:lstStyle/>
          <a:p>
            <a:pPr algn="ctr" indent="0" marL="0">
              <a:buNone/>
            </a:pPr>
            <a:r>
              <a:rPr lang="en-US" sz="1300" b="1" dirty="0">
                <a:solidFill>
                  <a:schemeClr val="tx1"/>
                </a:solidFill>
              </a:rPr>
              <a:t>TrackingService · StatisticsService · RecommendationService</a:t>
            </a:r>
            <a:endParaRPr lang="en-US" sz="1300" dirty="0"/>
          </a:p>
        </p:txBody>
      </p:sp>
      <p:sp>
        <p:nvSpPr>
          <p:cNvPr id="28" name="Arrow"/>
          <p:cNvSpPr/>
          <p:nvPr/>
        </p:nvSpPr>
        <p:spPr>
          <a:xfrm>
            <a:off x="9299448" y="5394960"/>
            <a:ext cx="466344" cy="0"/>
          </a:xfrm>
          <a:prstGeom prst="line">
            <a:avLst/>
          </a:prstGeom>
          <a:noFill/>
          <a:ln w="22225">
            <a:solidFill>
              <a:schemeClr val="accent6"/>
            </a:solidFill>
            <a:prstDash val="solid"/>
            <a:headEnd type="triangle"/>
            <a:tailEnd type="triangle"/>
          </a:ln>
        </p:spPr>
      </p:sp>
      <p:sp>
        <p:nvSpPr>
          <p:cNvPr id="29" name="Box"/>
          <p:cNvSpPr txBox="1"/>
          <p:nvPr/>
        </p:nvSpPr>
        <p:spPr>
          <a:xfrm>
            <a:off x="9784080" y="4800600"/>
            <a:ext cx="1856232" cy="1188720"/>
          </a:xfrm>
          <a:prstGeom prst="roundRect">
            <a:avLst>
              <a:gd name="adj" fmla="val 7692"/>
            </a:avLst>
          </a:prstGeom>
          <a:solidFill>
            <a:schemeClr val="tx2"/>
          </a:solidFill>
          <a:ln>
            <a:solidFill>
              <a:schemeClr val="tx2"/>
            </a:solidFill>
          </a:ln>
        </p:spPr>
        <p:txBody>
          <a:bodyPr wrap="square" lIns="101600" tIns="101600" rIns="101600" bIns="101600" rtlCol="0" anchor="ctr"/>
          <a:lstStyle/>
          <a:p>
            <a:pPr algn="ctr" indent="0" marL="0">
              <a:buNone/>
            </a:pPr>
            <a:r>
              <a:rPr lang="en-US" sz="1300" b="1" dirty="0">
                <a:solidFill>
                  <a:schemeClr val="bg1"/>
                </a:solidFill>
              </a:rPr>
              <a:t>SQL Server</a:t>
            </a:r>
            <a:endParaRPr lang="en-US" sz="1300" dirty="0"/>
          </a:p>
          <a:p>
            <a:pPr algn="ctr" indent="0" marL="0">
              <a:buNone/>
            </a:pPr>
            <a:r>
              <a:rPr lang="en-US" sz="1300" b="1" dirty="0">
                <a:solidFill>
                  <a:schemeClr val="bg1"/>
                </a:solidFill>
              </a:rPr>
              <a:t>tours, bookings, user_events</a:t>
            </a:r>
            <a:endParaRPr lang="en-US" sz="1300" dirty="0"/>
          </a:p>
        </p:txBody>
      </p:sp>
      <p:sp>
        <p:nvSpPr>
          <p:cNvPr id="30" name="Arrow"/>
          <p:cNvSpPr/>
          <p:nvPr/>
        </p:nvSpPr>
        <p:spPr>
          <a:xfrm flipV="1">
            <a:off x="10716768" y="4498848"/>
            <a:ext cx="0" cy="283464"/>
          </a:xfrm>
          <a:prstGeom prst="line">
            <a:avLst/>
          </a:prstGeom>
          <a:noFill/>
          <a:ln w="25400">
            <a:solidFill>
              <a:srgbClr val="C2622D"/>
            </a:solidFill>
            <a:prstDash val="dash"/>
            <a:tailEnd type="triangle"/>
          </a:ln>
        </p:spPr>
      </p:sp>
      <p:sp>
        <p:nvSpPr>
          <p:cNvPr id="31" name="Text 28"/>
          <p:cNvSpPr txBox="1"/>
          <p:nvPr/>
        </p:nvSpPr>
        <p:spPr>
          <a:xfrm>
            <a:off x="10835640" y="4526280"/>
            <a:ext cx="731520" cy="228600"/>
          </a:xfrm>
          <a:prstGeom prst="rect">
            <a:avLst/>
          </a:prstGeom>
          <a:noFill/>
          <a:ln/>
        </p:spPr>
        <p:txBody>
          <a:bodyPr wrap="square" lIns="0" tIns="0" rIns="0" bIns="0" rtlCol="0" anchor="t"/>
          <a:lstStyle/>
          <a:p>
            <a:pPr indent="0" marL="0">
              <a:buNone/>
            </a:pPr>
            <a:r>
              <a:rPr lang="en-US" sz="1100" b="1" dirty="0">
                <a:solidFill>
                  <a:schemeClr val="accent3"/>
                </a:solidFill>
              </a:rPr>
              <a:t>ETL</a:t>
            </a:r>
            <a:endParaRPr lang="en-US" sz="1100" dirty="0"/>
          </a:p>
        </p:txBody>
      </p:sp>
      <p:sp>
        <p:nvSpPr>
          <p:cNvPr id="32" name="Arrow"/>
          <p:cNvSpPr/>
          <p:nvPr/>
        </p:nvSpPr>
        <p:spPr>
          <a:xfrm>
            <a:off x="7909560" y="4480560"/>
            <a:ext cx="0" cy="301752"/>
          </a:xfrm>
          <a:prstGeom prst="line">
            <a:avLst/>
          </a:prstGeom>
          <a:noFill/>
          <a:ln w="22225">
            <a:solidFill>
              <a:srgbClr val="C2622D"/>
            </a:solidFill>
            <a:prstDash val="dash"/>
            <a:tailEnd type="triangle"/>
          </a:ln>
        </p:spPr>
      </p:sp>
      <p:sp>
        <p:nvSpPr>
          <p:cNvPr id="33" name="Text 30"/>
          <p:cNvSpPr txBox="1"/>
          <p:nvPr/>
        </p:nvSpPr>
        <p:spPr>
          <a:xfrm>
            <a:off x="8028432" y="4507992"/>
            <a:ext cx="2011680" cy="228600"/>
          </a:xfrm>
          <a:prstGeom prst="rect">
            <a:avLst/>
          </a:prstGeom>
          <a:noFill/>
          <a:ln/>
        </p:spPr>
        <p:txBody>
          <a:bodyPr wrap="square" lIns="0" tIns="0" rIns="0" bIns="0" rtlCol="0" anchor="t"/>
          <a:lstStyle/>
          <a:p>
            <a:pPr indent="0" marL="0">
              <a:buNone/>
            </a:pPr>
            <a:r>
              <a:rPr lang="en-US" sz="1100" b="1" dirty="0">
                <a:solidFill>
                  <a:schemeClr val="accent3"/>
                </a:solidFill>
              </a:rPr>
              <a:t>gợi ý = hành vi + vector</a:t>
            </a:r>
            <a:endParaRPr lang="en-US" sz="1100" dirty="0"/>
          </a:p>
        </p:txBody>
      </p:sp>
      <p:sp>
        <p:nvSpPr>
          <p:cNvPr id="34" name="Text 31"/>
          <p:cNvSpPr txBox="1"/>
          <p:nvPr/>
        </p:nvSpPr>
        <p:spPr>
          <a:xfrm>
            <a:off x="548640" y="6108192"/>
            <a:ext cx="11064240" cy="274320"/>
          </a:xfrm>
          <a:prstGeom prst="rect">
            <a:avLst/>
          </a:prstGeom>
          <a:noFill/>
          <a:ln/>
        </p:spPr>
        <p:txBody>
          <a:bodyPr wrap="square" lIns="0" tIns="0" rIns="0" bIns="0" rtlCol="0" anchor="t"/>
          <a:lstStyle/>
          <a:p>
            <a:pPr indent="0" marL="0">
              <a:buNone/>
            </a:pPr>
            <a:r>
              <a:rPr lang="en-US" sz="1200" i="1" dirty="0">
                <a:solidFill>
                  <a:schemeClr val="accent6"/>
                </a:solidFill>
              </a:rPr>
              <a:t>Nét đứt: đồng bộ dữ liệu (ETL) và kết hợp tín hiệu. SQL Server là nguồn gốc; mọi tool AI đi qua Service sẵn có.</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Chọn vector store và model</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3611880" cy="3520440"/>
          </a:xfrm>
          <a:prstGeom prst="roundRect">
            <a:avLst>
              <a:gd name="adj" fmla="val 2597"/>
            </a:avLst>
          </a:prstGeom>
          <a:solidFill>
            <a:schemeClr val="bg2"/>
          </a:solidFill>
          <a:ln w="12700">
            <a:solidFill>
              <a:schemeClr val="bg2"/>
            </a:solidFill>
            <a:prstDash val="solid"/>
          </a:ln>
        </p:spPr>
      </p:sp>
      <p:sp>
        <p:nvSpPr>
          <p:cNvPr id="6" name="Text 3"/>
          <p:cNvSpPr txBox="1"/>
          <p:nvPr/>
        </p:nvSpPr>
        <p:spPr>
          <a:xfrm>
            <a:off x="777240" y="1600200"/>
            <a:ext cx="3200400" cy="457200"/>
          </a:xfrm>
          <a:prstGeom prst="rect">
            <a:avLst/>
          </a:prstGeom>
          <a:noFill/>
          <a:ln/>
        </p:spPr>
        <p:txBody>
          <a:bodyPr wrap="square" lIns="0" tIns="0" rIns="0" bIns="0" rtlCol="0" anchor="t"/>
          <a:lstStyle/>
          <a:p>
            <a:pPr indent="0" marL="0">
              <a:buNone/>
            </a:pPr>
            <a:r>
              <a:rPr lang="en-US" sz="1600" b="1" dirty="0">
                <a:solidFill>
                  <a:schemeClr val="tx2"/>
                </a:solidFill>
              </a:rPr>
              <a:t>Môi trường dev (profile mặc định)</a:t>
            </a:r>
            <a:endParaRPr lang="en-US" sz="1600" dirty="0"/>
          </a:p>
        </p:txBody>
      </p:sp>
      <p:sp>
        <p:nvSpPr>
          <p:cNvPr id="7" name="Text 4"/>
          <p:cNvSpPr txBox="1"/>
          <p:nvPr/>
        </p:nvSpPr>
        <p:spPr>
          <a:xfrm>
            <a:off x="77724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tx1"/>
                </a:solidFill>
              </a:rPr>
              <a:t>Vector store: </a:t>
            </a:r>
            <a:r>
              <a:rPr lang="en-US" sz="1550" dirty="0">
                <a:solidFill>
                  <a:schemeClr val="tx1"/>
                </a:solidFill>
              </a:rPr>
              <a:t>SimpleVectorStore (in-memory, không cần hạ tầng)</a:t>
            </a:r>
            <a:endParaRPr lang="en-US" sz="1550" dirty="0"/>
          </a:p>
          <a:p>
            <a:pPr marL="177800" indent="-177800">
              <a:spcAft>
                <a:spcPts val="1200"/>
              </a:spcAft>
              <a:buSzPct val="100000"/>
              <a:buChar char="•"/>
            </a:pPr>
            <a:r>
              <a:rPr lang="en-US" sz="1550" b="1" dirty="0">
                <a:solidFill>
                  <a:schemeClr val="tx1"/>
                </a:solidFill>
              </a:rPr>
              <a:t>Model: </a:t>
            </a:r>
            <a:r>
              <a:rPr lang="en-US" sz="1550" dirty="0">
                <a:solidFill>
                  <a:schemeClr val="tx1"/>
                </a:solidFill>
              </a:rPr>
              <a:t>Ollama chạy local: qwen2.5 (chat), bge-m3 (embedding, đa ngữ)</a:t>
            </a:r>
            <a:endParaRPr lang="en-US" sz="1550" dirty="0"/>
          </a:p>
          <a:p>
            <a:pPr marL="177800" indent="-177800">
              <a:spcAft>
                <a:spcPts val="1200"/>
              </a:spcAft>
              <a:buSzPct val="100000"/>
              <a:buChar char="•"/>
            </a:pPr>
            <a:r>
              <a:rPr lang="en-US" sz="1550" b="1" dirty="0">
                <a:solidFill>
                  <a:schemeClr val="tx1"/>
                </a:solidFill>
              </a:rPr>
              <a:t>Ưu điểm: </a:t>
            </a:r>
            <a:r>
              <a:rPr lang="en-US" sz="1550" dirty="0">
                <a:solidFill>
                  <a:schemeClr val="tx1"/>
                </a:solidFill>
              </a:rPr>
              <a:t>miễn phí, chạy offline</a:t>
            </a:r>
            <a:endParaRPr lang="en-US" sz="1550" dirty="0"/>
          </a:p>
        </p:txBody>
      </p:sp>
      <p:sp>
        <p:nvSpPr>
          <p:cNvPr id="8" name="Card"/>
          <p:cNvSpPr/>
          <p:nvPr/>
        </p:nvSpPr>
        <p:spPr>
          <a:xfrm>
            <a:off x="4297680" y="1463040"/>
            <a:ext cx="3611880" cy="3520440"/>
          </a:xfrm>
          <a:prstGeom prst="roundRect">
            <a:avLst>
              <a:gd name="adj" fmla="val 2597"/>
            </a:avLst>
          </a:prstGeom>
          <a:solidFill>
            <a:schemeClr val="bg2"/>
          </a:solidFill>
          <a:ln w="12700">
            <a:solidFill>
              <a:schemeClr val="bg2"/>
            </a:solidFill>
            <a:prstDash val="solid"/>
          </a:ln>
        </p:spPr>
      </p:sp>
      <p:sp>
        <p:nvSpPr>
          <p:cNvPr id="9" name="Text 6"/>
          <p:cNvSpPr txBox="1"/>
          <p:nvPr/>
        </p:nvSpPr>
        <p:spPr>
          <a:xfrm>
            <a:off x="4526280" y="1600200"/>
            <a:ext cx="3200400" cy="457200"/>
          </a:xfrm>
          <a:prstGeom prst="rect">
            <a:avLst/>
          </a:prstGeom>
          <a:noFill/>
          <a:ln/>
        </p:spPr>
        <p:txBody>
          <a:bodyPr wrap="square" lIns="0" tIns="0" rIns="0" bIns="0" rtlCol="0" anchor="t"/>
          <a:lstStyle/>
          <a:p>
            <a:pPr indent="0" marL="0">
              <a:buNone/>
            </a:pPr>
            <a:r>
              <a:rPr lang="en-US" sz="1600" b="1" dirty="0">
                <a:solidFill>
                  <a:schemeClr val="tx2"/>
                </a:solidFill>
              </a:rPr>
              <a:t>Môi trường prod</a:t>
            </a:r>
            <a:endParaRPr lang="en-US" sz="1600" dirty="0"/>
          </a:p>
        </p:txBody>
      </p:sp>
      <p:sp>
        <p:nvSpPr>
          <p:cNvPr id="10" name="Text 7"/>
          <p:cNvSpPr txBox="1"/>
          <p:nvPr/>
        </p:nvSpPr>
        <p:spPr>
          <a:xfrm>
            <a:off x="452628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tx1"/>
                </a:solidFill>
              </a:rPr>
              <a:t>Vector store: </a:t>
            </a:r>
            <a:r>
              <a:rPr lang="en-US" sz="1550" dirty="0">
                <a:solidFill>
                  <a:schemeClr val="tx1"/>
                </a:solidFill>
              </a:rPr>
              <a:t>PgVector (PostgreSQL + pgvector, chạy bằng Docker)</a:t>
            </a:r>
            <a:endParaRPr lang="en-US" sz="1550" dirty="0"/>
          </a:p>
          <a:p>
            <a:pPr marL="177800" indent="-177800">
              <a:spcAft>
                <a:spcPts val="1200"/>
              </a:spcAft>
              <a:buSzPct val="100000"/>
              <a:buChar char="•"/>
            </a:pPr>
            <a:r>
              <a:rPr lang="en-US" sz="1550" b="1" dirty="0">
                <a:solidFill>
                  <a:schemeClr val="tx1"/>
                </a:solidFill>
              </a:rPr>
              <a:t>Model: </a:t>
            </a:r>
            <a:r>
              <a:rPr lang="en-US" sz="1550" dirty="0">
                <a:solidFill>
                  <a:schemeClr val="tx1"/>
                </a:solidFill>
              </a:rPr>
              <a:t>OpenAI: gpt-4o-mini (chat), text-embedding-3-small (1536 chiều)</a:t>
            </a:r>
            <a:endParaRPr lang="en-US" sz="1550" dirty="0"/>
          </a:p>
          <a:p>
            <a:pPr marL="177800" indent="-177800">
              <a:spcAft>
                <a:spcPts val="1200"/>
              </a:spcAft>
              <a:buSzPct val="100000"/>
              <a:buChar char="•"/>
            </a:pPr>
            <a:r>
              <a:rPr lang="en-US" sz="1550" b="1" dirty="0">
                <a:solidFill>
                  <a:schemeClr val="tx1"/>
                </a:solidFill>
              </a:rPr>
              <a:t>Ưu điểm: </a:t>
            </a:r>
            <a:r>
              <a:rPr lang="en-US" sz="1550" dirty="0">
                <a:solidFill>
                  <a:schemeClr val="tx1"/>
                </a:solidFill>
              </a:rPr>
              <a:t>chất lượng tiếng Việt tốt, lọc metadata, chỉ mục HNSW</a:t>
            </a:r>
            <a:endParaRPr lang="en-US" sz="1550" dirty="0"/>
          </a:p>
        </p:txBody>
      </p:sp>
      <p:sp>
        <p:nvSpPr>
          <p:cNvPr id="11" name="Card"/>
          <p:cNvSpPr/>
          <p:nvPr/>
        </p:nvSpPr>
        <p:spPr>
          <a:xfrm>
            <a:off x="8046720" y="1463040"/>
            <a:ext cx="3611880" cy="3520440"/>
          </a:xfrm>
          <a:prstGeom prst="roundRect">
            <a:avLst>
              <a:gd name="adj" fmla="val 2597"/>
            </a:avLst>
          </a:prstGeom>
          <a:solidFill>
            <a:schemeClr val="tx2"/>
          </a:solidFill>
          <a:ln w="12700">
            <a:solidFill>
              <a:schemeClr val="tx2"/>
            </a:solidFill>
            <a:prstDash val="solid"/>
          </a:ln>
        </p:spPr>
      </p:sp>
      <p:sp>
        <p:nvSpPr>
          <p:cNvPr id="12" name="Text 9"/>
          <p:cNvSpPr txBox="1"/>
          <p:nvPr/>
        </p:nvSpPr>
        <p:spPr>
          <a:xfrm>
            <a:off x="8275320" y="1600200"/>
            <a:ext cx="3200400" cy="457200"/>
          </a:xfrm>
          <a:prstGeom prst="rect">
            <a:avLst/>
          </a:prstGeom>
          <a:noFill/>
          <a:ln/>
        </p:spPr>
        <p:txBody>
          <a:bodyPr wrap="square" lIns="0" tIns="0" rIns="0" bIns="0" rtlCol="0" anchor="t"/>
          <a:lstStyle/>
          <a:p>
            <a:pPr indent="0" marL="0">
              <a:buNone/>
            </a:pPr>
            <a:r>
              <a:rPr lang="en-US" sz="1600" b="1" dirty="0">
                <a:solidFill>
                  <a:schemeClr val="accent2"/>
                </a:solidFill>
              </a:rPr>
              <a:t>Vì sao chọn như vậy?</a:t>
            </a:r>
            <a:endParaRPr lang="en-US" sz="1600" dirty="0"/>
          </a:p>
        </p:txBody>
      </p:sp>
      <p:sp>
        <p:nvSpPr>
          <p:cNvPr id="13" name="Text 10"/>
          <p:cNvSpPr txBox="1"/>
          <p:nvPr/>
        </p:nvSpPr>
        <p:spPr>
          <a:xfrm>
            <a:off x="8275320" y="2148840"/>
            <a:ext cx="3200400" cy="2743200"/>
          </a:xfrm>
          <a:prstGeom prst="rect">
            <a:avLst/>
          </a:prstGeom>
          <a:noFill/>
          <a:ln/>
        </p:spPr>
        <p:txBody>
          <a:bodyPr wrap="square" lIns="0" tIns="0" rIns="0" bIns="0" rtlCol="0" anchor="t"/>
          <a:lstStyle/>
          <a:p>
            <a:pPr marL="177800" indent="-177800">
              <a:spcAft>
                <a:spcPts val="1200"/>
              </a:spcAft>
              <a:buSzPct val="100000"/>
              <a:buChar char="•"/>
            </a:pPr>
            <a:r>
              <a:rPr lang="en-US" sz="1550" b="1" dirty="0">
                <a:solidFill>
                  <a:schemeClr val="bg1"/>
                </a:solidFill>
              </a:rPr>
              <a:t>SQL Server </a:t>
            </a:r>
            <a:r>
              <a:rPr lang="en-US" sz="1550" dirty="0">
                <a:solidFill>
                  <a:schemeClr val="bg1"/>
                </a:solidFill>
              </a:rPr>
              <a:t>không có trong danh sách store của Chương 7 → giữ làm nguồn gốc, store là chỉ mục phụ</a:t>
            </a:r>
            <a:endParaRPr lang="en-US" sz="1550" dirty="0"/>
          </a:p>
          <a:p>
            <a:pPr marL="177800" indent="-177800">
              <a:spcAft>
                <a:spcPts val="1200"/>
              </a:spcAft>
              <a:buSzPct val="100000"/>
              <a:buChar char="•"/>
            </a:pPr>
            <a:r>
              <a:rPr lang="en-US" sz="1550" b="1" dirty="0">
                <a:solidFill>
                  <a:schemeClr val="bg1"/>
                </a:solidFill>
              </a:rPr>
              <a:t>Chiến lược Chương 7: </a:t>
            </a:r>
            <a:r>
              <a:rPr lang="en-US" sz="1550" dirty="0">
                <a:solidFill>
                  <a:schemeClr val="bg1"/>
                </a:solidFill>
              </a:rPr>
              <a:t>dev dùng Ollama, prod dùng cloud model</a:t>
            </a:r>
            <a:endParaRPr lang="en-US" sz="1550" dirty="0"/>
          </a:p>
          <a:p>
            <a:pPr marL="177800" indent="-177800">
              <a:spcAft>
                <a:spcPts val="1200"/>
              </a:spcAft>
              <a:buSzPct val="100000"/>
              <a:buChar char="•"/>
            </a:pPr>
            <a:r>
              <a:rPr lang="en-US" sz="1550" b="1" dirty="0">
                <a:solidFill>
                  <a:schemeClr val="bg1"/>
                </a:solidFill>
              </a:rPr>
              <a:t>PgVector: </a:t>
            </a:r>
            <a:r>
              <a:rPr lang="en-US" sz="1550" dirty="0">
                <a:solidFill>
                  <a:schemeClr val="bg1"/>
                </a:solidFill>
              </a:rPr>
              <a:t>SQL quen thuộc, dễ học, dễ demo</a:t>
            </a:r>
            <a:endParaRPr lang="en-US" sz="1550" dirty="0"/>
          </a:p>
        </p:txBody>
      </p:sp>
      <p:sp>
        <p:nvSpPr>
          <p:cNvPr id="14" name="Card"/>
          <p:cNvSpPr/>
          <p:nvPr/>
        </p:nvSpPr>
        <p:spPr>
          <a:xfrm>
            <a:off x="548640" y="5212080"/>
            <a:ext cx="11091672" cy="1051560"/>
          </a:xfrm>
          <a:prstGeom prst="roundRect">
            <a:avLst>
              <a:gd name="adj" fmla="val 8696"/>
            </a:avLst>
          </a:prstGeom>
          <a:solidFill>
            <a:srgbClr val="F7E2D3"/>
          </a:solidFill>
          <a:ln w="12700">
            <a:solidFill>
              <a:srgbClr val="F7E2D3"/>
            </a:solidFill>
            <a:prstDash val="solid"/>
          </a:ln>
        </p:spPr>
      </p:sp>
      <p:sp>
        <p:nvSpPr>
          <p:cNvPr id="15" name="Icon circle"/>
          <p:cNvSpPr/>
          <p:nvPr/>
        </p:nvSpPr>
        <p:spPr>
          <a:xfrm>
            <a:off x="777240" y="5458968"/>
            <a:ext cx="548640" cy="548640"/>
          </a:xfrm>
          <a:prstGeom prst="ellipse">
            <a:avLst/>
          </a:prstGeom>
          <a:solidFill>
            <a:schemeClr val="accent3"/>
          </a:solidFill>
          <a:ln w="12700">
            <a:solidFill>
              <a:schemeClr val="accent3"/>
            </a:solidFill>
            <a:prstDash val="solid"/>
          </a:ln>
        </p:spPr>
      </p:sp>
      <p:pic>
        <p:nvPicPr>
          <p:cNvPr id="16" name="Image 0" descr="ExclamationTriangle icon">    </p:cNvPr>
          <p:cNvPicPr>
            <a:picLocks noChangeAspect="1"/>
          </p:cNvPicPr>
          <p:nvPr/>
        </p:nvPicPr>
        <p:blipFill>
          <a:blip r:embed="rId1"/>
          <a:stretch>
            <a:fillRect/>
          </a:stretch>
        </p:blipFill>
        <p:spPr>
          <a:xfrm>
            <a:off x="908914" y="5590642"/>
            <a:ext cx="285293" cy="285293"/>
          </a:xfrm>
          <a:prstGeom prst="rect">
            <a:avLst/>
          </a:prstGeom>
        </p:spPr>
      </p:pic>
      <p:sp>
        <p:nvSpPr>
          <p:cNvPr id="17" name="Text 13"/>
          <p:cNvSpPr txBox="1"/>
          <p:nvPr/>
        </p:nvSpPr>
        <p:spPr>
          <a:xfrm>
            <a:off x="1554480" y="5285232"/>
            <a:ext cx="9875520" cy="914400"/>
          </a:xfrm>
          <a:prstGeom prst="rect">
            <a:avLst/>
          </a:prstGeom>
          <a:noFill/>
          <a:ln/>
        </p:spPr>
        <p:txBody>
          <a:bodyPr wrap="square" lIns="0" tIns="0" rIns="0" bIns="0" rtlCol="0" anchor="ctr"/>
          <a:lstStyle/>
          <a:p>
            <a:pPr indent="0" marL="0">
              <a:buNone/>
            </a:pPr>
            <a:r>
              <a:rPr lang="en-US" sz="1350" b="1" dirty="0">
                <a:solidFill>
                  <a:schemeClr val="tx1"/>
                </a:solidFill>
              </a:rPr>
              <a:t>Lưu ý phiên bản: </a:t>
            </a:r>
            <a:r>
              <a:rPr lang="en-US" sz="1350" dirty="0">
                <a:solidFill>
                  <a:schemeClr val="tx1"/>
                </a:solidFill>
              </a:rPr>
              <a:t>Chương 7 dùng Spring AI 2.0.2; dự án đang chạy Spring Boot 3.5.16. Cần đối chiếu bảng tương thích Boot ↔ Spring AI trước khi nâng (nếu 2.x yêu cầu Boot mới hơn thì nâng Boot hoặc tạm dùng nhánh 1.x) và kiểm tra lại tên artifact trên docs.spring.io.</a:t>
            </a:r>
            <a:endParaRPr lang="en-US" sz="13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1: thêm dependencies và cấu hình</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5212080" cy="274320"/>
          </a:xfrm>
          <a:prstGeom prst="rect">
            <a:avLst/>
          </a:prstGeom>
          <a:noFill/>
          <a:ln/>
        </p:spPr>
        <p:txBody>
          <a:bodyPr wrap="square" lIns="0" tIns="0" rIns="0" bIns="0" rtlCol="0" anchor="t"/>
          <a:lstStyle/>
          <a:p>
            <a:pPr indent="0" marL="0">
              <a:buNone/>
            </a:pPr>
            <a:r>
              <a:rPr lang="en-US" sz="1500" b="1" dirty="0">
                <a:solidFill>
                  <a:schemeClr val="tx2"/>
                </a:solidFill>
              </a:rPr>
              <a:t>pom.xml (groupId org.springframework.ai)</a:t>
            </a:r>
            <a:endParaRPr lang="en-US" sz="15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212080" cy="914400"/>
        </p:xfrm>
        <a:graphic>
          <a:graphicData uri="http://schemas.openxmlformats.org/drawingml/2006/table">
            <a:tbl>
              <a:tblPr/>
              <a:tblGrid>
                <a:gridCol w="2926080"/>
                <a:gridCol w="2286000"/>
              </a:tblGrid>
              <a:tr h="548640">
                <a:tc>
                  <a:txBody>
                    <a:bodyPr/>
                    <a:lstStyle/>
                    <a:p>
                      <a:pPr indent="0" marL="0">
                        <a:buNone/>
                      </a:pPr>
                      <a:r>
                        <a:rPr lang="en-US" sz="1200" b="1" dirty="0">
                          <a:solidFill>
                            <a:srgbClr val="FFFFFF"/>
                          </a:solidFill>
                        </a:rPr>
                        <a:t>artifactId</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200" b="1" dirty="0">
                          <a:solidFill>
                            <a:srgbClr val="FFFFFF"/>
                          </a:solidFill>
                        </a:rPr>
                        <a:t>Vai trò</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spring-ai-bom</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BOM, scope import, version 2.0.2</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spring-ai-starter-model-openai</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Chat + embedding OpenAI (prod)</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spring-ai-starter-model-ollama</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Chat + embedding local (dev)</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spring-ai-pgvector-store</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PgVectorStore, tự khai báo bean</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48640">
                <a:tc>
                  <a:txBody>
                    <a:bodyPr/>
                    <a:lstStyle/>
                    <a:p>
                      <a:pPr indent="0" marL="0">
                        <a:buNone/>
                      </a:pPr>
                      <a:r>
                        <a:rPr lang="en-US" sz="1100" dirty="0">
                          <a:solidFill>
                            <a:srgbClr val="14201E"/>
                          </a:solidFill>
                          <a:latin typeface="Courier New" pitchFamily="34" charset="0"/>
                          <a:ea typeface="Courier New" pitchFamily="34" charset="-122"/>
                          <a:cs typeface="Courier New" pitchFamily="34" charset="-120"/>
                        </a:rPr>
                        <a:t>org.postgresql : postgresql</a:t>
                      </a:r>
                      <a:endParaRPr lang="en-US" sz="1100" dirty="0">
                        <a:latin typeface="Courier New" charset="0"/>
                        <a:ea typeface="Courier New" charset="0"/>
                        <a:cs typeface="Courier New" charset="0"/>
                      </a:endParaRPr>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JDBC driver cho PgVector</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548640" y="5257800"/>
            <a:ext cx="5212080" cy="1005840"/>
          </a:xfrm>
          <a:prstGeom prst="roundRect">
            <a:avLst>
              <a:gd name="adj" fmla="val 9091"/>
            </a:avLst>
          </a:prstGeom>
          <a:solidFill>
            <a:schemeClr val="bg2"/>
          </a:solidFill>
          <a:ln w="12700">
            <a:solidFill>
              <a:schemeClr val="bg2"/>
            </a:solidFill>
            <a:prstDash val="solid"/>
          </a:ln>
        </p:spPr>
      </p:sp>
      <p:sp>
        <p:nvSpPr>
          <p:cNvPr id="8" name="Text 4"/>
          <p:cNvSpPr txBox="1"/>
          <p:nvPr/>
        </p:nvSpPr>
        <p:spPr>
          <a:xfrm>
            <a:off x="731520" y="5330952"/>
            <a:ext cx="4846320" cy="868680"/>
          </a:xfrm>
          <a:prstGeom prst="rect">
            <a:avLst/>
          </a:prstGeom>
          <a:noFill/>
          <a:ln/>
        </p:spPr>
        <p:txBody>
          <a:bodyPr wrap="square" lIns="0" tIns="0" rIns="0" bIns="0" rtlCol="0" anchor="ctr"/>
          <a:lstStyle/>
          <a:p>
            <a:pPr indent="0" marL="0">
              <a:buNone/>
            </a:pPr>
            <a:r>
              <a:rPr lang="en-US" sz="1300" b="1" dirty="0">
                <a:solidFill>
                  <a:schemeClr val="tx1"/>
                </a:solidFill>
              </a:rPr>
              <a:t>Property: </a:t>
            </a:r>
            <a:r>
              <a:rPr lang="en-US" sz="1200" dirty="0">
                <a:solidFill>
                  <a:schemeClr val="tx1"/>
                </a:solidFill>
                <a:latin typeface="Courier New" pitchFamily="34" charset="0"/>
                <a:ea typeface="Courier New" pitchFamily="34" charset="-122"/>
                <a:cs typeface="Courier New" pitchFamily="34" charset="-120"/>
              </a:rPr>
              <a:t>&lt;spring-ai.version&gt;2.0.2&lt;/spring-ai.version&gt;</a:t>
            </a:r>
            <a:r>
              <a:rPr lang="en-US" sz="1300" dirty="0">
                <a:solidFill>
                  <a:schemeClr val="tx1"/>
                </a:solidFill>
              </a:rPr>
              <a:t>  Khoá API qua biến môi trường OPENAI_API_KEY, không commit.</a:t>
            </a:r>
            <a:endParaRPr lang="en-US" sz="1300" dirty="0"/>
          </a:p>
        </p:txBody>
      </p:sp>
      <p:sp>
        <p:nvSpPr>
          <p:cNvPr id="9" name="Code panel application.yml"/>
          <p:cNvSpPr/>
          <p:nvPr/>
        </p:nvSpPr>
        <p:spPr>
          <a:xfrm>
            <a:off x="5943600" y="1463040"/>
            <a:ext cx="5696712" cy="3337560"/>
          </a:xfrm>
          <a:prstGeom prst="roundRect">
            <a:avLst>
              <a:gd name="adj" fmla="val 2192"/>
            </a:avLst>
          </a:prstGeom>
          <a:solidFill>
            <a:schemeClr val="tx2"/>
          </a:solidFill>
          <a:ln w="12700">
            <a:solidFill>
              <a:schemeClr val="tx2"/>
            </a:solidFill>
            <a:prstDash val="solid"/>
          </a:ln>
        </p:spPr>
      </p:sp>
      <p:sp>
        <p:nvSpPr>
          <p:cNvPr id="10" name="Text 6"/>
          <p:cNvSpPr txBox="1"/>
          <p:nvPr/>
        </p:nvSpPr>
        <p:spPr>
          <a:xfrm>
            <a:off x="6126480" y="1554480"/>
            <a:ext cx="5330952" cy="237744"/>
          </a:xfrm>
          <a:prstGeom prst="rect">
            <a:avLst/>
          </a:prstGeom>
          <a:noFill/>
          <a:ln/>
        </p:spPr>
        <p:txBody>
          <a:bodyPr wrap="square" lIns="0" tIns="0" rIns="0" bIns="0" rtlCol="0" anchor="ctr"/>
          <a:lstStyle/>
          <a:p>
            <a:pPr indent="0" marL="0">
              <a:buNone/>
            </a:pPr>
            <a:r>
              <a:rPr lang="en-US" sz="1100" b="1" dirty="0">
                <a:solidFill>
                  <a:schemeClr val="accent5"/>
                </a:solidFill>
              </a:rPr>
              <a:t>application.yml</a:t>
            </a:r>
            <a:endParaRPr lang="en-US" sz="1100" dirty="0"/>
          </a:p>
        </p:txBody>
      </p:sp>
      <p:sp>
        <p:nvSpPr>
          <p:cNvPr id="11" name="Code application.yml"/>
          <p:cNvSpPr txBox="1"/>
          <p:nvPr/>
        </p:nvSpPr>
        <p:spPr>
          <a:xfrm>
            <a:off x="6126480" y="1847088"/>
            <a:ext cx="5330952" cy="288036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spring</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ai</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model</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chat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AI_PROVIDER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ollama</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embedding</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AI_PROVIDER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ollama</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openai</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api-key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OPENAI_API_KEY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chat.options.model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gpt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4</a:t>
            </a:r>
            <a:r>
              <a:rPr lang="en-US" sz="1200" dirty="0">
                <a:solidFill>
                  <a:srgbClr val="EFF7F5"/>
                </a:solidFill>
                <a:latin typeface="Courier New" pitchFamily="34" charset="0"/>
                <a:ea typeface="Courier New" pitchFamily="34" charset="-122"/>
                <a:cs typeface="Courier New" pitchFamily="34" charset="-120"/>
              </a:rPr>
              <a:t>o</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mini</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embedding.options.model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text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embedding</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3</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small</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ollama</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chat.options.model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qwen2</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5</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embedding.options.model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m3</a:t>
            </a:r>
            <a:endParaRPr lang="en-US" sz="1200" dirty="0"/>
          </a:p>
        </p:txBody>
      </p:sp>
      <p:sp>
        <p:nvSpPr>
          <p:cNvPr id="12" name="Card"/>
          <p:cNvSpPr/>
          <p:nvPr/>
        </p:nvSpPr>
        <p:spPr>
          <a:xfrm>
            <a:off x="5943600" y="4983480"/>
            <a:ext cx="5696712" cy="1280160"/>
          </a:xfrm>
          <a:prstGeom prst="roundRect">
            <a:avLst>
              <a:gd name="adj" fmla="val 7143"/>
            </a:avLst>
          </a:prstGeom>
          <a:solidFill>
            <a:schemeClr val="bg2"/>
          </a:solidFill>
          <a:ln w="12700">
            <a:solidFill>
              <a:schemeClr val="bg2"/>
            </a:solidFill>
            <a:prstDash val="solid"/>
          </a:ln>
        </p:spPr>
      </p:sp>
      <p:sp>
        <p:nvSpPr>
          <p:cNvPr id="13" name="Text 9"/>
          <p:cNvSpPr txBox="1"/>
          <p:nvPr/>
        </p:nvSpPr>
        <p:spPr>
          <a:xfrm>
            <a:off x="6126480" y="5074920"/>
            <a:ext cx="5349240" cy="1097280"/>
          </a:xfrm>
          <a:prstGeom prst="rect">
            <a:avLst/>
          </a:prstGeom>
          <a:noFill/>
          <a:ln/>
        </p:spPr>
        <p:txBody>
          <a:bodyPr wrap="square" lIns="0" tIns="0" rIns="0" bIns="0" rtlCol="0" anchor="ctr"/>
          <a:lstStyle/>
          <a:p>
            <a:pPr indent="0" marL="0">
              <a:buNone/>
            </a:pPr>
            <a:r>
              <a:rPr lang="en-US" sz="1400" dirty="0">
                <a:solidFill>
                  <a:schemeClr val="tx1"/>
                </a:solidFill>
              </a:rPr>
              <a:t>Dự án dùng application.yml (không phải .properties) nên cấu hình viết theo YAML. Profile prod đặt AI_PROVIDER=openai; mặc định dev dùng Ollama.</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2: khai báo VectorStore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fig/VectorStoreConfig.java"/>
          <p:cNvSpPr/>
          <p:nvPr/>
        </p:nvSpPr>
        <p:spPr>
          <a:xfrm>
            <a:off x="548640" y="1463040"/>
            <a:ext cx="6949440" cy="3703320"/>
          </a:xfrm>
          <a:prstGeom prst="roundRect">
            <a:avLst>
              <a:gd name="adj" fmla="val 1975"/>
            </a:avLst>
          </a:prstGeom>
          <a:solidFill>
            <a:schemeClr val="tx2"/>
          </a:solidFill>
          <a:ln w="12700">
            <a:solidFill>
              <a:schemeClr val="tx2"/>
            </a:solidFill>
            <a:prstDash val="solid"/>
          </a:ln>
        </p:spPr>
      </p:sp>
      <p:sp>
        <p:nvSpPr>
          <p:cNvPr id="6" name="Text 3"/>
          <p:cNvSpPr txBox="1"/>
          <p:nvPr/>
        </p:nvSpPr>
        <p:spPr>
          <a:xfrm>
            <a:off x="731520" y="1554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config/VectorStoreConfig.java</a:t>
            </a:r>
            <a:endParaRPr lang="en-US" sz="1100" dirty="0"/>
          </a:p>
        </p:txBody>
      </p:sp>
      <p:sp>
        <p:nvSpPr>
          <p:cNvPr id="7" name="Code config/VectorStoreConfig.java"/>
          <p:cNvSpPr txBox="1"/>
          <p:nvPr/>
        </p:nvSpPr>
        <p:spPr>
          <a:xfrm>
            <a:off x="731520" y="1847088"/>
            <a:ext cx="6583680" cy="324612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@Configuration</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class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VectorStoreConfig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@Bean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@Profile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"prod"</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pgVectorStore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EmbeddingModel</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em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AppProperties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ds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DataSourceBuilder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create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url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vector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url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username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vector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username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password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vector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password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PgVectorStore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JdbcTemplate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em</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dimensions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1536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initializeSchema</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true</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distanceType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PgDistanceType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COSINE_DISTANCE</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indexType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PgIndexType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HNSW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@Bean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@Profile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"dev"</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simpleStore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EmbeddingModel</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em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SimpleVectorStore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em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ard"/>
          <p:cNvSpPr/>
          <p:nvPr/>
        </p:nvSpPr>
        <p:spPr>
          <a:xfrm>
            <a:off x="548640" y="5349240"/>
            <a:ext cx="6949440" cy="914400"/>
          </a:xfrm>
          <a:prstGeom prst="roundRect">
            <a:avLst>
              <a:gd name="adj" fmla="val 10000"/>
            </a:avLst>
          </a:prstGeom>
          <a:solidFill>
            <a:schemeClr val="bg2"/>
          </a:solidFill>
          <a:ln w="12700">
            <a:solidFill>
              <a:schemeClr val="bg2"/>
            </a:solidFill>
            <a:prstDash val="solid"/>
          </a:ln>
        </p:spPr>
      </p:sp>
      <p:sp>
        <p:nvSpPr>
          <p:cNvPr id="9" name="Text 6"/>
          <p:cNvSpPr txBox="1"/>
          <p:nvPr/>
        </p:nvSpPr>
        <p:spPr>
          <a:xfrm>
            <a:off x="731520" y="5394960"/>
            <a:ext cx="6583680" cy="822960"/>
          </a:xfrm>
          <a:prstGeom prst="rect">
            <a:avLst/>
          </a:prstGeom>
          <a:noFill/>
          <a:ln/>
        </p:spPr>
        <p:txBody>
          <a:bodyPr wrap="square" lIns="0" tIns="0" rIns="0" bIns="0" rtlCol="0" anchor="ctr"/>
          <a:lstStyle/>
          <a:p>
            <a:pPr indent="0" marL="0">
              <a:buNone/>
            </a:pPr>
            <a:r>
              <a:rPr lang="en-US" sz="1300" b="1" dirty="0">
                <a:solidFill>
                  <a:schemeClr val="tx1"/>
                </a:solidFill>
              </a:rPr>
              <a:t>AppProperties </a:t>
            </a:r>
            <a:r>
              <a:rPr lang="en-US" sz="1300" dirty="0">
                <a:solidFill>
                  <a:schemeClr val="tx1"/>
                </a:solidFill>
              </a:rPr>
              <a:t>thêm record Vector(url, username, password), cùng cách dự án gom cấu hình “app.*” trong application.yml.</a:t>
            </a:r>
            <a:endParaRPr lang="en-US" sz="1300" dirty="0"/>
          </a:p>
        </p:txBody>
      </p:sp>
      <p:sp>
        <p:nvSpPr>
          <p:cNvPr id="10" name="Card"/>
          <p:cNvSpPr/>
          <p:nvPr/>
        </p:nvSpPr>
        <p:spPr>
          <a:xfrm>
            <a:off x="7726680" y="1463040"/>
            <a:ext cx="3913632" cy="1508760"/>
          </a:xfrm>
          <a:prstGeom prst="roundRect">
            <a:avLst>
              <a:gd name="adj" fmla="val 6061"/>
            </a:avLst>
          </a:prstGeom>
          <a:solidFill>
            <a:schemeClr val="bg2"/>
          </a:solidFill>
          <a:ln w="12700">
            <a:solidFill>
              <a:schemeClr val="bg2"/>
            </a:solidFill>
            <a:prstDash val="solid"/>
          </a:ln>
        </p:spPr>
      </p:sp>
      <p:sp>
        <p:nvSpPr>
          <p:cNvPr id="11" name="Text 8"/>
          <p:cNvSpPr txBox="1"/>
          <p:nvPr/>
        </p:nvSpPr>
        <p:spPr>
          <a:xfrm>
            <a:off x="7909560" y="1554480"/>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Vì sao tự khai báo bean?</a:t>
            </a:r>
            <a:endParaRPr lang="en-US" sz="1400" dirty="0"/>
          </a:p>
        </p:txBody>
      </p:sp>
      <p:sp>
        <p:nvSpPr>
          <p:cNvPr id="12" name="Text 9"/>
          <p:cNvSpPr txBox="1"/>
          <p:nvPr/>
        </p:nvSpPr>
        <p:spPr>
          <a:xfrm>
            <a:off x="7909560" y="1920240"/>
            <a:ext cx="3566160" cy="1005840"/>
          </a:xfrm>
          <a:prstGeom prst="rect">
            <a:avLst/>
          </a:prstGeom>
          <a:noFill/>
          <a:ln/>
        </p:spPr>
        <p:txBody>
          <a:bodyPr wrap="square" lIns="0" tIns="0" rIns="0" bIns="0" rtlCol="0" anchor="t"/>
          <a:lstStyle/>
          <a:p>
            <a:pPr indent="0" marL="0">
              <a:buNone/>
            </a:pPr>
            <a:r>
              <a:rPr lang="en-US" sz="1400" dirty="0">
                <a:solidFill>
                  <a:schemeClr val="tx1"/>
                </a:solidFill>
              </a:rPr>
              <a:t>Starter sẽ dùng DataSource mặc định (SQL Server) cho PgVector, sai CSDL.</a:t>
            </a:r>
            <a:endParaRPr lang="en-US" sz="1400" dirty="0"/>
          </a:p>
        </p:txBody>
      </p:sp>
      <p:sp>
        <p:nvSpPr>
          <p:cNvPr id="13" name="Card"/>
          <p:cNvSpPr/>
          <p:nvPr/>
        </p:nvSpPr>
        <p:spPr>
          <a:xfrm>
            <a:off x="7726680" y="3090672"/>
            <a:ext cx="3913632" cy="1508760"/>
          </a:xfrm>
          <a:prstGeom prst="roundRect">
            <a:avLst>
              <a:gd name="adj" fmla="val 6061"/>
            </a:avLst>
          </a:prstGeom>
          <a:solidFill>
            <a:schemeClr val="bg2"/>
          </a:solidFill>
          <a:ln w="12700">
            <a:solidFill>
              <a:schemeClr val="bg2"/>
            </a:solidFill>
            <a:prstDash val="solid"/>
          </a:ln>
        </p:spPr>
      </p:sp>
      <p:sp>
        <p:nvSpPr>
          <p:cNvPr id="14" name="Text 11"/>
          <p:cNvSpPr txBox="1"/>
          <p:nvPr/>
        </p:nvSpPr>
        <p:spPr>
          <a:xfrm>
            <a:off x="7909560" y="3182112"/>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dimensions phải khớp model</a:t>
            </a:r>
            <a:endParaRPr lang="en-US" sz="1400" dirty="0"/>
          </a:p>
        </p:txBody>
      </p:sp>
      <p:sp>
        <p:nvSpPr>
          <p:cNvPr id="15" name="Text 12"/>
          <p:cNvSpPr txBox="1"/>
          <p:nvPr/>
        </p:nvSpPr>
        <p:spPr>
          <a:xfrm>
            <a:off x="7909560" y="3547872"/>
            <a:ext cx="3566160" cy="1005840"/>
          </a:xfrm>
          <a:prstGeom prst="rect">
            <a:avLst/>
          </a:prstGeom>
          <a:noFill/>
          <a:ln/>
        </p:spPr>
        <p:txBody>
          <a:bodyPr wrap="square" lIns="0" tIns="0" rIns="0" bIns="0" rtlCol="0" anchor="t"/>
          <a:lstStyle/>
          <a:p>
            <a:pPr indent="0" marL="0">
              <a:buNone/>
            </a:pPr>
            <a:r>
              <a:rPr lang="en-US" sz="1400" dirty="0">
                <a:solidFill>
                  <a:schemeClr val="tx1"/>
                </a:solidFill>
              </a:rPr>
              <a:t>1536 ↔ text-embedding-3-small. Đổi model thì phải embed lại toàn bộ.</a:t>
            </a:r>
            <a:endParaRPr lang="en-US" sz="1400" dirty="0"/>
          </a:p>
        </p:txBody>
      </p:sp>
      <p:sp>
        <p:nvSpPr>
          <p:cNvPr id="16" name="Card"/>
          <p:cNvSpPr/>
          <p:nvPr/>
        </p:nvSpPr>
        <p:spPr>
          <a:xfrm>
            <a:off x="7726680" y="4718304"/>
            <a:ext cx="3913632" cy="1508760"/>
          </a:xfrm>
          <a:prstGeom prst="roundRect">
            <a:avLst>
              <a:gd name="adj" fmla="val 6061"/>
            </a:avLst>
          </a:prstGeom>
          <a:solidFill>
            <a:schemeClr val="bg2"/>
          </a:solidFill>
          <a:ln w="12700">
            <a:solidFill>
              <a:schemeClr val="bg2"/>
            </a:solidFill>
            <a:prstDash val="solid"/>
          </a:ln>
        </p:spPr>
      </p:sp>
      <p:sp>
        <p:nvSpPr>
          <p:cNvPr id="17" name="Text 14"/>
          <p:cNvSpPr txBox="1"/>
          <p:nvPr/>
        </p:nvSpPr>
        <p:spPr>
          <a:xfrm>
            <a:off x="7909560" y="4809744"/>
            <a:ext cx="3566160" cy="320040"/>
          </a:xfrm>
          <a:prstGeom prst="rect">
            <a:avLst/>
          </a:prstGeom>
          <a:noFill/>
          <a:ln/>
        </p:spPr>
        <p:txBody>
          <a:bodyPr wrap="square" lIns="0" tIns="0" rIns="0" bIns="0" rtlCol="0" anchor="t"/>
          <a:lstStyle/>
          <a:p>
            <a:pPr indent="0" marL="0">
              <a:buNone/>
            </a:pPr>
            <a:r>
              <a:rPr lang="en-US" sz="1400" b="1" dirty="0">
                <a:solidFill>
                  <a:schemeClr val="accent1"/>
                </a:solidFill>
              </a:rPr>
              <a:t>initializeSchema(true)</a:t>
            </a:r>
            <a:endParaRPr lang="en-US" sz="1400" dirty="0"/>
          </a:p>
        </p:txBody>
      </p:sp>
      <p:sp>
        <p:nvSpPr>
          <p:cNvPr id="18" name="Text 15"/>
          <p:cNvSpPr txBox="1"/>
          <p:nvPr/>
        </p:nvSpPr>
        <p:spPr>
          <a:xfrm>
            <a:off x="7909560" y="5175504"/>
            <a:ext cx="3566160" cy="1005840"/>
          </a:xfrm>
          <a:prstGeom prst="rect">
            <a:avLst/>
          </a:prstGeom>
          <a:noFill/>
          <a:ln/>
        </p:spPr>
        <p:txBody>
          <a:bodyPr wrap="square" lIns="0" tIns="0" rIns="0" bIns="0" rtlCol="0" anchor="t"/>
          <a:lstStyle/>
          <a:p>
            <a:pPr indent="0" marL="0">
              <a:buNone/>
            </a:pPr>
            <a:r>
              <a:rPr lang="en-US" sz="1400" dirty="0">
                <a:solidFill>
                  <a:schemeClr val="tx1"/>
                </a:solidFill>
              </a:rPr>
              <a:t>Tạo extension vector và bảng vector_store với chỉ mục HNSW (cần quyền tạo extension).</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3: nạp Tour vào VectorStore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ervice/TourVectorService.java"/>
          <p:cNvSpPr/>
          <p:nvPr/>
        </p:nvSpPr>
        <p:spPr>
          <a:xfrm>
            <a:off x="548640" y="1463040"/>
            <a:ext cx="6949440" cy="3337560"/>
          </a:xfrm>
          <a:prstGeom prst="roundRect">
            <a:avLst>
              <a:gd name="adj" fmla="val 2192"/>
            </a:avLst>
          </a:prstGeom>
          <a:solidFill>
            <a:schemeClr val="tx2"/>
          </a:solidFill>
          <a:ln w="12700">
            <a:solidFill>
              <a:schemeClr val="tx2"/>
            </a:solidFill>
            <a:prstDash val="solid"/>
          </a:ln>
        </p:spPr>
      </p:sp>
      <p:sp>
        <p:nvSpPr>
          <p:cNvPr id="6" name="Text 3"/>
          <p:cNvSpPr txBox="1"/>
          <p:nvPr/>
        </p:nvSpPr>
        <p:spPr>
          <a:xfrm>
            <a:off x="731520" y="1554480"/>
            <a:ext cx="6583680" cy="237744"/>
          </a:xfrm>
          <a:prstGeom prst="rect">
            <a:avLst/>
          </a:prstGeom>
          <a:noFill/>
          <a:ln/>
        </p:spPr>
        <p:txBody>
          <a:bodyPr wrap="square" lIns="0" tIns="0" rIns="0" bIns="0" rtlCol="0" anchor="ctr"/>
          <a:lstStyle/>
          <a:p>
            <a:pPr indent="0" marL="0">
              <a:buNone/>
            </a:pPr>
            <a:r>
              <a:rPr lang="en-US" sz="1100" b="1" dirty="0">
                <a:solidFill>
                  <a:schemeClr val="accent5"/>
                </a:solidFill>
              </a:rPr>
              <a:t>service/TourVectorService.java</a:t>
            </a:r>
            <a:endParaRPr lang="en-US" sz="1100" dirty="0"/>
          </a:p>
        </p:txBody>
      </p:sp>
      <p:sp>
        <p:nvSpPr>
          <p:cNvPr id="7" name="Code service/TourVectorService.java"/>
          <p:cNvSpPr txBox="1"/>
          <p:nvPr/>
        </p:nvSpPr>
        <p:spPr>
          <a:xfrm>
            <a:off x="731520" y="1847088"/>
            <a:ext cx="6583680" cy="288036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Document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toDocument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Tour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text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getName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getShortDescription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 Khởi hành từ "</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getDepartureLocation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getDurationText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UUID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nameUUIDFromBytes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"tour-"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getBytes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UTF_8</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toString</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new</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Document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text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Map</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of</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"categoryId"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getCategory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"category"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getCategory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getName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"destination"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getDestination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getBasePrice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longValue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8" name="Card"/>
          <p:cNvSpPr/>
          <p:nvPr/>
        </p:nvSpPr>
        <p:spPr>
          <a:xfrm>
            <a:off x="548640" y="4983480"/>
            <a:ext cx="6949440" cy="1280160"/>
          </a:xfrm>
          <a:prstGeom prst="roundRect">
            <a:avLst>
              <a:gd name="adj" fmla="val 7143"/>
            </a:avLst>
          </a:prstGeom>
          <a:solidFill>
            <a:schemeClr val="bg2"/>
          </a:solidFill>
          <a:ln w="12700">
            <a:solidFill>
              <a:schemeClr val="bg2"/>
            </a:solidFill>
            <a:prstDash val="solid"/>
          </a:ln>
        </p:spPr>
      </p:sp>
      <p:sp>
        <p:nvSpPr>
          <p:cNvPr id="9" name="Text 6"/>
          <p:cNvSpPr txBox="1"/>
          <p:nvPr/>
        </p:nvSpPr>
        <p:spPr>
          <a:xfrm>
            <a:off x="731520" y="5029200"/>
            <a:ext cx="6583680" cy="1188720"/>
          </a:xfrm>
          <a:prstGeom prst="rect">
            <a:avLst/>
          </a:prstGeom>
          <a:noFill/>
          <a:ln/>
        </p:spPr>
        <p:txBody>
          <a:bodyPr wrap="square" lIns="0" tIns="0" rIns="0" bIns="0" rtlCol="0" anchor="ctr"/>
          <a:lstStyle/>
          <a:p>
            <a:pPr indent="0" marL="0">
              <a:buNone/>
            </a:pPr>
            <a:r>
              <a:rPr lang="en-US" sz="1200" b="1" dirty="0">
                <a:solidFill>
                  <a:schemeClr val="tx1"/>
                </a:solidFill>
                <a:latin typeface="Courier New" pitchFamily="34" charset="0"/>
                <a:ea typeface="Courier New" pitchFamily="34" charset="-122"/>
                <a:cs typeface="Courier New" pitchFamily="34" charset="-120"/>
              </a:rPr>
              <a:t>reindexAll(): </a:t>
            </a:r>
            <a:r>
              <a:rPr lang="en-US" sz="1300" dirty="0">
                <a:solidFill>
                  <a:schemeClr val="tx1"/>
                </a:solidFill>
              </a:rPr>
              <a:t>findByActiveTrue() → map(toDocument) → vectorStore.add(docs). Id là UUID xác định nên gọi lại là upsert. Cần thêm findByActiveTrue() (@EntityGraph category) vào TourRepository.</a:t>
            </a:r>
            <a:endParaRPr lang="en-US" sz="1300" dirty="0"/>
          </a:p>
        </p:txBody>
      </p:sp>
      <p:sp>
        <p:nvSpPr>
          <p:cNvPr id="10" name="Text 7"/>
          <p:cNvSpPr txBox="1"/>
          <p:nvPr/>
        </p:nvSpPr>
        <p:spPr>
          <a:xfrm>
            <a:off x="7726680" y="1417320"/>
            <a:ext cx="3840480" cy="274320"/>
          </a:xfrm>
          <a:prstGeom prst="rect">
            <a:avLst/>
          </a:prstGeom>
          <a:noFill/>
          <a:ln/>
        </p:spPr>
        <p:txBody>
          <a:bodyPr wrap="square" lIns="0" tIns="0" rIns="0" bIns="0" rtlCol="0" anchor="t"/>
          <a:lstStyle/>
          <a:p>
            <a:pPr indent="0" marL="0">
              <a:buNone/>
            </a:pPr>
            <a:r>
              <a:rPr lang="en-US" sz="1500" b="1" dirty="0">
                <a:solidFill>
                  <a:schemeClr val="tx2"/>
                </a:solidFill>
              </a:rPr>
              <a:t>Khi nào đồng bộ?</a:t>
            </a:r>
            <a:endParaRPr lang="en-US" sz="1500" dirty="0"/>
          </a:p>
        </p:txBody>
      </p:sp>
      <p:sp>
        <p:nvSpPr>
          <p:cNvPr id="11" name="Card"/>
          <p:cNvSpPr/>
          <p:nvPr/>
        </p:nvSpPr>
        <p:spPr>
          <a:xfrm>
            <a:off x="7726680" y="1783080"/>
            <a:ext cx="3913632" cy="1371600"/>
          </a:xfrm>
          <a:prstGeom prst="roundRect">
            <a:avLst>
              <a:gd name="adj" fmla="val 6667"/>
            </a:avLst>
          </a:prstGeom>
          <a:solidFill>
            <a:schemeClr val="bg2"/>
          </a:solidFill>
          <a:ln w="12700">
            <a:solidFill>
              <a:schemeClr val="bg2"/>
            </a:solidFill>
            <a:prstDash val="solid"/>
          </a:ln>
        </p:spPr>
      </p:sp>
      <p:sp>
        <p:nvSpPr>
          <p:cNvPr id="12" name="Icon circle"/>
          <p:cNvSpPr/>
          <p:nvPr/>
        </p:nvSpPr>
        <p:spPr>
          <a:xfrm>
            <a:off x="7882128" y="1920240"/>
            <a:ext cx="411480" cy="411480"/>
          </a:xfrm>
          <a:prstGeom prst="ellipse">
            <a:avLst/>
          </a:prstGeom>
          <a:solidFill>
            <a:schemeClr val="accent1"/>
          </a:solidFill>
          <a:ln w="12700">
            <a:solidFill>
              <a:schemeClr val="accent1"/>
            </a:solidFill>
            <a:prstDash val="solid"/>
          </a:ln>
        </p:spPr>
      </p:sp>
      <p:pic>
        <p:nvPicPr>
          <p:cNvPr id="13" name="Image 0" descr="PlayCircle icon">    </p:cNvPr>
          <p:cNvPicPr>
            <a:picLocks noChangeAspect="1"/>
          </p:cNvPicPr>
          <p:nvPr/>
        </p:nvPicPr>
        <p:blipFill>
          <a:blip r:embed="rId1"/>
          <a:stretch>
            <a:fillRect/>
          </a:stretch>
        </p:blipFill>
        <p:spPr>
          <a:xfrm>
            <a:off x="7980883" y="2018995"/>
            <a:ext cx="213970" cy="213970"/>
          </a:xfrm>
          <a:prstGeom prst="rect">
            <a:avLst/>
          </a:prstGeom>
        </p:spPr>
      </p:pic>
      <p:sp>
        <p:nvSpPr>
          <p:cNvPr id="14" name="Text 10"/>
          <p:cNvSpPr txBox="1"/>
          <p:nvPr/>
        </p:nvSpPr>
        <p:spPr>
          <a:xfrm>
            <a:off x="8412480" y="1920240"/>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Khi khởi động</a:t>
            </a:r>
            <a:endParaRPr lang="en-US" sz="1400" dirty="0"/>
          </a:p>
        </p:txBody>
      </p:sp>
      <p:sp>
        <p:nvSpPr>
          <p:cNvPr id="15" name="Text 11"/>
          <p:cNvSpPr txBox="1"/>
          <p:nvPr/>
        </p:nvSpPr>
        <p:spPr>
          <a:xfrm>
            <a:off x="7882128" y="2404872"/>
            <a:ext cx="3611880" cy="731520"/>
          </a:xfrm>
          <a:prstGeom prst="rect">
            <a:avLst/>
          </a:prstGeom>
          <a:noFill/>
          <a:ln/>
        </p:spPr>
        <p:txBody>
          <a:bodyPr wrap="square" lIns="0" tIns="0" rIns="0" bIns="0" rtlCol="0" anchor="t"/>
          <a:lstStyle/>
          <a:p>
            <a:pPr indent="0" marL="0">
              <a:buNone/>
            </a:pPr>
            <a:r>
              <a:rPr lang="en-US" sz="1200" dirty="0">
                <a:solidFill>
                  <a:schemeClr val="tx1"/>
                </a:solidFill>
              </a:rPr>
              <a:t>ApplicationRunner: reindex nếu store còn trống</a:t>
            </a:r>
            <a:endParaRPr lang="en-US" sz="1200" dirty="0"/>
          </a:p>
        </p:txBody>
      </p:sp>
      <p:sp>
        <p:nvSpPr>
          <p:cNvPr id="16" name="Card"/>
          <p:cNvSpPr/>
          <p:nvPr/>
        </p:nvSpPr>
        <p:spPr>
          <a:xfrm>
            <a:off x="7726680" y="3264408"/>
            <a:ext cx="3913632" cy="1371600"/>
          </a:xfrm>
          <a:prstGeom prst="roundRect">
            <a:avLst>
              <a:gd name="adj" fmla="val 6667"/>
            </a:avLst>
          </a:prstGeom>
          <a:solidFill>
            <a:schemeClr val="bg2"/>
          </a:solidFill>
          <a:ln w="12700">
            <a:solidFill>
              <a:schemeClr val="bg2"/>
            </a:solidFill>
            <a:prstDash val="solid"/>
          </a:ln>
        </p:spPr>
      </p:sp>
      <p:sp>
        <p:nvSpPr>
          <p:cNvPr id="17" name="Icon circle"/>
          <p:cNvSpPr/>
          <p:nvPr/>
        </p:nvSpPr>
        <p:spPr>
          <a:xfrm>
            <a:off x="7882128" y="3401568"/>
            <a:ext cx="411480" cy="411480"/>
          </a:xfrm>
          <a:prstGeom prst="ellipse">
            <a:avLst/>
          </a:prstGeom>
          <a:solidFill>
            <a:schemeClr val="accent1"/>
          </a:solidFill>
          <a:ln w="12700">
            <a:solidFill>
              <a:schemeClr val="accent1"/>
            </a:solidFill>
            <a:prstDash val="solid"/>
          </a:ln>
        </p:spPr>
      </p:sp>
      <p:pic>
        <p:nvPicPr>
          <p:cNvPr id="18" name="Image 1" descr="Wrench icon">    </p:cNvPr>
          <p:cNvPicPr>
            <a:picLocks noChangeAspect="1"/>
          </p:cNvPicPr>
          <p:nvPr/>
        </p:nvPicPr>
        <p:blipFill>
          <a:blip r:embed="rId2"/>
          <a:stretch>
            <a:fillRect/>
          </a:stretch>
        </p:blipFill>
        <p:spPr>
          <a:xfrm>
            <a:off x="7980883" y="3500323"/>
            <a:ext cx="213970" cy="213970"/>
          </a:xfrm>
          <a:prstGeom prst="rect">
            <a:avLst/>
          </a:prstGeom>
        </p:spPr>
      </p:pic>
      <p:sp>
        <p:nvSpPr>
          <p:cNvPr id="19" name="Text 14"/>
          <p:cNvSpPr txBox="1"/>
          <p:nvPr/>
        </p:nvSpPr>
        <p:spPr>
          <a:xfrm>
            <a:off x="8412480" y="3401568"/>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Khi admin sửa tour</a:t>
            </a:r>
            <a:endParaRPr lang="en-US" sz="1400" dirty="0"/>
          </a:p>
        </p:txBody>
      </p:sp>
      <p:sp>
        <p:nvSpPr>
          <p:cNvPr id="20" name="Text 15"/>
          <p:cNvSpPr txBox="1"/>
          <p:nvPr/>
        </p:nvSpPr>
        <p:spPr>
          <a:xfrm>
            <a:off x="7882128" y="3886200"/>
            <a:ext cx="3611880" cy="731520"/>
          </a:xfrm>
          <a:prstGeom prst="rect">
            <a:avLst/>
          </a:prstGeom>
          <a:noFill/>
          <a:ln/>
        </p:spPr>
        <p:txBody>
          <a:bodyPr wrap="square" lIns="0" tIns="0" rIns="0" bIns="0" rtlCol="0" anchor="t"/>
          <a:lstStyle/>
          <a:p>
            <a:pPr indent="0" marL="0">
              <a:buNone/>
            </a:pPr>
            <a:r>
              <a:rPr lang="en-US" sz="1200" dirty="0">
                <a:solidFill>
                  <a:schemeClr val="tx1"/>
                </a:solidFill>
              </a:rPr>
              <a:t>TourService.save/toggleActive/delete → event → @TransactionalEventListener(AFTER_COMMIT) upsert hoặc xoá</a:t>
            </a:r>
            <a:endParaRPr lang="en-US" sz="1200" dirty="0"/>
          </a:p>
        </p:txBody>
      </p:sp>
      <p:sp>
        <p:nvSpPr>
          <p:cNvPr id="21" name="Card"/>
          <p:cNvSpPr/>
          <p:nvPr/>
        </p:nvSpPr>
        <p:spPr>
          <a:xfrm>
            <a:off x="7726680" y="4745736"/>
            <a:ext cx="3913632" cy="1371600"/>
          </a:xfrm>
          <a:prstGeom prst="roundRect">
            <a:avLst>
              <a:gd name="adj" fmla="val 6667"/>
            </a:avLst>
          </a:prstGeom>
          <a:solidFill>
            <a:schemeClr val="bg2"/>
          </a:solidFill>
          <a:ln w="12700">
            <a:solidFill>
              <a:schemeClr val="bg2"/>
            </a:solidFill>
            <a:prstDash val="solid"/>
          </a:ln>
        </p:spPr>
      </p:sp>
      <p:sp>
        <p:nvSpPr>
          <p:cNvPr id="22" name="Icon circle"/>
          <p:cNvSpPr/>
          <p:nvPr/>
        </p:nvSpPr>
        <p:spPr>
          <a:xfrm>
            <a:off x="7882128" y="4882896"/>
            <a:ext cx="411480" cy="411480"/>
          </a:xfrm>
          <a:prstGeom prst="ellipse">
            <a:avLst/>
          </a:prstGeom>
          <a:solidFill>
            <a:schemeClr val="accent1"/>
          </a:solidFill>
          <a:ln w="12700">
            <a:solidFill>
              <a:schemeClr val="accent1"/>
            </a:solidFill>
            <a:prstDash val="solid"/>
          </a:ln>
        </p:spPr>
      </p:sp>
      <p:pic>
        <p:nvPicPr>
          <p:cNvPr id="23" name="Image 2" descr="History icon">    </p:cNvPr>
          <p:cNvPicPr>
            <a:picLocks noChangeAspect="1"/>
          </p:cNvPicPr>
          <p:nvPr/>
        </p:nvPicPr>
        <p:blipFill>
          <a:blip r:embed="rId3"/>
          <a:stretch>
            <a:fillRect/>
          </a:stretch>
        </p:blipFill>
        <p:spPr>
          <a:xfrm>
            <a:off x="7980883" y="4981651"/>
            <a:ext cx="213970" cy="213970"/>
          </a:xfrm>
          <a:prstGeom prst="rect">
            <a:avLst/>
          </a:prstGeom>
        </p:spPr>
      </p:pic>
      <p:sp>
        <p:nvSpPr>
          <p:cNvPr id="24" name="Text 18"/>
          <p:cNvSpPr txBox="1"/>
          <p:nvPr/>
        </p:nvSpPr>
        <p:spPr>
          <a:xfrm>
            <a:off x="8412480" y="4882896"/>
            <a:ext cx="3108960" cy="411480"/>
          </a:xfrm>
          <a:prstGeom prst="rect">
            <a:avLst/>
          </a:prstGeom>
          <a:noFill/>
          <a:ln/>
        </p:spPr>
        <p:txBody>
          <a:bodyPr wrap="square" lIns="0" tIns="0" rIns="0" bIns="0" rtlCol="0" anchor="ctr"/>
          <a:lstStyle/>
          <a:p>
            <a:pPr indent="0" marL="0">
              <a:buNone/>
            </a:pPr>
            <a:r>
              <a:rPr lang="en-US" sz="1400" b="1" dirty="0">
                <a:solidFill>
                  <a:schemeClr val="tx2"/>
                </a:solidFill>
              </a:rPr>
              <a:t>Định kỳ &amp; thủ công</a:t>
            </a:r>
            <a:endParaRPr lang="en-US" sz="1400" dirty="0"/>
          </a:p>
        </p:txBody>
      </p:sp>
      <p:sp>
        <p:nvSpPr>
          <p:cNvPr id="25" name="Text 19"/>
          <p:cNvSpPr txBox="1"/>
          <p:nvPr/>
        </p:nvSpPr>
        <p:spPr>
          <a:xfrm>
            <a:off x="7882128" y="5367528"/>
            <a:ext cx="3611880" cy="731520"/>
          </a:xfrm>
          <a:prstGeom prst="rect">
            <a:avLst/>
          </a:prstGeom>
          <a:noFill/>
          <a:ln/>
        </p:spPr>
        <p:txBody>
          <a:bodyPr wrap="square" lIns="0" tIns="0" rIns="0" bIns="0" rtlCol="0" anchor="t"/>
          <a:lstStyle/>
          <a:p>
            <a:pPr indent="0" marL="0">
              <a:buNone/>
            </a:pPr>
            <a:r>
              <a:rPr lang="en-US" sz="1200" dirty="0">
                <a:solidFill>
                  <a:schemeClr val="tx1"/>
                </a:solidFill>
              </a:rPr>
              <a:t>@Scheduled ban đêm (dự án đã @EnableScheduling); nút Reindex qua /api/admin/** (ADMIN)</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4: tìm kiếm ngữ nghĩa có lọc</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TourVectorService.semanticIds()"/>
          <p:cNvSpPr/>
          <p:nvPr/>
        </p:nvSpPr>
        <p:spPr>
          <a:xfrm>
            <a:off x="548640" y="1463040"/>
            <a:ext cx="7223760" cy="3566160"/>
          </a:xfrm>
          <a:prstGeom prst="roundRect">
            <a:avLst>
              <a:gd name="adj" fmla="val 2051"/>
            </a:avLst>
          </a:prstGeom>
          <a:solidFill>
            <a:schemeClr val="tx2"/>
          </a:solidFill>
          <a:ln w="12700">
            <a:solidFill>
              <a:schemeClr val="tx2"/>
            </a:solidFill>
            <a:prstDash val="solid"/>
          </a:ln>
        </p:spPr>
      </p:sp>
      <p:sp>
        <p:nvSpPr>
          <p:cNvPr id="6" name="Text 3"/>
          <p:cNvSpPr txBox="1"/>
          <p:nvPr/>
        </p:nvSpPr>
        <p:spPr>
          <a:xfrm>
            <a:off x="731520" y="1554480"/>
            <a:ext cx="6858000" cy="237744"/>
          </a:xfrm>
          <a:prstGeom prst="rect">
            <a:avLst/>
          </a:prstGeom>
          <a:noFill/>
          <a:ln/>
        </p:spPr>
        <p:txBody>
          <a:bodyPr wrap="square" lIns="0" tIns="0" rIns="0" bIns="0" rtlCol="0" anchor="ctr"/>
          <a:lstStyle/>
          <a:p>
            <a:pPr indent="0" marL="0">
              <a:buNone/>
            </a:pPr>
            <a:r>
              <a:rPr lang="en-US" sz="1100" b="1" dirty="0">
                <a:solidFill>
                  <a:schemeClr val="accent5"/>
                </a:solidFill>
              </a:rPr>
              <a:t>TourVectorService.semanticIds()</a:t>
            </a:r>
            <a:endParaRPr lang="en-US" sz="1100" dirty="0"/>
          </a:p>
        </p:txBody>
      </p:sp>
      <p:sp>
        <p:nvSpPr>
          <p:cNvPr id="7" name="Code TourVectorService.semanticIds()"/>
          <p:cNvSpPr txBox="1"/>
          <p:nvPr/>
        </p:nvSpPr>
        <p:spPr>
          <a:xfrm>
            <a:off x="731520" y="1847088"/>
            <a:ext cx="6858000" cy="310896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List</a:t>
            </a:r>
            <a:r>
              <a:rPr lang="en-US" sz="1300" dirty="0">
                <a:solidFill>
                  <a:srgbClr val="EFF7F5"/>
                </a:solidFill>
                <a:latin typeface="Courier New" pitchFamily="34" charset="0"/>
                <a:ea typeface="Courier New" pitchFamily="34" charset="-122"/>
                <a:cs typeface="Courier New" pitchFamily="34" charset="-120"/>
              </a:rPr>
              <a:t>&lt;Long</a:t>
            </a:r>
            <a:r>
              <a:rPr lang="en-US" sz="1300" dirty="0">
                <a:solidFill>
                  <a:srgbClr val="EFF7F5"/>
                </a:solidFill>
                <a:latin typeface="Courier New" pitchFamily="34" charset="0"/>
                <a:ea typeface="Courier New" pitchFamily="34" charset="-122"/>
                <a:cs typeface="Courier New" pitchFamily="34" charset="-120"/>
              </a:rPr>
              <a:t>&gt;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semanticIds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q</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categoryId</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maxPrice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limit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List</a:t>
            </a:r>
            <a:r>
              <a:rPr lang="en-US" sz="1300" dirty="0">
                <a:solidFill>
                  <a:srgbClr val="EFF7F5"/>
                </a:solidFill>
                <a:latin typeface="Courier New" pitchFamily="34" charset="0"/>
                <a:ea typeface="Courier New" pitchFamily="34" charset="-122"/>
                <a:cs typeface="Courier New" pitchFamily="34" charset="-120"/>
              </a:rPr>
              <a:t>&lt;String</a:t>
            </a:r>
            <a:r>
              <a:rPr lang="en-US" sz="1300" dirty="0">
                <a:solidFill>
                  <a:srgbClr val="EFF7F5"/>
                </a:solidFill>
                <a:latin typeface="Courier New" pitchFamily="34" charset="0"/>
                <a:ea typeface="Courier New" pitchFamily="34" charset="-122"/>
                <a:cs typeface="Courier New" pitchFamily="34" charset="-120"/>
              </a:rPr>
              <a:t>&gt;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f</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new</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ArrayList</a:t>
            </a:r>
            <a:r>
              <a:rPr lang="en-US" sz="1300" dirty="0">
                <a:solidFill>
                  <a:srgbClr val="EFF7F5"/>
                </a:solidFill>
                <a:latin typeface="Courier New" pitchFamily="34" charset="0"/>
                <a:ea typeface="Courier New" pitchFamily="34" charset="-122"/>
                <a:cs typeface="Courier New" pitchFamily="34" charset="-120"/>
              </a:rPr>
              <a:t>&lt;</a:t>
            </a:r>
            <a:r>
              <a:rPr lang="en-US" sz="1300" dirty="0">
                <a:solidFill>
                  <a:srgbClr val="EFF7F5"/>
                </a:solidFill>
                <a:latin typeface="Courier New" pitchFamily="34" charset="0"/>
                <a:ea typeface="Courier New" pitchFamily="34" charset="-122"/>
                <a:cs typeface="Courier New" pitchFamily="34" charset="-120"/>
              </a:rPr>
              <a:t>&gt;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if</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categoryId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f</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add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"categoryId == "</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categoryId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if</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maxPrice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f</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add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"price &lt;= "</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maxPrice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var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req</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SearchRequest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builder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query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q</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topK</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limit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similarityThreshold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0.5</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filterExpression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f</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isEmpty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join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 &amp;&amp;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f</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build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vectorStore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similaritySearch</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req</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stream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map</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Number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getMetadata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longValue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toList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8" name="Card"/>
          <p:cNvSpPr/>
          <p:nvPr/>
        </p:nvSpPr>
        <p:spPr>
          <a:xfrm>
            <a:off x="548640" y="5212080"/>
            <a:ext cx="7223760" cy="1051560"/>
          </a:xfrm>
          <a:prstGeom prst="roundRect">
            <a:avLst>
              <a:gd name="adj" fmla="val 8696"/>
            </a:avLst>
          </a:prstGeom>
          <a:solidFill>
            <a:schemeClr val="bg2"/>
          </a:solidFill>
          <a:ln w="12700">
            <a:solidFill>
              <a:schemeClr val="bg2"/>
            </a:solidFill>
            <a:prstDash val="solid"/>
          </a:ln>
        </p:spPr>
      </p:sp>
      <p:sp>
        <p:nvSpPr>
          <p:cNvPr id="9" name="Text 6"/>
          <p:cNvSpPr txBox="1"/>
          <p:nvPr/>
        </p:nvSpPr>
        <p:spPr>
          <a:xfrm>
            <a:off x="731520" y="5257800"/>
            <a:ext cx="6858000" cy="960120"/>
          </a:xfrm>
          <a:prstGeom prst="rect">
            <a:avLst/>
          </a:prstGeom>
          <a:noFill/>
          <a:ln/>
        </p:spPr>
        <p:txBody>
          <a:bodyPr wrap="square" lIns="0" tIns="0" rIns="0" bIns="0" rtlCol="0" anchor="ctr"/>
          <a:lstStyle/>
          <a:p>
            <a:pPr indent="0" marL="0">
              <a:buNone/>
            </a:pPr>
            <a:r>
              <a:rPr lang="en-US" sz="1300" b="1" dirty="0">
                <a:solidFill>
                  <a:schemeClr val="tx1"/>
                </a:solidFill>
              </a:rPr>
              <a:t>Controller: </a:t>
            </a:r>
            <a:r>
              <a:rPr lang="en-US" sz="1300" dirty="0">
                <a:solidFill>
                  <a:schemeClr val="tx1"/>
                </a:solidFill>
              </a:rPr>
              <a:t>GET /api/tours/semantic trong TourApiController → findAllById(ids), giữ thứ tự, lọc isActive → TourMapper.toSuggestion → TourSummaryDto.</a:t>
            </a:r>
            <a:endParaRPr lang="en-US" sz="1300" dirty="0"/>
          </a:p>
        </p:txBody>
      </p:sp>
      <p:sp>
        <p:nvSpPr>
          <p:cNvPr id="10" name="Card"/>
          <p:cNvSpPr/>
          <p:nvPr/>
        </p:nvSpPr>
        <p:spPr>
          <a:xfrm>
            <a:off x="8001000" y="1463040"/>
            <a:ext cx="3639312" cy="1737360"/>
          </a:xfrm>
          <a:prstGeom prst="roundRect">
            <a:avLst>
              <a:gd name="adj" fmla="val 5263"/>
            </a:avLst>
          </a:prstGeom>
          <a:solidFill>
            <a:schemeClr val="tx2"/>
          </a:solidFill>
          <a:ln w="12700">
            <a:solidFill>
              <a:schemeClr val="tx2"/>
            </a:solidFill>
            <a:prstDash val="solid"/>
          </a:ln>
        </p:spPr>
      </p:sp>
      <p:sp>
        <p:nvSpPr>
          <p:cNvPr id="11" name="Text 8"/>
          <p:cNvSpPr txBox="1"/>
          <p:nvPr/>
        </p:nvSpPr>
        <p:spPr>
          <a:xfrm>
            <a:off x="8183880" y="1554480"/>
            <a:ext cx="3291840" cy="274320"/>
          </a:xfrm>
          <a:prstGeom prst="rect">
            <a:avLst/>
          </a:prstGeom>
          <a:noFill/>
          <a:ln/>
        </p:spPr>
        <p:txBody>
          <a:bodyPr wrap="square" lIns="0" tIns="0" rIns="0" bIns="0" rtlCol="0" anchor="t"/>
          <a:lstStyle/>
          <a:p>
            <a:pPr indent="0" marL="0">
              <a:buNone/>
            </a:pPr>
            <a:r>
              <a:rPr lang="en-US" sz="1300" b="1" dirty="0">
                <a:solidFill>
                  <a:schemeClr val="accent2"/>
                </a:solidFill>
              </a:rPr>
              <a:t>Ví dụ gọi API</a:t>
            </a:r>
            <a:endParaRPr lang="en-US" sz="1300" dirty="0"/>
          </a:p>
        </p:txBody>
      </p:sp>
      <p:sp>
        <p:nvSpPr>
          <p:cNvPr id="12" name="Text 9"/>
          <p:cNvSpPr txBox="1"/>
          <p:nvPr/>
        </p:nvSpPr>
        <p:spPr>
          <a:xfrm>
            <a:off x="8183880" y="1874520"/>
            <a:ext cx="3337560" cy="1234440"/>
          </a:xfrm>
          <a:prstGeom prst="rect">
            <a:avLst/>
          </a:prstGeom>
          <a:noFill/>
          <a:ln/>
        </p:spPr>
        <p:txBody>
          <a:bodyPr wrap="square" lIns="0" tIns="0" rIns="0" bIns="0" rtlCol="0" anchor="t"/>
          <a:lstStyle/>
          <a:p>
            <a:pPr indent="0" marL="0">
              <a:buNone/>
            </a:pPr>
            <a:r>
              <a:rPr lang="en-US" sz="1200" dirty="0">
                <a:solidFill>
                  <a:schemeClr val="bg1"/>
                </a:solidFill>
                <a:latin typeface="Courier New" pitchFamily="34" charset="0"/>
                <a:ea typeface="Courier New" pitchFamily="34" charset="-122"/>
                <a:cs typeface="Courier New" pitchFamily="34" charset="-120"/>
              </a:rPr>
              <a:t>GET /api/tours/semantic</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?q=biển yên tĩnh cho gia đình</a:t>
            </a:r>
            <a:endParaRPr lang="en-US" sz="1200" dirty="0"/>
          </a:p>
          <a:p>
            <a:pPr indent="0" marL="0">
              <a:buNone/>
            </a:pPr>
            <a:r>
              <a:rPr lang="en-US" sz="1200" dirty="0">
                <a:solidFill>
                  <a:schemeClr val="bg1"/>
                </a:solidFill>
                <a:latin typeface="Courier New" pitchFamily="34" charset="0"/>
                <a:ea typeface="Courier New" pitchFamily="34" charset="-122"/>
                <a:cs typeface="Courier New" pitchFamily="34" charset="-120"/>
              </a:rPr>
              <a:t>  &amp;maxPrice=6000000&amp;categoryId=1</a:t>
            </a:r>
            <a:endParaRPr lang="en-US" sz="1200" dirty="0"/>
          </a:p>
        </p:txBody>
      </p:sp>
      <p:sp>
        <p:nvSpPr>
          <p:cNvPr id="13" name="Text 10"/>
          <p:cNvSpPr txBox="1"/>
          <p:nvPr/>
        </p:nvSpPr>
        <p:spPr>
          <a:xfrm>
            <a:off x="8001000" y="3429000"/>
            <a:ext cx="3639312" cy="283464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tx1"/>
                </a:solidFill>
              </a:rPr>
              <a:t>Chỉ nối kiểu Long vào filter → không bị injection</a:t>
            </a:r>
            <a:endParaRPr lang="en-US" sz="1400" dirty="0"/>
          </a:p>
          <a:p>
            <a:pPr marL="177800" indent="-177800">
              <a:spcAft>
                <a:spcPts val="900"/>
              </a:spcAft>
              <a:buSzPct val="100000"/>
              <a:buChar char="•"/>
            </a:pPr>
            <a:r>
              <a:rPr lang="en-US" sz="1400" dirty="0">
                <a:solidFill>
                  <a:schemeClr val="tx1"/>
                </a:solidFill>
              </a:rPr>
              <a:t>GET /api/tours/** đã permitAll sẵn</a:t>
            </a:r>
            <a:endParaRPr lang="en-US" sz="1400" dirty="0"/>
          </a:p>
          <a:p>
            <a:pPr marL="177800" indent="-177800">
              <a:spcAft>
                <a:spcPts val="900"/>
              </a:spcAft>
              <a:buSzPct val="100000"/>
              <a:buChar char="•"/>
            </a:pPr>
            <a:r>
              <a:rPr lang="en-US" sz="1400" dirty="0">
                <a:solidFill>
                  <a:schemeClr val="tx1"/>
                </a:solidFill>
              </a:rPr>
              <a:t>UI: mở rộng initSearchSuggest() trong app.js, gọi semantic khi từ khoá LIKE ít kết quả</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5: TourTools cho trợ lý (Tool Calling)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ai/TourTools.java"/>
          <p:cNvSpPr/>
          <p:nvPr/>
        </p:nvSpPr>
        <p:spPr>
          <a:xfrm>
            <a:off x="548640" y="1463040"/>
            <a:ext cx="6858000" cy="4800600"/>
          </a:xfrm>
          <a:prstGeom prst="roundRect">
            <a:avLst>
              <a:gd name="adj" fmla="val 1524"/>
            </a:avLst>
          </a:prstGeom>
          <a:solidFill>
            <a:schemeClr val="tx2"/>
          </a:solidFill>
          <a:ln w="12700">
            <a:solidFill>
              <a:schemeClr val="tx2"/>
            </a:solidFill>
            <a:prstDash val="solid"/>
          </a:ln>
        </p:spPr>
      </p:sp>
      <p:sp>
        <p:nvSpPr>
          <p:cNvPr id="6" name="Text 3"/>
          <p:cNvSpPr txBox="1"/>
          <p:nvPr/>
        </p:nvSpPr>
        <p:spPr>
          <a:xfrm>
            <a:off x="731520" y="1554480"/>
            <a:ext cx="6492240" cy="237744"/>
          </a:xfrm>
          <a:prstGeom prst="rect">
            <a:avLst/>
          </a:prstGeom>
          <a:noFill/>
          <a:ln/>
        </p:spPr>
        <p:txBody>
          <a:bodyPr wrap="square" lIns="0" tIns="0" rIns="0" bIns="0" rtlCol="0" anchor="ctr"/>
          <a:lstStyle/>
          <a:p>
            <a:pPr indent="0" marL="0">
              <a:buNone/>
            </a:pPr>
            <a:r>
              <a:rPr lang="en-US" sz="1100" b="1" dirty="0">
                <a:solidFill>
                  <a:schemeClr val="accent5"/>
                </a:solidFill>
              </a:rPr>
              <a:t>ai/TourTools.java</a:t>
            </a:r>
            <a:endParaRPr lang="en-US" sz="1100" dirty="0"/>
          </a:p>
        </p:txBody>
      </p:sp>
      <p:sp>
        <p:nvSpPr>
          <p:cNvPr id="7" name="Code ai/TourTools.java"/>
          <p:cNvSpPr txBox="1"/>
          <p:nvPr/>
        </p:nvSpPr>
        <p:spPr>
          <a:xfrm>
            <a:off x="731520" y="1847088"/>
            <a:ext cx="6492240" cy="4343400"/>
          </a:xfrm>
          <a:prstGeom prst="rect">
            <a:avLst/>
          </a:prstGeom>
          <a:noFill/>
          <a:ln/>
        </p:spPr>
        <p:txBody>
          <a:bodyPr wrap="square" lIns="0" tIns="0" rIns="0" bIns="0" rtlCol="0" anchor="t"/>
          <a:lstStyle/>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@Component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@RequiredArgsConstructor</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class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TourTools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final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TourVectorService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vector</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final</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CartService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cartService</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description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"Tìm tour theo nhu cầu, lọc giá tối đa"</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List</a:t>
            </a:r>
            <a:r>
              <a:rPr lang="en-US" sz="1300" dirty="0">
                <a:solidFill>
                  <a:srgbClr val="EFF7F5"/>
                </a:solidFill>
                <a:latin typeface="Courier New" pitchFamily="34" charset="0"/>
                <a:ea typeface="Courier New" pitchFamily="34" charset="-122"/>
                <a:cs typeface="Courier New" pitchFamily="34" charset="-120"/>
              </a:rPr>
              <a:t>&lt;TourSummaryDto</a:t>
            </a:r>
            <a:r>
              <a:rPr lang="en-US" sz="1300" dirty="0">
                <a:solidFill>
                  <a:srgbClr val="EFF7F5"/>
                </a:solidFill>
                <a:latin typeface="Courier New" pitchFamily="34" charset="0"/>
                <a:ea typeface="Courier New" pitchFamily="34" charset="-122"/>
                <a:cs typeface="Courier New" pitchFamily="34" charset="-120"/>
              </a:rPr>
              <a:t>&gt;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searchTours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query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maxPrice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vector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search</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query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maxPrice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5</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description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"Thêm lịch khởi hành vào giỏ hàng"</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addToCart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departureId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adults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children</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ToolContext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ctx</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var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86C7BA"/>
                </a:solidFill>
                <a:latin typeface="Courier New" pitchFamily="34" charset="0"/>
                <a:ea typeface="Courier New" pitchFamily="34" charset="-122"/>
                <a:cs typeface="Courier New" pitchFamily="34" charset="-120"/>
              </a:rPr>
              <a:t>HttpSession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ctx</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getContext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"session"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var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item</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cartService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addByDeparture</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departureId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adults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children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return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"Đã thêm "</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item</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getTourName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8" name="Text 5"/>
          <p:cNvSpPr txBox="1"/>
          <p:nvPr/>
        </p:nvSpPr>
        <p:spPr>
          <a:xfrm>
            <a:off x="7589520" y="1417320"/>
            <a:ext cx="4023360" cy="274320"/>
          </a:xfrm>
          <a:prstGeom prst="rect">
            <a:avLst/>
          </a:prstGeom>
          <a:noFill/>
          <a:ln/>
        </p:spPr>
        <p:txBody>
          <a:bodyPr wrap="square" lIns="0" tIns="0" rIns="0" bIns="0" rtlCol="0" anchor="t"/>
          <a:lstStyle/>
          <a:p>
            <a:pPr indent="0" marL="0">
              <a:buNone/>
            </a:pPr>
            <a:r>
              <a:rPr lang="en-US" sz="1500" b="1" dirty="0">
                <a:solidFill>
                  <a:schemeClr val="tx2"/>
                </a:solidFill>
              </a:rPr>
              <a:t>Lan can an toàn (Chương 7)</a:t>
            </a:r>
            <a:endParaRPr lang="en-US" sz="1500" dirty="0"/>
          </a:p>
        </p:txBody>
      </p:sp>
      <p:sp>
        <p:nvSpPr>
          <p:cNvPr id="9" name="Icon circle"/>
          <p:cNvSpPr/>
          <p:nvPr/>
        </p:nvSpPr>
        <p:spPr>
          <a:xfrm>
            <a:off x="7589520" y="1828800"/>
            <a:ext cx="457200" cy="457200"/>
          </a:xfrm>
          <a:prstGeom prst="ellipse">
            <a:avLst/>
          </a:prstGeom>
          <a:solidFill>
            <a:schemeClr val="accent1"/>
          </a:solidFill>
          <a:ln w="12700">
            <a:solidFill>
              <a:schemeClr val="accent1"/>
            </a:solidFill>
            <a:prstDash val="solid"/>
          </a:ln>
        </p:spPr>
      </p:sp>
      <p:pic>
        <p:nvPicPr>
          <p:cNvPr id="10" name="Image 0" descr="UserCheck icon">    </p:cNvPr>
          <p:cNvPicPr>
            <a:picLocks noChangeAspect="1"/>
          </p:cNvPicPr>
          <p:nvPr/>
        </p:nvPicPr>
        <p:blipFill>
          <a:blip r:embed="rId1"/>
          <a:stretch>
            <a:fillRect/>
          </a:stretch>
        </p:blipFill>
        <p:spPr>
          <a:xfrm>
            <a:off x="7699248" y="1938528"/>
            <a:ext cx="237744" cy="237744"/>
          </a:xfrm>
          <a:prstGeom prst="rect">
            <a:avLst/>
          </a:prstGeom>
        </p:spPr>
      </p:pic>
      <p:sp>
        <p:nvSpPr>
          <p:cNvPr id="11" name="Text 7"/>
          <p:cNvSpPr txBox="1"/>
          <p:nvPr/>
        </p:nvSpPr>
        <p:spPr>
          <a:xfrm>
            <a:off x="8229600" y="1783080"/>
            <a:ext cx="3410712" cy="274320"/>
          </a:xfrm>
          <a:prstGeom prst="rect">
            <a:avLst/>
          </a:prstGeom>
          <a:noFill/>
          <a:ln/>
        </p:spPr>
        <p:txBody>
          <a:bodyPr wrap="square" lIns="0" tIns="0" rIns="0" bIns="0" rtlCol="0" anchor="t"/>
          <a:lstStyle/>
          <a:p>
            <a:pPr indent="0" marL="0">
              <a:buNone/>
            </a:pPr>
            <a:r>
              <a:rPr lang="en-US" sz="1400" b="1" dirty="0">
                <a:solidFill>
                  <a:schemeClr val="tx2"/>
                </a:solidFill>
              </a:rPr>
              <a:t>Danh tính từ server</a:t>
            </a:r>
            <a:endParaRPr lang="en-US" sz="1400" dirty="0"/>
          </a:p>
        </p:txBody>
      </p:sp>
      <p:sp>
        <p:nvSpPr>
          <p:cNvPr id="12" name="Text 8"/>
          <p:cNvSpPr txBox="1"/>
          <p:nvPr/>
        </p:nvSpPr>
        <p:spPr>
          <a:xfrm>
            <a:off x="8229600" y="2075688"/>
            <a:ext cx="3410712" cy="548640"/>
          </a:xfrm>
          <a:prstGeom prst="rect">
            <a:avLst/>
          </a:prstGeom>
          <a:noFill/>
          <a:ln/>
        </p:spPr>
        <p:txBody>
          <a:bodyPr wrap="square" lIns="0" tIns="0" rIns="0" bIns="0" rtlCol="0" anchor="t"/>
          <a:lstStyle/>
          <a:p>
            <a:pPr indent="0" marL="0">
              <a:buNone/>
            </a:pPr>
            <a:r>
              <a:rPr lang="en-US" sz="1200" dirty="0">
                <a:solidFill>
                  <a:schemeClr val="tx1"/>
                </a:solidFill>
              </a:rPr>
              <a:t>session qua toolContext, không gửi cho model</a:t>
            </a:r>
            <a:endParaRPr lang="en-US" sz="1200" dirty="0"/>
          </a:p>
        </p:txBody>
      </p:sp>
      <p:sp>
        <p:nvSpPr>
          <p:cNvPr id="13" name="Icon circle"/>
          <p:cNvSpPr/>
          <p:nvPr/>
        </p:nvSpPr>
        <p:spPr>
          <a:xfrm>
            <a:off x="7589520" y="2715768"/>
            <a:ext cx="457200" cy="457200"/>
          </a:xfrm>
          <a:prstGeom prst="ellipse">
            <a:avLst/>
          </a:prstGeom>
          <a:solidFill>
            <a:schemeClr val="accent1"/>
          </a:solidFill>
          <a:ln w="12700">
            <a:solidFill>
              <a:schemeClr val="accent1"/>
            </a:solidFill>
            <a:prstDash val="solid"/>
          </a:ln>
        </p:spPr>
      </p:sp>
      <p:pic>
        <p:nvPicPr>
          <p:cNvPr id="14" name="Image 1" descr="Database icon">    </p:cNvPr>
          <p:cNvPicPr>
            <a:picLocks noChangeAspect="1"/>
          </p:cNvPicPr>
          <p:nvPr/>
        </p:nvPicPr>
        <p:blipFill>
          <a:blip r:embed="rId2"/>
          <a:stretch>
            <a:fillRect/>
          </a:stretch>
        </p:blipFill>
        <p:spPr>
          <a:xfrm>
            <a:off x="7699248" y="2825496"/>
            <a:ext cx="237744" cy="237744"/>
          </a:xfrm>
          <a:prstGeom prst="rect">
            <a:avLst/>
          </a:prstGeom>
        </p:spPr>
      </p:pic>
      <p:sp>
        <p:nvSpPr>
          <p:cNvPr id="15" name="Text 10"/>
          <p:cNvSpPr txBox="1"/>
          <p:nvPr/>
        </p:nvSpPr>
        <p:spPr>
          <a:xfrm>
            <a:off x="8229600" y="2670048"/>
            <a:ext cx="3410712" cy="274320"/>
          </a:xfrm>
          <a:prstGeom prst="rect">
            <a:avLst/>
          </a:prstGeom>
          <a:noFill/>
          <a:ln/>
        </p:spPr>
        <p:txBody>
          <a:bodyPr wrap="square" lIns="0" tIns="0" rIns="0" bIns="0" rtlCol="0" anchor="t"/>
          <a:lstStyle/>
          <a:p>
            <a:pPr indent="0" marL="0">
              <a:buNone/>
            </a:pPr>
            <a:r>
              <a:rPr lang="en-US" sz="1400" b="1" dirty="0">
                <a:solidFill>
                  <a:schemeClr val="tx2"/>
                </a:solidFill>
              </a:rPr>
              <a:t>Giá và chỗ đọc từ DB</a:t>
            </a:r>
            <a:endParaRPr lang="en-US" sz="1400" dirty="0"/>
          </a:p>
        </p:txBody>
      </p:sp>
      <p:sp>
        <p:nvSpPr>
          <p:cNvPr id="16" name="Text 11"/>
          <p:cNvSpPr txBox="1"/>
          <p:nvPr/>
        </p:nvSpPr>
        <p:spPr>
          <a:xfrm>
            <a:off x="8229600" y="2962656"/>
            <a:ext cx="3410712" cy="548640"/>
          </a:xfrm>
          <a:prstGeom prst="rect">
            <a:avLst/>
          </a:prstGeom>
          <a:noFill/>
          <a:ln/>
        </p:spPr>
        <p:txBody>
          <a:bodyPr wrap="square" lIns="0" tIns="0" rIns="0" bIns="0" rtlCol="0" anchor="t"/>
          <a:lstStyle/>
          <a:p>
            <a:pPr indent="0" marL="0">
              <a:buNone/>
            </a:pPr>
            <a:r>
              <a:rPr lang="en-US" sz="1200" dirty="0">
                <a:solidFill>
                  <a:schemeClr val="tx1"/>
                </a:solidFill>
              </a:rPr>
              <a:t>CartService kiểm tra isBookable, số chỗ, tối đa 30 khách</a:t>
            </a:r>
            <a:endParaRPr lang="en-US" sz="1200" dirty="0"/>
          </a:p>
        </p:txBody>
      </p:sp>
      <p:sp>
        <p:nvSpPr>
          <p:cNvPr id="17" name="Icon circle"/>
          <p:cNvSpPr/>
          <p:nvPr/>
        </p:nvSpPr>
        <p:spPr>
          <a:xfrm>
            <a:off x="7589520" y="3602736"/>
            <a:ext cx="457200" cy="457200"/>
          </a:xfrm>
          <a:prstGeom prst="ellipse">
            <a:avLst/>
          </a:prstGeom>
          <a:solidFill>
            <a:schemeClr val="accent1"/>
          </a:solidFill>
          <a:ln w="12700">
            <a:solidFill>
              <a:schemeClr val="accent1"/>
            </a:solidFill>
            <a:prstDash val="solid"/>
          </a:ln>
        </p:spPr>
      </p:sp>
      <p:pic>
        <p:nvPicPr>
          <p:cNvPr id="18" name="Image 2" descr="BalanceScale icon">    </p:cNvPr>
          <p:cNvPicPr>
            <a:picLocks noChangeAspect="1"/>
          </p:cNvPicPr>
          <p:nvPr/>
        </p:nvPicPr>
        <p:blipFill>
          <a:blip r:embed="rId3"/>
          <a:stretch>
            <a:fillRect/>
          </a:stretch>
        </p:blipFill>
        <p:spPr>
          <a:xfrm>
            <a:off x="7699248" y="3712464"/>
            <a:ext cx="237744" cy="237744"/>
          </a:xfrm>
          <a:prstGeom prst="rect">
            <a:avLst/>
          </a:prstGeom>
        </p:spPr>
      </p:pic>
      <p:sp>
        <p:nvSpPr>
          <p:cNvPr id="19" name="Text 13"/>
          <p:cNvSpPr txBox="1"/>
          <p:nvPr/>
        </p:nvSpPr>
        <p:spPr>
          <a:xfrm>
            <a:off x="8229600" y="3557016"/>
            <a:ext cx="3410712" cy="274320"/>
          </a:xfrm>
          <a:prstGeom prst="rect">
            <a:avLst/>
          </a:prstGeom>
          <a:noFill/>
          <a:ln/>
        </p:spPr>
        <p:txBody>
          <a:bodyPr wrap="square" lIns="0" tIns="0" rIns="0" bIns="0" rtlCol="0" anchor="t"/>
          <a:lstStyle/>
          <a:p>
            <a:pPr indent="0" marL="0">
              <a:buNone/>
            </a:pPr>
            <a:r>
              <a:rPr lang="en-US" sz="1400" b="1" dirty="0">
                <a:solidFill>
                  <a:schemeClr val="tx2"/>
                </a:solidFill>
              </a:rPr>
              <a:t>Validate trong service</a:t>
            </a:r>
            <a:endParaRPr lang="en-US" sz="1400" dirty="0"/>
          </a:p>
        </p:txBody>
      </p:sp>
      <p:sp>
        <p:nvSpPr>
          <p:cNvPr id="20" name="Text 14"/>
          <p:cNvSpPr txBox="1"/>
          <p:nvPr/>
        </p:nvSpPr>
        <p:spPr>
          <a:xfrm>
            <a:off x="8229600" y="3849624"/>
            <a:ext cx="3410712" cy="548640"/>
          </a:xfrm>
          <a:prstGeom prst="rect">
            <a:avLst/>
          </a:prstGeom>
          <a:noFill/>
          <a:ln/>
        </p:spPr>
        <p:txBody>
          <a:bodyPr wrap="square" lIns="0" tIns="0" rIns="0" bIns="0" rtlCol="0" anchor="t"/>
          <a:lstStyle/>
          <a:p>
            <a:pPr indent="0" marL="0">
              <a:buNone/>
            </a:pPr>
            <a:r>
              <a:rPr lang="en-US" sz="1200" dirty="0">
                <a:solidFill>
                  <a:schemeClr val="tx1"/>
                </a:solidFill>
              </a:rPr>
              <a:t>BusinessRuleException trả lỗi dễ hiểu</a:t>
            </a:r>
            <a:endParaRPr lang="en-US" sz="1200" dirty="0"/>
          </a:p>
        </p:txBody>
      </p:sp>
      <p:sp>
        <p:nvSpPr>
          <p:cNvPr id="21" name="Icon circle"/>
          <p:cNvSpPr/>
          <p:nvPr/>
        </p:nvSpPr>
        <p:spPr>
          <a:xfrm>
            <a:off x="7589520" y="4489704"/>
            <a:ext cx="457200" cy="457200"/>
          </a:xfrm>
          <a:prstGeom prst="ellipse">
            <a:avLst/>
          </a:prstGeom>
          <a:solidFill>
            <a:schemeClr val="accent1"/>
          </a:solidFill>
          <a:ln w="12700">
            <a:solidFill>
              <a:schemeClr val="accent1"/>
            </a:solidFill>
            <a:prstDash val="solid"/>
          </a:ln>
        </p:spPr>
      </p:sp>
      <p:pic>
        <p:nvPicPr>
          <p:cNvPr id="22" name="Image 3" descr="Check icon">    </p:cNvPr>
          <p:cNvPicPr>
            <a:picLocks noChangeAspect="1"/>
          </p:cNvPicPr>
          <p:nvPr/>
        </p:nvPicPr>
        <p:blipFill>
          <a:blip r:embed="rId4"/>
          <a:stretch>
            <a:fillRect/>
          </a:stretch>
        </p:blipFill>
        <p:spPr>
          <a:xfrm>
            <a:off x="7699248" y="4599432"/>
            <a:ext cx="237744" cy="237744"/>
          </a:xfrm>
          <a:prstGeom prst="rect">
            <a:avLst/>
          </a:prstGeom>
        </p:spPr>
      </p:pic>
      <p:sp>
        <p:nvSpPr>
          <p:cNvPr id="23" name="Text 16"/>
          <p:cNvSpPr txBox="1"/>
          <p:nvPr/>
        </p:nvSpPr>
        <p:spPr>
          <a:xfrm>
            <a:off x="8229600" y="4443984"/>
            <a:ext cx="3410712" cy="274320"/>
          </a:xfrm>
          <a:prstGeom prst="rect">
            <a:avLst/>
          </a:prstGeom>
          <a:noFill/>
          <a:ln/>
        </p:spPr>
        <p:txBody>
          <a:bodyPr wrap="square" lIns="0" tIns="0" rIns="0" bIns="0" rtlCol="0" anchor="t"/>
          <a:lstStyle/>
          <a:p>
            <a:pPr indent="0" marL="0">
              <a:buNone/>
            </a:pPr>
            <a:r>
              <a:rPr lang="en-US" sz="1400" b="1" dirty="0">
                <a:solidFill>
                  <a:schemeClr val="tx2"/>
                </a:solidFill>
              </a:rPr>
              <a:t>Xác nhận trước khi chốt</a:t>
            </a:r>
            <a:endParaRPr lang="en-US" sz="1400" dirty="0"/>
          </a:p>
        </p:txBody>
      </p:sp>
      <p:sp>
        <p:nvSpPr>
          <p:cNvPr id="24" name="Text 17"/>
          <p:cNvSpPr txBox="1"/>
          <p:nvPr/>
        </p:nvSpPr>
        <p:spPr>
          <a:xfrm>
            <a:off x="8229600" y="4736592"/>
            <a:ext cx="3410712" cy="548640"/>
          </a:xfrm>
          <a:prstGeom prst="rect">
            <a:avLst/>
          </a:prstGeom>
          <a:noFill/>
          <a:ln/>
        </p:spPr>
        <p:txBody>
          <a:bodyPr wrap="square" lIns="0" tIns="0" rIns="0" bIns="0" rtlCol="0" anchor="t"/>
          <a:lstStyle/>
          <a:p>
            <a:pPr indent="0" marL="0">
              <a:buNone/>
            </a:pPr>
            <a:r>
              <a:rPr lang="en-US" sz="1200" dirty="0">
                <a:solidFill>
                  <a:schemeClr val="tx1"/>
                </a:solidFill>
              </a:rPr>
              <a:t>bot hỏi lại; thanh toán vẫn qua /checkout (đăng nhập)</a:t>
            </a:r>
            <a:endParaRPr lang="en-US" sz="1200" dirty="0"/>
          </a:p>
        </p:txBody>
      </p:sp>
      <p:sp>
        <p:nvSpPr>
          <p:cNvPr id="25" name="Icon circle"/>
          <p:cNvSpPr/>
          <p:nvPr/>
        </p:nvSpPr>
        <p:spPr>
          <a:xfrm>
            <a:off x="7589520" y="5376672"/>
            <a:ext cx="457200" cy="457200"/>
          </a:xfrm>
          <a:prstGeom prst="ellipse">
            <a:avLst/>
          </a:prstGeom>
          <a:solidFill>
            <a:schemeClr val="accent1"/>
          </a:solidFill>
          <a:ln w="12700">
            <a:solidFill>
              <a:schemeClr val="accent1"/>
            </a:solidFill>
            <a:prstDash val="solid"/>
          </a:ln>
        </p:spPr>
      </p:sp>
      <p:pic>
        <p:nvPicPr>
          <p:cNvPr id="26" name="Image 4" descr="Bolt icon">    </p:cNvPr>
          <p:cNvPicPr>
            <a:picLocks noChangeAspect="1"/>
          </p:cNvPicPr>
          <p:nvPr/>
        </p:nvPicPr>
        <p:blipFill>
          <a:blip r:embed="rId5"/>
          <a:stretch>
            <a:fillRect/>
          </a:stretch>
        </p:blipFill>
        <p:spPr>
          <a:xfrm>
            <a:off x="7699248" y="5486400"/>
            <a:ext cx="237744" cy="237744"/>
          </a:xfrm>
          <a:prstGeom prst="rect">
            <a:avLst/>
          </a:prstGeom>
        </p:spPr>
      </p:pic>
      <p:sp>
        <p:nvSpPr>
          <p:cNvPr id="27" name="Text 19"/>
          <p:cNvSpPr txBox="1"/>
          <p:nvPr/>
        </p:nvSpPr>
        <p:spPr>
          <a:xfrm>
            <a:off x="8229600" y="5330952"/>
            <a:ext cx="3410712" cy="274320"/>
          </a:xfrm>
          <a:prstGeom prst="rect">
            <a:avLst/>
          </a:prstGeom>
          <a:noFill/>
          <a:ln/>
        </p:spPr>
        <p:txBody>
          <a:bodyPr wrap="square" lIns="0" tIns="0" rIns="0" bIns="0" rtlCol="0" anchor="t"/>
          <a:lstStyle/>
          <a:p>
            <a:pPr indent="0" marL="0">
              <a:buNone/>
            </a:pPr>
            <a:r>
              <a:rPr lang="en-US" sz="1400" b="1" dirty="0">
                <a:solidFill>
                  <a:schemeClr val="tx2"/>
                </a:solidFill>
              </a:rPr>
              <a:t>Giới hạn</a:t>
            </a:r>
            <a:endParaRPr lang="en-US" sz="1400" dirty="0"/>
          </a:p>
        </p:txBody>
      </p:sp>
      <p:sp>
        <p:nvSpPr>
          <p:cNvPr id="28" name="Text 20"/>
          <p:cNvSpPr txBox="1"/>
          <p:nvPr/>
        </p:nvSpPr>
        <p:spPr>
          <a:xfrm>
            <a:off x="8229600" y="5623560"/>
            <a:ext cx="3410712" cy="548640"/>
          </a:xfrm>
          <a:prstGeom prst="rect">
            <a:avLst/>
          </a:prstGeom>
          <a:noFill/>
          <a:ln/>
        </p:spPr>
        <p:txBody>
          <a:bodyPr wrap="square" lIns="0" tIns="0" rIns="0" bIns="0" rtlCol="0" anchor="t"/>
          <a:lstStyle/>
          <a:p>
            <a:pPr indent="0" marL="0">
              <a:buNone/>
            </a:pPr>
            <a:r>
              <a:rPr lang="en-US" sz="1200" dirty="0">
                <a:solidFill>
                  <a:schemeClr val="tx1"/>
                </a:solidFill>
              </a:rPr>
              <a:t>rate-limit /api/chat; giới hạn số lượt gọi tool</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Bước 6: chatbot tư vấn tour (RAG)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fig/ChatConfig.java"/>
          <p:cNvSpPr/>
          <p:nvPr/>
        </p:nvSpPr>
        <p:spPr>
          <a:xfrm>
            <a:off x="548640" y="1463040"/>
            <a:ext cx="7040880" cy="2331720"/>
          </a:xfrm>
          <a:prstGeom prst="roundRect">
            <a:avLst>
              <a:gd name="adj" fmla="val 3137"/>
            </a:avLst>
          </a:prstGeom>
          <a:solidFill>
            <a:schemeClr val="tx2"/>
          </a:solidFill>
          <a:ln w="12700">
            <a:solidFill>
              <a:schemeClr val="tx2"/>
            </a:solidFill>
            <a:prstDash val="solid"/>
          </a:ln>
        </p:spPr>
      </p:sp>
      <p:sp>
        <p:nvSpPr>
          <p:cNvPr id="6" name="Text 3"/>
          <p:cNvSpPr txBox="1"/>
          <p:nvPr/>
        </p:nvSpPr>
        <p:spPr>
          <a:xfrm>
            <a:off x="731520" y="155448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config/ChatConfig.java</a:t>
            </a:r>
            <a:endParaRPr lang="en-US" sz="1100" dirty="0"/>
          </a:p>
        </p:txBody>
      </p:sp>
      <p:sp>
        <p:nvSpPr>
          <p:cNvPr id="7" name="Code config/ChatConfig.java"/>
          <p:cNvSpPr txBox="1"/>
          <p:nvPr/>
        </p:nvSpPr>
        <p:spPr>
          <a:xfrm>
            <a:off x="731520" y="1847088"/>
            <a:ext cx="6675120" cy="187452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@Bean</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tourAssistant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vs</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TourTools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tools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b</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defaultSystem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SYSTEM_PROMPT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defaultAdvisors</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MessageChatMemoryAdvisor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QuestionAnswerAdvisor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defaultTools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tools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ode panel controller/api/ChatApiController.java"/>
          <p:cNvSpPr/>
          <p:nvPr/>
        </p:nvSpPr>
        <p:spPr>
          <a:xfrm>
            <a:off x="548640" y="3931920"/>
            <a:ext cx="7040880" cy="2331720"/>
          </a:xfrm>
          <a:prstGeom prst="roundRect">
            <a:avLst>
              <a:gd name="adj" fmla="val 3137"/>
            </a:avLst>
          </a:prstGeom>
          <a:solidFill>
            <a:schemeClr val="tx2"/>
          </a:solidFill>
          <a:ln w="12700">
            <a:solidFill>
              <a:schemeClr val="tx2"/>
            </a:solidFill>
            <a:prstDash val="solid"/>
          </a:ln>
        </p:spPr>
      </p:sp>
      <p:sp>
        <p:nvSpPr>
          <p:cNvPr id="9" name="Text 6"/>
          <p:cNvSpPr txBox="1"/>
          <p:nvPr/>
        </p:nvSpPr>
        <p:spPr>
          <a:xfrm>
            <a:off x="731520" y="4023360"/>
            <a:ext cx="6675120" cy="237744"/>
          </a:xfrm>
          <a:prstGeom prst="rect">
            <a:avLst/>
          </a:prstGeom>
          <a:noFill/>
          <a:ln/>
        </p:spPr>
        <p:txBody>
          <a:bodyPr wrap="square" lIns="0" tIns="0" rIns="0" bIns="0" rtlCol="0" anchor="ctr"/>
          <a:lstStyle/>
          <a:p>
            <a:pPr indent="0" marL="0">
              <a:buNone/>
            </a:pPr>
            <a:r>
              <a:rPr lang="en-US" sz="1100" b="1" dirty="0">
                <a:solidFill>
                  <a:schemeClr val="accent5"/>
                </a:solidFill>
              </a:rPr>
              <a:t>controller/api/ChatApiController.java</a:t>
            </a:r>
            <a:endParaRPr lang="en-US" sz="1100" dirty="0"/>
          </a:p>
        </p:txBody>
      </p:sp>
      <p:sp>
        <p:nvSpPr>
          <p:cNvPr id="10" name="Code controller/api/ChatApiController.java"/>
          <p:cNvSpPr txBox="1"/>
          <p:nvPr/>
        </p:nvSpPr>
        <p:spPr>
          <a:xfrm>
            <a:off x="731520" y="4315968"/>
            <a:ext cx="6675120" cy="187452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@PostMapping</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"/api/chat"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ChatReply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ask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@Valid</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@RequestBody</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ChatRequest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req</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HttpSession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text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chatClient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prompt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req</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message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advisors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param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ChatMemory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CONVERSATION_ID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getId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toolContext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Map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of</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"session"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call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content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new</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ChatReply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text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11" name="Card"/>
          <p:cNvSpPr/>
          <p:nvPr/>
        </p:nvSpPr>
        <p:spPr>
          <a:xfrm>
            <a:off x="7818120" y="1463040"/>
            <a:ext cx="3822192" cy="3017520"/>
          </a:xfrm>
          <a:prstGeom prst="roundRect">
            <a:avLst>
              <a:gd name="adj" fmla="val 3030"/>
            </a:avLst>
          </a:prstGeom>
          <a:solidFill>
            <a:schemeClr val="tx2"/>
          </a:solidFill>
          <a:ln w="12700">
            <a:solidFill>
              <a:schemeClr val="tx2"/>
            </a:solidFill>
            <a:prstDash val="solid"/>
          </a:ln>
        </p:spPr>
      </p:sp>
      <p:sp>
        <p:nvSpPr>
          <p:cNvPr id="12" name="Text 9"/>
          <p:cNvSpPr txBox="1"/>
          <p:nvPr/>
        </p:nvSpPr>
        <p:spPr>
          <a:xfrm>
            <a:off x="8001000" y="1572768"/>
            <a:ext cx="3474720" cy="274320"/>
          </a:xfrm>
          <a:prstGeom prst="rect">
            <a:avLst/>
          </a:prstGeom>
          <a:noFill/>
          <a:ln/>
        </p:spPr>
        <p:txBody>
          <a:bodyPr wrap="square" lIns="0" tIns="0" rIns="0" bIns="0" rtlCol="0" anchor="t"/>
          <a:lstStyle/>
          <a:p>
            <a:pPr indent="0" marL="0">
              <a:buNone/>
            </a:pPr>
            <a:r>
              <a:rPr lang="en-US" sz="1300" b="1" dirty="0">
                <a:solidFill>
                  <a:schemeClr val="accent2"/>
                </a:solidFill>
              </a:rPr>
              <a:t>SYSTEM_PROMPT (tóm tắt)</a:t>
            </a:r>
            <a:endParaRPr lang="en-US" sz="1300" dirty="0"/>
          </a:p>
        </p:txBody>
      </p:sp>
      <p:sp>
        <p:nvSpPr>
          <p:cNvPr id="13" name="Text 10"/>
          <p:cNvSpPr txBox="1"/>
          <p:nvPr/>
        </p:nvSpPr>
        <p:spPr>
          <a:xfrm>
            <a:off x="8001000" y="1920240"/>
            <a:ext cx="3474720" cy="2560320"/>
          </a:xfrm>
          <a:prstGeom prst="rect">
            <a:avLst/>
          </a:prstGeom>
          <a:noFill/>
          <a:ln/>
        </p:spPr>
        <p:txBody>
          <a:bodyPr wrap="square" lIns="0" tIns="0" rIns="0" bIns="0" rtlCol="0" anchor="t"/>
          <a:lstStyle/>
          <a:p>
            <a:pPr marL="177800" indent="-177800">
              <a:spcAft>
                <a:spcPts val="400"/>
              </a:spcAft>
              <a:buSzPct val="100000"/>
              <a:buChar char="•"/>
            </a:pPr>
            <a:r>
              <a:rPr lang="en-US" sz="1250" dirty="0">
                <a:solidFill>
                  <a:schemeClr val="bg1"/>
                </a:solidFill>
              </a:rPr>
              <a:t>Bạn là trợ lý tư vấn tour của IUH Tour Booking</a:t>
            </a:r>
            <a:endParaRPr lang="en-US" sz="1250" dirty="0"/>
          </a:p>
          <a:p>
            <a:pPr marL="177800" indent="-177800">
              <a:spcAft>
                <a:spcPts val="400"/>
              </a:spcAft>
              <a:buSzPct val="100000"/>
              <a:buChar char="•"/>
            </a:pPr>
            <a:r>
              <a:rPr lang="en-US" sz="1250" dirty="0">
                <a:solidFill>
                  <a:schemeClr val="bg1"/>
                </a:solidFill>
              </a:rPr>
              <a:t>Trả lời tiếng Việt, ngắn gọn</a:t>
            </a:r>
            <a:endParaRPr lang="en-US" sz="1250" dirty="0"/>
          </a:p>
          <a:p>
            <a:pPr marL="177800" indent="-177800">
              <a:spcAft>
                <a:spcPts val="400"/>
              </a:spcAft>
              <a:buSzPct val="100000"/>
              <a:buChar char="•"/>
            </a:pPr>
            <a:r>
              <a:rPr lang="en-US" sz="1250" dirty="0">
                <a:solidFill>
                  <a:schemeClr val="bg1"/>
                </a:solidFill>
              </a:rPr>
              <a:t>Chỉ dùng thông tin từ ngữ cảnh và công cụ; không biết thì nói không biết</a:t>
            </a:r>
            <a:endParaRPr lang="en-US" sz="1250" dirty="0"/>
          </a:p>
          <a:p>
            <a:pPr marL="177800" indent="-177800">
              <a:spcAft>
                <a:spcPts val="400"/>
              </a:spcAft>
              <a:buSzPct val="100000"/>
              <a:buChar char="•"/>
            </a:pPr>
            <a:r>
              <a:rPr lang="en-US" sz="1250" dirty="0">
                <a:solidFill>
                  <a:schemeClr val="bg1"/>
                </a:solidFill>
              </a:rPr>
              <a:t>Không tự bịa giá hay số chỗ</a:t>
            </a:r>
            <a:endParaRPr lang="en-US" sz="1250" dirty="0"/>
          </a:p>
          <a:p>
            <a:pPr marL="177800" indent="-177800">
              <a:spcAft>
                <a:spcPts val="400"/>
              </a:spcAft>
              <a:buSzPct val="100000"/>
              <a:buChar char="•"/>
            </a:pPr>
            <a:r>
              <a:rPr lang="en-US" sz="1250" dirty="0">
                <a:solidFill>
                  <a:schemeClr val="bg1"/>
                </a:solidFill>
              </a:rPr>
              <a:t>Chỉ thêm vào giỏ khi khách đồng ý</a:t>
            </a:r>
            <a:endParaRPr lang="en-US" sz="1250" dirty="0"/>
          </a:p>
        </p:txBody>
      </p:sp>
      <p:sp>
        <p:nvSpPr>
          <p:cNvPr id="14" name="Card"/>
          <p:cNvSpPr/>
          <p:nvPr/>
        </p:nvSpPr>
        <p:spPr>
          <a:xfrm>
            <a:off x="7818120" y="4663440"/>
            <a:ext cx="3822192" cy="1600200"/>
          </a:xfrm>
          <a:prstGeom prst="roundRect">
            <a:avLst>
              <a:gd name="adj" fmla="val 5714"/>
            </a:avLst>
          </a:prstGeom>
          <a:solidFill>
            <a:schemeClr val="bg2"/>
          </a:solidFill>
          <a:ln w="12700">
            <a:solidFill>
              <a:schemeClr val="bg2"/>
            </a:solidFill>
            <a:prstDash val="solid"/>
          </a:ln>
        </p:spPr>
      </p:sp>
      <p:sp>
        <p:nvSpPr>
          <p:cNvPr id="15" name="Text 12"/>
          <p:cNvSpPr txBox="1"/>
          <p:nvPr/>
        </p:nvSpPr>
        <p:spPr>
          <a:xfrm>
            <a:off x="8001000" y="4754880"/>
            <a:ext cx="3474720" cy="1417320"/>
          </a:xfrm>
          <a:prstGeom prst="rect">
            <a:avLst/>
          </a:prstGeom>
          <a:noFill/>
          <a:ln/>
        </p:spPr>
        <p:txBody>
          <a:bodyPr wrap="square" lIns="0" tIns="0" rIns="0" bIns="0" rtlCol="0" anchor="ctr"/>
          <a:lstStyle/>
          <a:p>
            <a:pPr indent="0" marL="0">
              <a:buNone/>
            </a:pPr>
            <a:r>
              <a:rPr lang="en-US" sz="1250" b="1" dirty="0">
                <a:solidFill>
                  <a:schemeClr val="tx1"/>
                </a:solidFill>
              </a:rPr>
              <a:t>Giao diện: </a:t>
            </a:r>
            <a:r>
              <a:rPr lang="en-US" sz="1250" dirty="0">
                <a:solidFill>
                  <a:schemeClr val="tx1"/>
                </a:solidFill>
              </a:rPr>
              <a:t>widget chat nổi trong fragments/layout.html, $.ajax POST /api/chat (tái dùng CSRF header của app.js). SecurityConfig: permitAll POST /api/chat.</a:t>
            </a:r>
            <a:endParaRPr lang="en-US" sz="12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Tracking: sự kiện và bảng user_events</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Text 2"/>
          <p:cNvSpPr txBox="1"/>
          <p:nvPr/>
        </p:nvSpPr>
        <p:spPr>
          <a:xfrm>
            <a:off x="548640" y="1417320"/>
            <a:ext cx="5486400" cy="274320"/>
          </a:xfrm>
          <a:prstGeom prst="rect">
            <a:avLst/>
          </a:prstGeom>
          <a:noFill/>
          <a:ln/>
        </p:spPr>
        <p:txBody>
          <a:bodyPr wrap="square" lIns="0" tIns="0" rIns="0" bIns="0" rtlCol="0" anchor="t"/>
          <a:lstStyle/>
          <a:p>
            <a:pPr indent="0" marL="0">
              <a:buNone/>
            </a:pPr>
            <a:r>
              <a:rPr lang="en-US" sz="1500" b="1" dirty="0">
                <a:solidFill>
                  <a:schemeClr val="tx2"/>
                </a:solidFill>
              </a:rPr>
              <a:t>Các loại sự kiện</a:t>
            </a:r>
            <a:endParaRPr lang="en-US" sz="1500" dirty="0"/>
          </a:p>
        </p:txBody>
      </p:sp>
      <p:graphicFrame>
        <p:nvGraphicFramePr>
          <p:cNvPr id="26" name="Table 0"/>
          <p:cNvGraphicFramePr>
            <a:graphicFrameLocks noGrp="1"/>
          </p:cNvGraphicFramePr>
          <p:nvPr>
            <p:extLst>
              <p:ext uri="{D42A27DB-BD31-4B8C-83A1-F6EECF244321}">
                <p14:modId xmlns:p14="http://schemas.microsoft.com/office/powerpoint/2010/main" val="1579011935"/>
              </p:ext>
            </p:extLst>
          </p:nvPr>
        </p:nvGraphicFramePr>
        <p:xfrm>
          <a:off x="548640" y="1783080"/>
          <a:ext cx="5532120" cy="914400"/>
        </p:xfrm>
        <a:graphic>
          <a:graphicData uri="http://schemas.openxmlformats.org/drawingml/2006/table">
            <a:tbl>
              <a:tblPr/>
              <a:tblGrid>
                <a:gridCol w="1600200"/>
                <a:gridCol w="2377440"/>
                <a:gridCol w="1554480"/>
              </a:tblGrid>
              <a:tr h="566928">
                <a:tc>
                  <a:txBody>
                    <a:bodyPr/>
                    <a:lstStyle/>
                    <a:p>
                      <a:pPr indent="0" marL="0">
                        <a:buNone/>
                      </a:pPr>
                      <a:r>
                        <a:rPr lang="en-US" sz="1300" b="1" dirty="0">
                          <a:solidFill>
                            <a:srgbClr val="FFFFFF"/>
                          </a:solidFill>
                        </a:rPr>
                        <a:t>Loại</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Kích hoạt khi</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300" b="1" dirty="0">
                          <a:solidFill>
                            <a:srgbClr val="FFFFFF"/>
                          </a:solidFill>
                        </a:rPr>
                        <a:t>Dữ liệu</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566928">
                <a:tc>
                  <a:txBody>
                    <a:bodyPr/>
                    <a:lstStyle/>
                    <a:p>
                      <a:pPr indent="0" marL="0">
                        <a:buNone/>
                      </a:pPr>
                      <a:r>
                        <a:rPr lang="en-US" sz="1300" b="1" dirty="0">
                          <a:solidFill>
                            <a:srgbClr val="14201E"/>
                          </a:solidFill>
                        </a:rPr>
                        <a:t>VIEW</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Mở trang chi tiết tour</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tourId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66928">
                <a:tc>
                  <a:txBody>
                    <a:bodyPr/>
                    <a:lstStyle/>
                    <a:p>
                      <a:pPr indent="0" marL="0">
                        <a:buNone/>
                      </a:pPr>
                      <a:r>
                        <a:rPr lang="en-US" sz="1300" b="1" dirty="0">
                          <a:solidFill>
                            <a:srgbClr val="14201E"/>
                          </a:solidFill>
                        </a:rPr>
                        <a:t>CLICK</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Bấm thẻ tour trong danh sách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tourId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1E"/>
                          </a:solidFill>
                        </a:rPr>
                        <a:t>TIME_ON_PAGE</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Rời trang chi tiết</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tourId, durationMs</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566928">
                <a:tc>
                  <a:txBody>
                    <a:bodyPr/>
                    <a:lstStyle/>
                    <a:p>
                      <a:pPr indent="0" marL="0">
                        <a:buNone/>
                      </a:pPr>
                      <a:r>
                        <a:rPr lang="en-US" sz="1300" b="1" dirty="0">
                          <a:solidFill>
                            <a:srgbClr val="14201E"/>
                          </a:solidFill>
                        </a:rPr>
                        <a:t>ADD_TO_CART</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Gửi form thêm vào giỏ</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300" dirty="0">
                          <a:solidFill>
                            <a:srgbClr val="14201E"/>
                          </a:solidFill>
                        </a:rPr>
                        <a:t>tourId, departureId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566928">
                <a:tc>
                  <a:txBody>
                    <a:bodyPr/>
                    <a:lstStyle/>
                    <a:p>
                      <a:pPr indent="0" marL="0">
                        <a:buNone/>
                      </a:pPr>
                      <a:r>
                        <a:rPr lang="en-US" sz="1300" b="1" dirty="0">
                          <a:solidFill>
                            <a:srgbClr val="14201E"/>
                          </a:solidFill>
                        </a:rPr>
                        <a:t>SEARCH</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Nhập từ khoá ở ô tìm</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300" dirty="0">
                          <a:solidFill>
                            <a:srgbClr val="14201E"/>
                          </a:solidFill>
                        </a:rPr>
                        <a:t>keyword</a:t>
                      </a:r>
                      <a:endParaRPr lang="en-US" sz="13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bl>
          </a:graphicData>
        </a:graphic>
      </p:graphicFrame>
      <p:sp>
        <p:nvSpPr>
          <p:cNvPr id="7" name="Card"/>
          <p:cNvSpPr/>
          <p:nvPr/>
        </p:nvSpPr>
        <p:spPr>
          <a:xfrm>
            <a:off x="548640" y="5349240"/>
            <a:ext cx="5532120" cy="914400"/>
          </a:xfrm>
          <a:prstGeom prst="roundRect">
            <a:avLst>
              <a:gd name="adj" fmla="val 10000"/>
            </a:avLst>
          </a:prstGeom>
          <a:solidFill>
            <a:schemeClr val="bg2"/>
          </a:solidFill>
          <a:ln w="12700">
            <a:solidFill>
              <a:schemeClr val="bg2"/>
            </a:solidFill>
            <a:prstDash val="solid"/>
          </a:ln>
        </p:spPr>
      </p:sp>
      <p:sp>
        <p:nvSpPr>
          <p:cNvPr id="8" name="Text 4"/>
          <p:cNvSpPr txBox="1"/>
          <p:nvPr/>
        </p:nvSpPr>
        <p:spPr>
          <a:xfrm>
            <a:off x="731520" y="5394960"/>
            <a:ext cx="5166360" cy="822960"/>
          </a:xfrm>
          <a:prstGeom prst="rect">
            <a:avLst/>
          </a:prstGeom>
          <a:noFill/>
          <a:ln/>
        </p:spPr>
        <p:txBody>
          <a:bodyPr wrap="square" lIns="0" tIns="0" rIns="0" bIns="0" rtlCol="0" anchor="ctr"/>
          <a:lstStyle/>
          <a:p>
            <a:pPr indent="0" marL="0">
              <a:buNone/>
            </a:pPr>
            <a:r>
              <a:rPr lang="en-US" sz="1250" dirty="0">
                <a:solidFill>
                  <a:schemeClr val="tx1"/>
                </a:solidFill>
              </a:rPr>
              <a:t>Script database/05_user_events.sql, cùng phong cách 02_schema.sql. ddl-auto: validate nên bảng phải tạo bằng script. Không FK: ghi nhanh, không cản xoá tour.</a:t>
            </a:r>
            <a:endParaRPr lang="en-US" sz="1250" dirty="0"/>
          </a:p>
        </p:txBody>
      </p:sp>
      <p:sp>
        <p:nvSpPr>
          <p:cNvPr id="9" name="Code panel database/05_user_events.sql"/>
          <p:cNvSpPr/>
          <p:nvPr/>
        </p:nvSpPr>
        <p:spPr>
          <a:xfrm>
            <a:off x="6309360" y="1463040"/>
            <a:ext cx="5330952" cy="4800600"/>
          </a:xfrm>
          <a:prstGeom prst="roundRect">
            <a:avLst>
              <a:gd name="adj" fmla="val 1524"/>
            </a:avLst>
          </a:prstGeom>
          <a:solidFill>
            <a:schemeClr val="tx2"/>
          </a:solidFill>
          <a:ln w="12700">
            <a:solidFill>
              <a:schemeClr val="tx2"/>
            </a:solidFill>
            <a:prstDash val="solid"/>
          </a:ln>
        </p:spPr>
      </p:sp>
      <p:sp>
        <p:nvSpPr>
          <p:cNvPr id="10" name="Text 6"/>
          <p:cNvSpPr txBox="1"/>
          <p:nvPr/>
        </p:nvSpPr>
        <p:spPr>
          <a:xfrm>
            <a:off x="6492240" y="1554480"/>
            <a:ext cx="4965192" cy="237744"/>
          </a:xfrm>
          <a:prstGeom prst="rect">
            <a:avLst/>
          </a:prstGeom>
          <a:noFill/>
          <a:ln/>
        </p:spPr>
        <p:txBody>
          <a:bodyPr wrap="square" lIns="0" tIns="0" rIns="0" bIns="0" rtlCol="0" anchor="ctr"/>
          <a:lstStyle/>
          <a:p>
            <a:pPr indent="0" marL="0">
              <a:buNone/>
            </a:pPr>
            <a:r>
              <a:rPr lang="en-US" sz="1100" b="1" dirty="0">
                <a:solidFill>
                  <a:schemeClr val="accent5"/>
                </a:solidFill>
              </a:rPr>
              <a:t>database/05_user_events.sql</a:t>
            </a:r>
            <a:endParaRPr lang="en-US" sz="1100" dirty="0"/>
          </a:p>
        </p:txBody>
      </p:sp>
      <p:sp>
        <p:nvSpPr>
          <p:cNvPr id="11" name="Code database/05_user_events.sql"/>
          <p:cNvSpPr txBox="1"/>
          <p:nvPr/>
        </p:nvSpPr>
        <p:spPr>
          <a:xfrm>
            <a:off x="6492240" y="1847088"/>
            <a:ext cx="4965192" cy="434340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CREATE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TABLE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user_events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BIGINT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IDENTITY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1</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1</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NOT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event_type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NVARCHAR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20</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NOT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session_id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NVARCHAR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64</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NOT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user_id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BIGINT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tour_id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BIGINT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departure_id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BIGINT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keyword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NVARCHAR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200</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duration_ms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occurred_at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DATETIME2</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6</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NOT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CONSTRAINT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pk_user_events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PRIMARY</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KEY</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id</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CREATE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INDEX</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idx_user_events_tour</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user_events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tour_id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event_type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CREATE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INDEX</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idx_user_events_time</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user_events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occurred_at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Entity UserEvent và quy tắc phía server</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entity/UserEvent.java"/>
          <p:cNvSpPr/>
          <p:nvPr/>
        </p:nvSpPr>
        <p:spPr>
          <a:xfrm>
            <a:off x="548640" y="1463040"/>
            <a:ext cx="6766560" cy="3840480"/>
          </a:xfrm>
          <a:prstGeom prst="roundRect">
            <a:avLst>
              <a:gd name="adj" fmla="val 1905"/>
            </a:avLst>
          </a:prstGeom>
          <a:solidFill>
            <a:schemeClr val="tx2"/>
          </a:solidFill>
          <a:ln w="12700">
            <a:solidFill>
              <a:schemeClr val="tx2"/>
            </a:solidFill>
            <a:prstDash val="solid"/>
          </a:ln>
        </p:spPr>
      </p:sp>
      <p:sp>
        <p:nvSpPr>
          <p:cNvPr id="6" name="Text 3"/>
          <p:cNvSpPr txBox="1"/>
          <p:nvPr/>
        </p:nvSpPr>
        <p:spPr>
          <a:xfrm>
            <a:off x="731520" y="1554480"/>
            <a:ext cx="6400800" cy="237744"/>
          </a:xfrm>
          <a:prstGeom prst="rect">
            <a:avLst/>
          </a:prstGeom>
          <a:noFill/>
          <a:ln/>
        </p:spPr>
        <p:txBody>
          <a:bodyPr wrap="square" lIns="0" tIns="0" rIns="0" bIns="0" rtlCol="0" anchor="ctr"/>
          <a:lstStyle/>
          <a:p>
            <a:pPr indent="0" marL="0">
              <a:buNone/>
            </a:pPr>
            <a:r>
              <a:rPr lang="en-US" sz="1100" b="1" dirty="0">
                <a:solidFill>
                  <a:schemeClr val="accent5"/>
                </a:solidFill>
              </a:rPr>
              <a:t>entity/UserEvent.java</a:t>
            </a:r>
            <a:endParaRPr lang="en-US" sz="1100" dirty="0"/>
          </a:p>
        </p:txBody>
      </p:sp>
      <p:sp>
        <p:nvSpPr>
          <p:cNvPr id="7" name="Code entity/UserEvent.java"/>
          <p:cNvSpPr txBox="1"/>
          <p:nvPr/>
        </p:nvSpPr>
        <p:spPr>
          <a:xfrm>
            <a:off x="731520" y="1847088"/>
            <a:ext cx="6400800" cy="338328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enum</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EventType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VIEW</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CLICK</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ADD_TO_CART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SEARCH</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TIME_ON_PAGE</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@Entity</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@Table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name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"user_events"</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86C7BA"/>
                </a:solidFill>
                <a:latin typeface="Courier New" pitchFamily="34" charset="0"/>
                <a:ea typeface="Courier New" pitchFamily="34" charset="-122"/>
                <a:cs typeface="Courier New" pitchFamily="34" charset="-120"/>
              </a:rPr>
              <a:t>@Getter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@Setter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@NoArgsConstructor</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public</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class</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UserEvent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@GeneratedValue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strategy</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GenerationType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IDENTITY</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id</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@Column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name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"event_type"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nullable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false</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EventType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i="1" dirty="0">
                <a:solidFill>
                  <a:srgbClr val="86B3A8"/>
                </a:solidFill>
                <a:latin typeface="Courier New" pitchFamily="34" charset="0"/>
                <a:ea typeface="Courier New" pitchFamily="34" charset="-122"/>
                <a:cs typeface="Courier New" pitchFamily="34" charset="-120"/>
              </a:rPr>
              <a:t>// EventTypeConverter autoApply</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String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sessionId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keyword</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Long</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userId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departureId</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Integer</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durationMs</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private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LocalDateTime</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occurredAt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86C7BA"/>
                </a:solidFill>
                <a:latin typeface="Courier New" pitchFamily="34" charset="0"/>
                <a:ea typeface="Courier New" pitchFamily="34" charset="-122"/>
                <a:cs typeface="Courier New" pitchFamily="34" charset="-120"/>
              </a:rPr>
              <a:t>LocalDateTime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now</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8" name="Card"/>
          <p:cNvSpPr/>
          <p:nvPr/>
        </p:nvSpPr>
        <p:spPr>
          <a:xfrm>
            <a:off x="548640" y="5486400"/>
            <a:ext cx="6766560" cy="777240"/>
          </a:xfrm>
          <a:prstGeom prst="roundRect">
            <a:avLst>
              <a:gd name="adj" fmla="val 11765"/>
            </a:avLst>
          </a:prstGeom>
          <a:solidFill>
            <a:schemeClr val="bg2"/>
          </a:solidFill>
          <a:ln w="12700">
            <a:solidFill>
              <a:schemeClr val="bg2"/>
            </a:solidFill>
            <a:prstDash val="solid"/>
          </a:ln>
        </p:spPr>
      </p:sp>
      <p:sp>
        <p:nvSpPr>
          <p:cNvPr id="9" name="Text 6"/>
          <p:cNvSpPr txBox="1"/>
          <p:nvPr/>
        </p:nvSpPr>
        <p:spPr>
          <a:xfrm>
            <a:off x="731520" y="5504688"/>
            <a:ext cx="6400800" cy="731520"/>
          </a:xfrm>
          <a:prstGeom prst="rect">
            <a:avLst/>
          </a:prstGeom>
          <a:noFill/>
          <a:ln/>
        </p:spPr>
        <p:txBody>
          <a:bodyPr wrap="square" lIns="0" tIns="0" rIns="0" bIns="0" rtlCol="0" anchor="ctr"/>
          <a:lstStyle/>
          <a:p>
            <a:pPr indent="0" marL="0">
              <a:buNone/>
            </a:pPr>
            <a:r>
              <a:rPr lang="en-US" sz="1250" i="1" dirty="0">
                <a:solidFill>
                  <a:schemeClr val="tx1"/>
                </a:solidFill>
              </a:rPr>
              <a:t>Entity rút gọn cho vừa slide; thực tế thêm @Column(name, length) như các entity khác.</a:t>
            </a:r>
            <a:endParaRPr lang="en-US" sz="1250" dirty="0"/>
          </a:p>
        </p:txBody>
      </p:sp>
      <p:sp>
        <p:nvSpPr>
          <p:cNvPr id="10" name="Card"/>
          <p:cNvSpPr/>
          <p:nvPr/>
        </p:nvSpPr>
        <p:spPr>
          <a:xfrm>
            <a:off x="7543800" y="1463040"/>
            <a:ext cx="4096512" cy="4800600"/>
          </a:xfrm>
          <a:prstGeom prst="roundRect">
            <a:avLst>
              <a:gd name="adj" fmla="val 2232"/>
            </a:avLst>
          </a:prstGeom>
          <a:solidFill>
            <a:schemeClr val="bg2"/>
          </a:solidFill>
          <a:ln w="12700">
            <a:solidFill>
              <a:schemeClr val="bg2"/>
            </a:solidFill>
            <a:prstDash val="solid"/>
          </a:ln>
        </p:spPr>
      </p:sp>
      <p:sp>
        <p:nvSpPr>
          <p:cNvPr id="11" name="Icon circle"/>
          <p:cNvSpPr/>
          <p:nvPr/>
        </p:nvSpPr>
        <p:spPr>
          <a:xfrm>
            <a:off x="7772400" y="1645920"/>
            <a:ext cx="457200" cy="457200"/>
          </a:xfrm>
          <a:prstGeom prst="ellipse">
            <a:avLst/>
          </a:prstGeom>
          <a:solidFill>
            <a:schemeClr val="accent1"/>
          </a:solidFill>
          <a:ln w="12700">
            <a:solidFill>
              <a:schemeClr val="accent1"/>
            </a:solidFill>
            <a:prstDash val="solid"/>
          </a:ln>
        </p:spPr>
      </p:sp>
      <p:pic>
        <p:nvPicPr>
          <p:cNvPr id="12" name="Image 0" descr="ShieldAlt icon">    </p:cNvPr>
          <p:cNvPicPr>
            <a:picLocks noChangeAspect="1"/>
          </p:cNvPicPr>
          <p:nvPr/>
        </p:nvPicPr>
        <p:blipFill>
          <a:blip r:embed="rId1"/>
          <a:stretch>
            <a:fillRect/>
          </a:stretch>
        </p:blipFill>
        <p:spPr>
          <a:xfrm>
            <a:off x="7882128" y="1755648"/>
            <a:ext cx="237744" cy="237744"/>
          </a:xfrm>
          <a:prstGeom prst="rect">
            <a:avLst/>
          </a:prstGeom>
        </p:spPr>
      </p:pic>
      <p:sp>
        <p:nvSpPr>
          <p:cNvPr id="13" name="Text 9"/>
          <p:cNvSpPr txBox="1"/>
          <p:nvPr/>
        </p:nvSpPr>
        <p:spPr>
          <a:xfrm>
            <a:off x="8366760" y="1645920"/>
            <a:ext cx="3108960" cy="457200"/>
          </a:xfrm>
          <a:prstGeom prst="rect">
            <a:avLst/>
          </a:prstGeom>
          <a:noFill/>
          <a:ln/>
        </p:spPr>
        <p:txBody>
          <a:bodyPr wrap="square" lIns="0" tIns="0" rIns="0" bIns="0" rtlCol="0" anchor="ctr"/>
          <a:lstStyle/>
          <a:p>
            <a:pPr indent="0" marL="0">
              <a:buNone/>
            </a:pPr>
            <a:r>
              <a:rPr lang="en-US" sz="1600" b="1" dirty="0">
                <a:solidFill>
                  <a:schemeClr val="tx2"/>
                </a:solidFill>
              </a:rPr>
              <a:t>Quy tắc phía server</a:t>
            </a:r>
            <a:endParaRPr lang="en-US" sz="1600" dirty="0"/>
          </a:p>
        </p:txBody>
      </p:sp>
      <p:sp>
        <p:nvSpPr>
          <p:cNvPr id="14" name="Text 10"/>
          <p:cNvSpPr txBox="1"/>
          <p:nvPr/>
        </p:nvSpPr>
        <p:spPr>
          <a:xfrm>
            <a:off x="7772400" y="2331720"/>
            <a:ext cx="3657600" cy="3840480"/>
          </a:xfrm>
          <a:prstGeom prst="rect">
            <a:avLst/>
          </a:prstGeom>
          <a:noFill/>
          <a:ln/>
        </p:spPr>
        <p:txBody>
          <a:bodyPr wrap="square" lIns="0" tIns="0" rIns="0" bIns="0" rtlCol="0" anchor="t"/>
          <a:lstStyle/>
          <a:p>
            <a:pPr marL="177800" indent="-177800">
              <a:spcAft>
                <a:spcPts val="900"/>
              </a:spcAft>
              <a:buSzPct val="100000"/>
              <a:buChar char="•"/>
            </a:pPr>
            <a:r>
              <a:rPr lang="en-US" sz="1400" dirty="0">
                <a:solidFill>
                  <a:schemeClr val="tx1"/>
                </a:solidFill>
              </a:rPr>
              <a:t>Chỉ nhận EventType hợp lệ; cắt độ dài keyword và pageUrl</a:t>
            </a:r>
            <a:endParaRPr lang="en-US" sz="1400" dirty="0"/>
          </a:p>
          <a:p>
            <a:pPr marL="177800" indent="-177800">
              <a:spcAft>
                <a:spcPts val="900"/>
              </a:spcAft>
              <a:buSzPct val="100000"/>
              <a:buChar char="•"/>
            </a:pPr>
            <a:r>
              <a:rPr lang="en-US" sz="1400" dirty="0">
                <a:solidFill>
                  <a:schemeClr val="tx1"/>
                </a:solidFill>
              </a:rPr>
              <a:t>userId từ SecurityContext, sessionId từ HttpSession; không tin giá trị client gửi</a:t>
            </a:r>
            <a:endParaRPr lang="en-US" sz="1400" dirty="0"/>
          </a:p>
          <a:p>
            <a:pPr marL="177800" indent="-177800">
              <a:spcAft>
                <a:spcPts val="900"/>
              </a:spcAft>
              <a:buSzPct val="100000"/>
              <a:buChar char="•"/>
            </a:pPr>
            <a:r>
              <a:rPr lang="en-US" sz="1400" dirty="0">
                <a:solidFill>
                  <a:schemeClr val="tx1"/>
                </a:solidFill>
              </a:rPr>
              <a:t>Bỏ qua bot (User-Agent), rate limit theo session</a:t>
            </a:r>
            <a:endParaRPr lang="en-US" sz="1400" dirty="0"/>
          </a:p>
          <a:p>
            <a:pPr marL="177800" indent="-177800">
              <a:spcAft>
                <a:spcPts val="900"/>
              </a:spcAft>
              <a:buSzPct val="100000"/>
              <a:buChar char="•"/>
            </a:pPr>
            <a:r>
              <a:rPr lang="en-US" sz="1400" dirty="0">
                <a:solidFill>
                  <a:schemeClr val="tx1"/>
                </a:solidFill>
              </a:rPr>
              <a:t>Bắt lỗi khi ghi (hoặc @Async): tracking hỏng không làm hỏng đặt tour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API nhận sự kiện và tích hợp template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controller/api/TrackingApiController.java"/>
          <p:cNvSpPr/>
          <p:nvPr/>
        </p:nvSpPr>
        <p:spPr>
          <a:xfrm>
            <a:off x="548640" y="1463040"/>
            <a:ext cx="6583680" cy="3154680"/>
          </a:xfrm>
          <a:prstGeom prst="roundRect">
            <a:avLst>
              <a:gd name="adj" fmla="val 2319"/>
            </a:avLst>
          </a:prstGeom>
          <a:solidFill>
            <a:schemeClr val="tx2"/>
          </a:solidFill>
          <a:ln w="12700">
            <a:solidFill>
              <a:schemeClr val="tx2"/>
            </a:solidFill>
            <a:prstDash val="solid"/>
          </a:ln>
        </p:spPr>
      </p:sp>
      <p:sp>
        <p:nvSpPr>
          <p:cNvPr id="6" name="Text 3"/>
          <p:cNvSpPr txBox="1"/>
          <p:nvPr/>
        </p:nvSpPr>
        <p:spPr>
          <a:xfrm>
            <a:off x="731520" y="1554480"/>
            <a:ext cx="6217920" cy="237744"/>
          </a:xfrm>
          <a:prstGeom prst="rect">
            <a:avLst/>
          </a:prstGeom>
          <a:noFill/>
          <a:ln/>
        </p:spPr>
        <p:txBody>
          <a:bodyPr wrap="square" lIns="0" tIns="0" rIns="0" bIns="0" rtlCol="0" anchor="ctr"/>
          <a:lstStyle/>
          <a:p>
            <a:pPr indent="0" marL="0">
              <a:buNone/>
            </a:pPr>
            <a:r>
              <a:rPr lang="en-US" sz="1100" b="1" dirty="0">
                <a:solidFill>
                  <a:schemeClr val="accent5"/>
                </a:solidFill>
              </a:rPr>
              <a:t>controller/api/TrackingApiController.java</a:t>
            </a:r>
            <a:endParaRPr lang="en-US" sz="1100" dirty="0"/>
          </a:p>
        </p:txBody>
      </p:sp>
      <p:sp>
        <p:nvSpPr>
          <p:cNvPr id="7" name="Code controller/api/TrackingApiController.java"/>
          <p:cNvSpPr txBox="1"/>
          <p:nvPr/>
        </p:nvSpPr>
        <p:spPr>
          <a:xfrm>
            <a:off x="731520" y="1847088"/>
            <a:ext cx="6217920" cy="2697480"/>
          </a:xfrm>
          <a:prstGeom prst="rect">
            <a:avLst/>
          </a:prstGeom>
          <a:noFill/>
          <a:ln/>
        </p:spPr>
        <p:txBody>
          <a:bodyPr wrap="square" lIns="0" tIns="0" rIns="0" bIns="0" rtlCol="0" anchor="t"/>
          <a:lstStyle/>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@RestController</a:t>
            </a:r>
            <a:endParaRPr lang="en-US" sz="1100" dirty="0"/>
          </a:p>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@RequestMapping</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"/api/tracking"</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86C7BA"/>
                </a:solidFill>
                <a:latin typeface="Courier New" pitchFamily="34" charset="0"/>
                <a:ea typeface="Courier New" pitchFamily="34" charset="-122"/>
                <a:cs typeface="Courier New" pitchFamily="34" charset="-120"/>
              </a:rPr>
              <a:t>@RequiredArgsConstructor</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public</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class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TrackingApiController</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private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final</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TrackingService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trackingService</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@PostMapping</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@ResponseStatus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86C7BA"/>
                </a:solidFill>
                <a:latin typeface="Courier New" pitchFamily="34" charset="0"/>
                <a:ea typeface="Courier New" pitchFamily="34" charset="-122"/>
                <a:cs typeface="Courier New" pitchFamily="34" charset="-120"/>
              </a:rPr>
              <a:t>HttpStatus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ACCEPTED</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public</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void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track</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86C7BA"/>
                </a:solidFill>
                <a:latin typeface="Courier New" pitchFamily="34" charset="0"/>
                <a:ea typeface="Courier New" pitchFamily="34" charset="-122"/>
                <a:cs typeface="Courier New" pitchFamily="34" charset="-120"/>
              </a:rPr>
              <a:t>@Valid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@RequestBody</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TrackingRequest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r</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HttpSession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s</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@AuthenticationPrincipal</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CustomUserDetails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p</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86C7BA"/>
                </a:solidFill>
                <a:latin typeface="Courier New" pitchFamily="34" charset="0"/>
                <a:ea typeface="Courier New" pitchFamily="34" charset="-122"/>
                <a:cs typeface="Courier New" pitchFamily="34" charset="-120"/>
              </a:rPr>
              <a:t>Long</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uid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p</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null</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p</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getId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trackingService</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record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r</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getId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uid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8" name="Code panel SecurityConfig.java"/>
          <p:cNvSpPr/>
          <p:nvPr/>
        </p:nvSpPr>
        <p:spPr>
          <a:xfrm>
            <a:off x="7315200" y="1463040"/>
            <a:ext cx="4325112" cy="1463040"/>
          </a:xfrm>
          <a:prstGeom prst="roundRect">
            <a:avLst>
              <a:gd name="adj" fmla="val 5000"/>
            </a:avLst>
          </a:prstGeom>
          <a:solidFill>
            <a:schemeClr val="tx2"/>
          </a:solidFill>
          <a:ln w="12700">
            <a:solidFill>
              <a:schemeClr val="tx2"/>
            </a:solidFill>
            <a:prstDash val="solid"/>
          </a:ln>
        </p:spPr>
      </p:sp>
      <p:sp>
        <p:nvSpPr>
          <p:cNvPr id="9" name="Text 6"/>
          <p:cNvSpPr txBox="1"/>
          <p:nvPr/>
        </p:nvSpPr>
        <p:spPr>
          <a:xfrm>
            <a:off x="7498080" y="1554480"/>
            <a:ext cx="3959352" cy="237744"/>
          </a:xfrm>
          <a:prstGeom prst="rect">
            <a:avLst/>
          </a:prstGeom>
          <a:noFill/>
          <a:ln/>
        </p:spPr>
        <p:txBody>
          <a:bodyPr wrap="square" lIns="0" tIns="0" rIns="0" bIns="0" rtlCol="0" anchor="ctr"/>
          <a:lstStyle/>
          <a:p>
            <a:pPr indent="0" marL="0">
              <a:buNone/>
            </a:pPr>
            <a:r>
              <a:rPr lang="en-US" sz="1100" b="1" dirty="0">
                <a:solidFill>
                  <a:schemeClr val="accent5"/>
                </a:solidFill>
              </a:rPr>
              <a:t>SecurityConfig.java</a:t>
            </a:r>
            <a:endParaRPr lang="en-US" sz="1100" dirty="0"/>
          </a:p>
        </p:txBody>
      </p:sp>
      <p:sp>
        <p:nvSpPr>
          <p:cNvPr id="10" name="Code SecurityConfig.java"/>
          <p:cNvSpPr txBox="1"/>
          <p:nvPr/>
        </p:nvSpPr>
        <p:spPr>
          <a:xfrm>
            <a:off x="7498080" y="1847088"/>
            <a:ext cx="3959352" cy="1005840"/>
          </a:xfrm>
          <a:prstGeom prst="rect">
            <a:avLst/>
          </a:prstGeom>
          <a:noFill/>
          <a:ln/>
        </p:spPr>
        <p:txBody>
          <a:bodyPr wrap="square" lIns="0" tIns="0" rIns="0" bIns="0" rtlCol="0" anchor="t"/>
          <a:lstStyle/>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requestMatchers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86C7BA"/>
                </a:solidFill>
                <a:latin typeface="Courier New" pitchFamily="34" charset="0"/>
                <a:ea typeface="Courier New" pitchFamily="34" charset="-122"/>
                <a:cs typeface="Courier New" pitchFamily="34" charset="-120"/>
              </a:rPr>
              <a:t>HttpMethod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POST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"/api/tracking"</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"/api/chat"</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permitAll</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11" name="Code panel fragments/components.html"/>
          <p:cNvSpPr/>
          <p:nvPr/>
        </p:nvSpPr>
        <p:spPr>
          <a:xfrm>
            <a:off x="7315200" y="3154680"/>
            <a:ext cx="4325112" cy="1463040"/>
          </a:xfrm>
          <a:prstGeom prst="roundRect">
            <a:avLst>
              <a:gd name="adj" fmla="val 5000"/>
            </a:avLst>
          </a:prstGeom>
          <a:solidFill>
            <a:schemeClr val="tx2"/>
          </a:solidFill>
          <a:ln w="12700">
            <a:solidFill>
              <a:schemeClr val="tx2"/>
            </a:solidFill>
            <a:prstDash val="solid"/>
          </a:ln>
        </p:spPr>
      </p:sp>
      <p:sp>
        <p:nvSpPr>
          <p:cNvPr id="12" name="Text 9"/>
          <p:cNvSpPr txBox="1"/>
          <p:nvPr/>
        </p:nvSpPr>
        <p:spPr>
          <a:xfrm>
            <a:off x="7498080" y="3246120"/>
            <a:ext cx="3959352" cy="237744"/>
          </a:xfrm>
          <a:prstGeom prst="rect">
            <a:avLst/>
          </a:prstGeom>
          <a:noFill/>
          <a:ln/>
        </p:spPr>
        <p:txBody>
          <a:bodyPr wrap="square" lIns="0" tIns="0" rIns="0" bIns="0" rtlCol="0" anchor="ctr"/>
          <a:lstStyle/>
          <a:p>
            <a:pPr indent="0" marL="0">
              <a:buNone/>
            </a:pPr>
            <a:r>
              <a:rPr lang="en-US" sz="1100" b="1" dirty="0">
                <a:solidFill>
                  <a:schemeClr val="accent5"/>
                </a:solidFill>
              </a:rPr>
              <a:t>fragments/components.html</a:t>
            </a:r>
            <a:endParaRPr lang="en-US" sz="1100" dirty="0"/>
          </a:p>
        </p:txBody>
      </p:sp>
      <p:sp>
        <p:nvSpPr>
          <p:cNvPr id="13" name="Code fragments/components.html"/>
          <p:cNvSpPr txBox="1"/>
          <p:nvPr/>
        </p:nvSpPr>
        <p:spPr>
          <a:xfrm>
            <a:off x="7498080" y="3538728"/>
            <a:ext cx="3959352" cy="1005840"/>
          </a:xfrm>
          <a:prstGeom prst="rect">
            <a:avLst/>
          </a:prstGeom>
          <a:noFill/>
          <a:ln/>
        </p:spPr>
        <p:txBody>
          <a:bodyPr wrap="square" lIns="0" tIns="0" rIns="0" bIns="0" rtlCol="0" anchor="t"/>
          <a:lstStyle/>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&lt;article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class</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"tour-card"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th</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data</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track</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tour</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F4B393"/>
                </a:solidFill>
                <a:latin typeface="Courier New" pitchFamily="34" charset="0"/>
                <a:ea typeface="Courier New" pitchFamily="34" charset="-122"/>
                <a:cs typeface="Courier New" pitchFamily="34" charset="-120"/>
              </a:rPr>
              <a:t>"${tour.id}"</a:t>
            </a:r>
            <a:r>
              <a:rPr lang="en-US" sz="1100" dirty="0">
                <a:solidFill>
                  <a:srgbClr val="E0A458"/>
                </a:solidFill>
                <a:latin typeface="Courier New" pitchFamily="34" charset="0"/>
                <a:ea typeface="Courier New" pitchFamily="34" charset="-122"/>
                <a:cs typeface="Courier New" pitchFamily="34" charset="-120"/>
              </a:rPr>
              <a:t>&gt;</a:t>
            </a:r>
            <a:endParaRPr lang="en-US" sz="1100" dirty="0"/>
          </a:p>
        </p:txBody>
      </p:sp>
      <p:sp>
        <p:nvSpPr>
          <p:cNvPr id="14" name="Card"/>
          <p:cNvSpPr/>
          <p:nvPr/>
        </p:nvSpPr>
        <p:spPr>
          <a:xfrm>
            <a:off x="548640" y="4846320"/>
            <a:ext cx="11091672" cy="1417320"/>
          </a:xfrm>
          <a:prstGeom prst="roundRect">
            <a:avLst>
              <a:gd name="adj" fmla="val 6452"/>
            </a:avLst>
          </a:prstGeom>
          <a:solidFill>
            <a:schemeClr val="bg2"/>
          </a:solidFill>
          <a:ln w="12700">
            <a:solidFill>
              <a:schemeClr val="bg2"/>
            </a:solidFill>
            <a:prstDash val="solid"/>
          </a:ln>
        </p:spPr>
      </p:sp>
      <p:sp>
        <p:nvSpPr>
          <p:cNvPr id="15" name="Text 12"/>
          <p:cNvSpPr txBox="1"/>
          <p:nvPr/>
        </p:nvSpPr>
        <p:spPr>
          <a:xfrm>
            <a:off x="777240" y="4956048"/>
            <a:ext cx="10634472" cy="1234440"/>
          </a:xfrm>
          <a:prstGeom prst="rect">
            <a:avLst/>
          </a:prstGeom>
          <a:noFill/>
          <a:ln/>
        </p:spPr>
        <p:txBody>
          <a:bodyPr wrap="square" lIns="0" tIns="0" rIns="0" bIns="0" rtlCol="0" anchor="t"/>
          <a:lstStyle/>
          <a:p>
            <a:pPr marL="177800" indent="-177800">
              <a:spcAft>
                <a:spcPts val="600"/>
              </a:spcAft>
              <a:buSzPct val="100000"/>
              <a:buChar char="•"/>
            </a:pPr>
            <a:r>
              <a:rPr lang="en-US" sz="1400" b="1" dirty="0">
                <a:solidFill>
                  <a:schemeClr val="tx1"/>
                </a:solidFill>
              </a:rPr>
              <a:t>layout.html: </a:t>
            </a:r>
            <a:r>
              <a:rPr lang="en-US" sz="1400" dirty="0">
                <a:solidFill>
                  <a:schemeClr val="tx1"/>
                </a:solidFill>
              </a:rPr>
              <a:t>thêm &lt;script th:src="@{/js/tracker.js}"&gt; sau app.js trong fragment scripts</a:t>
            </a:r>
            <a:endParaRPr lang="en-US" sz="1400" dirty="0"/>
          </a:p>
          <a:p>
            <a:pPr marL="177800" indent="-177800">
              <a:spcAft>
                <a:spcPts val="600"/>
              </a:spcAft>
              <a:buSzPct val="100000"/>
              <a:buChar char="•"/>
            </a:pPr>
            <a:r>
              <a:rPr lang="en-US" sz="1400" b="1" dirty="0">
                <a:solidFill>
                  <a:schemeClr val="tx1"/>
                </a:solidFill>
              </a:rPr>
              <a:t>Trang chi tiết: </a:t>
            </a:r>
            <a:r>
              <a:rPr lang="en-US" sz="1400" dirty="0">
                <a:solidFill>
                  <a:schemeClr val="tx1"/>
                </a:solidFill>
              </a:rPr>
              <a:t>tái dùng #departureList có sẵn data-tour-id, không cần sửa template</a:t>
            </a:r>
            <a:endParaRPr lang="en-US" sz="1400" dirty="0"/>
          </a:p>
          <a:p>
            <a:pPr marL="177800" indent="-177800">
              <a:spcAft>
                <a:spcPts val="600"/>
              </a:spcAft>
              <a:buSzPct val="100000"/>
              <a:buChar char="•"/>
            </a:pPr>
            <a:r>
              <a:rPr lang="en-US" sz="1400" b="1" dirty="0">
                <a:solidFill>
                  <a:schemeClr val="tx1"/>
                </a:solidFill>
              </a:rPr>
              <a:t>CSRF: </a:t>
            </a:r>
            <a:r>
              <a:rPr lang="en-US" sz="1400" dirty="0">
                <a:solidFill>
                  <a:schemeClr val="tx1"/>
                </a:solidFill>
              </a:rPr>
              <a:t>Spring Security đang bật; tracker.js đọc token từ meta _csrf, như app.js</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tracker.js (1/2): gửi sự kiện, VIEW, CLICK</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tatic/js/tracker.js"/>
          <p:cNvSpPr/>
          <p:nvPr/>
        </p:nvSpPr>
        <p:spPr>
          <a:xfrm>
            <a:off x="548640" y="1463040"/>
            <a:ext cx="7498080" cy="3657600"/>
          </a:xfrm>
          <a:prstGeom prst="roundRect">
            <a:avLst>
              <a:gd name="adj" fmla="val 2000"/>
            </a:avLst>
          </a:prstGeom>
          <a:solidFill>
            <a:schemeClr val="tx2"/>
          </a:solidFill>
          <a:ln w="12700">
            <a:solidFill>
              <a:schemeClr val="tx2"/>
            </a:solidFill>
            <a:prstDash val="solid"/>
          </a:ln>
        </p:spPr>
      </p:sp>
      <p:sp>
        <p:nvSpPr>
          <p:cNvPr id="6" name="Text 3"/>
          <p:cNvSpPr txBox="1"/>
          <p:nvPr/>
        </p:nvSpPr>
        <p:spPr>
          <a:xfrm>
            <a:off x="731520" y="1554480"/>
            <a:ext cx="7132320" cy="237744"/>
          </a:xfrm>
          <a:prstGeom prst="rect">
            <a:avLst/>
          </a:prstGeom>
          <a:noFill/>
          <a:ln/>
        </p:spPr>
        <p:txBody>
          <a:bodyPr wrap="square" lIns="0" tIns="0" rIns="0" bIns="0" rtlCol="0" anchor="ctr"/>
          <a:lstStyle/>
          <a:p>
            <a:pPr indent="0" marL="0">
              <a:buNone/>
            </a:pPr>
            <a:r>
              <a:rPr lang="en-US" sz="1100" b="1" dirty="0">
                <a:solidFill>
                  <a:schemeClr val="accent5"/>
                </a:solidFill>
              </a:rPr>
              <a:t>static/js/tracker.js</a:t>
            </a:r>
            <a:endParaRPr lang="en-US" sz="1100" dirty="0"/>
          </a:p>
        </p:txBody>
      </p:sp>
      <p:sp>
        <p:nvSpPr>
          <p:cNvPr id="7" name="Code static/js/tracker.js"/>
          <p:cNvSpPr txBox="1"/>
          <p:nvPr/>
        </p:nvSpPr>
        <p:spPr>
          <a:xfrm>
            <a:off x="731520" y="1847088"/>
            <a:ext cx="7132320" cy="3200400"/>
          </a:xfrm>
          <a:prstGeom prst="rect">
            <a:avLst/>
          </a:prstGeom>
          <a:noFill/>
          <a:ln/>
        </p:spPr>
        <p:txBody>
          <a:bodyPr wrap="square" lIns="0" tIns="0" rIns="0" bIns="0" rtlCol="0" anchor="t"/>
          <a:lstStyle/>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const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H</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'meta[name="_csrf_header"]'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attr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'content'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const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'meta[name="_csrf"]'</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attr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'content'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const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'#departureList'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data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null</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function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track</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extra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fetch</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'/api/tracking'</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method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'POST'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keepalive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true</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headers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'Content-Type'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'application/json'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H</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body</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JSON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stringify</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type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pageUrl</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location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pathname</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extra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0A458"/>
                </a:solidFill>
                <a:latin typeface="Courier New" pitchFamily="34" charset="0"/>
                <a:ea typeface="Courier New" pitchFamily="34" charset="-122"/>
                <a:cs typeface="Courier New" pitchFamily="34" charset="-120"/>
              </a:rPr>
              <a:t>if</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track</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'VIEW'</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document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on</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'click'</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F4B393"/>
                </a:solidFill>
                <a:latin typeface="Courier New" pitchFamily="34" charset="0"/>
                <a:ea typeface="Courier New" pitchFamily="34" charset="-122"/>
                <a:cs typeface="Courier New" pitchFamily="34" charset="-120"/>
              </a:rPr>
              <a:t>'[data-track-tour]'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0A458"/>
                </a:solidFill>
                <a:latin typeface="Courier New" pitchFamily="34" charset="0"/>
                <a:ea typeface="Courier New" pitchFamily="34" charset="-122"/>
                <a:cs typeface="Courier New" pitchFamily="34" charset="-120"/>
              </a:rPr>
              <a:t>function</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track</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'CLICK'</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tourId</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 </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0A458"/>
                </a:solidFill>
                <a:latin typeface="Courier New" pitchFamily="34" charset="0"/>
                <a:ea typeface="Courier New" pitchFamily="34" charset="-122"/>
                <a:cs typeface="Courier New" pitchFamily="34" charset="-120"/>
              </a:rPr>
              <a:t>this</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data</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F4B393"/>
                </a:solidFill>
                <a:latin typeface="Courier New" pitchFamily="34" charset="0"/>
                <a:ea typeface="Courier New" pitchFamily="34" charset="-122"/>
                <a:cs typeface="Courier New" pitchFamily="34" charset="-120"/>
              </a:rPr>
              <a:t>'track-tour'</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a:p>
            <a:pPr indent="0" marL="0">
              <a:lnSpc>
                <a:spcPts val="1600"/>
              </a:lnSpc>
              <a:buNone/>
            </a:pP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r>
              <a:rPr lang="en-US" sz="1300" dirty="0">
                <a:solidFill>
                  <a:srgbClr val="EFF7F5"/>
                </a:solidFill>
                <a:latin typeface="Courier New" pitchFamily="34" charset="0"/>
                <a:ea typeface="Courier New" pitchFamily="34" charset="-122"/>
                <a:cs typeface="Courier New" pitchFamily="34" charset="-120"/>
              </a:rPr>
              <a:t>;</a:t>
            </a:r>
            <a:endParaRPr lang="en-US" sz="1300" dirty="0"/>
          </a:p>
        </p:txBody>
      </p:sp>
      <p:sp>
        <p:nvSpPr>
          <p:cNvPr id="8" name="Card"/>
          <p:cNvSpPr/>
          <p:nvPr/>
        </p:nvSpPr>
        <p:spPr>
          <a:xfrm>
            <a:off x="8275320" y="1463040"/>
            <a:ext cx="3364992" cy="3657600"/>
          </a:xfrm>
          <a:prstGeom prst="roundRect">
            <a:avLst>
              <a:gd name="adj" fmla="val 2717"/>
            </a:avLst>
          </a:prstGeom>
          <a:solidFill>
            <a:schemeClr val="accent2"/>
          </a:solidFill>
          <a:ln w="12700">
            <a:solidFill>
              <a:schemeClr val="accent2"/>
            </a:solidFill>
            <a:prstDash val="solid"/>
          </a:ln>
        </p:spPr>
      </p:sp>
      <p:sp>
        <p:nvSpPr>
          <p:cNvPr id="9" name="Text 6"/>
          <p:cNvSpPr txBox="1"/>
          <p:nvPr/>
        </p:nvSpPr>
        <p:spPr>
          <a:xfrm>
            <a:off x="8458200" y="1600200"/>
            <a:ext cx="3017520" cy="320040"/>
          </a:xfrm>
          <a:prstGeom prst="rect">
            <a:avLst/>
          </a:prstGeom>
          <a:noFill/>
          <a:ln/>
        </p:spPr>
        <p:txBody>
          <a:bodyPr wrap="square" lIns="0" tIns="0" rIns="0" bIns="0" rtlCol="0" anchor="t"/>
          <a:lstStyle/>
          <a:p>
            <a:pPr indent="0" marL="0">
              <a:buNone/>
            </a:pPr>
            <a:r>
              <a:rPr lang="en-US" sz="1500" b="1" dirty="0">
                <a:solidFill>
                  <a:schemeClr val="tx2"/>
                </a:solidFill>
              </a:rPr>
              <a:t>Vì sao fetch keepalive?</a:t>
            </a:r>
            <a:endParaRPr lang="en-US" sz="1500" dirty="0"/>
          </a:p>
        </p:txBody>
      </p:sp>
      <p:sp>
        <p:nvSpPr>
          <p:cNvPr id="10" name="Text 7"/>
          <p:cNvSpPr txBox="1"/>
          <p:nvPr/>
        </p:nvSpPr>
        <p:spPr>
          <a:xfrm>
            <a:off x="8458200" y="2011680"/>
            <a:ext cx="3017520" cy="3017520"/>
          </a:xfrm>
          <a:prstGeom prst="rect">
            <a:avLst/>
          </a:prstGeom>
          <a:noFill/>
          <a:ln/>
        </p:spPr>
        <p:txBody>
          <a:bodyPr wrap="square" lIns="0" tIns="0" rIns="0" bIns="0" rtlCol="0" anchor="t"/>
          <a:lstStyle/>
          <a:p>
            <a:pPr marL="177800" indent="-177800">
              <a:spcAft>
                <a:spcPts val="800"/>
              </a:spcAft>
              <a:buSzPct val="100000"/>
              <a:buChar char="•"/>
            </a:pPr>
            <a:r>
              <a:rPr lang="en-US" sz="1350" dirty="0">
                <a:solidFill>
                  <a:schemeClr val="tx2"/>
                </a:solidFill>
              </a:rPr>
              <a:t>sendBeacon không đặt được header → CSRF của Spring Security sẽ chặn</a:t>
            </a:r>
            <a:endParaRPr lang="en-US" sz="1350" dirty="0"/>
          </a:p>
          <a:p>
            <a:pPr marL="177800" indent="-177800">
              <a:spcAft>
                <a:spcPts val="800"/>
              </a:spcAft>
              <a:buSzPct val="100000"/>
              <a:buChar char="•"/>
            </a:pPr>
            <a:r>
              <a:rPr lang="en-US" sz="1350" dirty="0">
                <a:solidFill>
                  <a:schemeClr val="tx2"/>
                </a:solidFill>
              </a:rPr>
              <a:t>fetch + keepalive vẫn gửi khi tab đóng và cho phép header</a:t>
            </a:r>
            <a:endParaRPr lang="en-US" sz="1350" dirty="0"/>
          </a:p>
          <a:p>
            <a:pPr marL="177800" indent="-177800">
              <a:spcAft>
                <a:spcPts val="800"/>
              </a:spcAft>
              <a:buSzPct val="100000"/>
              <a:buChar char="•"/>
            </a:pPr>
            <a:r>
              <a:rPr lang="en-US" sz="1350" dirty="0">
                <a:solidFill>
                  <a:schemeClr val="tx2"/>
                </a:solidFill>
              </a:rPr>
              <a:t>Không cần session id ở client: server dùng HttpSession</a:t>
            </a:r>
            <a:endParaRPr lang="en-US" sz="1350" dirty="0"/>
          </a:p>
        </p:txBody>
      </p:sp>
      <p:sp>
        <p:nvSpPr>
          <p:cNvPr id="11" name="Card"/>
          <p:cNvSpPr/>
          <p:nvPr/>
        </p:nvSpPr>
        <p:spPr>
          <a:xfrm>
            <a:off x="548640" y="5303520"/>
            <a:ext cx="11091672" cy="960120"/>
          </a:xfrm>
          <a:prstGeom prst="roundRect">
            <a:avLst>
              <a:gd name="adj" fmla="val 9524"/>
            </a:avLst>
          </a:prstGeom>
          <a:solidFill>
            <a:schemeClr val="bg2"/>
          </a:solidFill>
          <a:ln w="12700">
            <a:solidFill>
              <a:schemeClr val="bg2"/>
            </a:solidFill>
            <a:prstDash val="solid"/>
          </a:ln>
        </p:spPr>
      </p:sp>
      <p:sp>
        <p:nvSpPr>
          <p:cNvPr id="12" name="Text 9"/>
          <p:cNvSpPr txBox="1"/>
          <p:nvPr/>
        </p:nvSpPr>
        <p:spPr>
          <a:xfrm>
            <a:off x="777240" y="5349240"/>
            <a:ext cx="10634472" cy="868680"/>
          </a:xfrm>
          <a:prstGeom prst="rect">
            <a:avLst/>
          </a:prstGeom>
          <a:noFill/>
          <a:ln/>
        </p:spPr>
        <p:txBody>
          <a:bodyPr wrap="square" lIns="0" tIns="0" rIns="0" bIns="0" rtlCol="0" anchor="ctr"/>
          <a:lstStyle/>
          <a:p>
            <a:pPr indent="0" marL="0">
              <a:buNone/>
            </a:pPr>
            <a:r>
              <a:rPr lang="en-US" sz="1350" b="1" dirty="0">
                <a:solidFill>
                  <a:schemeClr val="tx1"/>
                </a:solidFill>
              </a:rPr>
              <a:t>Gắn với code sẵn có: </a:t>
            </a:r>
            <a:r>
              <a:rPr lang="en-US" sz="1350" dirty="0">
                <a:solidFill>
                  <a:schemeClr val="tx1"/>
                </a:solidFill>
              </a:rPr>
              <a:t>#departureList (tour/detail.html) cho VIEW và tourId; .tour-card (components.html) cho CLICK; viết trong phong cách app.js: jQuery, hàm nhỏ, không thư viện thêm.</a:t>
            </a:r>
            <a:endParaRPr lang="en-US" sz="135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tracker.js (2/2): ADD_TO_CART, SEARCH, TIME_ON_PAGE</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static/js/tracker.js (tiếp)"/>
          <p:cNvSpPr/>
          <p:nvPr/>
        </p:nvSpPr>
        <p:spPr>
          <a:xfrm>
            <a:off x="548640" y="1463040"/>
            <a:ext cx="7498080" cy="4206240"/>
          </a:xfrm>
          <a:prstGeom prst="roundRect">
            <a:avLst>
              <a:gd name="adj" fmla="val 1739"/>
            </a:avLst>
          </a:prstGeom>
          <a:solidFill>
            <a:schemeClr val="tx2"/>
          </a:solidFill>
          <a:ln w="12700">
            <a:solidFill>
              <a:schemeClr val="tx2"/>
            </a:solidFill>
            <a:prstDash val="solid"/>
          </a:ln>
        </p:spPr>
      </p:sp>
      <p:sp>
        <p:nvSpPr>
          <p:cNvPr id="6" name="Text 3"/>
          <p:cNvSpPr txBox="1"/>
          <p:nvPr/>
        </p:nvSpPr>
        <p:spPr>
          <a:xfrm>
            <a:off x="731520" y="1554480"/>
            <a:ext cx="7132320" cy="237744"/>
          </a:xfrm>
          <a:prstGeom prst="rect">
            <a:avLst/>
          </a:prstGeom>
          <a:noFill/>
          <a:ln/>
        </p:spPr>
        <p:txBody>
          <a:bodyPr wrap="square" lIns="0" tIns="0" rIns="0" bIns="0" rtlCol="0" anchor="ctr"/>
          <a:lstStyle/>
          <a:p>
            <a:pPr indent="0" marL="0">
              <a:buNone/>
            </a:pPr>
            <a:r>
              <a:rPr lang="en-US" sz="1100" b="1" dirty="0">
                <a:solidFill>
                  <a:schemeClr val="accent5"/>
                </a:solidFill>
              </a:rPr>
              <a:t>static/js/tracker.js (tiếp)</a:t>
            </a:r>
            <a:endParaRPr lang="en-US" sz="1100" dirty="0"/>
          </a:p>
        </p:txBody>
      </p:sp>
      <p:sp>
        <p:nvSpPr>
          <p:cNvPr id="7" name="Code static/js/tracker.js (tiếp)"/>
          <p:cNvSpPr txBox="1"/>
          <p:nvPr/>
        </p:nvSpPr>
        <p:spPr>
          <a:xfrm>
            <a:off x="731520" y="1847088"/>
            <a:ext cx="7132320" cy="3749040"/>
          </a:xfrm>
          <a:prstGeom prst="rect">
            <a:avLst/>
          </a:prstGeom>
          <a:noFill/>
          <a:ln/>
        </p:spPr>
        <p:txBody>
          <a:bodyPr wrap="square" lIns="0" tIns="0" rIns="0" bIns="0" rtlCol="0" anchor="t"/>
          <a:lstStyle/>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'form[data-ajax-cart]'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'submit'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function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track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'ADD_TO_CART'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departureId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this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find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'[name=departureId]:checked'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val</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'#navSearchInput'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'change'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function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track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'SEARCH'</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keyword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this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value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trim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let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0</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addEventListener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'visibilitychange'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hidden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else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addEventListener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'pagehide'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document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hidden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Date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now</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shown</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tourId</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&amp;</a:t>
            </a:r>
            <a:r>
              <a:rPr lang="en-US" sz="1200" dirty="0">
                <a:solidFill>
                  <a:srgbClr val="EFF7F5"/>
                </a:solidFill>
                <a:latin typeface="Courier New" pitchFamily="34" charset="0"/>
                <a:ea typeface="Courier New" pitchFamily="34" charset="-122"/>
                <a:cs typeface="Courier New" pitchFamily="34" charset="-120"/>
              </a:rPr>
              <a:t>&amp;</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1000</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track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'TIME_ON_PAGE'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durationMs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vis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Text 5"/>
          <p:cNvSpPr txBox="1"/>
          <p:nvPr/>
        </p:nvSpPr>
        <p:spPr>
          <a:xfrm>
            <a:off x="8275320" y="1417320"/>
            <a:ext cx="3364992" cy="274320"/>
          </a:xfrm>
          <a:prstGeom prst="rect">
            <a:avLst/>
          </a:prstGeom>
          <a:noFill/>
          <a:ln/>
        </p:spPr>
        <p:txBody>
          <a:bodyPr wrap="square" lIns="0" tIns="0" rIns="0" bIns="0" rtlCol="0" anchor="t"/>
          <a:lstStyle/>
          <a:p>
            <a:pPr indent="0" marL="0">
              <a:buNone/>
            </a:pPr>
            <a:r>
              <a:rPr lang="en-US" sz="1500" b="1" dirty="0">
                <a:solidFill>
                  <a:schemeClr val="tx2"/>
                </a:solidFill>
              </a:rPr>
              <a:t>Điểm bám vào giao diện hiện có</a:t>
            </a:r>
            <a:endParaRPr lang="en-US" sz="1500" dirty="0"/>
          </a:p>
        </p:txBody>
      </p:sp>
      <p:sp>
        <p:nvSpPr>
          <p:cNvPr id="9" name="Card"/>
          <p:cNvSpPr/>
          <p:nvPr/>
        </p:nvSpPr>
        <p:spPr>
          <a:xfrm>
            <a:off x="8275320" y="1783080"/>
            <a:ext cx="3364992" cy="987552"/>
          </a:xfrm>
          <a:prstGeom prst="roundRect">
            <a:avLst>
              <a:gd name="adj" fmla="val 9259"/>
            </a:avLst>
          </a:prstGeom>
          <a:solidFill>
            <a:schemeClr val="bg2"/>
          </a:solidFill>
          <a:ln w="12700">
            <a:solidFill>
              <a:schemeClr val="bg2"/>
            </a:solidFill>
            <a:prstDash val="solid"/>
          </a:ln>
        </p:spPr>
      </p:sp>
      <p:sp>
        <p:nvSpPr>
          <p:cNvPr id="10" name="Text 7"/>
          <p:cNvSpPr txBox="1"/>
          <p:nvPr/>
        </p:nvSpPr>
        <p:spPr>
          <a:xfrm>
            <a:off x="8458200" y="189280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form[data-ajax-cart]</a:t>
            </a:r>
            <a:endParaRPr lang="en-US" sz="1250" dirty="0"/>
          </a:p>
        </p:txBody>
      </p:sp>
      <p:sp>
        <p:nvSpPr>
          <p:cNvPr id="11" name="Text 8"/>
          <p:cNvSpPr txBox="1"/>
          <p:nvPr/>
        </p:nvSpPr>
        <p:spPr>
          <a:xfrm>
            <a:off x="8458200" y="2240280"/>
            <a:ext cx="3017520" cy="457200"/>
          </a:xfrm>
          <a:prstGeom prst="rect">
            <a:avLst/>
          </a:prstGeom>
          <a:noFill/>
          <a:ln/>
        </p:spPr>
        <p:txBody>
          <a:bodyPr wrap="square" lIns="0" tIns="0" rIns="0" bIns="0" rtlCol="0" anchor="t"/>
          <a:lstStyle/>
          <a:p>
            <a:pPr indent="0" marL="0">
              <a:buNone/>
            </a:pPr>
            <a:r>
              <a:rPr lang="en-US" sz="1300" dirty="0">
                <a:solidFill>
                  <a:schemeClr val="tx1"/>
                </a:solidFill>
              </a:rPr>
              <a:t>initCartForms() trong app.js</a:t>
            </a:r>
            <a:endParaRPr lang="en-US" sz="1300" dirty="0"/>
          </a:p>
        </p:txBody>
      </p:sp>
      <p:sp>
        <p:nvSpPr>
          <p:cNvPr id="12" name="Card"/>
          <p:cNvSpPr/>
          <p:nvPr/>
        </p:nvSpPr>
        <p:spPr>
          <a:xfrm>
            <a:off x="8275320" y="2880360"/>
            <a:ext cx="3364992" cy="987552"/>
          </a:xfrm>
          <a:prstGeom prst="roundRect">
            <a:avLst>
              <a:gd name="adj" fmla="val 9259"/>
            </a:avLst>
          </a:prstGeom>
          <a:solidFill>
            <a:schemeClr val="bg2"/>
          </a:solidFill>
          <a:ln w="12700">
            <a:solidFill>
              <a:schemeClr val="bg2"/>
            </a:solidFill>
            <a:prstDash val="solid"/>
          </a:ln>
        </p:spPr>
      </p:sp>
      <p:sp>
        <p:nvSpPr>
          <p:cNvPr id="13" name="Text 10"/>
          <p:cNvSpPr txBox="1"/>
          <p:nvPr/>
        </p:nvSpPr>
        <p:spPr>
          <a:xfrm>
            <a:off x="8458200" y="299008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#navSearchInput</a:t>
            </a:r>
            <a:endParaRPr lang="en-US" sz="1250" dirty="0"/>
          </a:p>
        </p:txBody>
      </p:sp>
      <p:sp>
        <p:nvSpPr>
          <p:cNvPr id="14" name="Text 11"/>
          <p:cNvSpPr txBox="1"/>
          <p:nvPr/>
        </p:nvSpPr>
        <p:spPr>
          <a:xfrm>
            <a:off x="8458200" y="3337560"/>
            <a:ext cx="3017520" cy="457200"/>
          </a:xfrm>
          <a:prstGeom prst="rect">
            <a:avLst/>
          </a:prstGeom>
          <a:noFill/>
          <a:ln/>
        </p:spPr>
        <p:txBody>
          <a:bodyPr wrap="square" lIns="0" tIns="0" rIns="0" bIns="0" rtlCol="0" anchor="t"/>
          <a:lstStyle/>
          <a:p>
            <a:pPr indent="0" marL="0">
              <a:buNone/>
            </a:pPr>
            <a:r>
              <a:rPr lang="en-US" sz="1300" dirty="0">
                <a:solidFill>
                  <a:schemeClr val="tx1"/>
                </a:solidFill>
              </a:rPr>
              <a:t>ô tìm trên thanh điều hướng</a:t>
            </a:r>
            <a:endParaRPr lang="en-US" sz="1300" dirty="0"/>
          </a:p>
        </p:txBody>
      </p:sp>
      <p:sp>
        <p:nvSpPr>
          <p:cNvPr id="15" name="Card"/>
          <p:cNvSpPr/>
          <p:nvPr/>
        </p:nvSpPr>
        <p:spPr>
          <a:xfrm>
            <a:off x="8275320" y="3977640"/>
            <a:ext cx="3364992" cy="987552"/>
          </a:xfrm>
          <a:prstGeom prst="roundRect">
            <a:avLst>
              <a:gd name="adj" fmla="val 9259"/>
            </a:avLst>
          </a:prstGeom>
          <a:solidFill>
            <a:schemeClr val="bg2"/>
          </a:solidFill>
          <a:ln w="12700">
            <a:solidFill>
              <a:schemeClr val="bg2"/>
            </a:solidFill>
            <a:prstDash val="solid"/>
          </a:ln>
        </p:spPr>
      </p:sp>
      <p:sp>
        <p:nvSpPr>
          <p:cNvPr id="16" name="Text 13"/>
          <p:cNvSpPr txBox="1"/>
          <p:nvPr/>
        </p:nvSpPr>
        <p:spPr>
          <a:xfrm>
            <a:off x="8458200" y="4087368"/>
            <a:ext cx="3017520" cy="274320"/>
          </a:xfrm>
          <a:prstGeom prst="rect">
            <a:avLst/>
          </a:prstGeom>
          <a:noFill/>
          <a:ln/>
        </p:spPr>
        <p:txBody>
          <a:bodyPr wrap="square" lIns="0" tIns="0" rIns="0" bIns="0" rtlCol="0" anchor="t"/>
          <a:lstStyle/>
          <a:p>
            <a:pPr indent="0" marL="0">
              <a:buNone/>
            </a:pPr>
            <a:r>
              <a:rPr lang="en-US" sz="1250" b="1" dirty="0">
                <a:solidFill>
                  <a:schemeClr val="accent1"/>
                </a:solidFill>
                <a:latin typeface="Courier New" pitchFamily="34" charset="0"/>
                <a:ea typeface="Courier New" pitchFamily="34" charset="-122"/>
                <a:cs typeface="Courier New" pitchFamily="34" charset="-120"/>
              </a:rPr>
              <a:t>visibilitychange / pagehide</a:t>
            </a:r>
            <a:endParaRPr lang="en-US" sz="1250" dirty="0"/>
          </a:p>
        </p:txBody>
      </p:sp>
      <p:sp>
        <p:nvSpPr>
          <p:cNvPr id="17" name="Text 14"/>
          <p:cNvSpPr txBox="1"/>
          <p:nvPr/>
        </p:nvSpPr>
        <p:spPr>
          <a:xfrm>
            <a:off x="8458200" y="4434840"/>
            <a:ext cx="3017520" cy="457200"/>
          </a:xfrm>
          <a:prstGeom prst="rect">
            <a:avLst/>
          </a:prstGeom>
          <a:noFill/>
          <a:ln/>
        </p:spPr>
        <p:txBody>
          <a:bodyPr wrap="square" lIns="0" tIns="0" rIns="0" bIns="0" rtlCol="0" anchor="t"/>
          <a:lstStyle/>
          <a:p>
            <a:pPr indent="0" marL="0">
              <a:buNone/>
            </a:pPr>
            <a:r>
              <a:rPr lang="en-US" sz="1300" dirty="0">
                <a:solidFill>
                  <a:schemeClr val="tx1"/>
                </a:solidFill>
              </a:rPr>
              <a:t>đo thời gian xem thực sự</a:t>
            </a:r>
            <a:endParaRPr lang="en-US" sz="1300" dirty="0"/>
          </a:p>
        </p:txBody>
      </p:sp>
      <p:sp>
        <p:nvSpPr>
          <p:cNvPr id="18" name="Card"/>
          <p:cNvSpPr/>
          <p:nvPr/>
        </p:nvSpPr>
        <p:spPr>
          <a:xfrm>
            <a:off x="8275320" y="5120640"/>
            <a:ext cx="3364992" cy="1143000"/>
          </a:xfrm>
          <a:prstGeom prst="roundRect">
            <a:avLst>
              <a:gd name="adj" fmla="val 8000"/>
            </a:avLst>
          </a:prstGeom>
          <a:solidFill>
            <a:schemeClr val="accent2"/>
          </a:solidFill>
          <a:ln w="12700">
            <a:solidFill>
              <a:schemeClr val="accent2"/>
            </a:solidFill>
            <a:prstDash val="solid"/>
          </a:ln>
        </p:spPr>
      </p:sp>
      <p:sp>
        <p:nvSpPr>
          <p:cNvPr id="19" name="Text 16"/>
          <p:cNvSpPr txBox="1"/>
          <p:nvPr/>
        </p:nvSpPr>
        <p:spPr>
          <a:xfrm>
            <a:off x="8458200" y="5166360"/>
            <a:ext cx="3017520" cy="1051560"/>
          </a:xfrm>
          <a:prstGeom prst="rect">
            <a:avLst/>
          </a:prstGeom>
          <a:noFill/>
          <a:ln/>
        </p:spPr>
        <p:txBody>
          <a:bodyPr wrap="square" lIns="0" tIns="0" rIns="0" bIns="0" rtlCol="0" anchor="ctr"/>
          <a:lstStyle/>
          <a:p>
            <a:pPr indent="0" marL="0">
              <a:buNone/>
            </a:pPr>
            <a:r>
              <a:rPr lang="en-US" sz="1300" b="1" dirty="0">
                <a:solidFill>
                  <a:schemeClr val="tx2"/>
                </a:solidFill>
              </a:rPr>
              <a:t>Chính xác hơn: ghi ADD_TO_CART ở CartApiController.add() sau khi thêm thành công.</a:t>
            </a:r>
            <a:endParaRPr lang="en-US" sz="1300" dirty="0"/>
          </a:p>
        </p:txBody>
      </p:sp>
      <p:sp>
        <p:nvSpPr>
          <p:cNvPr id="20" name="Text 17"/>
          <p:cNvSpPr txBox="1"/>
          <p:nvPr/>
        </p:nvSpPr>
        <p:spPr>
          <a:xfrm>
            <a:off x="548640" y="5806440"/>
            <a:ext cx="7498080" cy="457200"/>
          </a:xfrm>
          <a:prstGeom prst="rect">
            <a:avLst/>
          </a:prstGeom>
          <a:noFill/>
          <a:ln/>
        </p:spPr>
        <p:txBody>
          <a:bodyPr wrap="square" lIns="0" tIns="0" rIns="0" bIns="0" rtlCol="0" anchor="t"/>
          <a:lstStyle/>
          <a:p>
            <a:pPr indent="0" marL="0">
              <a:buNone/>
            </a:pPr>
            <a:r>
              <a:rPr lang="en-US" sz="1300" i="1" dirty="0">
                <a:solidFill>
                  <a:schemeClr val="accent6"/>
                </a:solidFill>
              </a:rPr>
              <a:t>Nhiều handler cùng sự kiện submit là hợp lệ trong jQuery, không xung đột với initCartForms().</a:t>
            </a:r>
            <a:endParaRPr lang="en-US" sz="13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Thống kê: top click, phễu chuyển đổi</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ode panel UserEventRepository (JPQL)"/>
          <p:cNvSpPr/>
          <p:nvPr/>
        </p:nvSpPr>
        <p:spPr>
          <a:xfrm>
            <a:off x="548640" y="1463040"/>
            <a:ext cx="5394960" cy="2468880"/>
          </a:xfrm>
          <a:prstGeom prst="roundRect">
            <a:avLst>
              <a:gd name="adj" fmla="val 2963"/>
            </a:avLst>
          </a:prstGeom>
          <a:solidFill>
            <a:schemeClr val="tx2"/>
          </a:solidFill>
          <a:ln w="12700">
            <a:solidFill>
              <a:schemeClr val="tx2"/>
            </a:solidFill>
            <a:prstDash val="solid"/>
          </a:ln>
        </p:spPr>
      </p:sp>
      <p:sp>
        <p:nvSpPr>
          <p:cNvPr id="6" name="Text 3"/>
          <p:cNvSpPr txBox="1"/>
          <p:nvPr/>
        </p:nvSpPr>
        <p:spPr>
          <a:xfrm>
            <a:off x="731520" y="1554480"/>
            <a:ext cx="5029200" cy="237744"/>
          </a:xfrm>
          <a:prstGeom prst="rect">
            <a:avLst/>
          </a:prstGeom>
          <a:noFill/>
          <a:ln/>
        </p:spPr>
        <p:txBody>
          <a:bodyPr wrap="square" lIns="0" tIns="0" rIns="0" bIns="0" rtlCol="0" anchor="ctr"/>
          <a:lstStyle/>
          <a:p>
            <a:pPr indent="0" marL="0">
              <a:buNone/>
            </a:pPr>
            <a:r>
              <a:rPr lang="en-US" sz="1100" b="1" dirty="0">
                <a:solidFill>
                  <a:schemeClr val="accent5"/>
                </a:solidFill>
              </a:rPr>
              <a:t>UserEventRepository (JPQL)</a:t>
            </a:r>
            <a:endParaRPr lang="en-US" sz="1100" dirty="0"/>
          </a:p>
        </p:txBody>
      </p:sp>
      <p:sp>
        <p:nvSpPr>
          <p:cNvPr id="7" name="Code UserEventRepository (JPQL)"/>
          <p:cNvSpPr txBox="1"/>
          <p:nvPr/>
        </p:nvSpPr>
        <p:spPr>
          <a:xfrm>
            <a:off x="731520" y="1847088"/>
            <a:ext cx="5029200" cy="2011680"/>
          </a:xfrm>
          <a:prstGeom prst="rect">
            <a:avLst/>
          </a:prstGeom>
          <a:noFill/>
          <a:ln/>
        </p:spPr>
        <p:txBody>
          <a:bodyPr wrap="square" lIns="0" tIns="0" rIns="0" bIns="0" rtlCol="0" anchor="t"/>
          <a:lstStyle/>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@Query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F4B393"/>
                </a:solidFill>
                <a:latin typeface="Courier New" pitchFamily="34" charset="0"/>
                <a:ea typeface="Courier New" pitchFamily="34" charset="-122"/>
                <a:cs typeface="Courier New" pitchFamily="34" charset="-120"/>
              </a:rPr>
              <a:t>    SELECT t.name, COUNT(e) FROM UserEvent e</a:t>
            </a:r>
            <a:endParaRPr lang="en-US" sz="1200" dirty="0"/>
          </a:p>
          <a:p>
            <a:pPr indent="0" marL="0">
              <a:lnSpc>
                <a:spcPts val="1400"/>
              </a:lnSpc>
              <a:buNone/>
            </a:pPr>
            <a:r>
              <a:rPr lang="en-US" sz="1200" dirty="0">
                <a:solidFill>
                  <a:srgbClr val="F4B393"/>
                </a:solidFill>
                <a:latin typeface="Courier New" pitchFamily="34" charset="0"/>
                <a:ea typeface="Courier New" pitchFamily="34" charset="-122"/>
                <a:cs typeface="Courier New" pitchFamily="34" charset="-120"/>
              </a:rPr>
              <a:t>    JOIN Tour t ON t.id = e.tourId</a:t>
            </a:r>
            <a:endParaRPr lang="en-US" sz="1200" dirty="0"/>
          </a:p>
          <a:p>
            <a:pPr indent="0" marL="0">
              <a:lnSpc>
                <a:spcPts val="1400"/>
              </a:lnSpc>
              <a:buNone/>
            </a:pPr>
            <a:r>
              <a:rPr lang="en-US" sz="1200" dirty="0">
                <a:solidFill>
                  <a:srgbClr val="F4B393"/>
                </a:solidFill>
                <a:latin typeface="Courier New" pitchFamily="34" charset="0"/>
                <a:ea typeface="Courier New" pitchFamily="34" charset="-122"/>
                <a:cs typeface="Courier New" pitchFamily="34" charset="-120"/>
              </a:rPr>
              <a:t>    WHERE e.type = :type AND e.occurredAt &gt;= :from</a:t>
            </a:r>
            <a:endParaRPr lang="en-US" sz="1200" dirty="0"/>
          </a:p>
          <a:p>
            <a:pPr indent="0" marL="0">
              <a:lnSpc>
                <a:spcPts val="1400"/>
              </a:lnSpc>
              <a:buNone/>
            </a:pPr>
            <a:r>
              <a:rPr lang="en-US" sz="1200" dirty="0">
                <a:solidFill>
                  <a:srgbClr val="F4B393"/>
                </a:solidFill>
                <a:latin typeface="Courier New" pitchFamily="34" charset="0"/>
                <a:ea typeface="Courier New" pitchFamily="34" charset="-122"/>
                <a:cs typeface="Courier New" pitchFamily="34" charset="-120"/>
              </a:rPr>
              <a:t>    GROUP BY t.name ORDER BY COUNT(e) DESC</a:t>
            </a:r>
            <a:endParaRPr lang="en-US" sz="1200" dirty="0"/>
          </a:p>
          <a:p>
            <a:pPr indent="0" marL="0">
              <a:lnSpc>
                <a:spcPts val="1400"/>
              </a:lnSpc>
              <a:buNone/>
            </a:pPr>
            <a:r>
              <a:rPr lang="en-US" sz="1200" dirty="0">
                <a:solidFill>
                  <a:srgbClr val="F4B393"/>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&lt;Object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topTours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@Param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"type"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EventType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type</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@Param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"from"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LocalDateTime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from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Pageable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8" name="Code panel Phễu theo tour (T-SQL)"/>
          <p:cNvSpPr/>
          <p:nvPr/>
        </p:nvSpPr>
        <p:spPr>
          <a:xfrm>
            <a:off x="6080760" y="1463040"/>
            <a:ext cx="5559552" cy="2697480"/>
          </a:xfrm>
          <a:prstGeom prst="roundRect">
            <a:avLst>
              <a:gd name="adj" fmla="val 2712"/>
            </a:avLst>
          </a:prstGeom>
          <a:solidFill>
            <a:schemeClr val="tx2"/>
          </a:solidFill>
          <a:ln w="12700">
            <a:solidFill>
              <a:schemeClr val="tx2"/>
            </a:solidFill>
            <a:prstDash val="solid"/>
          </a:ln>
        </p:spPr>
      </p:sp>
      <p:sp>
        <p:nvSpPr>
          <p:cNvPr id="9" name="Text 6"/>
          <p:cNvSpPr txBox="1"/>
          <p:nvPr/>
        </p:nvSpPr>
        <p:spPr>
          <a:xfrm>
            <a:off x="6263640" y="1554480"/>
            <a:ext cx="5193792" cy="237744"/>
          </a:xfrm>
          <a:prstGeom prst="rect">
            <a:avLst/>
          </a:prstGeom>
          <a:noFill/>
          <a:ln/>
        </p:spPr>
        <p:txBody>
          <a:bodyPr wrap="square" lIns="0" tIns="0" rIns="0" bIns="0" rtlCol="0" anchor="ctr"/>
          <a:lstStyle/>
          <a:p>
            <a:pPr indent="0" marL="0">
              <a:buNone/>
            </a:pPr>
            <a:r>
              <a:rPr lang="en-US" sz="1100" b="1" dirty="0">
                <a:solidFill>
                  <a:schemeClr val="accent5"/>
                </a:solidFill>
              </a:rPr>
              <a:t>Phễu theo tour (T-SQL)</a:t>
            </a:r>
            <a:endParaRPr lang="en-US" sz="1100" dirty="0"/>
          </a:p>
        </p:txBody>
      </p:sp>
      <p:sp>
        <p:nvSpPr>
          <p:cNvPr id="10" name="Code Phễu theo tour (T-SQL)"/>
          <p:cNvSpPr txBox="1"/>
          <p:nvPr/>
        </p:nvSpPr>
        <p:spPr>
          <a:xfrm>
            <a:off x="6263640" y="1847088"/>
            <a:ext cx="5193792" cy="2240280"/>
          </a:xfrm>
          <a:prstGeom prst="rect">
            <a:avLst/>
          </a:prstGeom>
          <a:noFill/>
          <a:ln/>
        </p:spPr>
        <p:txBody>
          <a:bodyPr wrap="square" lIns="0" tIns="0" rIns="0" bIns="0" rtlCol="0" anchor="t"/>
          <a:lstStyle/>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SELECT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name</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IIF</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e</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event_type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'VIEW'</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1</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0</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AS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views</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IIF</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e</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event_type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'CLICK'</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1</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0</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AS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clicks</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SUM</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IIF</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e</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event_type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F4B393"/>
                </a:solidFill>
                <a:latin typeface="Courier New" pitchFamily="34" charset="0"/>
                <a:ea typeface="Courier New" pitchFamily="34" charset="-122"/>
                <a:cs typeface="Courier New" pitchFamily="34" charset="-120"/>
              </a:rPr>
              <a:t>'ADD_TO_CART'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1</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0</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AS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carts</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SELECT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COUNT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0A458"/>
                </a:solidFill>
                <a:latin typeface="Courier New" pitchFamily="34" charset="0"/>
                <a:ea typeface="Courier New" pitchFamily="34" charset="-122"/>
                <a:cs typeface="Courier New" pitchFamily="34" charset="-120"/>
              </a:rPr>
              <a:t>DISTINCT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bd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booking_id</a:t>
            </a:r>
            <a:r>
              <a:rPr lang="en-US" sz="1100" dirty="0">
                <a:solidFill>
                  <a:srgbClr val="EFF7F5"/>
                </a:solidFill>
                <a:latin typeface="Courier New" pitchFamily="34" charset="0"/>
                <a:ea typeface="Courier New" pitchFamily="34" charset="-122"/>
                <a:cs typeface="Courier New" pitchFamily="34" charset="-120"/>
              </a:rPr>
              <a:t>)</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FROM</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booking_details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bd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JOIN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tour_departures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ON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id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bd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departure_id</a:t>
            </a:r>
            <a:endParaRPr lang="en-US" sz="1100" dirty="0"/>
          </a:p>
          <a:p>
            <a:pPr indent="0" marL="0">
              <a:lnSpc>
                <a:spcPts val="1300"/>
              </a:lnSpc>
              <a:buNone/>
            </a:pP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WHERE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tour_id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id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AS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orders</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FROM</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tours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JOIN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user_events</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e</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ON</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e</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tour_id</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id</a:t>
            </a:r>
            <a:endParaRPr lang="en-US" sz="1100" dirty="0"/>
          </a:p>
          <a:p>
            <a:pPr indent="0" marL="0">
              <a:lnSpc>
                <a:spcPts val="1300"/>
              </a:lnSpc>
              <a:buNone/>
            </a:pPr>
            <a:r>
              <a:rPr lang="en-US" sz="1100" dirty="0">
                <a:solidFill>
                  <a:srgbClr val="E0A458"/>
                </a:solidFill>
                <a:latin typeface="Courier New" pitchFamily="34" charset="0"/>
                <a:ea typeface="Courier New" pitchFamily="34" charset="-122"/>
                <a:cs typeface="Courier New" pitchFamily="34" charset="-120"/>
              </a:rPr>
              <a:t>GROUP</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0A458"/>
                </a:solidFill>
                <a:latin typeface="Courier New" pitchFamily="34" charset="0"/>
                <a:ea typeface="Courier New" pitchFamily="34" charset="-122"/>
                <a:cs typeface="Courier New" pitchFamily="34" charset="-120"/>
              </a:rPr>
              <a:t>BY</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id</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 </a:t>
            </a:r>
            <a:r>
              <a:rPr lang="en-US" sz="1100" dirty="0">
                <a:solidFill>
                  <a:srgbClr val="EFF7F5"/>
                </a:solidFill>
                <a:latin typeface="Courier New" pitchFamily="34" charset="0"/>
                <a:ea typeface="Courier New" pitchFamily="34" charset="-122"/>
                <a:cs typeface="Courier New" pitchFamily="34" charset="-120"/>
              </a:rPr>
              <a:t>t</a:t>
            </a:r>
            <a:r>
              <a:rPr lang="en-US" sz="1100" dirty="0">
                <a:solidFill>
                  <a:srgbClr val="EFF7F5"/>
                </a:solidFill>
                <a:latin typeface="Courier New" pitchFamily="34" charset="0"/>
                <a:ea typeface="Courier New" pitchFamily="34" charset="-122"/>
                <a:cs typeface="Courier New" pitchFamily="34" charset="-120"/>
              </a:rPr>
              <a:t>.</a:t>
            </a:r>
            <a:r>
              <a:rPr lang="en-US" sz="1100" dirty="0">
                <a:solidFill>
                  <a:srgbClr val="EFF7F5"/>
                </a:solidFill>
                <a:latin typeface="Courier New" pitchFamily="34" charset="0"/>
                <a:ea typeface="Courier New" pitchFamily="34" charset="-122"/>
                <a:cs typeface="Courier New" pitchFamily="34" charset="-120"/>
              </a:rPr>
              <a:t>name</a:t>
            </a:r>
            <a:r>
              <a:rPr lang="en-US" sz="1100" dirty="0">
                <a:solidFill>
                  <a:srgbClr val="EFF7F5"/>
                </a:solidFill>
                <a:latin typeface="Courier New" pitchFamily="34" charset="0"/>
                <a:ea typeface="Courier New" pitchFamily="34" charset="-122"/>
                <a:cs typeface="Courier New" pitchFamily="34" charset="-120"/>
              </a:rPr>
              <a:t>;</a:t>
            </a:r>
            <a:endParaRPr lang="en-US" sz="1100" dirty="0"/>
          </a:p>
        </p:txBody>
      </p:sp>
      <p:sp>
        <p:nvSpPr>
          <p:cNvPr id="11" name="Card"/>
          <p:cNvSpPr/>
          <p:nvPr/>
        </p:nvSpPr>
        <p:spPr>
          <a:xfrm>
            <a:off x="548640" y="4114800"/>
            <a:ext cx="5394960" cy="603504"/>
          </a:xfrm>
          <a:prstGeom prst="roundRect">
            <a:avLst>
              <a:gd name="adj" fmla="val 15152"/>
            </a:avLst>
          </a:prstGeom>
          <a:solidFill>
            <a:schemeClr val="bg2"/>
          </a:solidFill>
          <a:ln w="12700">
            <a:solidFill>
              <a:schemeClr val="bg2"/>
            </a:solidFill>
            <a:prstDash val="solid"/>
          </a:ln>
        </p:spPr>
      </p:sp>
      <p:sp>
        <p:nvSpPr>
          <p:cNvPr id="12" name="Text 9"/>
          <p:cNvSpPr txBox="1"/>
          <p:nvPr/>
        </p:nvSpPr>
        <p:spPr>
          <a:xfrm>
            <a:off x="731520" y="4114800"/>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Top click / xem</a:t>
            </a:r>
            <a:endParaRPr lang="en-US" sz="1300" dirty="0"/>
          </a:p>
        </p:txBody>
      </p:sp>
      <p:sp>
        <p:nvSpPr>
          <p:cNvPr id="13" name="Text 10"/>
          <p:cNvSpPr txBox="1"/>
          <p:nvPr/>
        </p:nvSpPr>
        <p:spPr>
          <a:xfrm>
            <a:off x="2468880" y="4114800"/>
            <a:ext cx="3200400" cy="603504"/>
          </a:xfrm>
          <a:prstGeom prst="rect">
            <a:avLst/>
          </a:prstGeom>
          <a:noFill/>
          <a:ln/>
        </p:spPr>
        <p:txBody>
          <a:bodyPr wrap="square" lIns="0" tIns="0" rIns="0" bIns="0" rtlCol="0" anchor="ctr"/>
          <a:lstStyle/>
          <a:p>
            <a:pPr indent="0" marL="0">
              <a:buNone/>
            </a:pPr>
            <a:r>
              <a:rPr lang="en-US" sz="1300" dirty="0">
                <a:solidFill>
                  <a:schemeClr val="tx1"/>
                </a:solidFill>
              </a:rPr>
              <a:t>topTours(CLICK | VIEW, 30 ngày)</a:t>
            </a:r>
            <a:endParaRPr lang="en-US" sz="1300" dirty="0"/>
          </a:p>
        </p:txBody>
      </p:sp>
      <p:sp>
        <p:nvSpPr>
          <p:cNvPr id="14" name="Card"/>
          <p:cNvSpPr/>
          <p:nvPr/>
        </p:nvSpPr>
        <p:spPr>
          <a:xfrm>
            <a:off x="548640" y="4828032"/>
            <a:ext cx="5394960" cy="603504"/>
          </a:xfrm>
          <a:prstGeom prst="roundRect">
            <a:avLst>
              <a:gd name="adj" fmla="val 15152"/>
            </a:avLst>
          </a:prstGeom>
          <a:solidFill>
            <a:schemeClr val="bg2"/>
          </a:solidFill>
          <a:ln w="12700">
            <a:solidFill>
              <a:schemeClr val="bg2"/>
            </a:solidFill>
            <a:prstDash val="solid"/>
          </a:ln>
        </p:spPr>
      </p:sp>
      <p:sp>
        <p:nvSpPr>
          <p:cNvPr id="15" name="Text 12"/>
          <p:cNvSpPr txBox="1"/>
          <p:nvPr/>
        </p:nvSpPr>
        <p:spPr>
          <a:xfrm>
            <a:off x="731520" y="4828032"/>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Đặt nhiều nhất</a:t>
            </a:r>
            <a:endParaRPr lang="en-US" sz="1300" dirty="0"/>
          </a:p>
        </p:txBody>
      </p:sp>
      <p:sp>
        <p:nvSpPr>
          <p:cNvPr id="16" name="Text 13"/>
          <p:cNvSpPr txBox="1"/>
          <p:nvPr/>
        </p:nvSpPr>
        <p:spPr>
          <a:xfrm>
            <a:off x="2468880" y="4828032"/>
            <a:ext cx="3200400" cy="603504"/>
          </a:xfrm>
          <a:prstGeom prst="rect">
            <a:avLst/>
          </a:prstGeom>
          <a:noFill/>
          <a:ln/>
        </p:spPr>
        <p:txBody>
          <a:bodyPr wrap="square" lIns="0" tIns="0" rIns="0" bIns="0" rtlCol="0" anchor="ctr"/>
          <a:lstStyle/>
          <a:p>
            <a:pPr indent="0" marL="0">
              <a:buNone/>
            </a:pPr>
            <a:r>
              <a:rPr lang="en-US" sz="1300" dirty="0">
                <a:solidFill>
                  <a:schemeClr val="tx1"/>
                </a:solidFill>
              </a:rPr>
              <a:t>findTopSellingTours() — đã có sẵn</a:t>
            </a:r>
            <a:endParaRPr lang="en-US" sz="1300" dirty="0"/>
          </a:p>
        </p:txBody>
      </p:sp>
      <p:sp>
        <p:nvSpPr>
          <p:cNvPr id="17" name="Card"/>
          <p:cNvSpPr/>
          <p:nvPr/>
        </p:nvSpPr>
        <p:spPr>
          <a:xfrm>
            <a:off x="548640" y="5541264"/>
            <a:ext cx="5394960" cy="603504"/>
          </a:xfrm>
          <a:prstGeom prst="roundRect">
            <a:avLst>
              <a:gd name="adj" fmla="val 15152"/>
            </a:avLst>
          </a:prstGeom>
          <a:solidFill>
            <a:schemeClr val="bg2"/>
          </a:solidFill>
          <a:ln w="12700">
            <a:solidFill>
              <a:schemeClr val="bg2"/>
            </a:solidFill>
            <a:prstDash val="solid"/>
          </a:ln>
        </p:spPr>
      </p:sp>
      <p:sp>
        <p:nvSpPr>
          <p:cNvPr id="18" name="Text 15"/>
          <p:cNvSpPr txBox="1"/>
          <p:nvPr/>
        </p:nvSpPr>
        <p:spPr>
          <a:xfrm>
            <a:off x="731520" y="5541264"/>
            <a:ext cx="1737360" cy="603504"/>
          </a:xfrm>
          <a:prstGeom prst="rect">
            <a:avLst/>
          </a:prstGeom>
          <a:noFill/>
          <a:ln/>
        </p:spPr>
        <p:txBody>
          <a:bodyPr wrap="square" lIns="0" tIns="0" rIns="0" bIns="0" rtlCol="0" anchor="ctr"/>
          <a:lstStyle/>
          <a:p>
            <a:pPr indent="0" marL="0">
              <a:buNone/>
            </a:pPr>
            <a:r>
              <a:rPr lang="en-US" sz="1300" b="1" dirty="0">
                <a:solidFill>
                  <a:schemeClr val="accent1"/>
                </a:solidFill>
              </a:rPr>
              <a:t>Tỉ lệ chuyển đổi</a:t>
            </a:r>
            <a:endParaRPr lang="en-US" sz="1300" dirty="0"/>
          </a:p>
        </p:txBody>
      </p:sp>
      <p:sp>
        <p:nvSpPr>
          <p:cNvPr id="19" name="Text 16"/>
          <p:cNvSpPr txBox="1"/>
          <p:nvPr/>
        </p:nvSpPr>
        <p:spPr>
          <a:xfrm>
            <a:off x="2468880" y="5541264"/>
            <a:ext cx="3200400" cy="603504"/>
          </a:xfrm>
          <a:prstGeom prst="rect">
            <a:avLst/>
          </a:prstGeom>
          <a:noFill/>
          <a:ln/>
        </p:spPr>
        <p:txBody>
          <a:bodyPr wrap="square" lIns="0" tIns="0" rIns="0" bIns="0" rtlCol="0" anchor="ctr"/>
          <a:lstStyle/>
          <a:p>
            <a:pPr indent="0" marL="0">
              <a:buNone/>
            </a:pPr>
            <a:r>
              <a:rPr lang="en-US" sz="1300" dirty="0">
                <a:solidFill>
                  <a:schemeClr val="tx1"/>
                </a:solidFill>
              </a:rPr>
              <a:t>carts / views · orders / carts</a:t>
            </a:r>
            <a:endParaRPr lang="en-US" sz="1300" dirty="0"/>
          </a:p>
        </p:txBody>
      </p:sp>
      <p:sp>
        <p:nvSpPr>
          <p:cNvPr id="20" name="Text 17"/>
          <p:cNvSpPr txBox="1"/>
          <p:nvPr/>
        </p:nvSpPr>
        <p:spPr>
          <a:xfrm>
            <a:off x="6080760" y="4389120"/>
            <a:ext cx="5559552" cy="640080"/>
          </a:xfrm>
          <a:prstGeom prst="rect">
            <a:avLst/>
          </a:prstGeom>
          <a:noFill/>
          <a:ln/>
        </p:spPr>
        <p:txBody>
          <a:bodyPr wrap="square" lIns="0" tIns="0" rIns="0" bIns="0" rtlCol="0" anchor="t"/>
          <a:lstStyle/>
          <a:p>
            <a:pPr indent="0" marL="0">
              <a:buNone/>
            </a:pPr>
            <a:r>
              <a:rPr lang="en-US" sz="1400" i="1" dirty="0">
                <a:solidFill>
                  <a:schemeClr val="accent6"/>
                </a:solidFill>
              </a:rPr>
              <a:t>Đưa ra ngoài qua StatisticsService → GET /api/admin/stats/top-clicked (AdminStatsApiController).</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Ý tưởng dashboard hành vi người dùng</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7498080" cy="4800600"/>
          </a:xfrm>
          <a:prstGeom prst="roundRect">
            <a:avLst>
              <a:gd name="adj" fmla="val 1905"/>
            </a:avLst>
          </a:prstGeom>
          <a:solidFill>
            <a:srgbClr val="FFFFFF"/>
          </a:solidFill>
          <a:ln w="15875">
            <a:solidFill>
              <a:schemeClr val="accent5"/>
            </a:solidFill>
            <a:prstDash val="solid"/>
          </a:ln>
        </p:spPr>
      </p:sp>
      <p:sp>
        <p:nvSpPr>
          <p:cNvPr id="6" name="Card"/>
          <p:cNvSpPr/>
          <p:nvPr/>
        </p:nvSpPr>
        <p:spPr>
          <a:xfrm>
            <a:off x="548640" y="1463040"/>
            <a:ext cx="7498080" cy="384048"/>
          </a:xfrm>
          <a:prstGeom prst="roundRect">
            <a:avLst>
              <a:gd name="adj" fmla="val 23810"/>
            </a:avLst>
          </a:prstGeom>
          <a:solidFill>
            <a:schemeClr val="bg2"/>
          </a:solidFill>
          <a:ln w="12700">
            <a:solidFill>
              <a:schemeClr val="bg2"/>
            </a:solidFill>
            <a:prstDash val="solid"/>
          </a:ln>
        </p:spPr>
      </p:sp>
      <p:sp>
        <p:nvSpPr>
          <p:cNvPr id="7" name="Window dot"/>
          <p:cNvSpPr/>
          <p:nvPr/>
        </p:nvSpPr>
        <p:spPr>
          <a:xfrm>
            <a:off x="713232" y="1591056"/>
            <a:ext cx="128016" cy="128016"/>
          </a:xfrm>
          <a:prstGeom prst="ellipse">
            <a:avLst/>
          </a:prstGeom>
          <a:solidFill>
            <a:schemeClr val="accent3"/>
          </a:solidFill>
          <a:ln w="12700">
            <a:solidFill>
              <a:srgbClr val="FFFFFF"/>
            </a:solidFill>
            <a:prstDash val="solid"/>
          </a:ln>
        </p:spPr>
      </p:sp>
      <p:sp>
        <p:nvSpPr>
          <p:cNvPr id="8" name="Window dot"/>
          <p:cNvSpPr/>
          <p:nvPr/>
        </p:nvSpPr>
        <p:spPr>
          <a:xfrm>
            <a:off x="914400" y="1591056"/>
            <a:ext cx="128016" cy="128016"/>
          </a:xfrm>
          <a:prstGeom prst="ellipse">
            <a:avLst/>
          </a:prstGeom>
          <a:solidFill>
            <a:schemeClr val="accent2"/>
          </a:solidFill>
          <a:ln w="12700">
            <a:solidFill>
              <a:srgbClr val="FFFFFF"/>
            </a:solidFill>
            <a:prstDash val="solid"/>
          </a:ln>
        </p:spPr>
      </p:sp>
      <p:sp>
        <p:nvSpPr>
          <p:cNvPr id="9" name="Window dot"/>
          <p:cNvSpPr/>
          <p:nvPr/>
        </p:nvSpPr>
        <p:spPr>
          <a:xfrm>
            <a:off x="1115568" y="1591056"/>
            <a:ext cx="128016" cy="128016"/>
          </a:xfrm>
          <a:prstGeom prst="ellipse">
            <a:avLst/>
          </a:prstGeom>
          <a:solidFill>
            <a:schemeClr val="accent4"/>
          </a:solidFill>
          <a:ln w="12700">
            <a:solidFill>
              <a:srgbClr val="FFFFFF"/>
            </a:solidFill>
            <a:prstDash val="solid"/>
          </a:ln>
        </p:spPr>
      </p:sp>
      <p:sp>
        <p:nvSpPr>
          <p:cNvPr id="10" name="Text 7"/>
          <p:cNvSpPr txBox="1"/>
          <p:nvPr/>
        </p:nvSpPr>
        <p:spPr>
          <a:xfrm>
            <a:off x="1463040" y="1463040"/>
            <a:ext cx="5486400" cy="384048"/>
          </a:xfrm>
          <a:prstGeom prst="rect">
            <a:avLst/>
          </a:prstGeom>
          <a:noFill/>
          <a:ln/>
        </p:spPr>
        <p:txBody>
          <a:bodyPr wrap="square" lIns="0" tIns="0" rIns="0" bIns="0" rtlCol="0" anchor="ctr"/>
          <a:lstStyle/>
          <a:p>
            <a:pPr indent="0" marL="0">
              <a:buNone/>
            </a:pPr>
            <a:r>
              <a:rPr lang="en-US" sz="1200" dirty="0">
                <a:solidFill>
                  <a:schemeClr val="accent6"/>
                </a:solidFill>
              </a:rPr>
              <a:t>Admin · Phân tích hành vi (minh hoạ)</a:t>
            </a:r>
            <a:endParaRPr lang="en-US" sz="1200" dirty="0"/>
          </a:p>
        </p:txBody>
      </p:sp>
      <p:sp>
        <p:nvSpPr>
          <p:cNvPr id="11" name="Card"/>
          <p:cNvSpPr/>
          <p:nvPr/>
        </p:nvSpPr>
        <p:spPr>
          <a:xfrm>
            <a:off x="731520" y="2011680"/>
            <a:ext cx="1691640" cy="914400"/>
          </a:xfrm>
          <a:prstGeom prst="roundRect">
            <a:avLst>
              <a:gd name="adj" fmla="val 10000"/>
            </a:avLst>
          </a:prstGeom>
          <a:solidFill>
            <a:schemeClr val="bg2"/>
          </a:solidFill>
          <a:ln w="12700">
            <a:solidFill>
              <a:schemeClr val="bg2"/>
            </a:solidFill>
            <a:prstDash val="solid"/>
          </a:ln>
        </p:spPr>
      </p:sp>
      <p:sp>
        <p:nvSpPr>
          <p:cNvPr id="12" name="Text 9"/>
          <p:cNvSpPr txBox="1"/>
          <p:nvPr/>
        </p:nvSpPr>
        <p:spPr>
          <a:xfrm>
            <a:off x="731520"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1.000</a:t>
            </a:r>
            <a:endParaRPr lang="en-US" sz="2400" dirty="0"/>
          </a:p>
        </p:txBody>
      </p:sp>
      <p:sp>
        <p:nvSpPr>
          <p:cNvPr id="13" name="Text 10"/>
          <p:cNvSpPr txBox="1"/>
          <p:nvPr/>
        </p:nvSpPr>
        <p:spPr>
          <a:xfrm>
            <a:off x="731520"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Lượt xem</a:t>
            </a:r>
            <a:endParaRPr lang="en-US" sz="1200" dirty="0"/>
          </a:p>
        </p:txBody>
      </p:sp>
      <p:sp>
        <p:nvSpPr>
          <p:cNvPr id="14" name="Card"/>
          <p:cNvSpPr/>
          <p:nvPr/>
        </p:nvSpPr>
        <p:spPr>
          <a:xfrm>
            <a:off x="2542032" y="2011680"/>
            <a:ext cx="1691640" cy="914400"/>
          </a:xfrm>
          <a:prstGeom prst="roundRect">
            <a:avLst>
              <a:gd name="adj" fmla="val 10000"/>
            </a:avLst>
          </a:prstGeom>
          <a:solidFill>
            <a:schemeClr val="bg2"/>
          </a:solidFill>
          <a:ln w="12700">
            <a:solidFill>
              <a:schemeClr val="bg2"/>
            </a:solidFill>
            <a:prstDash val="solid"/>
          </a:ln>
        </p:spPr>
      </p:sp>
      <p:sp>
        <p:nvSpPr>
          <p:cNvPr id="15" name="Text 12"/>
          <p:cNvSpPr txBox="1"/>
          <p:nvPr/>
        </p:nvSpPr>
        <p:spPr>
          <a:xfrm>
            <a:off x="2542032"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42%</a:t>
            </a:r>
            <a:endParaRPr lang="en-US" sz="2400" dirty="0"/>
          </a:p>
        </p:txBody>
      </p:sp>
      <p:sp>
        <p:nvSpPr>
          <p:cNvPr id="16" name="Text 13"/>
          <p:cNvSpPr txBox="1"/>
          <p:nvPr/>
        </p:nvSpPr>
        <p:spPr>
          <a:xfrm>
            <a:off x="2542032"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CTR</a:t>
            </a:r>
            <a:endParaRPr lang="en-US" sz="1200" dirty="0"/>
          </a:p>
        </p:txBody>
      </p:sp>
      <p:sp>
        <p:nvSpPr>
          <p:cNvPr id="17" name="Card"/>
          <p:cNvSpPr/>
          <p:nvPr/>
        </p:nvSpPr>
        <p:spPr>
          <a:xfrm>
            <a:off x="4352544" y="2011680"/>
            <a:ext cx="1691640" cy="914400"/>
          </a:xfrm>
          <a:prstGeom prst="roundRect">
            <a:avLst>
              <a:gd name="adj" fmla="val 10000"/>
            </a:avLst>
          </a:prstGeom>
          <a:solidFill>
            <a:schemeClr val="bg2"/>
          </a:solidFill>
          <a:ln w="12700">
            <a:solidFill>
              <a:schemeClr val="bg2"/>
            </a:solidFill>
            <a:prstDash val="solid"/>
          </a:ln>
        </p:spPr>
      </p:sp>
      <p:sp>
        <p:nvSpPr>
          <p:cNvPr id="18" name="Text 15"/>
          <p:cNvSpPr txBox="1"/>
          <p:nvPr/>
        </p:nvSpPr>
        <p:spPr>
          <a:xfrm>
            <a:off x="4352544"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31%</a:t>
            </a:r>
            <a:endParaRPr lang="en-US" sz="2400" dirty="0"/>
          </a:p>
        </p:txBody>
      </p:sp>
      <p:sp>
        <p:nvSpPr>
          <p:cNvPr id="19" name="Text 16"/>
          <p:cNvSpPr txBox="1"/>
          <p:nvPr/>
        </p:nvSpPr>
        <p:spPr>
          <a:xfrm>
            <a:off x="4352544"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Click → giỏ</a:t>
            </a:r>
            <a:endParaRPr lang="en-US" sz="1200" dirty="0"/>
          </a:p>
        </p:txBody>
      </p:sp>
      <p:sp>
        <p:nvSpPr>
          <p:cNvPr id="20" name="Card"/>
          <p:cNvSpPr/>
          <p:nvPr/>
        </p:nvSpPr>
        <p:spPr>
          <a:xfrm>
            <a:off x="6163056" y="2011680"/>
            <a:ext cx="1691640" cy="914400"/>
          </a:xfrm>
          <a:prstGeom prst="roundRect">
            <a:avLst>
              <a:gd name="adj" fmla="val 10000"/>
            </a:avLst>
          </a:prstGeom>
          <a:solidFill>
            <a:schemeClr val="accent2"/>
          </a:solidFill>
          <a:ln w="12700">
            <a:solidFill>
              <a:schemeClr val="accent2"/>
            </a:solidFill>
            <a:prstDash val="solid"/>
          </a:ln>
        </p:spPr>
      </p:sp>
      <p:sp>
        <p:nvSpPr>
          <p:cNvPr id="21" name="Text 18"/>
          <p:cNvSpPr txBox="1"/>
          <p:nvPr/>
        </p:nvSpPr>
        <p:spPr>
          <a:xfrm>
            <a:off x="6163056" y="2057400"/>
            <a:ext cx="1691640" cy="502920"/>
          </a:xfrm>
          <a:prstGeom prst="rect">
            <a:avLst/>
          </a:prstGeom>
          <a:noFill/>
          <a:ln/>
        </p:spPr>
        <p:txBody>
          <a:bodyPr wrap="square" lIns="0" tIns="0" rIns="0" bIns="0" rtlCol="0" anchor="ctr"/>
          <a:lstStyle/>
          <a:p>
            <a:pPr algn="ctr" indent="0" marL="0">
              <a:buNone/>
            </a:pPr>
            <a:r>
              <a:rPr lang="en-US" sz="2400" b="1" dirty="0">
                <a:solidFill>
                  <a:schemeClr val="tx2"/>
                </a:solidFill>
              </a:rPr>
              <a:t>29%</a:t>
            </a:r>
            <a:endParaRPr lang="en-US" sz="2400" dirty="0"/>
          </a:p>
        </p:txBody>
      </p:sp>
      <p:sp>
        <p:nvSpPr>
          <p:cNvPr id="22" name="Text 19"/>
          <p:cNvSpPr txBox="1"/>
          <p:nvPr/>
        </p:nvSpPr>
        <p:spPr>
          <a:xfrm>
            <a:off x="6163056" y="2560320"/>
            <a:ext cx="1691640" cy="274320"/>
          </a:xfrm>
          <a:prstGeom prst="rect">
            <a:avLst/>
          </a:prstGeom>
          <a:noFill/>
          <a:ln/>
        </p:spPr>
        <p:txBody>
          <a:bodyPr wrap="square" lIns="0" tIns="0" rIns="0" bIns="0" rtlCol="0" anchor="t"/>
          <a:lstStyle/>
          <a:p>
            <a:pPr algn="ctr" indent="0" marL="0">
              <a:buNone/>
            </a:pPr>
            <a:r>
              <a:rPr lang="en-US" sz="1200" dirty="0">
                <a:solidFill>
                  <a:schemeClr val="tx1"/>
                </a:solidFill>
              </a:rPr>
              <a:t>Giỏ → đơn</a:t>
            </a:r>
            <a:endParaRPr lang="en-US" sz="1200" dirty="0"/>
          </a:p>
        </p:txBody>
      </p:sp>
      <p:graphicFrame>
        <p:nvGraphicFramePr>
          <p:cNvPr id="23" name="Chart 0" descr=""/>
          <p:cNvGraphicFramePr/>
          <p:nvPr/>
        </p:nvGraphicFramePr>
        <p:xfrm>
          <a:off x="731520" y="3108960"/>
          <a:ext cx="4206240" cy="3017520"/>
        </p:xfrm>
        <a:graphic xmlns:a="http://schemas.openxmlformats.org/drawingml/2006/main">
          <a:graphicData uri="http://schemas.openxmlformats.org/drawingml/2006/chart">
            <c:chart xmlns:c="http://schemas.openxmlformats.org/drawingml/2006/chart" r:id="rId1"/>
          </a:graphicData>
        </a:graphic>
      </p:graphicFrame>
      <p:sp>
        <p:nvSpPr>
          <p:cNvPr id="24" name="Text 20"/>
          <p:cNvSpPr txBox="1"/>
          <p:nvPr/>
        </p:nvSpPr>
        <p:spPr>
          <a:xfrm>
            <a:off x="5074920" y="3154680"/>
            <a:ext cx="2834640" cy="274320"/>
          </a:xfrm>
          <a:prstGeom prst="rect">
            <a:avLst/>
          </a:prstGeom>
          <a:noFill/>
          <a:ln/>
        </p:spPr>
        <p:txBody>
          <a:bodyPr wrap="square" lIns="0" tIns="0" rIns="0" bIns="0" rtlCol="0" anchor="t"/>
          <a:lstStyle/>
          <a:p>
            <a:pPr indent="0" marL="0">
              <a:buNone/>
            </a:pPr>
            <a:r>
              <a:rPr lang="en-US" sz="1300" b="1" dirty="0">
                <a:solidFill>
                  <a:schemeClr val="tx2"/>
                </a:solidFill>
              </a:rPr>
              <a:t>Top tour được click</a:t>
            </a:r>
            <a:endParaRPr lang="en-US" sz="1300" dirty="0"/>
          </a:p>
        </p:txBody>
      </p:sp>
      <p:graphicFrame>
        <p:nvGraphicFramePr>
          <p:cNvPr id="32" name="Table 0"/>
          <p:cNvGraphicFramePr>
            <a:graphicFrameLocks noGrp="1"/>
          </p:cNvGraphicFramePr>
          <p:nvPr>
            <p:extLst>
              <p:ext uri="{D42A27DB-BD31-4B8C-83A1-F6EECF244321}">
                <p14:modId xmlns:p14="http://schemas.microsoft.com/office/powerpoint/2010/main" val="1579011935"/>
              </p:ext>
            </p:extLst>
          </p:nvPr>
        </p:nvGraphicFramePr>
        <p:xfrm>
          <a:off x="5074920" y="3474720"/>
          <a:ext cx="2834640" cy="914400"/>
        </p:xfrm>
        <a:graphic>
          <a:graphicData uri="http://schemas.openxmlformats.org/drawingml/2006/table">
            <a:tbl>
              <a:tblPr/>
              <a:tblGrid>
                <a:gridCol w="2011680"/>
                <a:gridCol w="822960"/>
              </a:tblGrid>
              <a:tr h="457200">
                <a:tc>
                  <a:txBody>
                    <a:bodyPr/>
                    <a:lstStyle/>
                    <a:p>
                      <a:pPr indent="0" marL="0">
                        <a:buNone/>
                      </a:pPr>
                      <a:r>
                        <a:rPr lang="en-US" sz="1200" b="1" dirty="0">
                          <a:solidFill>
                            <a:srgbClr val="FFFFFF"/>
                          </a:solidFill>
                        </a:rPr>
                        <a:t>Tour</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c>
                  <a:txBody>
                    <a:bodyPr/>
                    <a:lstStyle/>
                    <a:p>
                      <a:pPr indent="0" marL="0">
                        <a:buNone/>
                      </a:pPr>
                      <a:r>
                        <a:rPr lang="en-US" sz="1200" b="1" dirty="0">
                          <a:solidFill>
                            <a:srgbClr val="FFFFFF"/>
                          </a:solidFill>
                        </a:rPr>
                        <a:t>Click</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1B7A6B"/>
                    </a:solidFill>
                  </a:tcPr>
                </a:tc>
              </a:tr>
              <a:tr h="457200">
                <a:tc>
                  <a:txBody>
                    <a:bodyPr/>
                    <a:lstStyle/>
                    <a:p>
                      <a:pPr indent="0" marL="0">
                        <a:buNone/>
                      </a:pPr>
                      <a:r>
                        <a:rPr lang="en-US" sz="1200" dirty="0">
                          <a:solidFill>
                            <a:srgbClr val="14201E"/>
                          </a:solidFill>
                        </a:rPr>
                        <a:t>Tour A</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128</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457200">
                <a:tc>
                  <a:txBody>
                    <a:bodyPr/>
                    <a:lstStyle/>
                    <a:p>
                      <a:pPr indent="0" marL="0">
                        <a:buNone/>
                      </a:pPr>
                      <a:r>
                        <a:rPr lang="en-US" sz="1200" dirty="0">
                          <a:solidFill>
                            <a:srgbClr val="14201E"/>
                          </a:solidFill>
                        </a:rPr>
                        <a:t>Tour B</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96</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r h="457200">
                <a:tc>
                  <a:txBody>
                    <a:bodyPr/>
                    <a:lstStyle/>
                    <a:p>
                      <a:pPr indent="0" marL="0">
                        <a:buNone/>
                      </a:pPr>
                      <a:r>
                        <a:rPr lang="en-US" sz="1200" dirty="0">
                          <a:solidFill>
                            <a:srgbClr val="14201E"/>
                          </a:solidFill>
                        </a:rPr>
                        <a:t>Tour C</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c>
                  <a:txBody>
                    <a:bodyPr/>
                    <a:lstStyle/>
                    <a:p>
                      <a:pPr indent="0" marL="0">
                        <a:buNone/>
                      </a:pPr>
                      <a:r>
                        <a:rPr lang="en-US" sz="1200" dirty="0">
                          <a:solidFill>
                            <a:srgbClr val="14201E"/>
                          </a:solidFill>
                        </a:rPr>
                        <a:t>74</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EFF7F5"/>
                    </a:solidFill>
                  </a:tcPr>
                </a:tc>
              </a:tr>
              <a:tr h="457200">
                <a:tc>
                  <a:txBody>
                    <a:bodyPr/>
                    <a:lstStyle/>
                    <a:p>
                      <a:pPr indent="0" marL="0">
                        <a:buNone/>
                      </a:pPr>
                      <a:r>
                        <a:rPr lang="en-US" sz="1200" dirty="0">
                          <a:solidFill>
                            <a:srgbClr val="14201E"/>
                          </a:solidFill>
                        </a:rPr>
                        <a:t>Tour D</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c>
                  <a:txBody>
                    <a:bodyPr/>
                    <a:lstStyle/>
                    <a:p>
                      <a:pPr indent="0" marL="0">
                        <a:buNone/>
                      </a:pPr>
                      <a:r>
                        <a:rPr lang="en-US" sz="1200" dirty="0">
                          <a:solidFill>
                            <a:srgbClr val="14201E"/>
                          </a:solidFill>
                        </a:rPr>
                        <a:t>51</a:t>
                      </a:r>
                      <a:endParaRPr lang="en-US" sz="1200" dirty="0"/>
                    </a:p>
                  </a:txBody>
                  <a:tcPr marL="91440" marR="91440" marT="45720" marB="45720" anchor="ctr">
                    <a:lnL w="9525" cap="flat" cmpd="sng" algn="ctr">
                      <a:solidFill>
                        <a:srgbClr val="CFE3DE"/>
                      </a:solidFill>
                      <a:prstDash val="solid"/>
                      <a:round/>
                      <a:headEnd type="none" w="med" len="med"/>
                      <a:tailEnd type="none" w="med" len="med"/>
                    </a:lnL>
                    <a:lnR w="9525" cap="flat" cmpd="sng" algn="ctr">
                      <a:solidFill>
                        <a:srgbClr val="CFE3DE"/>
                      </a:solidFill>
                      <a:prstDash val="solid"/>
                      <a:round/>
                      <a:headEnd type="none" w="med" len="med"/>
                      <a:tailEnd type="none" w="med" len="med"/>
                    </a:lnR>
                    <a:lnT w="9525" cap="flat" cmpd="sng" algn="ctr">
                      <a:solidFill>
                        <a:srgbClr val="CFE3DE"/>
                      </a:solidFill>
                      <a:prstDash val="solid"/>
                      <a:round/>
                      <a:headEnd type="none" w="med" len="med"/>
                      <a:tailEnd type="none" w="med" len="med"/>
                    </a:lnT>
                    <a:lnB w="9525" cap="flat" cmpd="sng" algn="ctr">
                      <a:solidFill>
                        <a:srgbClr val="CFE3DE"/>
                      </a:solidFill>
                      <a:prstDash val="solid"/>
                      <a:round/>
                      <a:headEnd type="none" w="med" len="med"/>
                      <a:tailEnd type="none" w="med" len="med"/>
                    </a:lnB>
                    <a:solidFill>
                      <a:srgbClr val="FFFFFF"/>
                    </a:solidFill>
                  </a:tcPr>
                </a:tc>
              </a:tr>
            </a:tbl>
          </a:graphicData>
        </a:graphic>
      </p:graphicFrame>
      <p:sp>
        <p:nvSpPr>
          <p:cNvPr id="26" name="Card"/>
          <p:cNvSpPr/>
          <p:nvPr/>
        </p:nvSpPr>
        <p:spPr>
          <a:xfrm>
            <a:off x="8229600" y="1463040"/>
            <a:ext cx="3410712" cy="4800600"/>
          </a:xfrm>
          <a:prstGeom prst="roundRect">
            <a:avLst>
              <a:gd name="adj" fmla="val 2681"/>
            </a:avLst>
          </a:prstGeom>
          <a:solidFill>
            <a:schemeClr val="tx2"/>
          </a:solidFill>
          <a:ln w="12700">
            <a:solidFill>
              <a:schemeClr val="tx2"/>
            </a:solidFill>
            <a:prstDash val="solid"/>
          </a:ln>
        </p:spPr>
      </p:sp>
      <p:sp>
        <p:nvSpPr>
          <p:cNvPr id="27" name="Text 22"/>
          <p:cNvSpPr txBox="1"/>
          <p:nvPr/>
        </p:nvSpPr>
        <p:spPr>
          <a:xfrm>
            <a:off x="8458200" y="1645920"/>
            <a:ext cx="3017520" cy="320040"/>
          </a:xfrm>
          <a:prstGeom prst="rect">
            <a:avLst/>
          </a:prstGeom>
          <a:noFill/>
          <a:ln/>
        </p:spPr>
        <p:txBody>
          <a:bodyPr wrap="square" lIns="0" tIns="0" rIns="0" bIns="0" rtlCol="0" anchor="t"/>
          <a:lstStyle/>
          <a:p>
            <a:pPr indent="0" marL="0">
              <a:buNone/>
            </a:pPr>
            <a:r>
              <a:rPr lang="en-US" sz="1600" b="1" dirty="0">
                <a:solidFill>
                  <a:schemeClr val="accent2"/>
                </a:solidFill>
              </a:rPr>
              <a:t>Cách triển khai</a:t>
            </a:r>
            <a:endParaRPr lang="en-US" sz="1600" dirty="0"/>
          </a:p>
        </p:txBody>
      </p:sp>
      <p:sp>
        <p:nvSpPr>
          <p:cNvPr id="28" name="Text 23"/>
          <p:cNvSpPr txBox="1"/>
          <p:nvPr/>
        </p:nvSpPr>
        <p:spPr>
          <a:xfrm>
            <a:off x="8458200" y="2148840"/>
            <a:ext cx="3017520" cy="3200400"/>
          </a:xfrm>
          <a:prstGeom prst="rect">
            <a:avLst/>
          </a:prstGeom>
          <a:noFill/>
          <a:ln/>
        </p:spPr>
        <p:txBody>
          <a:bodyPr wrap="square" lIns="0" tIns="0" rIns="0" bIns="0" rtlCol="0" anchor="t"/>
          <a:lstStyle/>
          <a:p>
            <a:pPr marL="177800" indent="-177800">
              <a:spcAft>
                <a:spcPts val="1200"/>
              </a:spcAft>
              <a:buSzPct val="100000"/>
              <a:buChar char="•"/>
            </a:pPr>
            <a:r>
              <a:rPr lang="en-US" sz="1500" dirty="0">
                <a:solidFill>
                  <a:schemeClr val="bg1"/>
                </a:solidFill>
              </a:rPr>
              <a:t>Endpoint mới trong AdminStatsApiController (ADMIN)</a:t>
            </a:r>
            <a:endParaRPr lang="en-US" sz="1500" dirty="0"/>
          </a:p>
          <a:p>
            <a:pPr marL="177800" indent="-177800">
              <a:spcAft>
                <a:spcPts val="1200"/>
              </a:spcAft>
              <a:buSzPct val="100000"/>
              <a:buChar char="•"/>
            </a:pPr>
            <a:r>
              <a:rPr lang="en-US" sz="1500" dirty="0">
                <a:solidFill>
                  <a:schemeClr val="bg1"/>
                </a:solidFill>
              </a:rPr>
              <a:t>Khối mới trong admin/dashboard.html</a:t>
            </a:r>
            <a:endParaRPr lang="en-US" sz="1500" dirty="0"/>
          </a:p>
          <a:p>
            <a:pPr marL="177800" indent="-177800">
              <a:spcAft>
                <a:spcPts val="1200"/>
              </a:spcAft>
              <a:buSzPct val="100000"/>
              <a:buChar char="•"/>
            </a:pPr>
            <a:r>
              <a:rPr lang="en-US" sz="1500" dirty="0">
                <a:solidFill>
                  <a:schemeClr val="bg1"/>
                </a:solidFill>
              </a:rPr>
              <a:t>Vẽ bằng CSS như biểu đồ doanh thu hiện có (percentOfMax)</a:t>
            </a:r>
            <a:endParaRPr lang="en-US" sz="1500" dirty="0"/>
          </a:p>
          <a:p>
            <a:pPr marL="177800" indent="-177800">
              <a:spcAft>
                <a:spcPts val="1200"/>
              </a:spcAft>
              <a:buSzPct val="100000"/>
              <a:buChar char="•"/>
            </a:pPr>
            <a:r>
              <a:rPr lang="en-US" sz="1500" dirty="0">
                <a:solidFill>
                  <a:schemeClr val="bg1"/>
                </a:solidFill>
              </a:rPr>
              <a:t>Bộ lọc khoảng thời gian: 7 / 30 / 90 ngày</a:t>
            </a:r>
            <a:endParaRPr lang="en-US" sz="1500" dirty="0"/>
          </a:p>
        </p:txBody>
      </p:sp>
      <p:sp>
        <p:nvSpPr>
          <p:cNvPr id="29" name="Text 24"/>
          <p:cNvSpPr txBox="1"/>
          <p:nvPr/>
        </p:nvSpPr>
        <p:spPr>
          <a:xfrm>
            <a:off x="8458200" y="5715000"/>
            <a:ext cx="3017520" cy="411480"/>
          </a:xfrm>
          <a:prstGeom prst="rect">
            <a:avLst/>
          </a:prstGeom>
          <a:noFill/>
          <a:ln/>
        </p:spPr>
        <p:txBody>
          <a:bodyPr wrap="square" lIns="0" tIns="0" rIns="0" bIns="0" rtlCol="0" anchor="t"/>
          <a:lstStyle/>
          <a:p>
            <a:pPr indent="0" marL="0">
              <a:buNone/>
            </a:pPr>
            <a:r>
              <a:rPr lang="en-US" sz="1200" i="1" dirty="0">
                <a:solidFill>
                  <a:schemeClr val="accent5"/>
                </a:solidFill>
              </a:rPr>
              <a:t>Số liệu trên slide chỉ là minh hoạ.</a:t>
            </a:r>
            <a:endParaRPr lang="en-US" sz="12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Gợi ý tour: hành vi kết hợp vector</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Card"/>
          <p:cNvSpPr/>
          <p:nvPr/>
        </p:nvSpPr>
        <p:spPr>
          <a:xfrm>
            <a:off x="548640" y="1463040"/>
            <a:ext cx="2468880" cy="1417320"/>
          </a:xfrm>
          <a:prstGeom prst="roundRect">
            <a:avLst>
              <a:gd name="adj" fmla="val 6452"/>
            </a:avLst>
          </a:prstGeom>
          <a:solidFill>
            <a:schemeClr val="bg2"/>
          </a:solidFill>
          <a:ln w="12700">
            <a:solidFill>
              <a:schemeClr val="bg2"/>
            </a:solidFill>
            <a:prstDash val="solid"/>
          </a:ln>
        </p:spPr>
      </p:sp>
      <p:sp>
        <p:nvSpPr>
          <p:cNvPr id="6" name="Text 3"/>
          <p:cNvSpPr txBox="1"/>
          <p:nvPr/>
        </p:nvSpPr>
        <p:spPr>
          <a:xfrm>
            <a:off x="68580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1. Thu tín hiệu</a:t>
            </a:r>
            <a:endParaRPr lang="en-US" sz="1400" dirty="0"/>
          </a:p>
        </p:txBody>
      </p:sp>
      <p:sp>
        <p:nvSpPr>
          <p:cNvPr id="7" name="Text 4"/>
          <p:cNvSpPr txBox="1"/>
          <p:nvPr/>
        </p:nvSpPr>
        <p:spPr>
          <a:xfrm>
            <a:off x="68580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user_events của user hoặc session: VIEW=1, CLICK=2, CART=3</a:t>
            </a:r>
            <a:endParaRPr lang="en-US" sz="1250" dirty="0"/>
          </a:p>
        </p:txBody>
      </p:sp>
      <p:sp>
        <p:nvSpPr>
          <p:cNvPr id="8" name="Arrow"/>
          <p:cNvSpPr/>
          <p:nvPr/>
        </p:nvSpPr>
        <p:spPr>
          <a:xfrm>
            <a:off x="3035808" y="2167128"/>
            <a:ext cx="283464" cy="0"/>
          </a:xfrm>
          <a:prstGeom prst="line">
            <a:avLst/>
          </a:prstGeom>
          <a:noFill/>
          <a:ln w="22225">
            <a:solidFill>
              <a:schemeClr val="accent6"/>
            </a:solidFill>
            <a:prstDash val="solid"/>
            <a:tailEnd type="triangle"/>
          </a:ln>
        </p:spPr>
      </p:sp>
      <p:sp>
        <p:nvSpPr>
          <p:cNvPr id="9" name="Card"/>
          <p:cNvSpPr/>
          <p:nvPr/>
        </p:nvSpPr>
        <p:spPr>
          <a:xfrm>
            <a:off x="3337560" y="1463040"/>
            <a:ext cx="2468880" cy="1417320"/>
          </a:xfrm>
          <a:prstGeom prst="roundRect">
            <a:avLst>
              <a:gd name="adj" fmla="val 6452"/>
            </a:avLst>
          </a:prstGeom>
          <a:solidFill>
            <a:schemeClr val="bg2"/>
          </a:solidFill>
          <a:ln w="12700">
            <a:solidFill>
              <a:schemeClr val="bg2"/>
            </a:solidFill>
            <a:prstDash val="solid"/>
          </a:ln>
        </p:spPr>
      </p:sp>
      <p:sp>
        <p:nvSpPr>
          <p:cNvPr id="10" name="Text 7"/>
          <p:cNvSpPr txBox="1"/>
          <p:nvPr/>
        </p:nvSpPr>
        <p:spPr>
          <a:xfrm>
            <a:off x="347472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2. Hồ sơ sở thích</a:t>
            </a:r>
            <a:endParaRPr lang="en-US" sz="1400" dirty="0"/>
          </a:p>
        </p:txBody>
      </p:sp>
      <p:sp>
        <p:nvSpPr>
          <p:cNvPr id="11" name="Text 8"/>
          <p:cNvSpPr txBox="1"/>
          <p:nvPr/>
        </p:nvSpPr>
        <p:spPr>
          <a:xfrm>
            <a:off x="347472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Ghép mô tả 3 tour điểm cao nhất thành một truy vấn</a:t>
            </a:r>
            <a:endParaRPr lang="en-US" sz="1250" dirty="0"/>
          </a:p>
        </p:txBody>
      </p:sp>
      <p:sp>
        <p:nvSpPr>
          <p:cNvPr id="12" name="Arrow"/>
          <p:cNvSpPr/>
          <p:nvPr/>
        </p:nvSpPr>
        <p:spPr>
          <a:xfrm>
            <a:off x="5824728" y="2167128"/>
            <a:ext cx="283464" cy="0"/>
          </a:xfrm>
          <a:prstGeom prst="line">
            <a:avLst/>
          </a:prstGeom>
          <a:noFill/>
          <a:ln w="22225">
            <a:solidFill>
              <a:schemeClr val="accent6"/>
            </a:solidFill>
            <a:prstDash val="solid"/>
            <a:tailEnd type="triangle"/>
          </a:ln>
        </p:spPr>
      </p:sp>
      <p:sp>
        <p:nvSpPr>
          <p:cNvPr id="13" name="Card"/>
          <p:cNvSpPr/>
          <p:nvPr/>
        </p:nvSpPr>
        <p:spPr>
          <a:xfrm>
            <a:off x="6126480" y="1463040"/>
            <a:ext cx="2468880" cy="1417320"/>
          </a:xfrm>
          <a:prstGeom prst="roundRect">
            <a:avLst>
              <a:gd name="adj" fmla="val 6452"/>
            </a:avLst>
          </a:prstGeom>
          <a:solidFill>
            <a:schemeClr val="accent2"/>
          </a:solidFill>
          <a:ln w="12700">
            <a:solidFill>
              <a:schemeClr val="accent2"/>
            </a:solidFill>
            <a:prstDash val="solid"/>
          </a:ln>
        </p:spPr>
      </p:sp>
      <p:sp>
        <p:nvSpPr>
          <p:cNvPr id="14" name="Text 11"/>
          <p:cNvSpPr txBox="1"/>
          <p:nvPr/>
        </p:nvSpPr>
        <p:spPr>
          <a:xfrm>
            <a:off x="626364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3. Tìm tương tự</a:t>
            </a:r>
            <a:endParaRPr lang="en-US" sz="1400" dirty="0"/>
          </a:p>
        </p:txBody>
      </p:sp>
      <p:sp>
        <p:nvSpPr>
          <p:cNvPr id="15" name="Text 12"/>
          <p:cNvSpPr txBox="1"/>
          <p:nvPr/>
        </p:nvSpPr>
        <p:spPr>
          <a:xfrm>
            <a:off x="626364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similaritySearch, loại tour đã xem/đã đặt</a:t>
            </a:r>
            <a:endParaRPr lang="en-US" sz="1250" dirty="0"/>
          </a:p>
        </p:txBody>
      </p:sp>
      <p:sp>
        <p:nvSpPr>
          <p:cNvPr id="16" name="Arrow"/>
          <p:cNvSpPr/>
          <p:nvPr/>
        </p:nvSpPr>
        <p:spPr>
          <a:xfrm>
            <a:off x="8613648" y="2167128"/>
            <a:ext cx="283464" cy="0"/>
          </a:xfrm>
          <a:prstGeom prst="line">
            <a:avLst/>
          </a:prstGeom>
          <a:noFill/>
          <a:ln w="22225">
            <a:solidFill>
              <a:schemeClr val="accent6"/>
            </a:solidFill>
            <a:prstDash val="solid"/>
            <a:tailEnd type="triangle"/>
          </a:ln>
        </p:spPr>
      </p:sp>
      <p:sp>
        <p:nvSpPr>
          <p:cNvPr id="17" name="Card"/>
          <p:cNvSpPr/>
          <p:nvPr/>
        </p:nvSpPr>
        <p:spPr>
          <a:xfrm>
            <a:off x="8915400" y="1463040"/>
            <a:ext cx="2468880" cy="1417320"/>
          </a:xfrm>
          <a:prstGeom prst="roundRect">
            <a:avLst>
              <a:gd name="adj" fmla="val 6452"/>
            </a:avLst>
          </a:prstGeom>
          <a:solidFill>
            <a:schemeClr val="bg2"/>
          </a:solidFill>
          <a:ln w="12700">
            <a:solidFill>
              <a:schemeClr val="bg2"/>
            </a:solidFill>
            <a:prstDash val="solid"/>
          </a:ln>
        </p:spPr>
      </p:sp>
      <p:sp>
        <p:nvSpPr>
          <p:cNvPr id="18" name="Text 15"/>
          <p:cNvSpPr txBox="1"/>
          <p:nvPr/>
        </p:nvSpPr>
        <p:spPr>
          <a:xfrm>
            <a:off x="9052560" y="1554480"/>
            <a:ext cx="2194560" cy="320040"/>
          </a:xfrm>
          <a:prstGeom prst="rect">
            <a:avLst/>
          </a:prstGeom>
          <a:noFill/>
          <a:ln/>
        </p:spPr>
        <p:txBody>
          <a:bodyPr wrap="square" lIns="0" tIns="0" rIns="0" bIns="0" rtlCol="0" anchor="t"/>
          <a:lstStyle/>
          <a:p>
            <a:pPr indent="0" marL="0">
              <a:buNone/>
            </a:pPr>
            <a:r>
              <a:rPr lang="en-US" sz="1400" b="1" dirty="0">
                <a:solidFill>
                  <a:schemeClr val="tx2"/>
                </a:solidFill>
              </a:rPr>
              <a:t>4. Xếp hạng lại</a:t>
            </a:r>
            <a:endParaRPr lang="en-US" sz="1400" dirty="0"/>
          </a:p>
        </p:txBody>
      </p:sp>
      <p:sp>
        <p:nvSpPr>
          <p:cNvPr id="19" name="Text 16"/>
          <p:cNvSpPr txBox="1"/>
          <p:nvPr/>
        </p:nvSpPr>
        <p:spPr>
          <a:xfrm>
            <a:off x="9052560" y="1920240"/>
            <a:ext cx="2194560" cy="914400"/>
          </a:xfrm>
          <a:prstGeom prst="rect">
            <a:avLst/>
          </a:prstGeom>
          <a:noFill/>
          <a:ln/>
        </p:spPr>
        <p:txBody>
          <a:bodyPr wrap="square" lIns="0" tIns="0" rIns="0" bIns="0" rtlCol="0" anchor="t"/>
          <a:lstStyle/>
          <a:p>
            <a:pPr indent="0" marL="0">
              <a:buNone/>
            </a:pPr>
            <a:r>
              <a:rPr lang="en-US" sz="1250" dirty="0">
                <a:solidFill>
                  <a:schemeClr val="tx1"/>
                </a:solidFill>
              </a:rPr>
              <a:t>0.7 × độ giống + 0.3 × độ phổ biến</a:t>
            </a:r>
            <a:endParaRPr lang="en-US" sz="1250" dirty="0"/>
          </a:p>
        </p:txBody>
      </p:sp>
      <p:sp>
        <p:nvSpPr>
          <p:cNvPr id="20" name="Code panel RecommendationService.recommend()"/>
          <p:cNvSpPr/>
          <p:nvPr/>
        </p:nvSpPr>
        <p:spPr>
          <a:xfrm>
            <a:off x="548640" y="3108960"/>
            <a:ext cx="7223760" cy="2926080"/>
          </a:xfrm>
          <a:prstGeom prst="roundRect">
            <a:avLst>
              <a:gd name="adj" fmla="val 2500"/>
            </a:avLst>
          </a:prstGeom>
          <a:solidFill>
            <a:schemeClr val="tx2"/>
          </a:solidFill>
          <a:ln w="12700">
            <a:solidFill>
              <a:schemeClr val="tx2"/>
            </a:solidFill>
            <a:prstDash val="solid"/>
          </a:ln>
        </p:spPr>
      </p:sp>
      <p:sp>
        <p:nvSpPr>
          <p:cNvPr id="21" name="Text 18"/>
          <p:cNvSpPr txBox="1"/>
          <p:nvPr/>
        </p:nvSpPr>
        <p:spPr>
          <a:xfrm>
            <a:off x="731520" y="3200400"/>
            <a:ext cx="6858000" cy="237744"/>
          </a:xfrm>
          <a:prstGeom prst="rect">
            <a:avLst/>
          </a:prstGeom>
          <a:noFill/>
          <a:ln/>
        </p:spPr>
        <p:txBody>
          <a:bodyPr wrap="square" lIns="0" tIns="0" rIns="0" bIns="0" rtlCol="0" anchor="ctr"/>
          <a:lstStyle/>
          <a:p>
            <a:pPr indent="0" marL="0">
              <a:buNone/>
            </a:pPr>
            <a:r>
              <a:rPr lang="en-US" sz="1100" b="1" dirty="0">
                <a:solidFill>
                  <a:schemeClr val="accent5"/>
                </a:solidFill>
              </a:rPr>
              <a:t>RecommendationService.recommend()</a:t>
            </a:r>
            <a:endParaRPr lang="en-US" sz="1100" dirty="0"/>
          </a:p>
        </p:txBody>
      </p:sp>
      <p:sp>
        <p:nvSpPr>
          <p:cNvPr id="22" name="Code RecommendationService.recommend()"/>
          <p:cNvSpPr txBox="1"/>
          <p:nvPr/>
        </p:nvSpPr>
        <p:spPr>
          <a:xfrm>
            <a:off x="731520" y="3493008"/>
            <a:ext cx="6858000" cy="2468880"/>
          </a:xfrm>
          <a:prstGeom prst="rect">
            <a:avLst/>
          </a:prstGeom>
          <a:noFill/>
          <a:ln/>
        </p:spPr>
        <p:txBody>
          <a:bodyPr wrap="square" lIns="0" tIns="0" rIns="0" bIns="0" rtlCol="0" anchor="t"/>
          <a:lstStyle/>
          <a:p>
            <a:pPr indent="0" marL="0">
              <a:lnSpc>
                <a:spcPts val="1400"/>
              </a:lnSpc>
              <a:buNone/>
            </a:pPr>
            <a:r>
              <a:rPr lang="en-US" sz="1200" dirty="0">
                <a:solidFill>
                  <a:srgbClr val="E0A458"/>
                </a:solidFill>
                <a:latin typeface="Courier New" pitchFamily="34" charset="0"/>
                <a:ea typeface="Courier New" pitchFamily="34" charset="-122"/>
                <a:cs typeface="Courier New" pitchFamily="34" charset="-120"/>
              </a:rPr>
              <a:t>public</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&lt;Tour</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recommend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Long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userId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sessionId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List</a:t>
            </a:r>
            <a:r>
              <a:rPr lang="en-US" sz="1200" dirty="0">
                <a:solidFill>
                  <a:srgbClr val="EFF7F5"/>
                </a:solidFill>
                <a:latin typeface="Courier New" pitchFamily="34" charset="0"/>
                <a:ea typeface="Courier New" pitchFamily="34" charset="-122"/>
                <a:cs typeface="Courier New" pitchFamily="34" charset="-120"/>
              </a:rPr>
              <a:t>&lt;Long</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seen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eventRepo</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topWeightedTourIds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userId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sessionId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3</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if</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seen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isEmpty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tourService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findFeatured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i="1" dirty="0">
                <a:solidFill>
                  <a:srgbClr val="86B3A8"/>
                </a:solidFill>
                <a:latin typeface="Courier New" pitchFamily="34" charset="0"/>
                <a:ea typeface="Courier New" pitchFamily="34" charset="-122"/>
                <a:cs typeface="Courier New" pitchFamily="34" charset="-120"/>
              </a:rPr>
              <a:t>// cold start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String</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profile</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tourRepository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findAllById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seen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stream</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map</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getName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F4B393"/>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getShortDescription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collect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86C7BA"/>
                </a:solidFill>
                <a:latin typeface="Courier New" pitchFamily="34" charset="0"/>
                <a:ea typeface="Courier New" pitchFamily="34" charset="-122"/>
                <a:cs typeface="Courier New" pitchFamily="34" charset="-120"/>
              </a:rPr>
              <a:t>Collectors</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joining</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var</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req</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86C7BA"/>
                </a:solidFill>
                <a:latin typeface="Courier New" pitchFamily="34" charset="0"/>
                <a:ea typeface="Courier New" pitchFamily="34" charset="-122"/>
                <a:cs typeface="Courier New" pitchFamily="34" charset="-120"/>
              </a:rPr>
              <a:t>SearchRequest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builder</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query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profile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topK</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0A458"/>
                </a:solidFill>
                <a:latin typeface="Courier New" pitchFamily="34" charset="0"/>
                <a:ea typeface="Courier New" pitchFamily="34" charset="-122"/>
                <a:cs typeface="Courier New" pitchFamily="34" charset="-120"/>
              </a:rPr>
              <a:t>12</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filterExpression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F4B393"/>
                </a:solidFill>
                <a:latin typeface="Courier New" pitchFamily="34" charset="0"/>
                <a:ea typeface="Courier New" pitchFamily="34" charset="-122"/>
                <a:cs typeface="Courier New" pitchFamily="34" charset="-120"/>
              </a:rPr>
              <a:t>"tourId nin "</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seen</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build</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return</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FF7F5"/>
                </a:solidFill>
                <a:latin typeface="Courier New" pitchFamily="34" charset="0"/>
                <a:ea typeface="Courier New" pitchFamily="34" charset="-122"/>
                <a:cs typeface="Courier New" pitchFamily="34" charset="-120"/>
              </a:rPr>
              <a:t>rerankByPopularity</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vectorStore</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similaritySearch</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req</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 </a:t>
            </a:r>
            <a:r>
              <a:rPr lang="en-US" sz="1200" dirty="0">
                <a:solidFill>
                  <a:srgbClr val="E0A458"/>
                </a:solidFill>
                <a:latin typeface="Courier New" pitchFamily="34" charset="0"/>
                <a:ea typeface="Courier New" pitchFamily="34" charset="-122"/>
                <a:cs typeface="Courier New" pitchFamily="34" charset="-120"/>
              </a:rPr>
              <a:t>6</a:t>
            </a:r>
            <a:r>
              <a:rPr lang="en-US" sz="1200" dirty="0">
                <a:solidFill>
                  <a:srgbClr val="EFF7F5"/>
                </a:solidFill>
                <a:latin typeface="Courier New" pitchFamily="34" charset="0"/>
                <a:ea typeface="Courier New" pitchFamily="34" charset="-122"/>
                <a:cs typeface="Courier New" pitchFamily="34" charset="-120"/>
              </a:rPr>
              <a:t>)</a:t>
            </a:r>
            <a:r>
              <a:rPr lang="en-US" sz="1200" dirty="0">
                <a:solidFill>
                  <a:srgbClr val="EFF7F5"/>
                </a:solidFill>
                <a:latin typeface="Courier New" pitchFamily="34" charset="0"/>
                <a:ea typeface="Courier New" pitchFamily="34" charset="-122"/>
                <a:cs typeface="Courier New" pitchFamily="34" charset="-120"/>
              </a:rPr>
              <a:t>;</a:t>
            </a:r>
            <a:endParaRPr lang="en-US" sz="1200" dirty="0"/>
          </a:p>
          <a:p>
            <a:pPr indent="0" marL="0">
              <a:lnSpc>
                <a:spcPts val="1400"/>
              </a:lnSpc>
              <a:buNone/>
            </a:pPr>
            <a:r>
              <a:rPr lang="en-US" sz="1200" dirty="0">
                <a:solidFill>
                  <a:srgbClr val="EFF7F5"/>
                </a:solidFill>
                <a:latin typeface="Courier New" pitchFamily="34" charset="0"/>
                <a:ea typeface="Courier New" pitchFamily="34" charset="-122"/>
                <a:cs typeface="Courier New" pitchFamily="34" charset="-120"/>
              </a:rPr>
              <a:t>}</a:t>
            </a:r>
            <a:endParaRPr lang="en-US" sz="1200" dirty="0"/>
          </a:p>
        </p:txBody>
      </p:sp>
      <p:sp>
        <p:nvSpPr>
          <p:cNvPr id="23" name="Card"/>
          <p:cNvSpPr/>
          <p:nvPr/>
        </p:nvSpPr>
        <p:spPr>
          <a:xfrm>
            <a:off x="8001000" y="3108960"/>
            <a:ext cx="3639312" cy="2926080"/>
          </a:xfrm>
          <a:prstGeom prst="roundRect">
            <a:avLst>
              <a:gd name="adj" fmla="val 3125"/>
            </a:avLst>
          </a:prstGeom>
          <a:solidFill>
            <a:schemeClr val="bg2"/>
          </a:solidFill>
          <a:ln w="12700">
            <a:solidFill>
              <a:schemeClr val="bg2"/>
            </a:solidFill>
            <a:prstDash val="solid"/>
          </a:ln>
        </p:spPr>
      </p:sp>
      <p:sp>
        <p:nvSpPr>
          <p:cNvPr id="24" name="Text 21"/>
          <p:cNvSpPr txBox="1"/>
          <p:nvPr/>
        </p:nvSpPr>
        <p:spPr>
          <a:xfrm>
            <a:off x="8183880" y="3246120"/>
            <a:ext cx="3291840" cy="2743200"/>
          </a:xfrm>
          <a:prstGeom prst="rect">
            <a:avLst/>
          </a:prstGeom>
          <a:noFill/>
          <a:ln/>
        </p:spPr>
        <p:txBody>
          <a:bodyPr wrap="square" lIns="0" tIns="0" rIns="0" bIns="0" rtlCol="0" anchor="t"/>
          <a:lstStyle/>
          <a:p>
            <a:pPr marL="177800" indent="-177800">
              <a:spcAft>
                <a:spcPts val="900"/>
              </a:spcAft>
              <a:buSzPct val="100000"/>
              <a:buChar char="•"/>
            </a:pPr>
            <a:r>
              <a:rPr lang="en-US" sz="1400" b="1" dirty="0">
                <a:solidFill>
                  <a:schemeClr val="tx1"/>
                </a:solidFill>
              </a:rPr>
              <a:t>Cold start: </a:t>
            </a:r>
            <a:r>
              <a:rPr lang="en-US" sz="1400" dirty="0">
                <a:solidFill>
                  <a:schemeClr val="tx1"/>
                </a:solidFill>
              </a:rPr>
              <a:t>chưa có lịch sử → tour nổi bật (findFeatured)</a:t>
            </a:r>
            <a:endParaRPr lang="en-US" sz="1400" dirty="0"/>
          </a:p>
          <a:p>
            <a:pPr marL="177800" indent="-177800">
              <a:spcAft>
                <a:spcPts val="900"/>
              </a:spcAft>
              <a:buSzPct val="100000"/>
              <a:buChar char="•"/>
            </a:pPr>
            <a:r>
              <a:rPr lang="en-US" sz="1400" b="1" dirty="0">
                <a:solidFill>
                  <a:schemeClr val="tx1"/>
                </a:solidFill>
              </a:rPr>
              <a:t>Co-view: </a:t>
            </a:r>
            <a:r>
              <a:rPr lang="en-US" sz="1400" dirty="0">
                <a:solidFill>
                  <a:schemeClr val="tx1"/>
                </a:solidFill>
              </a:rPr>
              <a:t>“khách xem X cũng xem Y” bằng SQL join user_events theo session</a:t>
            </a:r>
            <a:endParaRPr lang="en-US" sz="1400" dirty="0"/>
          </a:p>
          <a:p>
            <a:pPr marL="177800" indent="-177800">
              <a:spcAft>
                <a:spcPts val="900"/>
              </a:spcAft>
              <a:buSzPct val="100000"/>
              <a:buChar char="•"/>
            </a:pPr>
            <a:r>
              <a:rPr lang="en-US" sz="1400" b="1" dirty="0">
                <a:solidFill>
                  <a:schemeClr val="tx1"/>
                </a:solidFill>
              </a:rPr>
              <a:t>Hiển thị: </a:t>
            </a:r>
            <a:r>
              <a:rPr lang="en-US" sz="1400" dirty="0">
                <a:solidFill>
                  <a:schemeClr val="tx1"/>
                </a:solidFill>
              </a:rPr>
              <a:t>khối “Gợi ý cho bạn” ở trang chủ và cuối trang chi tiết</a:t>
            </a:r>
            <a:endParaRPr lang="en-US" sz="14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Kịch bản demo</a:t>
            </a:r>
            <a:endParaRPr lang="en-US" sz="3200" dirty="0"/>
          </a:p>
        </p:txBody>
      </p:sp>
      <p:sp>
        <p:nvSpPr>
          <p:cNvPr id="3" name="Section chip"/>
          <p:cNvSpPr txBox="1"/>
          <p:nvPr/>
        </p:nvSpPr>
        <p:spPr>
          <a:xfrm>
            <a:off x="548640" y="246888"/>
            <a:ext cx="2459736" cy="274320"/>
          </a:xfrm>
          <a:prstGeom prst="roundRect">
            <a:avLst>
              <a:gd name="adj" fmla="val 50000"/>
            </a:avLst>
          </a:prstGeom>
          <a:solidFill>
            <a:schemeClr val="accent1"/>
          </a:solidFill>
          <a:ln/>
        </p:spPr>
        <p:txBody>
          <a:bodyPr wrap="square" lIns="0" tIns="0" rIns="0" bIns="0" rtlCol="0" anchor="ctr"/>
          <a:lstStyle/>
          <a:p>
            <a:pPr algn="ctr" indent="0" marL="0">
              <a:buNone/>
            </a:pPr>
            <a:r>
              <a:rPr lang="en-US" sz="1100" b="1" dirty="0">
                <a:solidFill>
                  <a:schemeClr val="bg1"/>
                </a:solidFill>
              </a:rPr>
              <a:t>PHẦN 2 · ÁP DỤNG VÀO DỰ ÁN</a:t>
            </a:r>
            <a:endParaRPr lang="en-US" sz="1100" dirty="0"/>
          </a:p>
        </p:txBody>
      </p:sp>
      <p:sp>
        <p:nvSpPr>
          <p:cNvPr id="5" name="Step number"/>
          <p:cNvSpPr txBox="1"/>
          <p:nvPr/>
        </p:nvSpPr>
        <p:spPr>
          <a:xfrm>
            <a:off x="548640" y="1572768"/>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1</a:t>
            </a:r>
            <a:endParaRPr lang="en-US" sz="1600" dirty="0"/>
          </a:p>
        </p:txBody>
      </p:sp>
      <p:sp>
        <p:nvSpPr>
          <p:cNvPr id="6" name="Text 3"/>
          <p:cNvSpPr txBox="1"/>
          <p:nvPr/>
        </p:nvSpPr>
        <p:spPr>
          <a:xfrm>
            <a:off x="1188720" y="1463040"/>
            <a:ext cx="5669280" cy="274320"/>
          </a:xfrm>
          <a:prstGeom prst="rect">
            <a:avLst/>
          </a:prstGeom>
          <a:noFill/>
          <a:ln/>
        </p:spPr>
        <p:txBody>
          <a:bodyPr wrap="square" lIns="0" tIns="0" rIns="0" bIns="0" rtlCol="0" anchor="t"/>
          <a:lstStyle/>
          <a:p>
            <a:pPr indent="0" marL="0">
              <a:buNone/>
            </a:pPr>
            <a:r>
              <a:rPr lang="en-US" sz="1500" b="1" dirty="0">
                <a:solidFill>
                  <a:schemeClr val="tx2"/>
                </a:solidFill>
              </a:rPr>
              <a:t>Chuẩn bị</a:t>
            </a:r>
            <a:endParaRPr lang="en-US" sz="1500" dirty="0"/>
          </a:p>
        </p:txBody>
      </p:sp>
      <p:sp>
        <p:nvSpPr>
          <p:cNvPr id="7" name="Text 4"/>
          <p:cNvSpPr txBox="1"/>
          <p:nvPr/>
        </p:nvSpPr>
        <p:spPr>
          <a:xfrm>
            <a:off x="1188720" y="1755648"/>
            <a:ext cx="5669280" cy="457200"/>
          </a:xfrm>
          <a:prstGeom prst="rect">
            <a:avLst/>
          </a:prstGeom>
          <a:noFill/>
          <a:ln/>
        </p:spPr>
        <p:txBody>
          <a:bodyPr wrap="square" lIns="0" tIns="0" rIns="0" bIns="0" rtlCol="0" anchor="t"/>
          <a:lstStyle/>
          <a:p>
            <a:pPr indent="0" marL="0">
              <a:buNone/>
            </a:pPr>
            <a:r>
              <a:rPr lang="en-US" sz="1300" dirty="0">
                <a:solidFill>
                  <a:schemeClr val="tx1"/>
                </a:solidFill>
              </a:rPr>
              <a:t>Bật Ollama + PgVector; admin bấm Reindex → 20 tour vào VectorStore</a:t>
            </a:r>
            <a:endParaRPr lang="en-US" sz="1300" dirty="0"/>
          </a:p>
        </p:txBody>
      </p:sp>
      <p:sp>
        <p:nvSpPr>
          <p:cNvPr id="8" name="Step number"/>
          <p:cNvSpPr txBox="1"/>
          <p:nvPr/>
        </p:nvSpPr>
        <p:spPr>
          <a:xfrm>
            <a:off x="548640" y="2359152"/>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2</a:t>
            </a:r>
            <a:endParaRPr lang="en-US" sz="1600" dirty="0"/>
          </a:p>
        </p:txBody>
      </p:sp>
      <p:sp>
        <p:nvSpPr>
          <p:cNvPr id="9" name="Text 6"/>
          <p:cNvSpPr txBox="1"/>
          <p:nvPr/>
        </p:nvSpPr>
        <p:spPr>
          <a:xfrm>
            <a:off x="1188720" y="2249424"/>
            <a:ext cx="5669280" cy="274320"/>
          </a:xfrm>
          <a:prstGeom prst="rect">
            <a:avLst/>
          </a:prstGeom>
          <a:noFill/>
          <a:ln/>
        </p:spPr>
        <p:txBody>
          <a:bodyPr wrap="square" lIns="0" tIns="0" rIns="0" bIns="0" rtlCol="0" anchor="t"/>
          <a:lstStyle/>
          <a:p>
            <a:pPr indent="0" marL="0">
              <a:buNone/>
            </a:pPr>
            <a:r>
              <a:rPr lang="en-US" sz="1500" b="1" dirty="0">
                <a:solidFill>
                  <a:schemeClr val="tx2"/>
                </a:solidFill>
              </a:rPr>
              <a:t>Tìm theo ý</a:t>
            </a:r>
            <a:endParaRPr lang="en-US" sz="1500" dirty="0"/>
          </a:p>
        </p:txBody>
      </p:sp>
      <p:sp>
        <p:nvSpPr>
          <p:cNvPr id="10" name="Text 7"/>
          <p:cNvSpPr txBox="1"/>
          <p:nvPr/>
        </p:nvSpPr>
        <p:spPr>
          <a:xfrm>
            <a:off x="1188720" y="2542032"/>
            <a:ext cx="5669280" cy="457200"/>
          </a:xfrm>
          <a:prstGeom prst="rect">
            <a:avLst/>
          </a:prstGeom>
          <a:noFill/>
          <a:ln/>
        </p:spPr>
        <p:txBody>
          <a:bodyPr wrap="square" lIns="0" tIns="0" rIns="0" bIns="0" rtlCol="0" anchor="t"/>
          <a:lstStyle/>
          <a:p>
            <a:pPr indent="0" marL="0">
              <a:buNone/>
            </a:pPr>
            <a:r>
              <a:rPr lang="en-US" sz="1300" dirty="0">
                <a:solidFill>
                  <a:schemeClr val="tx1"/>
                </a:solidFill>
              </a:rPr>
              <a:t>“biển đảo nghỉ dưỡng dưới 6 triệu” → /api/tours/semantic</a:t>
            </a:r>
            <a:endParaRPr lang="en-US" sz="1300" dirty="0"/>
          </a:p>
        </p:txBody>
      </p:sp>
      <p:sp>
        <p:nvSpPr>
          <p:cNvPr id="11" name="Step number"/>
          <p:cNvSpPr txBox="1"/>
          <p:nvPr/>
        </p:nvSpPr>
        <p:spPr>
          <a:xfrm>
            <a:off x="548640" y="3145536"/>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3</a:t>
            </a:r>
            <a:endParaRPr lang="en-US" sz="1600" dirty="0"/>
          </a:p>
        </p:txBody>
      </p:sp>
      <p:sp>
        <p:nvSpPr>
          <p:cNvPr id="12" name="Text 9"/>
          <p:cNvSpPr txBox="1"/>
          <p:nvPr/>
        </p:nvSpPr>
        <p:spPr>
          <a:xfrm>
            <a:off x="1188720" y="3035808"/>
            <a:ext cx="5669280" cy="274320"/>
          </a:xfrm>
          <a:prstGeom prst="rect">
            <a:avLst/>
          </a:prstGeom>
          <a:noFill/>
          <a:ln/>
        </p:spPr>
        <p:txBody>
          <a:bodyPr wrap="square" lIns="0" tIns="0" rIns="0" bIns="0" rtlCol="0" anchor="t"/>
          <a:lstStyle/>
          <a:p>
            <a:pPr indent="0" marL="0">
              <a:buNone/>
            </a:pPr>
            <a:r>
              <a:rPr lang="en-US" sz="1500" b="1" dirty="0">
                <a:solidFill>
                  <a:schemeClr val="tx2"/>
                </a:solidFill>
              </a:rPr>
              <a:t>Duyệt tour</a:t>
            </a:r>
            <a:endParaRPr lang="en-US" sz="1500" dirty="0"/>
          </a:p>
        </p:txBody>
      </p:sp>
      <p:sp>
        <p:nvSpPr>
          <p:cNvPr id="13" name="Text 10"/>
          <p:cNvSpPr txBox="1"/>
          <p:nvPr/>
        </p:nvSpPr>
        <p:spPr>
          <a:xfrm>
            <a:off x="1188720" y="3328416"/>
            <a:ext cx="5669280" cy="457200"/>
          </a:xfrm>
          <a:prstGeom prst="rect">
            <a:avLst/>
          </a:prstGeom>
          <a:noFill/>
          <a:ln/>
        </p:spPr>
        <p:txBody>
          <a:bodyPr wrap="square" lIns="0" tIns="0" rIns="0" bIns="0" rtlCol="0" anchor="t"/>
          <a:lstStyle/>
          <a:p>
            <a:pPr indent="0" marL="0">
              <a:buNone/>
            </a:pPr>
            <a:r>
              <a:rPr lang="en-US" sz="1300" dirty="0">
                <a:solidFill>
                  <a:schemeClr val="tx1"/>
                </a:solidFill>
              </a:rPr>
              <a:t>tracker ghi VIEW, CLICK, TIME_ON_PAGE vào user_events</a:t>
            </a:r>
            <a:endParaRPr lang="en-US" sz="1300" dirty="0"/>
          </a:p>
        </p:txBody>
      </p:sp>
      <p:sp>
        <p:nvSpPr>
          <p:cNvPr id="14" name="Step number"/>
          <p:cNvSpPr txBox="1"/>
          <p:nvPr/>
        </p:nvSpPr>
        <p:spPr>
          <a:xfrm>
            <a:off x="548640" y="3931920"/>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4</a:t>
            </a:r>
            <a:endParaRPr lang="en-US" sz="1600" dirty="0"/>
          </a:p>
        </p:txBody>
      </p:sp>
      <p:sp>
        <p:nvSpPr>
          <p:cNvPr id="15" name="Text 12"/>
          <p:cNvSpPr txBox="1"/>
          <p:nvPr/>
        </p:nvSpPr>
        <p:spPr>
          <a:xfrm>
            <a:off x="1188720" y="3822192"/>
            <a:ext cx="5669280" cy="274320"/>
          </a:xfrm>
          <a:prstGeom prst="rect">
            <a:avLst/>
          </a:prstGeom>
          <a:noFill/>
          <a:ln/>
        </p:spPr>
        <p:txBody>
          <a:bodyPr wrap="square" lIns="0" tIns="0" rIns="0" bIns="0" rtlCol="0" anchor="t"/>
          <a:lstStyle/>
          <a:p>
            <a:pPr indent="0" marL="0">
              <a:buNone/>
            </a:pPr>
            <a:r>
              <a:rPr lang="en-US" sz="1500" b="1" dirty="0">
                <a:solidFill>
                  <a:schemeClr val="tx2"/>
                </a:solidFill>
              </a:rPr>
              <a:t>Hỏi chatbot</a:t>
            </a:r>
            <a:endParaRPr lang="en-US" sz="1500" dirty="0"/>
          </a:p>
        </p:txBody>
      </p:sp>
      <p:sp>
        <p:nvSpPr>
          <p:cNvPr id="16" name="Text 13"/>
          <p:cNvSpPr txBox="1"/>
          <p:nvPr/>
        </p:nvSpPr>
        <p:spPr>
          <a:xfrm>
            <a:off x="1188720" y="4114800"/>
            <a:ext cx="5669280" cy="457200"/>
          </a:xfrm>
          <a:prstGeom prst="rect">
            <a:avLst/>
          </a:prstGeom>
          <a:noFill/>
          <a:ln/>
        </p:spPr>
        <p:txBody>
          <a:bodyPr wrap="square" lIns="0" tIns="0" rIns="0" bIns="0" rtlCol="0" anchor="t"/>
          <a:lstStyle/>
          <a:p>
            <a:pPr indent="0" marL="0">
              <a:buNone/>
            </a:pPr>
            <a:r>
              <a:rPr lang="en-US" sz="1300" dirty="0">
                <a:solidFill>
                  <a:schemeClr val="tx1"/>
                </a:solidFill>
              </a:rPr>
              <a:t>RAG + tool: tìm tour, thêm vào giỏ</a:t>
            </a:r>
            <a:endParaRPr lang="en-US" sz="1300" dirty="0"/>
          </a:p>
        </p:txBody>
      </p:sp>
      <p:sp>
        <p:nvSpPr>
          <p:cNvPr id="17" name="Step number"/>
          <p:cNvSpPr txBox="1"/>
          <p:nvPr/>
        </p:nvSpPr>
        <p:spPr>
          <a:xfrm>
            <a:off x="548640" y="4718304"/>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5</a:t>
            </a:r>
            <a:endParaRPr lang="en-US" sz="1600" dirty="0"/>
          </a:p>
        </p:txBody>
      </p:sp>
      <p:sp>
        <p:nvSpPr>
          <p:cNvPr id="18" name="Text 15"/>
          <p:cNvSpPr txBox="1"/>
          <p:nvPr/>
        </p:nvSpPr>
        <p:spPr>
          <a:xfrm>
            <a:off x="1188720" y="4608576"/>
            <a:ext cx="5669280" cy="274320"/>
          </a:xfrm>
          <a:prstGeom prst="rect">
            <a:avLst/>
          </a:prstGeom>
          <a:noFill/>
          <a:ln/>
        </p:spPr>
        <p:txBody>
          <a:bodyPr wrap="square" lIns="0" tIns="0" rIns="0" bIns="0" rtlCol="0" anchor="t"/>
          <a:lstStyle/>
          <a:p>
            <a:pPr indent="0" marL="0">
              <a:buNone/>
            </a:pPr>
            <a:r>
              <a:rPr lang="en-US" sz="1500" b="1" dirty="0">
                <a:solidFill>
                  <a:schemeClr val="tx2"/>
                </a:solidFill>
              </a:rPr>
              <a:t>Dashboard</a:t>
            </a:r>
            <a:endParaRPr lang="en-US" sz="1500" dirty="0"/>
          </a:p>
        </p:txBody>
      </p:sp>
      <p:sp>
        <p:nvSpPr>
          <p:cNvPr id="19" name="Text 16"/>
          <p:cNvSpPr txBox="1"/>
          <p:nvPr/>
        </p:nvSpPr>
        <p:spPr>
          <a:xfrm>
            <a:off x="1188720" y="4901184"/>
            <a:ext cx="5669280" cy="457200"/>
          </a:xfrm>
          <a:prstGeom prst="rect">
            <a:avLst/>
          </a:prstGeom>
          <a:noFill/>
          <a:ln/>
        </p:spPr>
        <p:txBody>
          <a:bodyPr wrap="square" lIns="0" tIns="0" rIns="0" bIns="0" rtlCol="0" anchor="t"/>
          <a:lstStyle/>
          <a:p>
            <a:pPr indent="0" marL="0">
              <a:buNone/>
            </a:pPr>
            <a:r>
              <a:rPr lang="en-US" sz="1300" dirty="0">
                <a:solidFill>
                  <a:schemeClr val="tx1"/>
                </a:solidFill>
              </a:rPr>
              <a:t>Funnel, top click, thời gian xem</a:t>
            </a:r>
            <a:endParaRPr lang="en-US" sz="1300" dirty="0"/>
          </a:p>
        </p:txBody>
      </p:sp>
      <p:sp>
        <p:nvSpPr>
          <p:cNvPr id="20" name="Step number"/>
          <p:cNvSpPr txBox="1"/>
          <p:nvPr/>
        </p:nvSpPr>
        <p:spPr>
          <a:xfrm>
            <a:off x="548640" y="5504688"/>
            <a:ext cx="457200" cy="457200"/>
          </a:xfrm>
          <a:prstGeom prst="ellipse">
            <a:avLst/>
          </a:prstGeom>
          <a:solidFill>
            <a:schemeClr val="accent2"/>
          </a:solidFill>
          <a:ln/>
        </p:spPr>
        <p:txBody>
          <a:bodyPr wrap="square" lIns="0" tIns="0" rIns="0" bIns="0" rtlCol="0" anchor="ctr"/>
          <a:lstStyle/>
          <a:p>
            <a:pPr algn="ctr" indent="0" marL="0">
              <a:buNone/>
            </a:pPr>
            <a:r>
              <a:rPr lang="en-US" sz="1600" b="1" dirty="0">
                <a:solidFill>
                  <a:schemeClr val="tx2"/>
                </a:solidFill>
              </a:rPr>
              <a:t>6</a:t>
            </a:r>
            <a:endParaRPr lang="en-US" sz="1600" dirty="0"/>
          </a:p>
        </p:txBody>
      </p:sp>
      <p:sp>
        <p:nvSpPr>
          <p:cNvPr id="21" name="Text 18"/>
          <p:cNvSpPr txBox="1"/>
          <p:nvPr/>
        </p:nvSpPr>
        <p:spPr>
          <a:xfrm>
            <a:off x="1188720" y="5394960"/>
            <a:ext cx="5669280" cy="274320"/>
          </a:xfrm>
          <a:prstGeom prst="rect">
            <a:avLst/>
          </a:prstGeom>
          <a:noFill/>
          <a:ln/>
        </p:spPr>
        <p:txBody>
          <a:bodyPr wrap="square" lIns="0" tIns="0" rIns="0" bIns="0" rtlCol="0" anchor="t"/>
          <a:lstStyle/>
          <a:p>
            <a:pPr indent="0" marL="0">
              <a:buNone/>
            </a:pPr>
            <a:r>
              <a:rPr lang="en-US" sz="1500" b="1" dirty="0">
                <a:solidFill>
                  <a:schemeClr val="tx2"/>
                </a:solidFill>
              </a:rPr>
              <a:t>Trang chủ</a:t>
            </a:r>
            <a:endParaRPr lang="en-US" sz="1500" dirty="0"/>
          </a:p>
        </p:txBody>
      </p:sp>
      <p:sp>
        <p:nvSpPr>
          <p:cNvPr id="22" name="Text 19"/>
          <p:cNvSpPr txBox="1"/>
          <p:nvPr/>
        </p:nvSpPr>
        <p:spPr>
          <a:xfrm>
            <a:off x="1188720" y="5687568"/>
            <a:ext cx="5669280" cy="457200"/>
          </a:xfrm>
          <a:prstGeom prst="rect">
            <a:avLst/>
          </a:prstGeom>
          <a:noFill/>
          <a:ln/>
        </p:spPr>
        <p:txBody>
          <a:bodyPr wrap="square" lIns="0" tIns="0" rIns="0" bIns="0" rtlCol="0" anchor="t"/>
          <a:lstStyle/>
          <a:p>
            <a:pPr indent="0" marL="0">
              <a:buNone/>
            </a:pPr>
            <a:r>
              <a:rPr lang="en-US" sz="1300" dirty="0">
                <a:solidFill>
                  <a:schemeClr val="tx1"/>
                </a:solidFill>
              </a:rPr>
              <a:t>“Gợi ý cho bạn” dựa trên hành vi vừa tạo</a:t>
            </a:r>
            <a:endParaRPr lang="en-US" sz="1300" dirty="0"/>
          </a:p>
        </p:txBody>
      </p:sp>
      <p:sp>
        <p:nvSpPr>
          <p:cNvPr id="23" name="Card"/>
          <p:cNvSpPr/>
          <p:nvPr/>
        </p:nvSpPr>
        <p:spPr>
          <a:xfrm>
            <a:off x="7132320" y="1463040"/>
            <a:ext cx="4507992" cy="4800600"/>
          </a:xfrm>
          <a:prstGeom prst="roundRect">
            <a:avLst>
              <a:gd name="adj" fmla="val 2028"/>
            </a:avLst>
          </a:prstGeom>
          <a:solidFill>
            <a:schemeClr val="bg2"/>
          </a:solidFill>
          <a:ln w="12700">
            <a:solidFill>
              <a:schemeClr val="bg2"/>
            </a:solidFill>
            <a:prstDash val="solid"/>
          </a:ln>
        </p:spPr>
      </p:sp>
      <p:sp>
        <p:nvSpPr>
          <p:cNvPr id="24" name="Text 21"/>
          <p:cNvSpPr txBox="1"/>
          <p:nvPr/>
        </p:nvSpPr>
        <p:spPr>
          <a:xfrm>
            <a:off x="7315200" y="1554480"/>
            <a:ext cx="4114800" cy="274320"/>
          </a:xfrm>
          <a:prstGeom prst="rect">
            <a:avLst/>
          </a:prstGeom>
          <a:noFill/>
          <a:ln/>
        </p:spPr>
        <p:txBody>
          <a:bodyPr wrap="square" lIns="0" tIns="0" rIns="0" bIns="0" rtlCol="0" anchor="t"/>
          <a:lstStyle/>
          <a:p>
            <a:pPr indent="0" marL="0">
              <a:buNone/>
            </a:pPr>
            <a:r>
              <a:rPr lang="en-US" sz="1300" b="1" dirty="0">
                <a:solidFill>
                  <a:schemeClr val="accent1"/>
                </a:solidFill>
              </a:rPr>
              <a:t>Trò chuyện với trợ lý (dự kiến)</a:t>
            </a:r>
            <a:endParaRPr lang="en-US" sz="1300" dirty="0"/>
          </a:p>
        </p:txBody>
      </p:sp>
      <p:sp>
        <p:nvSpPr>
          <p:cNvPr id="25" name="Box"/>
          <p:cNvSpPr txBox="1"/>
          <p:nvPr/>
        </p:nvSpPr>
        <p:spPr>
          <a:xfrm>
            <a:off x="8229600" y="1920240"/>
            <a:ext cx="3246120" cy="594360"/>
          </a:xfrm>
          <a:prstGeom prst="roundRect">
            <a:avLst>
              <a:gd name="adj" fmla="val 15385"/>
            </a:avLst>
          </a:prstGeom>
          <a:solidFill>
            <a:schemeClr val="accent1"/>
          </a:solidFill>
          <a:ln>
            <a:solidFill>
              <a:schemeClr val="accent1"/>
            </a:solidFill>
          </a:ln>
        </p:spPr>
        <p:txBody>
          <a:bodyPr wrap="square" lIns="114300" tIns="114300" rIns="114300" bIns="114300" rtlCol="0" anchor="ctr"/>
          <a:lstStyle/>
          <a:p>
            <a:pPr algn="l" indent="0" marL="0">
              <a:buNone/>
            </a:pPr>
            <a:r>
              <a:rPr lang="en-US" sz="1200" dirty="0">
                <a:solidFill>
                  <a:schemeClr val="bg1"/>
                </a:solidFill>
              </a:rPr>
              <a:t>Có tour biển nào dưới 6 triệu, đi 4 ngày không?</a:t>
            </a:r>
            <a:endParaRPr lang="en-US" sz="1200" dirty="0"/>
          </a:p>
        </p:txBody>
      </p:sp>
      <p:sp>
        <p:nvSpPr>
          <p:cNvPr id="26" name="Box"/>
          <p:cNvSpPr txBox="1"/>
          <p:nvPr/>
        </p:nvSpPr>
        <p:spPr>
          <a:xfrm>
            <a:off x="7315200" y="2642616"/>
            <a:ext cx="3017520" cy="310896"/>
          </a:xfrm>
          <a:prstGeom prst="roundRect">
            <a:avLst>
              <a:gd name="adj" fmla="val 29412"/>
            </a:avLst>
          </a:prstGeom>
          <a:solidFill>
            <a:schemeClr val="accent2"/>
          </a:solidFill>
          <a:ln>
            <a:solidFill>
              <a:schemeClr val="accent2"/>
            </a:solidFill>
          </a:ln>
        </p:spPr>
        <p:txBody>
          <a:bodyPr wrap="square" lIns="101600" tIns="101600" rIns="101600" bIns="101600" rtlCol="0" anchor="ctr"/>
          <a:lstStyle/>
          <a:p>
            <a:pPr algn="l" indent="0" marL="0">
              <a:buNone/>
            </a:pPr>
            <a:r>
              <a:rPr lang="en-US" sz="1100" b="1" dirty="0">
                <a:solidFill>
                  <a:schemeClr val="tx2"/>
                </a:solidFill>
              </a:rPr>
              <a:t>tool: searchTours(maxPrice = 6000000)</a:t>
            </a:r>
            <a:endParaRPr lang="en-US" sz="1100" dirty="0"/>
          </a:p>
        </p:txBody>
      </p:sp>
      <p:sp>
        <p:nvSpPr>
          <p:cNvPr id="27" name="Box"/>
          <p:cNvSpPr txBox="1"/>
          <p:nvPr/>
        </p:nvSpPr>
        <p:spPr>
          <a:xfrm>
            <a:off x="7315200" y="3081528"/>
            <a:ext cx="3611880" cy="868680"/>
          </a:xfrm>
          <a:prstGeom prst="roundRect">
            <a:avLst>
              <a:gd name="adj" fmla="val 10526"/>
            </a:avLst>
          </a:prstGeom>
          <a:solidFill>
            <a:srgbClr val="FFFFFF"/>
          </a:solidFill>
          <a:ln w="15875">
            <a:solidFill>
              <a:schemeClr val="accent5"/>
            </a:solidFill>
            <a:prstDash val="solid"/>
          </a:ln>
        </p:spPr>
        <p:txBody>
          <a:bodyPr wrap="square" lIns="114300" tIns="114300" rIns="114300" bIns="114300" rtlCol="0" anchor="ctr"/>
          <a:lstStyle/>
          <a:p>
            <a:pPr algn="l" indent="0" marL="0">
              <a:buNone/>
            </a:pPr>
            <a:r>
              <a:rPr lang="en-US" sz="1200" dirty="0">
                <a:solidFill>
                  <a:schemeClr val="tx1"/>
                </a:solidFill>
              </a:rPr>
              <a:t>Có 2 lựa chọn: Nha Trang 4N3Đ (4,59 triệu) và Quy Nhơn - Phú Yên 4N3Đ (5,19 triệu).</a:t>
            </a:r>
            <a:endParaRPr lang="en-US" sz="1200" dirty="0"/>
          </a:p>
        </p:txBody>
      </p:sp>
      <p:sp>
        <p:nvSpPr>
          <p:cNvPr id="28" name="Box"/>
          <p:cNvSpPr txBox="1"/>
          <p:nvPr/>
        </p:nvSpPr>
        <p:spPr>
          <a:xfrm>
            <a:off x="8229600" y="4078224"/>
            <a:ext cx="3246120" cy="365760"/>
          </a:xfrm>
          <a:prstGeom prst="roundRect">
            <a:avLst>
              <a:gd name="adj" fmla="val 25000"/>
            </a:avLst>
          </a:prstGeom>
          <a:solidFill>
            <a:schemeClr val="accent1"/>
          </a:solidFill>
          <a:ln>
            <a:solidFill>
              <a:schemeClr val="accent1"/>
            </a:solidFill>
          </a:ln>
        </p:spPr>
        <p:txBody>
          <a:bodyPr wrap="square" lIns="114300" tIns="114300" rIns="114300" bIns="114300" rtlCol="0" anchor="ctr"/>
          <a:lstStyle/>
          <a:p>
            <a:pPr algn="l" indent="0" marL="0">
              <a:buNone/>
            </a:pPr>
            <a:r>
              <a:rPr lang="en-US" sz="1200" dirty="0">
                <a:solidFill>
                  <a:schemeClr val="bg1"/>
                </a:solidFill>
              </a:rPr>
              <a:t>Thêm Nha Trang cho 2 người lớn</a:t>
            </a:r>
            <a:endParaRPr lang="en-US" sz="1200" dirty="0"/>
          </a:p>
        </p:txBody>
      </p:sp>
      <p:sp>
        <p:nvSpPr>
          <p:cNvPr id="29" name="Box"/>
          <p:cNvSpPr txBox="1"/>
          <p:nvPr/>
        </p:nvSpPr>
        <p:spPr>
          <a:xfrm>
            <a:off x="7315200" y="4572000"/>
            <a:ext cx="3017520" cy="310896"/>
          </a:xfrm>
          <a:prstGeom prst="roundRect">
            <a:avLst>
              <a:gd name="adj" fmla="val 29412"/>
            </a:avLst>
          </a:prstGeom>
          <a:solidFill>
            <a:schemeClr val="accent2"/>
          </a:solidFill>
          <a:ln>
            <a:solidFill>
              <a:schemeClr val="accent2"/>
            </a:solidFill>
          </a:ln>
        </p:spPr>
        <p:txBody>
          <a:bodyPr wrap="square" lIns="101600" tIns="101600" rIns="101600" bIns="101600" rtlCol="0" anchor="ctr"/>
          <a:lstStyle/>
          <a:p>
            <a:pPr algn="l" indent="0" marL="0">
              <a:buNone/>
            </a:pPr>
            <a:r>
              <a:rPr lang="en-US" sz="1100" b="1" dirty="0">
                <a:solidFill>
                  <a:schemeClr val="tx2"/>
                </a:solidFill>
              </a:rPr>
              <a:t>tool: addToCart(…)</a:t>
            </a:r>
            <a:endParaRPr lang="en-US" sz="1100" dirty="0"/>
          </a:p>
        </p:txBody>
      </p:sp>
      <p:sp>
        <p:nvSpPr>
          <p:cNvPr id="30" name="Box"/>
          <p:cNvSpPr txBox="1"/>
          <p:nvPr/>
        </p:nvSpPr>
        <p:spPr>
          <a:xfrm>
            <a:off x="7315200" y="5010912"/>
            <a:ext cx="3611880" cy="594360"/>
          </a:xfrm>
          <a:prstGeom prst="roundRect">
            <a:avLst>
              <a:gd name="adj" fmla="val 15385"/>
            </a:avLst>
          </a:prstGeom>
          <a:solidFill>
            <a:srgbClr val="FFFFFF"/>
          </a:solidFill>
          <a:ln w="15875">
            <a:solidFill>
              <a:schemeClr val="accent5"/>
            </a:solidFill>
            <a:prstDash val="solid"/>
          </a:ln>
        </p:spPr>
        <p:txBody>
          <a:bodyPr wrap="square" lIns="114300" tIns="114300" rIns="114300" bIns="114300" rtlCol="0" anchor="ctr"/>
          <a:lstStyle/>
          <a:p>
            <a:pPr algn="l" indent="0" marL="0">
              <a:buNone/>
            </a:pPr>
            <a:r>
              <a:rPr lang="en-US" sz="1200" dirty="0">
                <a:solidFill>
                  <a:schemeClr val="tx1"/>
                </a:solidFill>
              </a:rPr>
              <a:t>Đã thêm vào giỏ. Bạn vào Giỏ hàng để thanh toán nhé.</a:t>
            </a:r>
            <a:endParaRPr lang="en-US" sz="1200" dirty="0"/>
          </a:p>
        </p:txBody>
      </p:sp>
      <p:sp>
        <p:nvSpPr>
          <p:cNvPr id="31" name="Text 28"/>
          <p:cNvSpPr txBox="1"/>
          <p:nvPr/>
        </p:nvSpPr>
        <p:spPr>
          <a:xfrm>
            <a:off x="7315200" y="5806440"/>
            <a:ext cx="4114800" cy="320040"/>
          </a:xfrm>
          <a:prstGeom prst="rect">
            <a:avLst/>
          </a:prstGeom>
          <a:noFill/>
          <a:ln/>
        </p:spPr>
        <p:txBody>
          <a:bodyPr wrap="square" lIns="0" tIns="0" rIns="0" bIns="0" rtlCol="0" anchor="t"/>
          <a:lstStyle/>
          <a:p>
            <a:pPr indent="0" marL="0">
              <a:buNone/>
            </a:pPr>
            <a:r>
              <a:rPr lang="en-US" sz="1100" i="1" dirty="0">
                <a:solidFill>
                  <a:schemeClr val="accent6"/>
                </a:solidFill>
              </a:rPr>
              <a:t>Kịch bản dự kiến, dựa trên dữ liệu mẫu 03_seed_data.sql.</a:t>
            </a:r>
            <a:endParaRPr lang="en-US" sz="11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bg1"/>
                </a:solidFill>
              </a:rPr>
              <a:t>Kết luận và lưu ý khi triển khai</a:t>
            </a:r>
            <a:endParaRPr lang="en-US" sz="3200" dirty="0"/>
          </a:p>
        </p:txBody>
      </p:sp>
      <p:sp>
        <p:nvSpPr>
          <p:cNvPr id="3" name="Section chip"/>
          <p:cNvSpPr txBox="1"/>
          <p:nvPr/>
        </p:nvSpPr>
        <p:spPr>
          <a:xfrm>
            <a:off x="548640" y="246888"/>
            <a:ext cx="896112" cy="274320"/>
          </a:xfrm>
          <a:prstGeom prst="roundRect">
            <a:avLst>
              <a:gd name="adj" fmla="val 50000"/>
            </a:avLst>
          </a:prstGeom>
          <a:solidFill>
            <a:schemeClr val="accent2"/>
          </a:solidFill>
          <a:ln/>
        </p:spPr>
        <p:txBody>
          <a:bodyPr wrap="square" lIns="0" tIns="0" rIns="0" bIns="0" rtlCol="0" anchor="ctr"/>
          <a:lstStyle/>
          <a:p>
            <a:pPr algn="ctr" indent="0" marL="0">
              <a:buNone/>
            </a:pPr>
            <a:r>
              <a:rPr lang="en-US" sz="1100" b="1" dirty="0">
                <a:solidFill>
                  <a:schemeClr val="tx2"/>
                </a:solidFill>
              </a:rPr>
              <a:t>KẾT LUẬN</a:t>
            </a:r>
            <a:endParaRPr lang="en-US" sz="1100" dirty="0"/>
          </a:p>
        </p:txBody>
      </p:sp>
      <p:sp>
        <p:nvSpPr>
          <p:cNvPr id="5" name="Card"/>
          <p:cNvSpPr/>
          <p:nvPr/>
        </p:nvSpPr>
        <p:spPr>
          <a:xfrm>
            <a:off x="548640" y="1463040"/>
            <a:ext cx="3611880" cy="4754880"/>
          </a:xfrm>
          <a:prstGeom prst="roundRect">
            <a:avLst>
              <a:gd name="adj" fmla="val 2532"/>
            </a:avLst>
          </a:prstGeom>
          <a:solidFill>
            <a:schemeClr val="tx2"/>
          </a:solidFill>
          <a:ln w="12700">
            <a:solidFill>
              <a:schemeClr val="tx2"/>
            </a:solidFill>
            <a:prstDash val="solid"/>
          </a:ln>
        </p:spPr>
      </p:sp>
      <p:sp>
        <p:nvSpPr>
          <p:cNvPr id="6" name="Text 3"/>
          <p:cNvSpPr txBox="1"/>
          <p:nvPr/>
        </p:nvSpPr>
        <p:spPr>
          <a:xfrm>
            <a:off x="77724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Kết quả chính</a:t>
            </a:r>
            <a:endParaRPr lang="en-US" sz="1800" dirty="0"/>
          </a:p>
        </p:txBody>
      </p:sp>
      <p:sp>
        <p:nvSpPr>
          <p:cNvPr id="7" name="Text 4"/>
          <p:cNvSpPr txBox="1"/>
          <p:nvPr/>
        </p:nvSpPr>
        <p:spPr>
          <a:xfrm>
            <a:off x="77724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Spring AI: một API thống nhất cho chat, embedding, vector store, tool calling</a:t>
            </a:r>
            <a:endParaRPr lang="en-US" sz="1600" dirty="0"/>
          </a:p>
          <a:p>
            <a:pPr marL="177800" indent="-177800">
              <a:spcAft>
                <a:spcPts val="1300"/>
              </a:spcAft>
              <a:buSzPct val="100000"/>
              <a:buChar char="•"/>
            </a:pPr>
            <a:r>
              <a:rPr lang="en-US" sz="1600" dirty="0">
                <a:solidFill>
                  <a:schemeClr val="bg1"/>
                </a:solidFill>
              </a:rPr>
              <a:t>Vector DB: tìm kiếm và gợi ý theo ngữ nghĩa</a:t>
            </a:r>
            <a:endParaRPr lang="en-US" sz="1600" dirty="0"/>
          </a:p>
          <a:p>
            <a:pPr marL="177800" indent="-177800">
              <a:spcAft>
                <a:spcPts val="1300"/>
              </a:spcAft>
              <a:buSzPct val="100000"/>
              <a:buChar char="•"/>
            </a:pPr>
            <a:r>
              <a:rPr lang="en-US" sz="1600" dirty="0">
                <a:solidFill>
                  <a:schemeClr val="bg1"/>
                </a:solidFill>
              </a:rPr>
              <a:t>Tracking: biến hành vi thành funnel, top click, time on page</a:t>
            </a:r>
            <a:endParaRPr lang="en-US" sz="1600" dirty="0"/>
          </a:p>
          <a:p>
            <a:pPr marL="177800" indent="-177800">
              <a:spcAft>
                <a:spcPts val="1300"/>
              </a:spcAft>
              <a:buSzPct val="100000"/>
              <a:buChar char="•"/>
            </a:pPr>
            <a:r>
              <a:rPr lang="en-US" sz="1600" dirty="0">
                <a:solidFill>
                  <a:schemeClr val="bg1"/>
                </a:solidFill>
              </a:rPr>
              <a:t>Kết hợp cho IUH Tour Booking: tìm kiếm thông minh, chatbot, gợi ý cá nhân hoá</a:t>
            </a:r>
            <a:endParaRPr lang="en-US" sz="1600" dirty="0"/>
          </a:p>
        </p:txBody>
      </p:sp>
      <p:sp>
        <p:nvSpPr>
          <p:cNvPr id="8" name="Card"/>
          <p:cNvSpPr/>
          <p:nvPr/>
        </p:nvSpPr>
        <p:spPr>
          <a:xfrm>
            <a:off x="4297680" y="1463040"/>
            <a:ext cx="3611880" cy="4754880"/>
          </a:xfrm>
          <a:prstGeom prst="roundRect">
            <a:avLst>
              <a:gd name="adj" fmla="val 2532"/>
            </a:avLst>
          </a:prstGeom>
          <a:solidFill>
            <a:schemeClr val="tx2"/>
          </a:solidFill>
          <a:ln w="12700">
            <a:solidFill>
              <a:schemeClr val="tx2"/>
            </a:solidFill>
            <a:prstDash val="solid"/>
          </a:ln>
        </p:spPr>
      </p:sp>
      <p:sp>
        <p:nvSpPr>
          <p:cNvPr id="9" name="Text 6"/>
          <p:cNvSpPr txBox="1"/>
          <p:nvPr/>
        </p:nvSpPr>
        <p:spPr>
          <a:xfrm>
            <a:off x="452628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Lưu ý khi triển khai</a:t>
            </a:r>
            <a:endParaRPr lang="en-US" sz="1800" dirty="0"/>
          </a:p>
        </p:txBody>
      </p:sp>
      <p:sp>
        <p:nvSpPr>
          <p:cNvPr id="10" name="Text 7"/>
          <p:cNvSpPr txBox="1"/>
          <p:nvPr/>
        </p:nvSpPr>
        <p:spPr>
          <a:xfrm>
            <a:off x="452628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Tương thích phiên bản Spring Boot ↔ Spring AI</a:t>
            </a:r>
            <a:endParaRPr lang="en-US" sz="1600" dirty="0"/>
          </a:p>
          <a:p>
            <a:pPr marL="177800" indent="-177800">
              <a:spcAft>
                <a:spcPts val="1300"/>
              </a:spcAft>
              <a:buSzPct val="100000"/>
              <a:buChar char="•"/>
            </a:pPr>
            <a:r>
              <a:rPr lang="en-US" sz="1600" dirty="0">
                <a:solidFill>
                  <a:schemeClr val="bg1"/>
                </a:solidFill>
              </a:rPr>
              <a:t>dimensions khớp embedding model; đổi model thì embed lại</a:t>
            </a:r>
            <a:endParaRPr lang="en-US" sz="1600" dirty="0"/>
          </a:p>
          <a:p>
            <a:pPr marL="177800" indent="-177800">
              <a:spcAft>
                <a:spcPts val="1300"/>
              </a:spcAft>
              <a:buSzPct val="100000"/>
              <a:buChar char="•"/>
            </a:pPr>
            <a:r>
              <a:rPr lang="en-US" sz="1600" dirty="0">
                <a:solidFill>
                  <a:schemeClr val="bg1"/>
                </a:solidFill>
              </a:rPr>
              <a:t>API key qua env/Vault; kiểm soát chi phí, rate limit</a:t>
            </a:r>
            <a:endParaRPr lang="en-US" sz="1600" dirty="0"/>
          </a:p>
          <a:p>
            <a:pPr marL="177800" indent="-177800">
              <a:spcAft>
                <a:spcPts val="1300"/>
              </a:spcAft>
              <a:buSzPct val="100000"/>
              <a:buChar char="•"/>
            </a:pPr>
            <a:r>
              <a:rPr lang="en-US" sz="1600" dirty="0">
                <a:solidFill>
                  <a:schemeClr val="bg1"/>
                </a:solidFill>
              </a:rPr>
              <a:t>Prompt injection, dữ liệu cá nhân, consent</a:t>
            </a:r>
            <a:endParaRPr lang="en-US" sz="1600" dirty="0"/>
          </a:p>
          <a:p>
            <a:pPr marL="177800" indent="-177800">
              <a:spcAft>
                <a:spcPts val="1300"/>
              </a:spcAft>
              <a:buSzPct val="100000"/>
              <a:buChar char="•"/>
            </a:pPr>
            <a:r>
              <a:rPr lang="en-US" sz="1600" dirty="0">
                <a:solidFill>
                  <a:schemeClr val="bg1"/>
                </a:solidFill>
              </a:rPr>
              <a:t>Mock ChatModel khi kiểm thử</a:t>
            </a:r>
            <a:endParaRPr lang="en-US" sz="1600" dirty="0"/>
          </a:p>
        </p:txBody>
      </p:sp>
      <p:sp>
        <p:nvSpPr>
          <p:cNvPr id="11" name="Card"/>
          <p:cNvSpPr/>
          <p:nvPr/>
        </p:nvSpPr>
        <p:spPr>
          <a:xfrm>
            <a:off x="8046720" y="1463040"/>
            <a:ext cx="3611880" cy="4754880"/>
          </a:xfrm>
          <a:prstGeom prst="roundRect">
            <a:avLst>
              <a:gd name="adj" fmla="val 2532"/>
            </a:avLst>
          </a:prstGeom>
          <a:solidFill>
            <a:schemeClr val="tx2"/>
          </a:solidFill>
          <a:ln w="12700">
            <a:solidFill>
              <a:schemeClr val="tx2"/>
            </a:solidFill>
            <a:prstDash val="solid"/>
          </a:ln>
        </p:spPr>
      </p:sp>
      <p:sp>
        <p:nvSpPr>
          <p:cNvPr id="12" name="Text 9"/>
          <p:cNvSpPr txBox="1"/>
          <p:nvPr/>
        </p:nvSpPr>
        <p:spPr>
          <a:xfrm>
            <a:off x="8275320" y="1645920"/>
            <a:ext cx="3154680" cy="365760"/>
          </a:xfrm>
          <a:prstGeom prst="rect">
            <a:avLst/>
          </a:prstGeom>
          <a:noFill/>
          <a:ln/>
        </p:spPr>
        <p:txBody>
          <a:bodyPr wrap="square" lIns="0" tIns="0" rIns="0" bIns="0" rtlCol="0" anchor="t"/>
          <a:lstStyle/>
          <a:p>
            <a:pPr indent="0" marL="0">
              <a:buNone/>
            </a:pPr>
            <a:r>
              <a:rPr lang="en-US" sz="1800" b="1" dirty="0">
                <a:solidFill>
                  <a:schemeClr val="accent2"/>
                </a:solidFill>
              </a:rPr>
              <a:t>Hướng phát triển</a:t>
            </a:r>
            <a:endParaRPr lang="en-US" sz="1800" dirty="0"/>
          </a:p>
        </p:txBody>
      </p:sp>
      <p:sp>
        <p:nvSpPr>
          <p:cNvPr id="13" name="Text 10"/>
          <p:cNvSpPr txBox="1"/>
          <p:nvPr/>
        </p:nvSpPr>
        <p:spPr>
          <a:xfrm>
            <a:off x="8275320" y="2194560"/>
            <a:ext cx="3154680" cy="3931920"/>
          </a:xfrm>
          <a:prstGeom prst="rect">
            <a:avLst/>
          </a:prstGeom>
          <a:noFill/>
          <a:ln/>
        </p:spPr>
        <p:txBody>
          <a:bodyPr wrap="square" lIns="0" tIns="0" rIns="0" bIns="0" rtlCol="0" anchor="t"/>
          <a:lstStyle/>
          <a:p>
            <a:pPr marL="177800" indent="-177800">
              <a:spcAft>
                <a:spcPts val="1300"/>
              </a:spcAft>
              <a:buSzPct val="100000"/>
              <a:buChar char="•"/>
            </a:pPr>
            <a:r>
              <a:rPr lang="en-US" sz="1600" dirty="0">
                <a:solidFill>
                  <a:schemeClr val="bg1"/>
                </a:solidFill>
              </a:rPr>
              <a:t>Internal GenAI: huấn luyện hoặc fine-tune model riêng</a:t>
            </a:r>
            <a:endParaRPr lang="en-US" sz="1600" dirty="0"/>
          </a:p>
          <a:p>
            <a:pPr marL="177800" indent="-177800">
              <a:spcAft>
                <a:spcPts val="1300"/>
              </a:spcAft>
              <a:buSzPct val="100000"/>
              <a:buChar char="•"/>
            </a:pPr>
            <a:r>
              <a:rPr lang="en-US" sz="1600" dirty="0">
                <a:solidFill>
                  <a:schemeClr val="bg1"/>
                </a:solidFill>
              </a:rPr>
              <a:t>GenAI + Workflow: AI quyết định trong quy trình nghiệp vụ</a:t>
            </a:r>
            <a:endParaRPr lang="en-US" sz="1600" dirty="0"/>
          </a:p>
          <a:p>
            <a:pPr marL="177800" indent="-177800">
              <a:spcAft>
                <a:spcPts val="1300"/>
              </a:spcAft>
              <a:buSzPct val="100000"/>
              <a:buChar char="•"/>
            </a:pPr>
            <a:r>
              <a:rPr lang="en-US" sz="1600" dirty="0">
                <a:solidFill>
                  <a:schemeClr val="bg1"/>
                </a:solidFill>
              </a:rPr>
              <a:t>Agents: Spring AI agents hoặc LangChain4j</a:t>
            </a:r>
            <a:endParaRPr lang="en-US" sz="1600" dirty="0"/>
          </a:p>
          <a:p>
            <a:pPr marL="177800" indent="-177800">
              <a:spcAft>
                <a:spcPts val="1300"/>
              </a:spcAft>
              <a:buSzPct val="100000"/>
              <a:buChar char="•"/>
            </a:pPr>
            <a:r>
              <a:rPr lang="en-US" sz="1600" dirty="0">
                <a:solidFill>
                  <a:schemeClr val="bg1"/>
                </a:solidFill>
              </a:rPr>
              <a:t>Dữ liệu thời gian thực: Kafka + RAG</a:t>
            </a:r>
            <a:endParaRPr lang="en-US" sz="16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566928"/>
            <a:ext cx="11091672" cy="731520"/>
          </a:xfrm>
          <a:prstGeom prst="rect">
            <a:avLst/>
          </a:prstGeom>
          <a:noFill/>
          <a:ln/>
        </p:spPr>
        <p:txBody>
          <a:bodyPr wrap="square" lIns="0" tIns="0" rIns="0" bIns="0" rtlCol="0" anchor="ctr"/>
          <a:lstStyle/>
          <a:p>
            <a:pPr algn="l" indent="0" marL="0">
              <a:buNone/>
            </a:pPr>
            <a:r>
              <a:rPr lang="en-US" sz="3200" b="1" dirty="0">
                <a:solidFill>
                  <a:schemeClr val="tx2"/>
                </a:solidFill>
              </a:rPr>
              <a:t>Tài liệu tham khảo</a:t>
            </a:r>
            <a:endParaRPr lang="en-US" sz="3200" dirty="0"/>
          </a:p>
        </p:txBody>
      </p:sp>
      <p:sp>
        <p:nvSpPr>
          <p:cNvPr id="4" name="Card"/>
          <p:cNvSpPr/>
          <p:nvPr/>
        </p:nvSpPr>
        <p:spPr>
          <a:xfrm>
            <a:off x="548640" y="1463040"/>
            <a:ext cx="5468112" cy="987552"/>
          </a:xfrm>
          <a:prstGeom prst="roundRect">
            <a:avLst>
              <a:gd name="adj" fmla="val 9259"/>
            </a:avLst>
          </a:prstGeom>
          <a:solidFill>
            <a:schemeClr val="bg2"/>
          </a:solidFill>
          <a:ln w="12700">
            <a:solidFill>
              <a:schemeClr val="bg2"/>
            </a:solidFill>
            <a:prstDash val="solid"/>
          </a:ln>
        </p:spPr>
      </p:sp>
      <p:sp>
        <p:nvSpPr>
          <p:cNvPr id="5" name="Icon circle"/>
          <p:cNvSpPr/>
          <p:nvPr/>
        </p:nvSpPr>
        <p:spPr>
          <a:xfrm>
            <a:off x="731520" y="1691640"/>
            <a:ext cx="530352" cy="530352"/>
          </a:xfrm>
          <a:prstGeom prst="ellipse">
            <a:avLst/>
          </a:prstGeom>
          <a:solidFill>
            <a:schemeClr val="accent1"/>
          </a:solidFill>
          <a:ln w="12700">
            <a:solidFill>
              <a:schemeClr val="accent1"/>
            </a:solidFill>
            <a:prstDash val="solid"/>
          </a:ln>
        </p:spPr>
      </p:sp>
      <p:pic>
        <p:nvPicPr>
          <p:cNvPr id="6" name="Image 0" descr="Book icon">    </p:cNvPr>
          <p:cNvPicPr>
            <a:picLocks noChangeAspect="1"/>
          </p:cNvPicPr>
          <p:nvPr/>
        </p:nvPicPr>
        <p:blipFill>
          <a:blip r:embed="rId1"/>
          <a:stretch>
            <a:fillRect/>
          </a:stretch>
        </p:blipFill>
        <p:spPr>
          <a:xfrm>
            <a:off x="858804" y="1818924"/>
            <a:ext cx="275783" cy="275783"/>
          </a:xfrm>
          <a:prstGeom prst="rect">
            <a:avLst/>
          </a:prstGeom>
        </p:spPr>
      </p:pic>
      <p:sp>
        <p:nvSpPr>
          <p:cNvPr id="7" name="Text 3"/>
          <p:cNvSpPr txBox="1"/>
          <p:nvPr/>
        </p:nvSpPr>
        <p:spPr>
          <a:xfrm>
            <a:off x="1463040" y="1591056"/>
            <a:ext cx="4434840" cy="365760"/>
          </a:xfrm>
          <a:prstGeom prst="rect">
            <a:avLst/>
          </a:prstGeom>
          <a:noFill/>
          <a:ln/>
        </p:spPr>
        <p:txBody>
          <a:bodyPr wrap="square" lIns="0" tIns="0" rIns="0" bIns="0" rtlCol="0" anchor="t"/>
          <a:lstStyle/>
          <a:p>
            <a:pPr indent="0" marL="0">
              <a:buNone/>
            </a:pPr>
            <a:r>
              <a:rPr lang="en-US" sz="1500" b="1" dirty="0">
                <a:solidFill>
                  <a:schemeClr val="tx2"/>
                </a:solidFill>
              </a:rPr>
              <a:t>Chapter 7: Spring AI (bài giảng)</a:t>
            </a:r>
            <a:endParaRPr lang="en-US" sz="1500" dirty="0"/>
          </a:p>
        </p:txBody>
      </p:sp>
      <p:sp>
        <p:nvSpPr>
          <p:cNvPr id="8" name="Text 4"/>
          <p:cNvSpPr txBox="1"/>
          <p:nvPr/>
        </p:nvSpPr>
        <p:spPr>
          <a:xfrm>
            <a:off x="1463040" y="196596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Chapter7_Spring_AI.pdf</a:t>
            </a:r>
            <a:endParaRPr lang="en-US" sz="1250" dirty="0"/>
          </a:p>
        </p:txBody>
      </p:sp>
      <p:sp>
        <p:nvSpPr>
          <p:cNvPr id="9" name="Card"/>
          <p:cNvSpPr/>
          <p:nvPr/>
        </p:nvSpPr>
        <p:spPr>
          <a:xfrm>
            <a:off x="6172200" y="1463040"/>
            <a:ext cx="5468112" cy="987552"/>
          </a:xfrm>
          <a:prstGeom prst="roundRect">
            <a:avLst>
              <a:gd name="adj" fmla="val 9259"/>
            </a:avLst>
          </a:prstGeom>
          <a:solidFill>
            <a:schemeClr val="bg2"/>
          </a:solidFill>
          <a:ln w="12700">
            <a:solidFill>
              <a:schemeClr val="bg2"/>
            </a:solidFill>
            <a:prstDash val="solid"/>
          </a:ln>
        </p:spPr>
      </p:sp>
      <p:sp>
        <p:nvSpPr>
          <p:cNvPr id="10" name="Icon circle"/>
          <p:cNvSpPr/>
          <p:nvPr/>
        </p:nvSpPr>
        <p:spPr>
          <a:xfrm>
            <a:off x="6355080" y="1691640"/>
            <a:ext cx="530352" cy="530352"/>
          </a:xfrm>
          <a:prstGeom prst="ellipse">
            <a:avLst/>
          </a:prstGeom>
          <a:solidFill>
            <a:schemeClr val="accent1"/>
          </a:solidFill>
          <a:ln w="12700">
            <a:solidFill>
              <a:schemeClr val="accent1"/>
            </a:solidFill>
            <a:prstDash val="solid"/>
          </a:ln>
        </p:spPr>
      </p:sp>
      <p:pic>
        <p:nvPicPr>
          <p:cNvPr id="11" name="Image 1" descr="Leaf icon">    </p:cNvPr>
          <p:cNvPicPr>
            <a:picLocks noChangeAspect="1"/>
          </p:cNvPicPr>
          <p:nvPr/>
        </p:nvPicPr>
        <p:blipFill>
          <a:blip r:embed="rId2"/>
          <a:stretch>
            <a:fillRect/>
          </a:stretch>
        </p:blipFill>
        <p:spPr>
          <a:xfrm>
            <a:off x="6482364" y="1818924"/>
            <a:ext cx="275783" cy="275783"/>
          </a:xfrm>
          <a:prstGeom prst="rect">
            <a:avLst/>
          </a:prstGeom>
        </p:spPr>
      </p:pic>
      <p:sp>
        <p:nvSpPr>
          <p:cNvPr id="12" name="Text 7"/>
          <p:cNvSpPr txBox="1"/>
          <p:nvPr/>
        </p:nvSpPr>
        <p:spPr>
          <a:xfrm>
            <a:off x="7086600" y="1591056"/>
            <a:ext cx="4434840" cy="365760"/>
          </a:xfrm>
          <a:prstGeom prst="rect">
            <a:avLst/>
          </a:prstGeom>
          <a:noFill/>
          <a:ln/>
        </p:spPr>
        <p:txBody>
          <a:bodyPr wrap="square" lIns="0" tIns="0" rIns="0" bIns="0" rtlCol="0" anchor="t"/>
          <a:lstStyle/>
          <a:p>
            <a:pPr indent="0" marL="0">
              <a:buNone/>
            </a:pPr>
            <a:r>
              <a:rPr lang="en-US" sz="1500" b="1" dirty="0">
                <a:solidFill>
                  <a:schemeClr val="tx2"/>
                </a:solidFill>
              </a:rPr>
              <a:t>Spring AI reference</a:t>
            </a:r>
            <a:endParaRPr lang="en-US" sz="1500" dirty="0"/>
          </a:p>
        </p:txBody>
      </p:sp>
      <p:sp>
        <p:nvSpPr>
          <p:cNvPr id="13" name="Text 8"/>
          <p:cNvSpPr txBox="1"/>
          <p:nvPr/>
        </p:nvSpPr>
        <p:spPr>
          <a:xfrm>
            <a:off x="7086600" y="196596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docs.spring.io/spring-ai/reference</a:t>
            </a:r>
            <a:endParaRPr lang="en-US" sz="1250" dirty="0"/>
          </a:p>
        </p:txBody>
      </p:sp>
      <p:sp>
        <p:nvSpPr>
          <p:cNvPr id="14" name="Card"/>
          <p:cNvSpPr/>
          <p:nvPr/>
        </p:nvSpPr>
        <p:spPr>
          <a:xfrm>
            <a:off x="548640" y="2560320"/>
            <a:ext cx="5468112" cy="987552"/>
          </a:xfrm>
          <a:prstGeom prst="roundRect">
            <a:avLst>
              <a:gd name="adj" fmla="val 9259"/>
            </a:avLst>
          </a:prstGeom>
          <a:solidFill>
            <a:schemeClr val="bg2"/>
          </a:solidFill>
          <a:ln w="12700">
            <a:solidFill>
              <a:schemeClr val="bg2"/>
            </a:solidFill>
            <a:prstDash val="solid"/>
          </a:ln>
        </p:spPr>
      </p:sp>
      <p:sp>
        <p:nvSpPr>
          <p:cNvPr id="15" name="Icon circle"/>
          <p:cNvSpPr/>
          <p:nvPr/>
        </p:nvSpPr>
        <p:spPr>
          <a:xfrm>
            <a:off x="731520" y="2788920"/>
            <a:ext cx="530352" cy="530352"/>
          </a:xfrm>
          <a:prstGeom prst="ellipse">
            <a:avLst/>
          </a:prstGeom>
          <a:solidFill>
            <a:schemeClr val="accent1"/>
          </a:solidFill>
          <a:ln w="12700">
            <a:solidFill>
              <a:schemeClr val="accent1"/>
            </a:solidFill>
            <a:prstDash val="solid"/>
          </a:ln>
        </p:spPr>
      </p:sp>
      <p:pic>
        <p:nvPicPr>
          <p:cNvPr id="16" name="Image 2" descr="Database icon">    </p:cNvPr>
          <p:cNvPicPr>
            <a:picLocks noChangeAspect="1"/>
          </p:cNvPicPr>
          <p:nvPr/>
        </p:nvPicPr>
        <p:blipFill>
          <a:blip r:embed="rId3"/>
          <a:stretch>
            <a:fillRect/>
          </a:stretch>
        </p:blipFill>
        <p:spPr>
          <a:xfrm>
            <a:off x="858804" y="2916204"/>
            <a:ext cx="275783" cy="275783"/>
          </a:xfrm>
          <a:prstGeom prst="rect">
            <a:avLst/>
          </a:prstGeom>
        </p:spPr>
      </p:pic>
      <p:sp>
        <p:nvSpPr>
          <p:cNvPr id="17" name="Text 11"/>
          <p:cNvSpPr txBox="1"/>
          <p:nvPr/>
        </p:nvSpPr>
        <p:spPr>
          <a:xfrm>
            <a:off x="1463040" y="2688336"/>
            <a:ext cx="4434840" cy="365760"/>
          </a:xfrm>
          <a:prstGeom prst="rect">
            <a:avLst/>
          </a:prstGeom>
          <a:noFill/>
          <a:ln/>
        </p:spPr>
        <p:txBody>
          <a:bodyPr wrap="square" lIns="0" tIns="0" rIns="0" bIns="0" rtlCol="0" anchor="t"/>
          <a:lstStyle/>
          <a:p>
            <a:pPr indent="0" marL="0">
              <a:buNone/>
            </a:pPr>
            <a:r>
              <a:rPr lang="en-US" sz="1500" b="1" dirty="0">
                <a:solidFill>
                  <a:schemeClr val="tx2"/>
                </a:solidFill>
              </a:rPr>
              <a:t>pgvector</a:t>
            </a:r>
            <a:endParaRPr lang="en-US" sz="1500" dirty="0"/>
          </a:p>
        </p:txBody>
      </p:sp>
      <p:sp>
        <p:nvSpPr>
          <p:cNvPr id="18" name="Text 12"/>
          <p:cNvSpPr txBox="1"/>
          <p:nvPr/>
        </p:nvSpPr>
        <p:spPr>
          <a:xfrm>
            <a:off x="1463040" y="306324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github.com/pgvector/pgvector</a:t>
            </a:r>
            <a:endParaRPr lang="en-US" sz="1250" dirty="0"/>
          </a:p>
        </p:txBody>
      </p:sp>
      <p:sp>
        <p:nvSpPr>
          <p:cNvPr id="19" name="Card"/>
          <p:cNvSpPr/>
          <p:nvPr/>
        </p:nvSpPr>
        <p:spPr>
          <a:xfrm>
            <a:off x="6172200" y="2560320"/>
            <a:ext cx="5468112" cy="987552"/>
          </a:xfrm>
          <a:prstGeom prst="roundRect">
            <a:avLst>
              <a:gd name="adj" fmla="val 9259"/>
            </a:avLst>
          </a:prstGeom>
          <a:solidFill>
            <a:schemeClr val="bg2"/>
          </a:solidFill>
          <a:ln w="12700">
            <a:solidFill>
              <a:schemeClr val="bg2"/>
            </a:solidFill>
            <a:prstDash val="solid"/>
          </a:ln>
        </p:spPr>
      </p:sp>
      <p:sp>
        <p:nvSpPr>
          <p:cNvPr id="20" name="Icon circle"/>
          <p:cNvSpPr/>
          <p:nvPr/>
        </p:nvSpPr>
        <p:spPr>
          <a:xfrm>
            <a:off x="6355080" y="2788920"/>
            <a:ext cx="530352" cy="530352"/>
          </a:xfrm>
          <a:prstGeom prst="ellipse">
            <a:avLst/>
          </a:prstGeom>
          <a:solidFill>
            <a:schemeClr val="accent1"/>
          </a:solidFill>
          <a:ln w="12700">
            <a:solidFill>
              <a:schemeClr val="accent1"/>
            </a:solidFill>
            <a:prstDash val="solid"/>
          </a:ln>
        </p:spPr>
      </p:sp>
      <p:pic>
        <p:nvPicPr>
          <p:cNvPr id="21" name="Image 3" descr="Database icon">    </p:cNvPr>
          <p:cNvPicPr>
            <a:picLocks noChangeAspect="1"/>
          </p:cNvPicPr>
          <p:nvPr/>
        </p:nvPicPr>
        <p:blipFill>
          <a:blip r:embed="rId4"/>
          <a:stretch>
            <a:fillRect/>
          </a:stretch>
        </p:blipFill>
        <p:spPr>
          <a:xfrm>
            <a:off x="6482364" y="2916204"/>
            <a:ext cx="275783" cy="275783"/>
          </a:xfrm>
          <a:prstGeom prst="rect">
            <a:avLst/>
          </a:prstGeom>
        </p:spPr>
      </p:pic>
      <p:sp>
        <p:nvSpPr>
          <p:cNvPr id="22" name="Text 15"/>
          <p:cNvSpPr txBox="1"/>
          <p:nvPr/>
        </p:nvSpPr>
        <p:spPr>
          <a:xfrm>
            <a:off x="7086600" y="2688336"/>
            <a:ext cx="4434840" cy="365760"/>
          </a:xfrm>
          <a:prstGeom prst="rect">
            <a:avLst/>
          </a:prstGeom>
          <a:noFill/>
          <a:ln/>
        </p:spPr>
        <p:txBody>
          <a:bodyPr wrap="square" lIns="0" tIns="0" rIns="0" bIns="0" rtlCol="0" anchor="t"/>
          <a:lstStyle/>
          <a:p>
            <a:pPr indent="0" marL="0">
              <a:buNone/>
            </a:pPr>
            <a:r>
              <a:rPr lang="en-US" sz="1500" b="1" dirty="0">
                <a:solidFill>
                  <a:schemeClr val="tx2"/>
                </a:solidFill>
              </a:rPr>
              <a:t>Qdrant · Weaviate</a:t>
            </a:r>
            <a:endParaRPr lang="en-US" sz="1500" dirty="0"/>
          </a:p>
        </p:txBody>
      </p:sp>
      <p:sp>
        <p:nvSpPr>
          <p:cNvPr id="23" name="Text 16"/>
          <p:cNvSpPr txBox="1"/>
          <p:nvPr/>
        </p:nvSpPr>
        <p:spPr>
          <a:xfrm>
            <a:off x="7086600" y="306324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qdrant.tech · weaviate.io</a:t>
            </a:r>
            <a:endParaRPr lang="en-US" sz="1250" dirty="0"/>
          </a:p>
        </p:txBody>
      </p:sp>
      <p:sp>
        <p:nvSpPr>
          <p:cNvPr id="24" name="Card"/>
          <p:cNvSpPr/>
          <p:nvPr/>
        </p:nvSpPr>
        <p:spPr>
          <a:xfrm>
            <a:off x="548640" y="3657600"/>
            <a:ext cx="5468112" cy="987552"/>
          </a:xfrm>
          <a:prstGeom prst="roundRect">
            <a:avLst>
              <a:gd name="adj" fmla="val 9259"/>
            </a:avLst>
          </a:prstGeom>
          <a:solidFill>
            <a:schemeClr val="bg2"/>
          </a:solidFill>
          <a:ln w="12700">
            <a:solidFill>
              <a:schemeClr val="bg2"/>
            </a:solidFill>
            <a:prstDash val="solid"/>
          </a:ln>
        </p:spPr>
      </p:sp>
      <p:sp>
        <p:nvSpPr>
          <p:cNvPr id="25" name="Icon circle"/>
          <p:cNvSpPr/>
          <p:nvPr/>
        </p:nvSpPr>
        <p:spPr>
          <a:xfrm>
            <a:off x="731520" y="3886200"/>
            <a:ext cx="530352" cy="530352"/>
          </a:xfrm>
          <a:prstGeom prst="ellipse">
            <a:avLst/>
          </a:prstGeom>
          <a:solidFill>
            <a:schemeClr val="accent1"/>
          </a:solidFill>
          <a:ln w="12700">
            <a:solidFill>
              <a:schemeClr val="accent1"/>
            </a:solidFill>
            <a:prstDash val="solid"/>
          </a:ln>
        </p:spPr>
      </p:sp>
      <p:pic>
        <p:nvPicPr>
          <p:cNvPr id="26" name="Image 4" descr="Brain icon">    </p:cNvPr>
          <p:cNvPicPr>
            <a:picLocks noChangeAspect="1"/>
          </p:cNvPicPr>
          <p:nvPr/>
        </p:nvPicPr>
        <p:blipFill>
          <a:blip r:embed="rId5"/>
          <a:stretch>
            <a:fillRect/>
          </a:stretch>
        </p:blipFill>
        <p:spPr>
          <a:xfrm>
            <a:off x="858804" y="4013484"/>
            <a:ext cx="275783" cy="275783"/>
          </a:xfrm>
          <a:prstGeom prst="rect">
            <a:avLst/>
          </a:prstGeom>
        </p:spPr>
      </p:pic>
      <p:sp>
        <p:nvSpPr>
          <p:cNvPr id="27" name="Text 19"/>
          <p:cNvSpPr txBox="1"/>
          <p:nvPr/>
        </p:nvSpPr>
        <p:spPr>
          <a:xfrm>
            <a:off x="1463040" y="3785616"/>
            <a:ext cx="4434840" cy="365760"/>
          </a:xfrm>
          <a:prstGeom prst="rect">
            <a:avLst/>
          </a:prstGeom>
          <a:noFill/>
          <a:ln/>
        </p:spPr>
        <p:txBody>
          <a:bodyPr wrap="square" lIns="0" tIns="0" rIns="0" bIns="0" rtlCol="0" anchor="t"/>
          <a:lstStyle/>
          <a:p>
            <a:pPr indent="0" marL="0">
              <a:buNone/>
            </a:pPr>
            <a:r>
              <a:rPr lang="en-US" sz="1500" b="1" dirty="0">
                <a:solidFill>
                  <a:schemeClr val="tx2"/>
                </a:solidFill>
              </a:rPr>
              <a:t>Ollama · OpenAI Platform</a:t>
            </a:r>
            <a:endParaRPr lang="en-US" sz="1500" dirty="0"/>
          </a:p>
        </p:txBody>
      </p:sp>
      <p:sp>
        <p:nvSpPr>
          <p:cNvPr id="28" name="Text 20"/>
          <p:cNvSpPr txBox="1"/>
          <p:nvPr/>
        </p:nvSpPr>
        <p:spPr>
          <a:xfrm>
            <a:off x="1463040" y="416052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ollama.com · platform.openai.com/docs</a:t>
            </a:r>
            <a:endParaRPr lang="en-US" sz="1250" dirty="0"/>
          </a:p>
        </p:txBody>
      </p:sp>
      <p:sp>
        <p:nvSpPr>
          <p:cNvPr id="29" name="Card"/>
          <p:cNvSpPr/>
          <p:nvPr/>
        </p:nvSpPr>
        <p:spPr>
          <a:xfrm>
            <a:off x="6172200" y="3657600"/>
            <a:ext cx="5468112" cy="987552"/>
          </a:xfrm>
          <a:prstGeom prst="roundRect">
            <a:avLst>
              <a:gd name="adj" fmla="val 9259"/>
            </a:avLst>
          </a:prstGeom>
          <a:solidFill>
            <a:schemeClr val="bg2"/>
          </a:solidFill>
          <a:ln w="12700">
            <a:solidFill>
              <a:schemeClr val="bg2"/>
            </a:solidFill>
            <a:prstDash val="solid"/>
          </a:ln>
        </p:spPr>
      </p:sp>
      <p:sp>
        <p:nvSpPr>
          <p:cNvPr id="30" name="Icon circle"/>
          <p:cNvSpPr/>
          <p:nvPr/>
        </p:nvSpPr>
        <p:spPr>
          <a:xfrm>
            <a:off x="6355080" y="3886200"/>
            <a:ext cx="530352" cy="530352"/>
          </a:xfrm>
          <a:prstGeom prst="ellipse">
            <a:avLst/>
          </a:prstGeom>
          <a:solidFill>
            <a:schemeClr val="accent1"/>
          </a:solidFill>
          <a:ln w="12700">
            <a:solidFill>
              <a:schemeClr val="accent1"/>
            </a:solidFill>
            <a:prstDash val="solid"/>
          </a:ln>
        </p:spPr>
      </p:sp>
      <p:pic>
        <p:nvPicPr>
          <p:cNvPr id="31" name="Image 5" descr="Java icon">    </p:cNvPr>
          <p:cNvPicPr>
            <a:picLocks noChangeAspect="1"/>
          </p:cNvPicPr>
          <p:nvPr/>
        </p:nvPicPr>
        <p:blipFill>
          <a:blip r:embed="rId6"/>
          <a:stretch>
            <a:fillRect/>
          </a:stretch>
        </p:blipFill>
        <p:spPr>
          <a:xfrm>
            <a:off x="6482364" y="4013484"/>
            <a:ext cx="275783" cy="275783"/>
          </a:xfrm>
          <a:prstGeom prst="rect">
            <a:avLst/>
          </a:prstGeom>
        </p:spPr>
      </p:pic>
      <p:sp>
        <p:nvSpPr>
          <p:cNvPr id="32" name="Text 23"/>
          <p:cNvSpPr txBox="1"/>
          <p:nvPr/>
        </p:nvSpPr>
        <p:spPr>
          <a:xfrm>
            <a:off x="7086600" y="3785616"/>
            <a:ext cx="4434840" cy="365760"/>
          </a:xfrm>
          <a:prstGeom prst="rect">
            <a:avLst/>
          </a:prstGeom>
          <a:noFill/>
          <a:ln/>
        </p:spPr>
        <p:txBody>
          <a:bodyPr wrap="square" lIns="0" tIns="0" rIns="0" bIns="0" rtlCol="0" anchor="t"/>
          <a:lstStyle/>
          <a:p>
            <a:pPr indent="0" marL="0">
              <a:buNone/>
            </a:pPr>
            <a:r>
              <a:rPr lang="en-US" sz="1500" b="1" dirty="0">
                <a:solidFill>
                  <a:schemeClr val="tx2"/>
                </a:solidFill>
              </a:rPr>
              <a:t>LangChain4j</a:t>
            </a:r>
            <a:endParaRPr lang="en-US" sz="1500" dirty="0"/>
          </a:p>
        </p:txBody>
      </p:sp>
      <p:sp>
        <p:nvSpPr>
          <p:cNvPr id="33" name="Text 24"/>
          <p:cNvSpPr txBox="1"/>
          <p:nvPr/>
        </p:nvSpPr>
        <p:spPr>
          <a:xfrm>
            <a:off x="7086600" y="416052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github.com/langchain4j/langchain4j</a:t>
            </a:r>
            <a:endParaRPr lang="en-US" sz="1250" dirty="0"/>
          </a:p>
        </p:txBody>
      </p:sp>
      <p:sp>
        <p:nvSpPr>
          <p:cNvPr id="34" name="Card"/>
          <p:cNvSpPr/>
          <p:nvPr/>
        </p:nvSpPr>
        <p:spPr>
          <a:xfrm>
            <a:off x="548640" y="4754880"/>
            <a:ext cx="5468112" cy="987552"/>
          </a:xfrm>
          <a:prstGeom prst="roundRect">
            <a:avLst>
              <a:gd name="adj" fmla="val 9259"/>
            </a:avLst>
          </a:prstGeom>
          <a:solidFill>
            <a:schemeClr val="bg2"/>
          </a:solidFill>
          <a:ln w="12700">
            <a:solidFill>
              <a:schemeClr val="bg2"/>
            </a:solidFill>
            <a:prstDash val="solid"/>
          </a:ln>
        </p:spPr>
      </p:sp>
      <p:sp>
        <p:nvSpPr>
          <p:cNvPr id="35" name="Icon circle"/>
          <p:cNvSpPr/>
          <p:nvPr/>
        </p:nvSpPr>
        <p:spPr>
          <a:xfrm>
            <a:off x="731520" y="4983480"/>
            <a:ext cx="530352" cy="530352"/>
          </a:xfrm>
          <a:prstGeom prst="ellipse">
            <a:avLst/>
          </a:prstGeom>
          <a:solidFill>
            <a:schemeClr val="accent1"/>
          </a:solidFill>
          <a:ln w="12700">
            <a:solidFill>
              <a:schemeClr val="accent1"/>
            </a:solidFill>
            <a:prstDash val="solid"/>
          </a:ln>
        </p:spPr>
      </p:sp>
      <p:pic>
        <p:nvPicPr>
          <p:cNvPr id="36" name="Image 6" descr="Eye icon">    </p:cNvPr>
          <p:cNvPicPr>
            <a:picLocks noChangeAspect="1"/>
          </p:cNvPicPr>
          <p:nvPr/>
        </p:nvPicPr>
        <p:blipFill>
          <a:blip r:embed="rId7"/>
          <a:stretch>
            <a:fillRect/>
          </a:stretch>
        </p:blipFill>
        <p:spPr>
          <a:xfrm>
            <a:off x="858804" y="5110764"/>
            <a:ext cx="275783" cy="275783"/>
          </a:xfrm>
          <a:prstGeom prst="rect">
            <a:avLst/>
          </a:prstGeom>
        </p:spPr>
      </p:pic>
      <p:sp>
        <p:nvSpPr>
          <p:cNvPr id="37" name="Text 27"/>
          <p:cNvSpPr txBox="1"/>
          <p:nvPr/>
        </p:nvSpPr>
        <p:spPr>
          <a:xfrm>
            <a:off x="1463040" y="4882896"/>
            <a:ext cx="4434840" cy="365760"/>
          </a:xfrm>
          <a:prstGeom prst="rect">
            <a:avLst/>
          </a:prstGeom>
          <a:noFill/>
          <a:ln/>
        </p:spPr>
        <p:txBody>
          <a:bodyPr wrap="square" lIns="0" tIns="0" rIns="0" bIns="0" rtlCol="0" anchor="t"/>
          <a:lstStyle/>
          <a:p>
            <a:pPr indent="0" marL="0">
              <a:buNone/>
            </a:pPr>
            <a:r>
              <a:rPr lang="en-US" sz="1500" b="1" dirty="0">
                <a:solidFill>
                  <a:schemeClr val="tx2"/>
                </a:solidFill>
              </a:rPr>
              <a:t>MDN: Page Visibility API</a:t>
            </a:r>
            <a:endParaRPr lang="en-US" sz="1500" dirty="0"/>
          </a:p>
        </p:txBody>
      </p:sp>
      <p:sp>
        <p:nvSpPr>
          <p:cNvPr id="38" name="Text 28"/>
          <p:cNvSpPr txBox="1"/>
          <p:nvPr/>
        </p:nvSpPr>
        <p:spPr>
          <a:xfrm>
            <a:off x="1463040" y="525780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developer.mozilla.org/docs/Web/API/Page_Visibility_API</a:t>
            </a:r>
            <a:endParaRPr lang="en-US" sz="1250" dirty="0"/>
          </a:p>
        </p:txBody>
      </p:sp>
      <p:sp>
        <p:nvSpPr>
          <p:cNvPr id="39" name="Card"/>
          <p:cNvSpPr/>
          <p:nvPr/>
        </p:nvSpPr>
        <p:spPr>
          <a:xfrm>
            <a:off x="6172200" y="4754880"/>
            <a:ext cx="5468112" cy="987552"/>
          </a:xfrm>
          <a:prstGeom prst="roundRect">
            <a:avLst>
              <a:gd name="adj" fmla="val 9259"/>
            </a:avLst>
          </a:prstGeom>
          <a:solidFill>
            <a:schemeClr val="bg2"/>
          </a:solidFill>
          <a:ln w="12700">
            <a:solidFill>
              <a:schemeClr val="bg2"/>
            </a:solidFill>
            <a:prstDash val="solid"/>
          </a:ln>
        </p:spPr>
      </p:sp>
      <p:sp>
        <p:nvSpPr>
          <p:cNvPr id="40" name="Icon circle"/>
          <p:cNvSpPr/>
          <p:nvPr/>
        </p:nvSpPr>
        <p:spPr>
          <a:xfrm>
            <a:off x="6355080" y="4983480"/>
            <a:ext cx="530352" cy="530352"/>
          </a:xfrm>
          <a:prstGeom prst="ellipse">
            <a:avLst/>
          </a:prstGeom>
          <a:solidFill>
            <a:schemeClr val="accent1"/>
          </a:solidFill>
          <a:ln w="12700">
            <a:solidFill>
              <a:schemeClr val="accent1"/>
            </a:solidFill>
            <a:prstDash val="solid"/>
          </a:ln>
        </p:spPr>
      </p:sp>
      <p:pic>
        <p:nvPicPr>
          <p:cNvPr id="41" name="Image 7" descr="ShieldAlt icon">    </p:cNvPr>
          <p:cNvPicPr>
            <a:picLocks noChangeAspect="1"/>
          </p:cNvPicPr>
          <p:nvPr/>
        </p:nvPicPr>
        <p:blipFill>
          <a:blip r:embed="rId8"/>
          <a:stretch>
            <a:fillRect/>
          </a:stretch>
        </p:blipFill>
        <p:spPr>
          <a:xfrm>
            <a:off x="6482364" y="5110764"/>
            <a:ext cx="275783" cy="275783"/>
          </a:xfrm>
          <a:prstGeom prst="rect">
            <a:avLst/>
          </a:prstGeom>
        </p:spPr>
      </p:pic>
      <p:sp>
        <p:nvSpPr>
          <p:cNvPr id="42" name="Text 31"/>
          <p:cNvSpPr txBox="1"/>
          <p:nvPr/>
        </p:nvSpPr>
        <p:spPr>
          <a:xfrm>
            <a:off x="7086600" y="4882896"/>
            <a:ext cx="4434840" cy="365760"/>
          </a:xfrm>
          <a:prstGeom prst="rect">
            <a:avLst/>
          </a:prstGeom>
          <a:noFill/>
          <a:ln/>
        </p:spPr>
        <p:txBody>
          <a:bodyPr wrap="square" lIns="0" tIns="0" rIns="0" bIns="0" rtlCol="0" anchor="t"/>
          <a:lstStyle/>
          <a:p>
            <a:pPr indent="0" marL="0">
              <a:buNone/>
            </a:pPr>
            <a:r>
              <a:rPr lang="en-US" sz="1500" b="1" dirty="0">
                <a:solidFill>
                  <a:schemeClr val="tx2"/>
                </a:solidFill>
              </a:rPr>
              <a:t>Nghị định 13/2023/NĐ-CP</a:t>
            </a:r>
            <a:endParaRPr lang="en-US" sz="1500" dirty="0"/>
          </a:p>
        </p:txBody>
      </p:sp>
      <p:sp>
        <p:nvSpPr>
          <p:cNvPr id="43" name="Text 32"/>
          <p:cNvSpPr txBox="1"/>
          <p:nvPr/>
        </p:nvSpPr>
        <p:spPr>
          <a:xfrm>
            <a:off x="7086600" y="5257800"/>
            <a:ext cx="4434840" cy="365760"/>
          </a:xfrm>
          <a:prstGeom prst="rect">
            <a:avLst/>
          </a:prstGeom>
          <a:noFill/>
          <a:ln/>
        </p:spPr>
        <p:txBody>
          <a:bodyPr wrap="square" lIns="0" tIns="0" rIns="0" bIns="0" rtlCol="0" anchor="t"/>
          <a:lstStyle/>
          <a:p>
            <a:pPr indent="0" marL="0">
              <a:buNone/>
            </a:pPr>
            <a:r>
              <a:rPr lang="en-US" sz="1250" dirty="0">
                <a:solidFill>
                  <a:schemeClr val="accent6"/>
                </a:solidFill>
              </a:rPr>
              <a:t>Bảo vệ dữ liệu cá nhân</a:t>
            </a:r>
            <a:endParaRPr lang="en-US" sz="1250" dirty="0"/>
          </a:p>
        </p:txBody>
      </p:sp>
      <p:sp>
        <p:nvSpPr>
          <p:cNvPr id="44" name="Text 33"/>
          <p:cNvSpPr txBox="1"/>
          <p:nvPr/>
        </p:nvSpPr>
        <p:spPr>
          <a:xfrm>
            <a:off x="548640" y="5943600"/>
            <a:ext cx="11091672" cy="365760"/>
          </a:xfrm>
          <a:prstGeom prst="rect">
            <a:avLst/>
          </a:prstGeom>
          <a:noFill/>
          <a:ln/>
        </p:spPr>
        <p:txBody>
          <a:bodyPr wrap="square" lIns="0" tIns="0" rIns="0" bIns="0" rtlCol="0" anchor="t"/>
          <a:lstStyle/>
          <a:p>
            <a:pPr indent="0" marL="0">
              <a:buNone/>
            </a:pPr>
            <a:r>
              <a:rPr lang="en-US" sz="1500" b="1" dirty="0">
                <a:solidFill>
                  <a:schemeClr val="accent1"/>
                </a:solidFill>
              </a:rPr>
              <a:t>Mã nguồn dự án: IUH Tour Booking (repo project_www). Cảm ơn thầy/cô và các bạn đã lắng nghe!</a:t>
            </a:r>
            <a:endParaRPr lang="en-US" sz="1500" dirty="0"/>
          </a:p>
        </p:txBody>
      </p:sp>
      <p:sp>
        <p:nvSpPr>
          <p:cNvPr id="25" name="Slide Number Placeholder 0"/>
          <p:cNvSpPr>
            <a:spLocks noGrp="1"/>
          </p:cNvSpPr>
          <p:nvPr>
            <p:ph type="sldNum" sz="quarter" idx="4294967295"/>
          </p:nvPr>
        </p:nvSpPr>
        <p:spPr>
          <a:xfrm>
            <a:off x="11091672" y="644652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6"/>
                </a:solidFill>
              </a:defRPr>
            </a:lvl1pPr>
          </a:lstStyle>
          <a:p>
            <a:pPr algn="r"/>
            <a:fld id="{F7021451-1387-4CA6-816F-3879F97B5CBC}" type="slidenum">
              <a:rPr b="0" lang="en-US"/>
              <a:t>35</a:t>
            </a:fld>
            <a:endParaRPr lang="en-US"/>
          </a:p>
        </p:txBody>
      </p:sp>
    </p:spTree>
  </p:cSld>
  <p:clrMapOvr>
    <a:masterClrMapping/>
  </p:clrMapOvr>
</p:sld>
</file>

<file path=ppt/theme/theme1.xml><?xml version="1.0" encoding="utf-8"?>
<a:theme xmlns:a="http://schemas.openxmlformats.org/drawingml/2006/main" name="TourAI Jade">
  <a:themeElements>
    <a:clrScheme name="TourAI Jade">
      <a:dk1>
        <a:srgbClr val="14201E"/>
      </a:dk1>
      <a:lt1>
        <a:srgbClr val="FFFFFF"/>
      </a:lt1>
      <a:dk2>
        <a:srgbClr val="0A3833"/>
      </a:dk2>
      <a:lt2>
        <a:srgbClr val="EFF7F5"/>
      </a:lt2>
      <a:accent1>
        <a:srgbClr val="1B7A6B"/>
      </a:accent1>
      <a:accent2>
        <a:srgbClr val="E0A458"/>
      </a:accent2>
      <a:accent3>
        <a:srgbClr val="C2622D"/>
      </a:accent3>
      <a:accent4>
        <a:srgbClr val="2A9484"/>
      </a:accent4>
      <a:accent5>
        <a:srgbClr val="86C7BA"/>
      </a:accent5>
      <a:accent6>
        <a:srgbClr val="55635E"/>
      </a:accent6>
      <a:hlink>
        <a:srgbClr val="1B7A6B"/>
      </a:hlink>
      <a:folHlink>
        <a:srgbClr val="55635E"/>
      </a:folHlink>
    </a:clrScheme>
    <a:fontScheme name="TourAI Jad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Spring AI, Vector Database &amp; User Tracking - IUH Tour Booking</dc:title>
  <dc:subject>Báo cáo chuyên đề AI</dc:subject>
  <dc:creator>Nhóm thực hiện</dc:creator>
  <cp:lastModifiedBy>Nhóm thực hiện</cp:lastModifiedBy>
  <cp:revision>1</cp:revision>
  <dcterms:created xsi:type="dcterms:W3CDTF">2026-10-29T09:21:51Z</dcterms:created>
  <dcterms:modified xsi:type="dcterms:W3CDTF">2026-10-29T09:21:51Z</dcterms:modified>
</cp:coreProperties>
</file>